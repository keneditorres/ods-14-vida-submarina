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Somos el equipo del Proyecto Vida Submarina del curso Análisis y Diseño de Software, NRC 62152. Presentaremos SISEP, un Sistema de Monitoreo Pesquero Sostenible pensado para el Perú y alineado con el ODS 14, siguiendo la estructura de las Unidades I y II del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exposición sigue la plantilla del curso. En la Unidad I presentamos el proyecto, el análisis de requerimientos y los modelos iniciales. En la Unidad II, los modelos de diseño y la metodología Scrum con las herramientas que usamos. Cerramos con conclusiones, referencias y anexos.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Iniciamos la Unidad I: fundamentos y modelado inicial, que abarca los capítulos 1 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Nuestro proyecto se vincula con el ODS 14, Vida Submarina. SISEP contribuye directamente a la meta 14.4, que busca reglamentar la pesca y poner fin a la pesca ilegal. Además impulsa la sostenibilidad en sus tres dimensiones: económica, ambiental y social.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principal beneficiario es IMARPE, por su rol en la investigación y el seguimiento de los recursos pesqueros. Con SISEP obtendría datos en tiempo real sobre especies, áreas de faena y tallas, lo que le daría mayor precisión para definir vedas y cuotas. La plataforma central sería gestionada junto con PRODUCE.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problema: en el Perú existe sobreexplotación de especies, pesca no regulada e ilegal y no hay un monitoreo inmediato de las capturas ni de las áreas de faena. Esto pone en riesgo la biodiversidad marina, limita la sostenibilidad futura del recurso y perjudica a las comunidades costeras que dependen de la pesca.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Proponemos SISEP, que combina innovación tecnológica, gestión gubernamental y participación local. Las embarcaciones cuentan con GPS y registros digitales que envían datos a una plataforma central gestionada por IMARPE y PRODUCE. Se integran sensores marinos e imágenes satelitales, y un método de trazabilidad con QR certifica la procedencia legal de cada lote. Así se combate la pesca ilegal, se protege el ecosistema y se impulsa a las comunidades costeras.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concreto, SISEP tendrá seis módulos: rastreo GPS cada 15 minutos, alertas por zonas restringidas e irregularidades, bitácora digital con fotos, trazabilidad con QR por lote, monitoreo de clima y sensores, y reportes y dashboards para las autoridades. Cada módulo está respaldado por los requerimientos que presentaremos en el capítulo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actor gana algo: el Estado obtiene datos confiables, alertas y reportes; armadores y empresas simplifican trámites y certifican la legalidad de su pesca; los pescadores artesanales acceden a tecnología asequible y dan valor agregado a su producto; y el mercado y las organizaciones ambientales ganan transparencia y trazabilidad.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capítulo 2 describimos el problema como una crisis multidimensional: sobreexplotación, pesca ilegal, deficiencia en el monitoreo, pérdida de biodiversidad y vulnerabilidad socioeconómica. El eje común es la falta de datos confiables y en tiempo real, y ahí es donde actúa 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Identificamos cuatro grupos de usuarios. El Estado necesita datos confiables, fiscalización y alertas tempranas. Armadores y empresas necesitan documentación simple y certificación de legalidad. Los pescadores artesanales necesitan tecnología asequible y participar en la gestión. Y las organizaciones ambientales necesitan transparencia e indicadores de sostenibilidad.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Definimos siete requerimientos funcionales: registro GPS cada 15 minutos, alertas por zonas restringidas, bitácora digital, fotos como evidencia, QR único por lote, monitoreo meteorológico y notificaciones automáticas de irregularidades. Los agrupamos en monitoreo, captura, trazabilidad y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requerimientos no funcionales son medibles: respuesta menor a 3 segundos en consultas, autenticación de dos factores para usuarios críticos, 99,5 % de disponibilidad en horario laboral y capacidad para crecer hasta 10 000 embarcaciones.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requerimientos de dominio son reglas del sector: RD01 exige cumplir el Reglamento de la Ley General de Pesca, D.S. 012-2001-PE; RD09 pide procesos simples que no retrasen la operación; y RD17 exige monitorear indicadores de sostenibilidad. Cada uno se refleja luego en el diseño: validación automática, sincronización por lotes y reportes.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de contexto muestra a SISEP en el centro y sus siete actores externos: IMARPE, PRODUCE, armadores, pescadores artesanales, satélites y sensores, el mercado que verifica la trazabilidad y las organizaciones ambientales. Así delimitamos qué está dentro y qué está fuera del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jp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785616" cy="274320"/>
          </a:xfrm>
          <a:prstGeom prst="roundRect">
            <a:avLst>
              <a:gd name="adj" fmla="val 50000"/>
            </a:avLst>
          </a:prstGeom>
          <a:solidFill>
            <a:srgbClr val="123E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ANÁLISIS Y DISEÑO DE SOFTWARE · NRC 62152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5029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FC0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“Año de la recuperación y consolidación de la economía peruana”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PROYECTO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6675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</a:t>
            </a:r>
            <a:endParaRPr lang="en-US" sz="70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Submarina</a:t>
            </a:r>
            <a:endParaRPr lang="en-US" sz="7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0233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 de Monitoreo Pesquero Sostenible </a:t>
            </a:r>
            <a:pPr indent="0" marL="0">
              <a:buNone/>
            </a:pPr>
            <a:r>
              <a:rPr lang="en-US" sz="1900" b="1" dirty="0">
                <a:solidFill>
                  <a:srgbClr val="2E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SISEP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0E3A57"/>
          </a:solidFill>
          <a:ln w="9525">
            <a:solidFill>
              <a:srgbClr val="2A7C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61772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ECE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ODS 14 · Vida submarina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0" y="461772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0E3A57"/>
          </a:solidFill>
          <a:ln w="9525">
            <a:solidFill>
              <a:srgbClr val="2A7C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26080" y="46177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ECE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IMARPE · PRODUCE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4617720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0E3A57"/>
          </a:solidFill>
          <a:ln w="9525">
            <a:solidFill>
              <a:srgbClr val="2A7C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46177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ECE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Metodología Scrum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303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INTEGRANTES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596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Oroya Molina Luis Fernando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5596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Cardenas Rosales Abigail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5596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Yupanqui Castro Romina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925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Olarte Tuya Shadi Allegra Rashel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5925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Gonzales Zarate Jhosep Rafael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01100" y="2217420"/>
            <a:ext cx="1143000" cy="1143000"/>
          </a:xfrm>
          <a:prstGeom prst="ellipse">
            <a:avLst/>
          </a:prstGeom>
          <a:ln w="19050">
            <a:solidFill>
              <a:srgbClr val="2EC4C9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1783080"/>
            <a:ext cx="2011680" cy="2011680"/>
          </a:xfrm>
          <a:prstGeom prst="ellipse">
            <a:avLst/>
          </a:prstGeom>
          <a:ln w="12700">
            <a:solidFill>
              <a:srgbClr val="2EC4C9">
                <a:alpha val="50000"/>
              </a:srgbClr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932420" y="1348740"/>
            <a:ext cx="2880360" cy="2880360"/>
          </a:xfrm>
          <a:prstGeom prst="ellipse">
            <a:avLst/>
          </a:prstGeom>
          <a:ln w="12700">
            <a:solidFill>
              <a:srgbClr val="2EC4C9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914400"/>
            <a:ext cx="3749040" cy="3749040"/>
          </a:xfrm>
          <a:prstGeom prst="ellipse">
            <a:avLst/>
          </a:prstGeom>
          <a:ln w="12700">
            <a:solidFill>
              <a:srgbClr val="2EC4C9">
                <a:alpha val="20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8988552" y="2404872"/>
            <a:ext cx="768096" cy="768096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895" y="2589215"/>
            <a:ext cx="399410" cy="39941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 flipV="1">
            <a:off x="8092440" y="3611880"/>
            <a:ext cx="640080" cy="365760"/>
          </a:xfrm>
          <a:prstGeom prst="line">
            <a:avLst/>
          </a:prstGeom>
          <a:noFill/>
          <a:ln w="15875">
            <a:solidFill>
              <a:srgbClr val="A8ECE7">
                <a:alpha val="80000"/>
              </a:srgbClr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 flipV="1">
            <a:off x="10241280" y="1417320"/>
            <a:ext cx="502920" cy="685800"/>
          </a:xfrm>
          <a:prstGeom prst="line">
            <a:avLst/>
          </a:prstGeom>
          <a:noFill/>
          <a:ln w="15875">
            <a:solidFill>
              <a:srgbClr val="A8ECE7">
                <a:alpha val="80000"/>
              </a:srgbClr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>
            <a:off x="7973568" y="3858768"/>
            <a:ext cx="237744" cy="237744"/>
          </a:xfrm>
          <a:prstGeom prst="ellipse">
            <a:avLst/>
          </a:prstGeom>
          <a:solidFill>
            <a:srgbClr val="2EC4C9">
              <a:alpha val="3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8037576" y="3922776"/>
            <a:ext cx="109728" cy="109728"/>
          </a:xfrm>
          <a:prstGeom prst="ellipse">
            <a:avLst/>
          </a:prstGeom>
          <a:solidFill>
            <a:srgbClr val="A8ECE7"/>
          </a:solidFill>
          <a:ln/>
        </p:spPr>
      </p:sp>
      <p:sp>
        <p:nvSpPr>
          <p:cNvPr id="30" name="Shape 27"/>
          <p:cNvSpPr/>
          <p:nvPr/>
        </p:nvSpPr>
        <p:spPr>
          <a:xfrm>
            <a:off x="8613648" y="3493008"/>
            <a:ext cx="237744" cy="237744"/>
          </a:xfrm>
          <a:prstGeom prst="ellipse">
            <a:avLst/>
          </a:prstGeom>
          <a:solidFill>
            <a:srgbClr val="2EC4C9">
              <a:alpha val="35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8677656" y="3557016"/>
            <a:ext cx="109728" cy="109728"/>
          </a:xfrm>
          <a:prstGeom prst="ellipse">
            <a:avLst/>
          </a:prstGeom>
          <a:solidFill>
            <a:srgbClr val="A8ECE7"/>
          </a:solidFill>
          <a:ln/>
        </p:spPr>
      </p:sp>
      <p:sp>
        <p:nvSpPr>
          <p:cNvPr id="32" name="Shape 29"/>
          <p:cNvSpPr/>
          <p:nvPr/>
        </p:nvSpPr>
        <p:spPr>
          <a:xfrm>
            <a:off x="10122408" y="1984248"/>
            <a:ext cx="237744" cy="237744"/>
          </a:xfrm>
          <a:prstGeom prst="ellipse">
            <a:avLst/>
          </a:prstGeom>
          <a:solidFill>
            <a:srgbClr val="2EC4C9">
              <a:alpha val="35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10186416" y="2048256"/>
            <a:ext cx="109728" cy="109728"/>
          </a:xfrm>
          <a:prstGeom prst="ellipse">
            <a:avLst/>
          </a:prstGeom>
          <a:solidFill>
            <a:srgbClr val="A8ECE7"/>
          </a:solidFill>
          <a:ln/>
        </p:spPr>
      </p:sp>
      <p:sp>
        <p:nvSpPr>
          <p:cNvPr id="34" name="Shape 31"/>
          <p:cNvSpPr/>
          <p:nvPr/>
        </p:nvSpPr>
        <p:spPr>
          <a:xfrm>
            <a:off x="10625328" y="1298448"/>
            <a:ext cx="237744" cy="237744"/>
          </a:xfrm>
          <a:prstGeom prst="ellipse">
            <a:avLst/>
          </a:prstGeom>
          <a:solidFill>
            <a:srgbClr val="2EC4C9">
              <a:alpha val="35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10689336" y="1362456"/>
            <a:ext cx="109728" cy="109728"/>
          </a:xfrm>
          <a:prstGeom prst="ellipse">
            <a:avLst/>
          </a:prstGeom>
          <a:solidFill>
            <a:srgbClr val="A8ECE7"/>
          </a:solidFill>
          <a:ln/>
        </p:spPr>
      </p:sp>
      <p:sp>
        <p:nvSpPr>
          <p:cNvPr id="36" name="Shape 33"/>
          <p:cNvSpPr/>
          <p:nvPr/>
        </p:nvSpPr>
        <p:spPr>
          <a:xfrm>
            <a:off x="10104120" y="3520440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0E3A57">
              <a:alpha val="90000"/>
            </a:srgbClr>
          </a:solidFill>
          <a:ln w="9525">
            <a:solidFill>
              <a:srgbClr val="2A7C9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241280" y="3584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15 min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269480" y="1417320"/>
            <a:ext cx="1783080" cy="566928"/>
          </a:xfrm>
          <a:prstGeom prst="roundRect">
            <a:avLst>
              <a:gd name="adj" fmla="val 16129"/>
            </a:avLst>
          </a:prstGeom>
          <a:solidFill>
            <a:srgbClr val="0E3A57">
              <a:alpha val="90000"/>
            </a:srgbClr>
          </a:solidFill>
          <a:ln w="9525">
            <a:solidFill>
              <a:srgbClr val="2A7C9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406640" y="14813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LOTE · QR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Trazabilidad legal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7818120" y="4114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FC0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12°03′ S · 77°09′ O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10424160" y="5943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40690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1152144" cy="274320"/>
          </a:xfrm>
          <a:prstGeom prst="roundRect">
            <a:avLst>
              <a:gd name="adj" fmla="val 50000"/>
            </a:avLst>
          </a:prstGeom>
          <a:solidFill>
            <a:srgbClr val="123E5B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50292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CONTENIDO</a:t>
            </a:r>
            <a:endParaRPr lang="en-US" sz="8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Recorrido de la exposición según la plantilla del informe del curso: Unidad I y Unidad II.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554480" y="4206240"/>
            <a:ext cx="914400" cy="914400"/>
          </a:xfrm>
          <a:prstGeom prst="ellipse">
            <a:avLst/>
          </a:prstGeom>
          <a:ln w="19050">
            <a:solidFill>
              <a:srgbClr val="2EC4C9">
                <a:alpha val="6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88720" y="3840480"/>
            <a:ext cx="1645920" cy="1645920"/>
          </a:xfrm>
          <a:prstGeom prst="ellipse">
            <a:avLst/>
          </a:prstGeom>
          <a:ln w="12700">
            <a:solidFill>
              <a:srgbClr val="2EC4C9">
                <a:alpha val="50000"/>
              </a:srgbClr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822960" y="3474720"/>
            <a:ext cx="2377440" cy="2377440"/>
          </a:xfrm>
          <a:prstGeom prst="ellipse">
            <a:avLst/>
          </a:prstGeom>
          <a:ln w="12700">
            <a:solidFill>
              <a:srgbClr val="2EC4C9">
                <a:alpha val="3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27632" y="4279392"/>
            <a:ext cx="768096" cy="768096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1975" y="4463735"/>
            <a:ext cx="399410" cy="3994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" y="6355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6A9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Análisis y Diseño de Software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50292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UNIDAD I · FUNDAMENTOS Y MODELADO INICIAL · SEMANAS 1–4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81381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39A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300" dirty="0"/>
          </a:p>
        </p:txBody>
      </p:sp>
      <p:sp>
        <p:nvSpPr>
          <p:cNvPr id="15" name="Text 11"/>
          <p:cNvSpPr txBox="1"/>
          <p:nvPr/>
        </p:nvSpPr>
        <p:spPr>
          <a:xfrm>
            <a:off x="5532120" y="81381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Presentación del proyecto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532120" y="108813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ODS, institución beneficiaria, problema y solución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532120" y="1389888"/>
            <a:ext cx="6080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663440" y="145389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39A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300" dirty="0"/>
          </a:p>
        </p:txBody>
      </p:sp>
      <p:sp>
        <p:nvSpPr>
          <p:cNvPr id="19" name="Text 15"/>
          <p:cNvSpPr txBox="1"/>
          <p:nvPr/>
        </p:nvSpPr>
        <p:spPr>
          <a:xfrm>
            <a:off x="5532120" y="145389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Análisis de necesidades y requerimientos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5532120" y="172821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Usuarios, requerimientos funcionales, no funcionales y de dominio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532120" y="2029968"/>
            <a:ext cx="6080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663440" y="209397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39A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300" dirty="0"/>
          </a:p>
        </p:txBody>
      </p:sp>
      <p:sp>
        <p:nvSpPr>
          <p:cNvPr id="23" name="Text 19"/>
          <p:cNvSpPr txBox="1"/>
          <p:nvPr/>
        </p:nvSpPr>
        <p:spPr>
          <a:xfrm>
            <a:off x="5532120" y="209397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iniciales del sistema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5532120" y="236829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Contexto, casos de uso, procesos y modelo entidad-relación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532120" y="2670048"/>
            <a:ext cx="6080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663440" y="282549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UNIDAD II · MODELOS DE DISEÑO Y METODOLOGÍA ÁGIL · SEMANAS 5–7</a:t>
            </a:r>
            <a:endParaRPr lang="en-US" sz="850" dirty="0"/>
          </a:p>
        </p:txBody>
      </p:sp>
      <p:sp>
        <p:nvSpPr>
          <p:cNvPr id="27" name="Text 23"/>
          <p:cNvSpPr txBox="1"/>
          <p:nvPr/>
        </p:nvSpPr>
        <p:spPr>
          <a:xfrm>
            <a:off x="4663440" y="31363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39A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300" dirty="0"/>
          </a:p>
        </p:txBody>
      </p:sp>
      <p:sp>
        <p:nvSpPr>
          <p:cNvPr id="28" name="Text 24"/>
          <p:cNvSpPr txBox="1"/>
          <p:nvPr/>
        </p:nvSpPr>
        <p:spPr>
          <a:xfrm>
            <a:off x="5532120" y="31363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de diseño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5532120" y="3410712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Diagrama de clases y diagrama de secuencia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5532120" y="3712464"/>
            <a:ext cx="6080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663440" y="377647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39A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300" dirty="0"/>
          </a:p>
        </p:txBody>
      </p:sp>
      <p:sp>
        <p:nvSpPr>
          <p:cNvPr id="32" name="Text 28"/>
          <p:cNvSpPr txBox="1"/>
          <p:nvPr/>
        </p:nvSpPr>
        <p:spPr>
          <a:xfrm>
            <a:off x="5532120" y="377647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Metodología de trabajo: Scrum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5532120" y="4050792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Backlog, sprints y herramientas (Jira, GitHub, Draw.io…)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5532120" y="4352544"/>
            <a:ext cx="6080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663440" y="450799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CIERRE</a:t>
            </a:r>
            <a:endParaRPr lang="en-US" sz="850" dirty="0"/>
          </a:p>
        </p:txBody>
      </p:sp>
      <p:sp>
        <p:nvSpPr>
          <p:cNvPr id="36" name="Text 32"/>
          <p:cNvSpPr txBox="1"/>
          <p:nvPr/>
        </p:nvSpPr>
        <p:spPr>
          <a:xfrm>
            <a:off x="4663440" y="481888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39A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300" dirty="0"/>
          </a:p>
        </p:txBody>
      </p:sp>
      <p:sp>
        <p:nvSpPr>
          <p:cNvPr id="37" name="Text 33"/>
          <p:cNvSpPr txBox="1"/>
          <p:nvPr/>
        </p:nvSpPr>
        <p:spPr>
          <a:xfrm>
            <a:off x="5532120" y="48188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Conclusiones y recomendaciones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5532120" y="509320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Conclusiones, lecciones aprendidas y mejoras futuras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5532120" y="5394960"/>
            <a:ext cx="6080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4663440" y="545896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39A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2300" dirty="0"/>
          </a:p>
        </p:txBody>
      </p:sp>
      <p:sp>
        <p:nvSpPr>
          <p:cNvPr id="41" name="Text 37"/>
          <p:cNvSpPr txBox="1"/>
          <p:nvPr/>
        </p:nvSpPr>
        <p:spPr>
          <a:xfrm>
            <a:off x="5532120" y="54589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Referencias y anexos</a:t>
            </a:r>
            <a:endParaRPr lang="en-US" sz="1400" dirty="0"/>
          </a:p>
        </p:txBody>
      </p:sp>
      <p:sp>
        <p:nvSpPr>
          <p:cNvPr id="42" name="Text 38"/>
          <p:cNvSpPr txBox="1"/>
          <p:nvPr/>
        </p:nvSpPr>
        <p:spPr>
          <a:xfrm>
            <a:off x="5532120" y="573328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Fuentes en ISO 690 y evidencias del trabajo en equipo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5532120" y="6035040"/>
            <a:ext cx="6080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46634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45" name="Text 41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502920"/>
            <a:ext cx="5943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0" b="1" dirty="0">
                <a:solidFill>
                  <a:srgbClr val="2EC4C9">
                    <a:alpha val="2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9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UNIDAD I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03320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y</a:t>
            </a:r>
            <a:endParaRPr lang="en-US" sz="3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Modelado Inicial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94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ECE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Semanas 1–4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86600" y="1760220"/>
            <a:ext cx="4526280" cy="960120"/>
          </a:xfrm>
          <a:prstGeom prst="roundRect">
            <a:avLst>
              <a:gd name="adj" fmla="val 11429"/>
            </a:avLst>
          </a:prstGeom>
          <a:solidFill>
            <a:srgbClr val="0E3453">
              <a:alpha val="85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1943100"/>
            <a:ext cx="594360" cy="5943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846" y="2085746"/>
            <a:ext cx="309067" cy="309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138160" y="19431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1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215341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Presentación del proyecto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086600" y="2948940"/>
            <a:ext cx="4526280" cy="960120"/>
          </a:xfrm>
          <a:prstGeom prst="roundRect">
            <a:avLst>
              <a:gd name="adj" fmla="val 11429"/>
            </a:avLst>
          </a:prstGeom>
          <a:solidFill>
            <a:srgbClr val="0E3453">
              <a:alpha val="85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0" y="3131820"/>
            <a:ext cx="594360" cy="5943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846" y="3274466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138160" y="31318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2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8138160" y="334213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Análisis de necesidades y requerimientos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7086600" y="4137660"/>
            <a:ext cx="4526280" cy="960120"/>
          </a:xfrm>
          <a:prstGeom prst="roundRect">
            <a:avLst>
              <a:gd name="adj" fmla="val 11429"/>
            </a:avLst>
          </a:prstGeom>
          <a:solidFill>
            <a:srgbClr val="0E3453">
              <a:alpha val="85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315200" y="4320540"/>
            <a:ext cx="594360" cy="5943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7846" y="4463186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138160" y="43205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3</a:t>
            </a:r>
            <a:endParaRPr lang="en-US" sz="850" dirty="0"/>
          </a:p>
        </p:txBody>
      </p:sp>
      <p:sp>
        <p:nvSpPr>
          <p:cNvPr id="20" name="Text 15"/>
          <p:cNvSpPr txBox="1"/>
          <p:nvPr/>
        </p:nvSpPr>
        <p:spPr>
          <a:xfrm>
            <a:off x="8138160" y="453085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iniciales del sistema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7FA7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22" name="Text 17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538728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1 · PRESENTACIÓN DEL PROYECTO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ODS vinculado: ODS 14 — Vida submarina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017520" cy="3017520"/>
          </a:xfrm>
          <a:prstGeom prst="roundRect">
            <a:avLst>
              <a:gd name="adj" fmla="val 4848"/>
            </a:avLst>
          </a:prstGeom>
          <a:solidFill>
            <a:srgbClr val="0A97D9"/>
          </a:solidFill>
          <a:ln/>
          <a:effectLst>
            <a:outerShdw sx="100000" sy="100000" kx="0" ky="0" algn="bl" rotWithShape="0" blurRad="152400" dist="38100" dir="5400000">
              <a:srgbClr val="0B1D2E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 DE DESARROLLO SOSTENIBLE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03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</a:t>
            </a:r>
            <a:endParaRPr lang="en-US" sz="15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SUBMARINA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794760"/>
            <a:ext cx="566928" cy="56692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3931920" y="1691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“Conservar y utilizar sosteniblemente los océanos, los mares y los recursos marinos para el desarrollo sostenible.” [1]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931920" y="26517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implementación de SISEP en el Perú se alinea con el ODS 14 e impulsa la sostenibilidad pesquera en sus tres dimensiones, garantizando que las próximas generaciones puedan seguir beneficiándose de los recursos marinos.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931920" y="3749040"/>
            <a:ext cx="7680960" cy="960120"/>
          </a:xfrm>
          <a:prstGeom prst="roundRect">
            <a:avLst>
              <a:gd name="adj" fmla="val 11429"/>
            </a:avLst>
          </a:prstGeom>
          <a:solidFill>
            <a:srgbClr val="E3F4F6"/>
          </a:solidFill>
          <a:ln/>
        </p:spPr>
      </p:sp>
      <p:sp>
        <p:nvSpPr>
          <p:cNvPr id="13" name="Shape 10"/>
          <p:cNvSpPr/>
          <p:nvPr/>
        </p:nvSpPr>
        <p:spPr>
          <a:xfrm>
            <a:off x="4114800" y="39319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446" y="4074566"/>
            <a:ext cx="309067" cy="30906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892040" y="3858768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Meta 14.4 </a:t>
            </a:r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Reglamentar la explotación pesquera y poner fin a la pesca excesiva y a la pesca ilegal, no declarada y no reglamentada: justo lo que SISEP ayuda a controlar. [1]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983480"/>
            <a:ext cx="356616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5257800"/>
            <a:ext cx="594360" cy="5943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5400446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54480" y="5166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DIMENSIÓN ECONÓMICA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554480" y="54132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Impulsa el desarrollo económico de las comunidades costeras.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297680" y="4983480"/>
            <a:ext cx="356616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26280" y="5257800"/>
            <a:ext cx="594360" cy="5943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926" y="5400446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303520" y="5166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DIMENSIÓN AMBIENTAL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5303520" y="54132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Protege el ecosistema marino y la biodiversidad nacional.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8046720" y="4983480"/>
            <a:ext cx="356616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75320" y="5257800"/>
            <a:ext cx="594360" cy="5943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7966" y="5400446"/>
            <a:ext cx="309067" cy="30906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052560" y="5166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DIMENSIÓN SOCIAL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9052560" y="54132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Asegura que las próximas generaciones sigan beneficiándose del mar.</a:t>
            </a:r>
            <a:endParaRPr lang="en-US" sz="1150" dirty="0"/>
          </a:p>
        </p:txBody>
      </p:sp>
      <p:sp>
        <p:nvSpPr>
          <p:cNvPr id="31" name="Text 24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32" name="Text 25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44805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3456432" cy="274320"/>
          </a:xfrm>
          <a:prstGeom prst="roundRect">
            <a:avLst>
              <a:gd name="adj" fmla="val 50000"/>
            </a:avLst>
          </a:prstGeom>
          <a:solidFill>
            <a:srgbClr val="123E5B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41148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1 · INSTITUCIÓN BENEFICIARIA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822960" cy="8229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1386230"/>
            <a:ext cx="427939" cy="42793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21945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IMARPE</a:t>
            </a:r>
            <a:endParaRPr lang="en-US" sz="4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ECE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Instituto del Mar del Perú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Institución dedicada a la investigación y al seguimiento de los recursos pesqueros del país. [4]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4526280"/>
            <a:ext cx="3383280" cy="0"/>
          </a:xfrm>
          <a:prstGeom prst="line">
            <a:avLst/>
          </a:prstGeom>
          <a:noFill/>
          <a:ln w="9525">
            <a:solidFill>
              <a:srgbClr val="24617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ALIANZA CON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123E5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519562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5029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Ministerio de la Producción: co-gestiona la plataforma central de SISEP. [5]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029200" y="6858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¿Por qué IMARPE es el principal beneficiario?</a:t>
            </a:r>
            <a:endParaRPr lang="en-US" sz="2600" dirty="0"/>
          </a:p>
        </p:txBody>
      </p:sp>
      <p:sp>
        <p:nvSpPr>
          <p:cNvPr id="16" name="Text 11"/>
          <p:cNvSpPr txBox="1"/>
          <p:nvPr/>
        </p:nvSpPr>
        <p:spPr>
          <a:xfrm>
            <a:off x="5029200" y="16459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 rol en la investigación de los recursos pesqueros lo convierte en el usuario que más valor obtiene del sistema.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029200" y="2331720"/>
            <a:ext cx="6583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230368" y="2487168"/>
            <a:ext cx="557784" cy="557784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236" y="2621036"/>
            <a:ext cx="290048" cy="2900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989320" y="2459736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Datos en tiempo real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5989320" y="277063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Especies capturadas, áreas de faena y tallas permitidas, al instante.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029200" y="3319272"/>
            <a:ext cx="6583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230368" y="3474720"/>
            <a:ext cx="557784" cy="557784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4236" y="3608588"/>
            <a:ext cx="290048" cy="2900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989320" y="3447288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Vedas y cuotas más precisas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989320" y="3758184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Mejor base para definir periodos de veda y cuotas de extracción.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5029200" y="4306824"/>
            <a:ext cx="6583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5230368" y="4462272"/>
            <a:ext cx="557784" cy="557784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4236" y="4596140"/>
            <a:ext cx="290048" cy="2900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989320" y="4434840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Biodiversidad protegida</a:t>
            </a:r>
            <a:endParaRPr lang="en-US" sz="1350" dirty="0"/>
          </a:p>
        </p:txBody>
      </p:sp>
      <p:sp>
        <p:nvSpPr>
          <p:cNvPr id="31" name="Text 23"/>
          <p:cNvSpPr txBox="1"/>
          <p:nvPr/>
        </p:nvSpPr>
        <p:spPr>
          <a:xfrm>
            <a:off x="5989320" y="4745736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Aporta a la protección de la biodiversidad marina nacional.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5029200" y="5294376"/>
            <a:ext cx="6583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5230368" y="5449824"/>
            <a:ext cx="557784" cy="557784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4236" y="5583692"/>
            <a:ext cx="290048" cy="29004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5989320" y="5422392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Pesca responsable</a:t>
            </a:r>
            <a:endParaRPr lang="en-US" sz="1350" dirty="0"/>
          </a:p>
        </p:txBody>
      </p:sp>
      <p:sp>
        <p:nvSpPr>
          <p:cNvPr id="36" name="Text 27"/>
          <p:cNvSpPr txBox="1"/>
          <p:nvPr/>
        </p:nvSpPr>
        <p:spPr>
          <a:xfrm>
            <a:off x="5989320" y="573328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Favorece una pesca que beneficia al país y a sus comunidades pesqueras.</a:t>
            </a:r>
            <a:endParaRPr lang="en-US" sz="1150" dirty="0"/>
          </a:p>
        </p:txBody>
      </p:sp>
      <p:sp>
        <p:nvSpPr>
          <p:cNvPr id="37" name="Text 28"/>
          <p:cNvSpPr txBox="1"/>
          <p:nvPr/>
        </p:nvSpPr>
        <p:spPr>
          <a:xfrm>
            <a:off x="502920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38" name="Text 29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209544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1 · PROBLEMA IDENTIFICADO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mar productivo, bajo presión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 el Perú, la actividad pesquera presenta serias dificultades que ponen en riesgo el recurso y a quienes viven de él.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55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CAUSAS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72084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48920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688336"/>
            <a:ext cx="603504" cy="603504"/>
          </a:xfrm>
          <a:prstGeom prst="ellipse">
            <a:avLst/>
          </a:prstGeom>
          <a:solidFill>
            <a:srgbClr val="FDECE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81" y="2833177"/>
            <a:ext cx="313822" cy="31382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Sobreexplotación de especies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99008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Extracción excesiva que agota las poblaciones marinas.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720840" y="2487168"/>
            <a:ext cx="48920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949440" y="2688336"/>
            <a:ext cx="603504" cy="603504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281" y="2833177"/>
            <a:ext cx="313822" cy="31382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77240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Biodiversidad marina en riesgo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772400" y="299008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debilita el equilibrio de los ecosistemas.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3675888"/>
            <a:ext cx="48920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77240" y="3877056"/>
            <a:ext cx="603504" cy="603504"/>
          </a:xfrm>
          <a:prstGeom prst="ellipse">
            <a:avLst/>
          </a:prstGeom>
          <a:solidFill>
            <a:srgbClr val="FDECE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81" y="4021897"/>
            <a:ext cx="313822" cy="31382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0020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Pesca no regulada e ilegal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1600200" y="41788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Capturas que escapan al control y a la normativa.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720840" y="3675888"/>
            <a:ext cx="48920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949440" y="3877056"/>
            <a:ext cx="603504" cy="603504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4281" y="4021897"/>
            <a:ext cx="313822" cy="31382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77240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Sostenibilidad futura limitada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7772400" y="41788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Menos recursos para las próximas generaciones.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48640" y="4864608"/>
            <a:ext cx="48920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7240" y="5065776"/>
            <a:ext cx="603504" cy="603504"/>
          </a:xfrm>
          <a:prstGeom prst="ellipse">
            <a:avLst/>
          </a:prstGeom>
          <a:solidFill>
            <a:srgbClr val="FDECE9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081" y="5210617"/>
            <a:ext cx="313822" cy="31382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60020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 monitoreo inmediato</a:t>
            </a:r>
            <a:endParaRPr lang="en-US" sz="1350" dirty="0"/>
          </a:p>
        </p:txBody>
      </p:sp>
      <p:sp>
        <p:nvSpPr>
          <p:cNvPr id="32" name="Text 25"/>
          <p:cNvSpPr txBox="1"/>
          <p:nvPr/>
        </p:nvSpPr>
        <p:spPr>
          <a:xfrm>
            <a:off x="1600200" y="536752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se sabe a tiempo qué se captura ni en qué áreas de faena.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6720840" y="4864608"/>
            <a:ext cx="48920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949440" y="5065776"/>
            <a:ext cx="603504" cy="603504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4281" y="5210617"/>
            <a:ext cx="313822" cy="31382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77240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Comunidades costeras afectadas</a:t>
            </a:r>
            <a:endParaRPr lang="en-US" sz="1350" dirty="0"/>
          </a:p>
        </p:txBody>
      </p:sp>
      <p:sp>
        <p:nvSpPr>
          <p:cNvPr id="37" name="Text 29"/>
          <p:cNvSpPr txBox="1"/>
          <p:nvPr/>
        </p:nvSpPr>
        <p:spPr>
          <a:xfrm>
            <a:off x="7772400" y="536752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 subsistencia y economía dependen de la pesca.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5669280" y="3611880"/>
            <a:ext cx="822960" cy="822960"/>
          </a:xfrm>
          <a:prstGeom prst="ellipse">
            <a:avLst/>
          </a:prstGeom>
          <a:solidFill>
            <a:srgbClr val="0B2A45"/>
          </a:solidFill>
          <a:ln/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9709" y="3842309"/>
            <a:ext cx="362102" cy="36210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41" name="Text 32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62656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1 · SOLUCIÓN PROPUESTA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Solución propuesta: SISEP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2395728" cy="36576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55448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1481328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Innovación tecnológica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081528" y="1481328"/>
            <a:ext cx="2318004" cy="36576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44" y="15544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93008" y="1481328"/>
            <a:ext cx="1860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Gestión gubernamental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536692" y="1481328"/>
            <a:ext cx="2162556" cy="36576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708" y="1554480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948172" y="1481328"/>
            <a:ext cx="1705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Participación local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2194560"/>
            <a:ext cx="283464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77240" y="2395728"/>
            <a:ext cx="640080" cy="640080"/>
          </a:xfrm>
          <a:prstGeom prst="ellipse">
            <a:avLst/>
          </a:prstGeom>
          <a:solidFill>
            <a:srgbClr val="0B2A4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9" y="2549347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77240" y="3127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Embarcaciones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777240" y="34747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GPS a bordo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Bitácora y registros digitales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Fotos de las capturas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069080" y="2011680"/>
            <a:ext cx="4069080" cy="2560320"/>
          </a:xfrm>
          <a:prstGeom prst="roundRect">
            <a:avLst>
              <a:gd name="adj" fmla="val 5714"/>
            </a:avLst>
          </a:prstGeom>
          <a:solidFill>
            <a:srgbClr val="071A2C"/>
          </a:solidFill>
          <a:ln/>
          <a:effectLst>
            <a:outerShdw sx="100000" sy="100000" kx="0" ky="0" algn="bl" rotWithShape="0" blurRad="228600" dist="38100" dir="5400000">
              <a:srgbClr val="0B1D2E">
                <a:alpha val="25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4343400" y="22128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PLATAFORMA CENTRAL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4343400" y="24871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IMARPE · PRODUCE</a:t>
            </a:r>
            <a:endParaRPr lang="en-US" sz="2100" dirty="0"/>
          </a:p>
        </p:txBody>
      </p:sp>
      <p:sp>
        <p:nvSpPr>
          <p:cNvPr id="22" name="Shape 16"/>
          <p:cNvSpPr/>
          <p:nvPr/>
        </p:nvSpPr>
        <p:spPr>
          <a:xfrm>
            <a:off x="4572000" y="3154680"/>
            <a:ext cx="548640" cy="548640"/>
          </a:xfrm>
          <a:prstGeom prst="ellipse">
            <a:avLst/>
          </a:prstGeom>
          <a:solidFill>
            <a:srgbClr val="123E5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3674" y="3286354"/>
            <a:ext cx="285293" cy="285293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343400" y="3767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Validación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760720" y="3154680"/>
            <a:ext cx="548640" cy="548640"/>
          </a:xfrm>
          <a:prstGeom prst="ellipse">
            <a:avLst/>
          </a:prstGeom>
          <a:solidFill>
            <a:srgbClr val="123E5B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2394" y="3286354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532120" y="3767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Alertas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6949440" y="3154680"/>
            <a:ext cx="548640" cy="548640"/>
          </a:xfrm>
          <a:prstGeom prst="ellipse">
            <a:avLst/>
          </a:prstGeom>
          <a:solidFill>
            <a:srgbClr val="123E5B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1114" y="3286354"/>
            <a:ext cx="285293" cy="285293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720840" y="3767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Reportes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8823960" y="2194560"/>
            <a:ext cx="278892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9052560" y="2395728"/>
            <a:ext cx="640080" cy="64008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6179" y="2549347"/>
            <a:ext cx="332842" cy="332842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052560" y="3127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Trazabilidad</a:t>
            </a:r>
            <a:endParaRPr lang="en-US" sz="1400" dirty="0"/>
          </a:p>
        </p:txBody>
      </p:sp>
      <p:sp>
        <p:nvSpPr>
          <p:cNvPr id="35" name="Text 25"/>
          <p:cNvSpPr txBox="1"/>
          <p:nvPr/>
        </p:nvSpPr>
        <p:spPr>
          <a:xfrm>
            <a:off x="9052560" y="34747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QR único por lote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Procedencia legal y responsable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Verificable por el mercado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3429000" y="3291840"/>
            <a:ext cx="594360" cy="0"/>
          </a:xfrm>
          <a:prstGeom prst="line">
            <a:avLst/>
          </a:prstGeom>
          <a:noFill/>
          <a:ln w="2540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37" name="Text 27"/>
          <p:cNvSpPr txBox="1"/>
          <p:nvPr/>
        </p:nvSpPr>
        <p:spPr>
          <a:xfrm>
            <a:off x="3401568" y="2999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datos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8183880" y="3291840"/>
            <a:ext cx="594360" cy="0"/>
          </a:xfrm>
          <a:prstGeom prst="line">
            <a:avLst/>
          </a:prstGeom>
          <a:noFill/>
          <a:ln w="2540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39" name="Text 29"/>
          <p:cNvSpPr txBox="1"/>
          <p:nvPr/>
        </p:nvSpPr>
        <p:spPr>
          <a:xfrm>
            <a:off x="8138160" y="29992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4114800" y="4892040"/>
            <a:ext cx="3977640" cy="45720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7680" y="4983480"/>
            <a:ext cx="274320" cy="274320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4663440" y="4892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Sensores marinos + imágenes satelitales</a:t>
            </a:r>
            <a:endParaRPr lang="en-US" sz="1100" dirty="0"/>
          </a:p>
        </p:txBody>
      </p:sp>
      <p:sp>
        <p:nvSpPr>
          <p:cNvPr id="43" name="Shape 32"/>
          <p:cNvSpPr/>
          <p:nvPr/>
        </p:nvSpPr>
        <p:spPr>
          <a:xfrm flipV="1">
            <a:off x="6099048" y="4617720"/>
            <a:ext cx="0" cy="256032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44" name="Shape 33"/>
          <p:cNvSpPr/>
          <p:nvPr/>
        </p:nvSpPr>
        <p:spPr>
          <a:xfrm>
            <a:off x="548640" y="5687568"/>
            <a:ext cx="365760" cy="3657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107" y="5768035"/>
            <a:ext cx="204826" cy="204826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1051560" y="5687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Combate la pesca ilegal</a:t>
            </a:r>
            <a:endParaRPr lang="en-US" sz="1250" dirty="0"/>
          </a:p>
        </p:txBody>
      </p:sp>
      <p:sp>
        <p:nvSpPr>
          <p:cNvPr id="47" name="Shape 35"/>
          <p:cNvSpPr/>
          <p:nvPr/>
        </p:nvSpPr>
        <p:spPr>
          <a:xfrm>
            <a:off x="4297680" y="5687568"/>
            <a:ext cx="365760" cy="3657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78147" y="5768035"/>
            <a:ext cx="204826" cy="204826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4800600" y="5687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Protege el ecosistema marino</a:t>
            </a:r>
            <a:endParaRPr lang="en-US" sz="1250" dirty="0"/>
          </a:p>
        </p:txBody>
      </p:sp>
      <p:sp>
        <p:nvSpPr>
          <p:cNvPr id="50" name="Shape 37"/>
          <p:cNvSpPr/>
          <p:nvPr/>
        </p:nvSpPr>
        <p:spPr>
          <a:xfrm>
            <a:off x="8046720" y="5687568"/>
            <a:ext cx="365760" cy="3657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7187" y="5768035"/>
            <a:ext cx="204826" cy="204826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8549640" y="5687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Impulsa a las comunidades costeras</a:t>
            </a:r>
            <a:endParaRPr lang="en-US" sz="1250" dirty="0"/>
          </a:p>
        </p:txBody>
      </p:sp>
      <p:sp>
        <p:nvSpPr>
          <p:cNvPr id="53" name="Text 39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54" name="Text 40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209544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1 · PROPUESTA DEL SISTEMA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tendrá</a:t>
            </a:r>
            <a:endParaRPr lang="en-US" sz="3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SISEP?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Seis módulos que cubren todo el ciclo de la pesca: desde que la embarcación zarpa hasta que el producto llega al mercado con su código QR.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3246120" cy="1600200"/>
          </a:xfrm>
          <a:prstGeom prst="roundRect">
            <a:avLst>
              <a:gd name="adj" fmla="val 8000"/>
            </a:avLst>
          </a:prstGeom>
          <a:solidFill>
            <a:srgbClr val="071A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3434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· 4 · 3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95604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requerimientos funcionales, no funcionales y de dominio respaldan cada módulo.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685800"/>
            <a:ext cx="2331720" cy="251460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941832"/>
            <a:ext cx="603504" cy="603504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121" y="1086673"/>
            <a:ext cx="313822" cy="31382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760720" y="9601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5E3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Rastreo GPS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0391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Posición registrada automáticamente cada 15 minutos.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26280" y="277063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26280" y="27706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RF01.1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793992" y="685800"/>
            <a:ext cx="2331720" cy="251460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022592" y="941832"/>
            <a:ext cx="603504" cy="603504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433" y="1086673"/>
            <a:ext cx="313822" cy="31382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257032" y="9601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5E3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7022592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Alertas inteligentes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7022592" y="20391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Avisos por ingreso a zonas restringidas e irregularidades.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022592" y="2770632"/>
            <a:ext cx="134874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022592" y="2770632"/>
            <a:ext cx="1348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RF01.2 · RF01.7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9290304" y="685800"/>
            <a:ext cx="2331720" cy="251460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518904" y="941832"/>
            <a:ext cx="603504" cy="603504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3745" y="1086673"/>
            <a:ext cx="313822" cy="313822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0753344" y="9601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5E3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9518904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Bitácora digital</a:t>
            </a:r>
            <a:endParaRPr lang="en-US" sz="1350" dirty="0"/>
          </a:p>
        </p:txBody>
      </p:sp>
      <p:sp>
        <p:nvSpPr>
          <p:cNvPr id="30" name="Text 25"/>
          <p:cNvSpPr txBox="1"/>
          <p:nvPr/>
        </p:nvSpPr>
        <p:spPr>
          <a:xfrm>
            <a:off x="9518904" y="20391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Registro de capturas con fotos como evidencia.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9518904" y="2770632"/>
            <a:ext cx="134874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9518904" y="2770632"/>
            <a:ext cx="1348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RF01.3 · RF01.4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4297680" y="3429000"/>
            <a:ext cx="2331720" cy="251460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526280" y="3685032"/>
            <a:ext cx="603504" cy="603504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1121" y="3829873"/>
            <a:ext cx="313822" cy="313822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5760720" y="37033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5E3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4526280" y="4434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Trazabilidad QR</a:t>
            </a:r>
            <a:endParaRPr lang="en-US" sz="1350" dirty="0"/>
          </a:p>
        </p:txBody>
      </p:sp>
      <p:sp>
        <p:nvSpPr>
          <p:cNvPr id="38" name="Text 32"/>
          <p:cNvSpPr txBox="1"/>
          <p:nvPr/>
        </p:nvSpPr>
        <p:spPr>
          <a:xfrm>
            <a:off x="4526280" y="47823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Código QR único por cada lote de captura.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4526280" y="551383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4526280" y="5513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RF01.5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6793992" y="3429000"/>
            <a:ext cx="2331720" cy="251460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7022592" y="3685032"/>
            <a:ext cx="603504" cy="603504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7433" y="3829873"/>
            <a:ext cx="313822" cy="313822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8257032" y="37033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5E3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600" dirty="0"/>
          </a:p>
        </p:txBody>
      </p:sp>
      <p:sp>
        <p:nvSpPr>
          <p:cNvPr id="45" name="Text 38"/>
          <p:cNvSpPr txBox="1"/>
          <p:nvPr/>
        </p:nvSpPr>
        <p:spPr>
          <a:xfrm>
            <a:off x="7022592" y="4434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Clima y sensores</a:t>
            </a:r>
            <a:endParaRPr lang="en-US" sz="1350" dirty="0"/>
          </a:p>
        </p:txBody>
      </p:sp>
      <p:sp>
        <p:nvSpPr>
          <p:cNvPr id="46" name="Text 39"/>
          <p:cNvSpPr txBox="1"/>
          <p:nvPr/>
        </p:nvSpPr>
        <p:spPr>
          <a:xfrm>
            <a:off x="7022592" y="47823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Monitoreo de condiciones meteorológicas y del mar.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7022592" y="551383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7022592" y="5513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RF01.6</a:t>
            </a:r>
            <a:endParaRPr lang="en-US" sz="850" dirty="0"/>
          </a:p>
        </p:txBody>
      </p:sp>
      <p:sp>
        <p:nvSpPr>
          <p:cNvPr id="49" name="Shape 42"/>
          <p:cNvSpPr/>
          <p:nvPr/>
        </p:nvSpPr>
        <p:spPr>
          <a:xfrm>
            <a:off x="9290304" y="3429000"/>
            <a:ext cx="2331720" cy="251460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9518904" y="3685032"/>
            <a:ext cx="603504" cy="603504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3745" y="3829873"/>
            <a:ext cx="313822" cy="313822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10753344" y="37033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5E3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600" dirty="0"/>
          </a:p>
        </p:txBody>
      </p:sp>
      <p:sp>
        <p:nvSpPr>
          <p:cNvPr id="53" name="Text 45"/>
          <p:cNvSpPr txBox="1"/>
          <p:nvPr/>
        </p:nvSpPr>
        <p:spPr>
          <a:xfrm>
            <a:off x="9518904" y="4434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Reportes</a:t>
            </a:r>
            <a:endParaRPr lang="en-US" sz="1350" dirty="0"/>
          </a:p>
        </p:txBody>
      </p:sp>
      <p:sp>
        <p:nvSpPr>
          <p:cNvPr id="54" name="Text 46"/>
          <p:cNvSpPr txBox="1"/>
          <p:nvPr/>
        </p:nvSpPr>
        <p:spPr>
          <a:xfrm>
            <a:off x="9518904" y="47823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Dashboards con estadísticas y tendencias para IMARPE y PRODUCE.</a:t>
            </a:r>
            <a:endParaRPr lang="en-US" sz="1100" dirty="0"/>
          </a:p>
        </p:txBody>
      </p:sp>
      <p:sp>
        <p:nvSpPr>
          <p:cNvPr id="55" name="Shape 47"/>
          <p:cNvSpPr/>
          <p:nvPr/>
        </p:nvSpPr>
        <p:spPr>
          <a:xfrm>
            <a:off x="9518904" y="5513832"/>
            <a:ext cx="107442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56" name="Text 48"/>
          <p:cNvSpPr txBox="1"/>
          <p:nvPr/>
        </p:nvSpPr>
        <p:spPr>
          <a:xfrm>
            <a:off x="9518904" y="5513832"/>
            <a:ext cx="1074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Caso de uso</a:t>
            </a:r>
            <a:endParaRPr lang="en-US" sz="850" dirty="0"/>
          </a:p>
        </p:txBody>
      </p:sp>
      <p:sp>
        <p:nvSpPr>
          <p:cNvPr id="57" name="Text 49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58" name="Text 50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62656" cy="274320"/>
          </a:xfrm>
          <a:prstGeom prst="roundRect">
            <a:avLst>
              <a:gd name="adj" fmla="val 50000"/>
            </a:avLst>
          </a:prstGeom>
          <a:solidFill>
            <a:srgbClr val="123E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1 · PROPUESTA DE VALOR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Beneficios para cada actor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 qué a cada usuario le conviene participar en SISEP.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633472" cy="4114800"/>
          </a:xfrm>
          <a:prstGeom prst="roundRect">
            <a:avLst>
              <a:gd name="adj" fmla="val 4861"/>
            </a:avLst>
          </a:prstGeom>
          <a:solidFill>
            <a:srgbClr val="0E3453">
              <a:alpha val="90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86000"/>
            <a:ext cx="685800" cy="68580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450592"/>
            <a:ext cx="356616" cy="35661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4672" y="3108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GOBIERNO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IMARPE y PRODUCE</a:t>
            </a:r>
            <a:endParaRPr lang="en-US" sz="14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95935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43000" y="393192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Datos confiables en tiempo real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672584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4645152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Fiscalización eficiente y alertas tempranas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385816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43000" y="5358384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Reportes automáticos para políticas públicas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3364992" y="2011680"/>
            <a:ext cx="2633472" cy="4114800"/>
          </a:xfrm>
          <a:prstGeom prst="roundRect">
            <a:avLst>
              <a:gd name="adj" fmla="val 4861"/>
            </a:avLst>
          </a:prstGeom>
          <a:solidFill>
            <a:srgbClr val="0E3453">
              <a:alpha val="90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3621024" y="2286000"/>
            <a:ext cx="685800" cy="68580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5616" y="2450592"/>
            <a:ext cx="356616" cy="35661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621024" y="3108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 PESQUERO</a:t>
            </a:r>
            <a:endParaRPr lang="en-US" sz="800" dirty="0"/>
          </a:p>
        </p:txBody>
      </p:sp>
      <p:sp>
        <p:nvSpPr>
          <p:cNvPr id="21" name="Text 14"/>
          <p:cNvSpPr txBox="1"/>
          <p:nvPr/>
        </p:nvSpPr>
        <p:spPr>
          <a:xfrm>
            <a:off x="3621024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Armadores y empresas</a:t>
            </a:r>
            <a:endParaRPr lang="en-US" sz="14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1024" y="3959352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959352" y="393192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Documentación simplificada</a:t>
            </a:r>
            <a:endParaRPr lang="en-US" sz="11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1024" y="4672584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3959352" y="4645152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Certificación de legalidad para acceder a mercados</a:t>
            </a:r>
            <a:endParaRPr lang="en-US" sz="11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1024" y="5385816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3959352" y="5358384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Protección frente a la pesca ilegal</a:t>
            </a:r>
            <a:endParaRPr lang="en-US" sz="1150" dirty="0"/>
          </a:p>
        </p:txBody>
      </p:sp>
      <p:sp>
        <p:nvSpPr>
          <p:cNvPr id="28" name="Shape 18"/>
          <p:cNvSpPr/>
          <p:nvPr/>
        </p:nvSpPr>
        <p:spPr>
          <a:xfrm>
            <a:off x="6181344" y="2011680"/>
            <a:ext cx="2633472" cy="4114800"/>
          </a:xfrm>
          <a:prstGeom prst="roundRect">
            <a:avLst>
              <a:gd name="adj" fmla="val 4861"/>
            </a:avLst>
          </a:prstGeom>
          <a:solidFill>
            <a:srgbClr val="0E3453">
              <a:alpha val="90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6437376" y="2286000"/>
            <a:ext cx="685800" cy="68580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1968" y="2450592"/>
            <a:ext cx="356616" cy="356616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6437376" y="3108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COMUNIDADES COSTERAS</a:t>
            </a:r>
            <a:endParaRPr lang="en-US" sz="800" dirty="0"/>
          </a:p>
        </p:txBody>
      </p:sp>
      <p:sp>
        <p:nvSpPr>
          <p:cNvPr id="32" name="Text 21"/>
          <p:cNvSpPr txBox="1"/>
          <p:nvPr/>
        </p:nvSpPr>
        <p:spPr>
          <a:xfrm>
            <a:off x="6437376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Pescadores artesanales</a:t>
            </a:r>
            <a:endParaRPr lang="en-US" sz="145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7376" y="3959352"/>
            <a:ext cx="237744" cy="237744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6775704" y="393192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Tecnología asequible y fácil de usar</a:t>
            </a:r>
            <a:endParaRPr lang="en-US" sz="115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7376" y="4672584"/>
            <a:ext cx="237744" cy="237744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6775704" y="4645152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Valor agregado por certificación</a:t>
            </a:r>
            <a:endParaRPr lang="en-US" sz="115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7376" y="5385816"/>
            <a:ext cx="237744" cy="237744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6775704" y="5358384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Participación en la gestión del recurso</a:t>
            </a:r>
            <a:endParaRPr lang="en-US" sz="1150" dirty="0"/>
          </a:p>
        </p:txBody>
      </p:sp>
      <p:sp>
        <p:nvSpPr>
          <p:cNvPr id="39" name="Shape 25"/>
          <p:cNvSpPr/>
          <p:nvPr/>
        </p:nvSpPr>
        <p:spPr>
          <a:xfrm>
            <a:off x="8997696" y="2011680"/>
            <a:ext cx="2633472" cy="4114800"/>
          </a:xfrm>
          <a:prstGeom prst="roundRect">
            <a:avLst>
              <a:gd name="adj" fmla="val 4861"/>
            </a:avLst>
          </a:prstGeom>
          <a:solidFill>
            <a:srgbClr val="0E3453">
              <a:alpha val="90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40" name="Shape 26"/>
          <p:cNvSpPr/>
          <p:nvPr/>
        </p:nvSpPr>
        <p:spPr>
          <a:xfrm>
            <a:off x="9253728" y="2286000"/>
            <a:ext cx="685800" cy="68580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18320" y="2450592"/>
            <a:ext cx="356616" cy="356616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9253728" y="3108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CONSUMIDORES E I+D</a:t>
            </a:r>
            <a:endParaRPr lang="en-US" sz="800" dirty="0"/>
          </a:p>
        </p:txBody>
      </p:sp>
      <p:sp>
        <p:nvSpPr>
          <p:cNvPr id="43" name="Text 28"/>
          <p:cNvSpPr txBox="1"/>
          <p:nvPr/>
        </p:nvSpPr>
        <p:spPr>
          <a:xfrm>
            <a:off x="9253728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Mercado y ONG</a:t>
            </a:r>
            <a:endParaRPr lang="en-US" sz="1450" dirty="0"/>
          </a:p>
        </p:txBody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53728" y="3959352"/>
            <a:ext cx="237744" cy="237744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9592056" y="393192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Verificación de trazabilidad con QR</a:t>
            </a:r>
            <a:endParaRPr lang="en-US" sz="1150" dirty="0"/>
          </a:p>
        </p:txBody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53728" y="4672584"/>
            <a:ext cx="237744" cy="237744"/>
          </a:xfrm>
          <a:prstGeom prst="rect">
            <a:avLst/>
          </a:prstGeom>
        </p:spPr>
      </p:pic>
      <p:sp>
        <p:nvSpPr>
          <p:cNvPr id="47" name="Text 30"/>
          <p:cNvSpPr txBox="1"/>
          <p:nvPr/>
        </p:nvSpPr>
        <p:spPr>
          <a:xfrm>
            <a:off x="9592056" y="4645152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Transparencia de la información pesquera</a:t>
            </a:r>
            <a:endParaRPr lang="en-US" sz="1150" dirty="0"/>
          </a:p>
        </p:txBody>
      </p:sp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53728" y="5385816"/>
            <a:ext cx="237744" cy="237744"/>
          </a:xfrm>
          <a:prstGeom prst="rect">
            <a:avLst/>
          </a:prstGeom>
        </p:spPr>
      </p:pic>
      <p:sp>
        <p:nvSpPr>
          <p:cNvPr id="49" name="Text 31"/>
          <p:cNvSpPr txBox="1"/>
          <p:nvPr/>
        </p:nvSpPr>
        <p:spPr>
          <a:xfrm>
            <a:off x="9592056" y="5358384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Indicadores de sostenibilidad</a:t>
            </a:r>
            <a:endParaRPr lang="en-US" sz="1150" dirty="0"/>
          </a:p>
        </p:txBody>
      </p:sp>
      <p:sp>
        <p:nvSpPr>
          <p:cNvPr id="50" name="Text 32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7FA7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51" name="Text 33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456432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2 · DESCRIPCIÓN DEL PROBLEMA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crisis multidimensional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sector pesquero peruano enfrenta cinco problemas que se refuerzan entre sí.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600200" y="2697480"/>
            <a:ext cx="8961120" cy="0"/>
          </a:xfrm>
          <a:prstGeom prst="line">
            <a:avLst/>
          </a:prstGeom>
          <a:noFill/>
          <a:ln w="25400">
            <a:solidFill>
              <a:srgbClr val="D5E3E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097280" y="2194560"/>
            <a:ext cx="1005840" cy="10058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EC4C9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423160"/>
            <a:ext cx="548640" cy="548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801368" y="2103120"/>
            <a:ext cx="347472" cy="347472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801368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76072" y="3401568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Sobreexplotación de recursos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005072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Presión sobre las especies por encima de lo sostenible.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37560" y="2194560"/>
            <a:ext cx="1005840" cy="10058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EC4C9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423160"/>
            <a:ext cx="548640" cy="5486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041648" y="2103120"/>
            <a:ext cx="347472" cy="347472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041648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2816352" y="3401568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Pesca ilegal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2852928" y="4005072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Capturas no reguladas que escapan a la fiscalización.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577840" y="2194560"/>
            <a:ext cx="1005840" cy="10058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EC4C9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423160"/>
            <a:ext cx="548640" cy="54864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281928" y="2103120"/>
            <a:ext cx="347472" cy="347472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281928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5056632" y="3401568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Deficiencia en el monitoreo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093208" y="4005072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 control inmediato de capturas y áreas de faena.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818120" y="2194560"/>
            <a:ext cx="1005840" cy="10058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EC4C9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2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423160"/>
            <a:ext cx="548640" cy="54864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8522208" y="2103120"/>
            <a:ext cx="347472" cy="347472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522208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7296912" y="3401568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Pérdida de biodiversidad marina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7333488" y="4005072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Ecosistemas marinos cada vez más frágiles.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10058400" y="2194560"/>
            <a:ext cx="1005840" cy="10058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EC4C9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2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2423160"/>
            <a:ext cx="548640" cy="548640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10762488" y="2103120"/>
            <a:ext cx="347472" cy="347472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10762488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9537192" y="3401568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Vulnerabilidad socioeconómica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9573768" y="4005072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Comunidades costeras que dependen de la pesca.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12727"/>
            </a:avLst>
          </a:prstGeom>
          <a:solidFill>
            <a:srgbClr val="071A2C"/>
          </a:solidFill>
          <a:ln/>
        </p:spPr>
      </p:sp>
      <p:sp>
        <p:nvSpPr>
          <p:cNvPr id="38" name="Shape 31"/>
          <p:cNvSpPr/>
          <p:nvPr/>
        </p:nvSpPr>
        <p:spPr>
          <a:xfrm>
            <a:off x="822960" y="5230368"/>
            <a:ext cx="603504" cy="603504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801" y="5375209"/>
            <a:ext cx="313822" cy="313822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645920" y="50292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eje común: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falta de datos confiables y de monitoreo en tiempo real. Ahí actúa SISEP.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42" name="Text 34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2 · NECESIDADES DE LOS USUARIOS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Cuatro usuarios, necesidades distintas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828800"/>
            <a:ext cx="566928" cy="566928"/>
          </a:xfrm>
          <a:prstGeom prst="ellipse">
            <a:avLst/>
          </a:prstGeom>
          <a:solidFill>
            <a:srgbClr val="0B2A4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35" y="1964863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828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IMARPE · PRODUCE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0574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Usuarios gubernamentales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5603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Datos confiables y en tiempo real sobre la actividad pesquera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Herramientas para una fiscalización eficiente y la toma de decisiones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Sistemas de alerta temprana para actividades ilegales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Reportes automáticos para políticas públicas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1600200"/>
            <a:ext cx="544068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1828800"/>
            <a:ext cx="566928" cy="566928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295" y="196486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78040" y="1828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 INDUSTRIAL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7178040" y="20574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Armadores y empresas pesqueras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492240" y="25603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Documentación simplificada que no afecte su operatividad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Certificación de legalidad para acceder a mercados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Menores tiempos administrativos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Protección contra la competencia desleal de la pesca ilegal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3931920"/>
            <a:ext cx="544068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4672" y="4160520"/>
            <a:ext cx="566928" cy="566928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35" y="4296583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54480" y="4160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COMUNIDADES COSTERAS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1554480" y="43891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Pescadores artesanales y comunidades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68680" y="489204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Garantía de sostenibilidad del recurso a futuro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Acceso a tecnología asequible y fácil de usar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Valor agregado para sus productos mediante certificación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Participación en la gestión de sus recursos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172200" y="3931920"/>
            <a:ext cx="544068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28232" y="4160520"/>
            <a:ext cx="566928" cy="566928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295" y="4296583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178040" y="4160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ONG · ACADEMIA</a:t>
            </a:r>
            <a:endParaRPr lang="en-US" sz="850" dirty="0"/>
          </a:p>
        </p:txBody>
      </p:sp>
      <p:sp>
        <p:nvSpPr>
          <p:cNvPr id="27" name="Text 21"/>
          <p:cNvSpPr txBox="1"/>
          <p:nvPr/>
        </p:nvSpPr>
        <p:spPr>
          <a:xfrm>
            <a:off x="7178040" y="43891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Organizaciones ambientales y de investigación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492240" y="489204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Transparencia en la información pesquera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Indicadores de sostenibilidad y salud de los ecosistemas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30" name="Text 24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621024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2 · REQUERIMIENTOS FUNCIONALES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que el sistema debe hacer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8122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3736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373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RF01.1</a:t>
            </a:r>
            <a:endParaRPr lang="en-US" sz="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1737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240280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Registro automático de posición GPS cada 15 minutos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240280"/>
            <a:ext cx="68122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3232" y="23774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3232" y="23774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RF01.2</a:t>
            </a:r>
            <a:endParaRPr lang="en-US" sz="9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23774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240280" y="2240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Alertas automáticas por ingreso a zonas restringidas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2880360"/>
            <a:ext cx="68122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3232" y="30175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13232" y="3017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RF01.3</a:t>
            </a:r>
            <a:endParaRPr lang="en-US" sz="9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30175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240280" y="28803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Digitalización de bitácoras de pesca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3520440"/>
            <a:ext cx="68122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13232" y="365760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713232" y="3657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RF01.4</a:t>
            </a:r>
            <a:endParaRPr lang="en-US" sz="9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365760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240280" y="3520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Fotos digitales de capturas como evidencia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" y="4160520"/>
            <a:ext cx="68122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13232" y="429768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713232" y="4297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RF01.5</a:t>
            </a:r>
            <a:endParaRPr lang="en-US" sz="9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3080" y="429768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2240280" y="4160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Códigos QR únicos por lote de captura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548640" y="4800600"/>
            <a:ext cx="68122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13232" y="493776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713232" y="4937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RF01.6</a:t>
            </a:r>
            <a:endParaRPr lang="en-US" sz="95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3080" y="4937760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2240280" y="48006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Monitoreo de condiciones meteorológicas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548640" y="5440680"/>
            <a:ext cx="68122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713232" y="55778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713232" y="5577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RF01.7</a:t>
            </a:r>
            <a:endParaRPr lang="en-US" sz="95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3080" y="5577840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2240280" y="5440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Notificaciones automáticas de irregularidades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7726680" y="1600200"/>
            <a:ext cx="3886200" cy="4389120"/>
          </a:xfrm>
          <a:prstGeom prst="roundRect">
            <a:avLst>
              <a:gd name="adj" fmla="val 3765"/>
            </a:avLst>
          </a:prstGeom>
          <a:solidFill>
            <a:srgbClr val="071A2C"/>
          </a:solidFill>
          <a:ln/>
          <a:effectLst>
            <a:outerShdw sx="100000" sy="100000" kx="0" ky="0" algn="bl" rotWithShape="0" blurRad="152400" dist="38100" dir="5400000">
              <a:srgbClr val="0B1D2E">
                <a:alpha val="20000"/>
              </a:srgbClr>
            </a:outerShdw>
          </a:effectLst>
        </p:spPr>
      </p:sp>
      <p:sp>
        <p:nvSpPr>
          <p:cNvPr id="41" name="Text 32"/>
          <p:cNvSpPr txBox="1"/>
          <p:nvPr/>
        </p:nvSpPr>
        <p:spPr>
          <a:xfrm>
            <a:off x="8001000" y="16916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8000" dirty="0"/>
          </a:p>
        </p:txBody>
      </p:sp>
      <p:sp>
        <p:nvSpPr>
          <p:cNvPr id="42" name="Text 33"/>
          <p:cNvSpPr txBox="1"/>
          <p:nvPr/>
        </p:nvSpPr>
        <p:spPr>
          <a:xfrm>
            <a:off x="918972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requerimientos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funcionales</a:t>
            </a:r>
            <a:endParaRPr lang="en-US" sz="1500" dirty="0"/>
          </a:p>
        </p:txBody>
      </p:sp>
      <p:sp>
        <p:nvSpPr>
          <p:cNvPr id="43" name="Shape 34"/>
          <p:cNvSpPr/>
          <p:nvPr/>
        </p:nvSpPr>
        <p:spPr>
          <a:xfrm>
            <a:off x="8001000" y="2971800"/>
            <a:ext cx="3337560" cy="0"/>
          </a:xfrm>
          <a:prstGeom prst="line">
            <a:avLst/>
          </a:prstGeom>
          <a:noFill/>
          <a:ln w="9525">
            <a:solidFill>
              <a:srgbClr val="24617E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800100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MONITOREO</a:t>
            </a:r>
            <a:endParaRPr lang="en-US" sz="900" dirty="0"/>
          </a:p>
        </p:txBody>
      </p:sp>
      <p:sp>
        <p:nvSpPr>
          <p:cNvPr id="45" name="Text 36"/>
          <p:cNvSpPr txBox="1"/>
          <p:nvPr/>
        </p:nvSpPr>
        <p:spPr>
          <a:xfrm>
            <a:off x="9509760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RF01.1 · RF01.2 · RF01.6</a:t>
            </a:r>
            <a:endParaRPr lang="en-US" sz="1150" dirty="0"/>
          </a:p>
        </p:txBody>
      </p:sp>
      <p:sp>
        <p:nvSpPr>
          <p:cNvPr id="46" name="Shape 37"/>
          <p:cNvSpPr/>
          <p:nvPr/>
        </p:nvSpPr>
        <p:spPr>
          <a:xfrm>
            <a:off x="8001000" y="3657600"/>
            <a:ext cx="3337560" cy="0"/>
          </a:xfrm>
          <a:prstGeom prst="line">
            <a:avLst/>
          </a:prstGeom>
          <a:noFill/>
          <a:ln w="9525">
            <a:solidFill>
              <a:srgbClr val="24617E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8001000" y="3749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CAPTURA</a:t>
            </a:r>
            <a:endParaRPr lang="en-US" sz="900" dirty="0"/>
          </a:p>
        </p:txBody>
      </p:sp>
      <p:sp>
        <p:nvSpPr>
          <p:cNvPr id="48" name="Text 39"/>
          <p:cNvSpPr txBox="1"/>
          <p:nvPr/>
        </p:nvSpPr>
        <p:spPr>
          <a:xfrm>
            <a:off x="9509760" y="3749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RF01.3 · RF01.4</a:t>
            </a:r>
            <a:endParaRPr lang="en-US" sz="1150" dirty="0"/>
          </a:p>
        </p:txBody>
      </p:sp>
      <p:sp>
        <p:nvSpPr>
          <p:cNvPr id="49" name="Shape 40"/>
          <p:cNvSpPr/>
          <p:nvPr/>
        </p:nvSpPr>
        <p:spPr>
          <a:xfrm>
            <a:off x="8001000" y="4343400"/>
            <a:ext cx="3337560" cy="0"/>
          </a:xfrm>
          <a:prstGeom prst="line">
            <a:avLst/>
          </a:prstGeom>
          <a:noFill/>
          <a:ln w="9525">
            <a:solidFill>
              <a:srgbClr val="24617E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8001000" y="4434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TRAZABILIDAD</a:t>
            </a:r>
            <a:endParaRPr lang="en-US" sz="900" dirty="0"/>
          </a:p>
        </p:txBody>
      </p:sp>
      <p:sp>
        <p:nvSpPr>
          <p:cNvPr id="51" name="Text 42"/>
          <p:cNvSpPr txBox="1"/>
          <p:nvPr/>
        </p:nvSpPr>
        <p:spPr>
          <a:xfrm>
            <a:off x="950976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RF01.5</a:t>
            </a:r>
            <a:endParaRPr lang="en-US" sz="1150" dirty="0"/>
          </a:p>
        </p:txBody>
      </p:sp>
      <p:sp>
        <p:nvSpPr>
          <p:cNvPr id="52" name="Shape 43"/>
          <p:cNvSpPr/>
          <p:nvPr/>
        </p:nvSpPr>
        <p:spPr>
          <a:xfrm>
            <a:off x="8001000" y="5029200"/>
            <a:ext cx="3337560" cy="0"/>
          </a:xfrm>
          <a:prstGeom prst="line">
            <a:avLst/>
          </a:prstGeom>
          <a:noFill/>
          <a:ln w="9525">
            <a:solidFill>
              <a:srgbClr val="24617E"/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8001000" y="5120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</a:t>
            </a:r>
            <a:endParaRPr 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9509760" y="5120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RF01.7</a:t>
            </a:r>
            <a:endParaRPr lang="en-US" sz="1150" dirty="0"/>
          </a:p>
        </p:txBody>
      </p:sp>
      <p:sp>
        <p:nvSpPr>
          <p:cNvPr id="55" name="Text 46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56" name="Text 47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867912" cy="274320"/>
          </a:xfrm>
          <a:prstGeom prst="roundRect">
            <a:avLst>
              <a:gd name="adj" fmla="val 50000"/>
            </a:avLst>
          </a:prstGeom>
          <a:solidFill>
            <a:srgbClr val="123E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2 · REQUERIMIENTOS NO FUNCIONALES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Calidad medible desde el diseño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Cuatro metas concretas que guían la arquitectura, la base de datos y la seguridad.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633472" cy="3246120"/>
          </a:xfrm>
          <a:prstGeom prst="roundRect">
            <a:avLst>
              <a:gd name="adj" fmla="val 4861"/>
            </a:avLst>
          </a:prstGeom>
          <a:solidFill>
            <a:srgbClr val="0E3453">
              <a:alpha val="90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423160"/>
            <a:ext cx="566928" cy="566928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35" y="2559223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24414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RNF 01.1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679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9DE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RENDIMIENTO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 3 s</a:t>
            </a:r>
            <a:endParaRPr lang="en-US" sz="42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4480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CE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Tiempo de respuesta para consultas.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64992" y="2148840"/>
            <a:ext cx="2633472" cy="3246120"/>
          </a:xfrm>
          <a:prstGeom prst="roundRect">
            <a:avLst>
              <a:gd name="adj" fmla="val 4861"/>
            </a:avLst>
          </a:prstGeom>
          <a:solidFill>
            <a:srgbClr val="0E3453">
              <a:alpha val="90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21024" y="2423160"/>
            <a:ext cx="566928" cy="566928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087" y="2559223"/>
            <a:ext cx="294803" cy="29480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325112" y="24414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RNF 01.2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4325112" y="2679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9DE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SEGURIDAD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3621024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2FA</a:t>
            </a:r>
            <a:endParaRPr lang="en-US" sz="4200" dirty="0"/>
          </a:p>
        </p:txBody>
      </p:sp>
      <p:sp>
        <p:nvSpPr>
          <p:cNvPr id="19" name="Text 15"/>
          <p:cNvSpPr txBox="1"/>
          <p:nvPr/>
        </p:nvSpPr>
        <p:spPr>
          <a:xfrm>
            <a:off x="3621024" y="4480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CE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Autenticación de dos factores para usuarios críticos.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181344" y="2148840"/>
            <a:ext cx="2633472" cy="3246120"/>
          </a:xfrm>
          <a:prstGeom prst="roundRect">
            <a:avLst>
              <a:gd name="adj" fmla="val 4861"/>
            </a:avLst>
          </a:prstGeom>
          <a:solidFill>
            <a:srgbClr val="0E3453">
              <a:alpha val="90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37376" y="2423160"/>
            <a:ext cx="566928" cy="566928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439" y="2559223"/>
            <a:ext cx="294803" cy="29480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141464" y="24414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RNF 01.3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7141464" y="2679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9DE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DISPONIBILIDAD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6437376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99,5 %</a:t>
            </a:r>
            <a:endParaRPr lang="en-US" sz="4200" dirty="0"/>
          </a:p>
        </p:txBody>
      </p:sp>
      <p:sp>
        <p:nvSpPr>
          <p:cNvPr id="26" name="Text 21"/>
          <p:cNvSpPr txBox="1"/>
          <p:nvPr/>
        </p:nvSpPr>
        <p:spPr>
          <a:xfrm>
            <a:off x="6437376" y="4480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CE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Disponibilidad del sistema en horario laboral.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8997696" y="2148840"/>
            <a:ext cx="2633472" cy="3246120"/>
          </a:xfrm>
          <a:prstGeom prst="roundRect">
            <a:avLst>
              <a:gd name="adj" fmla="val 4861"/>
            </a:avLst>
          </a:prstGeom>
          <a:solidFill>
            <a:srgbClr val="0E3453">
              <a:alpha val="90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253728" y="2423160"/>
            <a:ext cx="566928" cy="566928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9791" y="2559223"/>
            <a:ext cx="294803" cy="294803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957816" y="24414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RNF 01.4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9957816" y="2679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9DE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ESCALABILIDAD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9253728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10 000</a:t>
            </a:r>
            <a:endParaRPr lang="en-US" sz="4200" dirty="0"/>
          </a:p>
        </p:txBody>
      </p:sp>
      <p:sp>
        <p:nvSpPr>
          <p:cNvPr id="33" name="Text 27"/>
          <p:cNvSpPr txBox="1"/>
          <p:nvPr/>
        </p:nvSpPr>
        <p:spPr>
          <a:xfrm>
            <a:off x="9253728" y="4480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CE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Embarcaciones: capacidad de crecimiento del sistema.</a:t>
            </a:r>
            <a:endParaRPr lang="en-US" sz="1250" dirty="0"/>
          </a:p>
        </p:txBody>
      </p:sp>
      <p:sp>
        <p:nvSpPr>
          <p:cNvPr id="34" name="Text 28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7FA7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35" name="Text 29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538728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2 · REQUERIMIENTOS DE DOMINIO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reglas del sector pesquero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Condiciones propias del dominio pesquero que SISEP debe respetar.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56616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2677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RD01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291840" y="2286000"/>
            <a:ext cx="566928" cy="566928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903" y="2422063"/>
            <a:ext cx="294803" cy="29480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2999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5A6B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NORMATIVA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2918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Cumplimiento del Reglamento de la Ley General de Pesca (D.S. N.° 012-2001-PE) y sus modificatorias. [2] [3]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97680" y="2011680"/>
            <a:ext cx="356616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572000" y="22677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RD09</a:t>
            </a:r>
            <a:endParaRPr lang="en-US" sz="3600" dirty="0"/>
          </a:p>
        </p:txBody>
      </p:sp>
      <p:sp>
        <p:nvSpPr>
          <p:cNvPr id="14" name="Shape 11"/>
          <p:cNvSpPr/>
          <p:nvPr/>
        </p:nvSpPr>
        <p:spPr>
          <a:xfrm>
            <a:off x="7040880" y="2286000"/>
            <a:ext cx="566928" cy="566928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943" y="2422063"/>
            <a:ext cx="294803" cy="29480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0" y="2999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5A6B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OPERATIVIDAD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0" y="32918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Procesos simplificados que no retrasen las operaciones pesqueras.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046720" y="2011680"/>
            <a:ext cx="356616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8321040" y="22677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RD17</a:t>
            </a:r>
            <a:endParaRPr lang="en-US" sz="3600" dirty="0"/>
          </a:p>
        </p:txBody>
      </p:sp>
      <p:sp>
        <p:nvSpPr>
          <p:cNvPr id="20" name="Shape 16"/>
          <p:cNvSpPr/>
          <p:nvPr/>
        </p:nvSpPr>
        <p:spPr>
          <a:xfrm>
            <a:off x="10789920" y="2286000"/>
            <a:ext cx="566928" cy="566928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5983" y="2422063"/>
            <a:ext cx="294803" cy="294803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321040" y="2999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5A6B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SOSTENIBILIDAD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8321040" y="32918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Monitoreo de indicadores de sostenibilidad pesquera.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E3F4F6"/>
          </a:solidFill>
          <a:ln/>
        </p:spPr>
      </p:sp>
      <p:sp>
        <p:nvSpPr>
          <p:cNvPr id="25" name="Shape 20"/>
          <p:cNvSpPr/>
          <p:nvPr/>
        </p:nvSpPr>
        <p:spPr>
          <a:xfrm>
            <a:off x="777240" y="5230368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81" y="5375209"/>
            <a:ext cx="313822" cy="31382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600200" y="5029200"/>
            <a:ext cx="9829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¿Cómo se aplican?  </a:t>
            </a:r>
            <a:pPr indent="0" marL="0">
              <a:buNone/>
            </a:pPr>
            <a:r>
              <a:rPr lang="en-US" sz="12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RD01 → validación automática de áreas, tallas y permisos  ·  RD09 → sincronización inmediata o por lotes  ·  RD17 → reportes y dashboards de sostenibilidad.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29" name="Text 23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98064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3 · MODELO FUNCIONAL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Diagrama de contexto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Límites del sistema, entradas y salidas de información y organismos relacionados.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36008" y="2924251"/>
            <a:ext cx="2926080" cy="2926080"/>
          </a:xfrm>
          <a:prstGeom prst="ellipse">
            <a:avLst/>
          </a:prstGeom>
          <a:ln w="12700">
            <a:solidFill>
              <a:srgbClr val="2EC4C9">
                <a:alpha val="45000"/>
              </a:srgbClr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133088" y="2562149"/>
            <a:ext cx="3931920" cy="3931920"/>
          </a:xfrm>
          <a:prstGeom prst="ellipse">
            <a:avLst/>
          </a:prstGeom>
          <a:ln w="12700">
            <a:solidFill>
              <a:srgbClr val="2EC4C9">
                <a:alpha val="30000"/>
              </a:srgbClr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474720" y="2368296"/>
            <a:ext cx="1325880" cy="1197864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74720" y="3374136"/>
            <a:ext cx="1325880" cy="466344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3474720" y="4114800"/>
            <a:ext cx="1325880" cy="265176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3474720" y="4389120"/>
            <a:ext cx="1325880" cy="996696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7406640" y="2779776"/>
            <a:ext cx="1280160" cy="877824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>
            <a:off x="7406640" y="3968496"/>
            <a:ext cx="1280160" cy="9144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 flipV="1">
            <a:off x="7406640" y="4297680"/>
            <a:ext cx="1280160" cy="859536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2011680"/>
            <a:ext cx="292608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6656" y="2121408"/>
            <a:ext cx="493776" cy="493776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62" y="2239914"/>
            <a:ext cx="256764" cy="25676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280160" y="21122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IMARPE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23865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Investigación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48640" y="3017520"/>
            <a:ext cx="292608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76656" y="3127248"/>
            <a:ext cx="493776" cy="493776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62" y="3245754"/>
            <a:ext cx="256764" cy="25676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280160" y="31181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PRODUCE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1280160" y="339242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Regulación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548640" y="4023360"/>
            <a:ext cx="292608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76656" y="4133088"/>
            <a:ext cx="493776" cy="493776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162" y="4251594"/>
            <a:ext cx="256764" cy="25676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280160" y="41239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Armadores / Empresas</a:t>
            </a:r>
            <a:endParaRPr lang="en-US" sz="1150" dirty="0"/>
          </a:p>
        </p:txBody>
      </p:sp>
      <p:sp>
        <p:nvSpPr>
          <p:cNvPr id="29" name="Text 24"/>
          <p:cNvSpPr txBox="1"/>
          <p:nvPr/>
        </p:nvSpPr>
        <p:spPr>
          <a:xfrm>
            <a:off x="1280160" y="439826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Pesqueras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548640" y="5029200"/>
            <a:ext cx="292608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76656" y="5138928"/>
            <a:ext cx="493776" cy="493776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162" y="5257434"/>
            <a:ext cx="256764" cy="25676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280160" y="51297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Pescadores artesanales</a:t>
            </a:r>
            <a:endParaRPr lang="en-US" sz="1150" dirty="0"/>
          </a:p>
        </p:txBody>
      </p:sp>
      <p:sp>
        <p:nvSpPr>
          <p:cNvPr id="34" name="Text 28"/>
          <p:cNvSpPr txBox="1"/>
          <p:nvPr/>
        </p:nvSpPr>
        <p:spPr>
          <a:xfrm>
            <a:off x="1280160" y="54041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Comunidades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8686800" y="2423160"/>
            <a:ext cx="292608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8814816" y="2532888"/>
            <a:ext cx="493776" cy="493776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3322" y="2651394"/>
            <a:ext cx="256764" cy="25676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418320" y="25237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Satélites / Sensores</a:t>
            </a:r>
            <a:endParaRPr lang="en-US" sz="1150" dirty="0"/>
          </a:p>
        </p:txBody>
      </p:sp>
      <p:sp>
        <p:nvSpPr>
          <p:cNvPr id="39" name="Text 32"/>
          <p:cNvSpPr txBox="1"/>
          <p:nvPr/>
        </p:nvSpPr>
        <p:spPr>
          <a:xfrm>
            <a:off x="9418320" y="279806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Imágenes, AIS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8686800" y="3611880"/>
            <a:ext cx="292608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814816" y="3721608"/>
            <a:ext cx="493776" cy="493776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3322" y="3840114"/>
            <a:ext cx="256764" cy="256764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9418320" y="3712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Mercado / Consumidores</a:t>
            </a:r>
            <a:endParaRPr lang="en-US" sz="1150" dirty="0"/>
          </a:p>
        </p:txBody>
      </p:sp>
      <p:sp>
        <p:nvSpPr>
          <p:cNvPr id="44" name="Text 36"/>
          <p:cNvSpPr txBox="1"/>
          <p:nvPr/>
        </p:nvSpPr>
        <p:spPr>
          <a:xfrm>
            <a:off x="9418320" y="39867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Verificación de trazabilidad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8686800" y="4800600"/>
            <a:ext cx="292608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8814816" y="4910328"/>
            <a:ext cx="493776" cy="493776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3322" y="5028834"/>
            <a:ext cx="256764" cy="256764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9418320" y="49011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Org. ambientales / I+D</a:t>
            </a:r>
            <a:endParaRPr lang="en-US" sz="1150" dirty="0"/>
          </a:p>
        </p:txBody>
      </p:sp>
      <p:sp>
        <p:nvSpPr>
          <p:cNvPr id="49" name="Text 40"/>
          <p:cNvSpPr txBox="1"/>
          <p:nvPr/>
        </p:nvSpPr>
        <p:spPr>
          <a:xfrm>
            <a:off x="9418320" y="51755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Organizaciones ambientales</a:t>
            </a:r>
            <a:endParaRPr lang="en-US" sz="950" dirty="0"/>
          </a:p>
        </p:txBody>
      </p:sp>
      <p:sp>
        <p:nvSpPr>
          <p:cNvPr id="50" name="Shape 41"/>
          <p:cNvSpPr/>
          <p:nvPr/>
        </p:nvSpPr>
        <p:spPr>
          <a:xfrm>
            <a:off x="4800600" y="3383280"/>
            <a:ext cx="2606040" cy="1188720"/>
          </a:xfrm>
          <a:prstGeom prst="roundRect">
            <a:avLst>
              <a:gd name="adj" fmla="val 12308"/>
            </a:avLst>
          </a:prstGeom>
          <a:solidFill>
            <a:srgbClr val="071A2C"/>
          </a:solidFill>
          <a:ln/>
          <a:effectLst>
            <a:outerShdw sx="100000" sy="100000" kx="0" ky="0" algn="bl" rotWithShape="0" blurRad="254000" dist="38100" dir="5400000">
              <a:srgbClr val="0B1D2E">
                <a:alpha val="30000"/>
              </a:srgbClr>
            </a:outerShdw>
          </a:effectLst>
        </p:spPr>
      </p:sp>
      <p:sp>
        <p:nvSpPr>
          <p:cNvPr id="51" name="Shape 42"/>
          <p:cNvSpPr/>
          <p:nvPr/>
        </p:nvSpPr>
        <p:spPr>
          <a:xfrm>
            <a:off x="548640" y="5989320"/>
            <a:ext cx="502920" cy="0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52" name="Text 43"/>
          <p:cNvSpPr txBox="1"/>
          <p:nvPr/>
        </p:nvSpPr>
        <p:spPr>
          <a:xfrm>
            <a:off x="1188720" y="58704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Flujo de información entre cada actor externo y el sistema</a:t>
            </a:r>
            <a:endParaRPr lang="en-US" sz="1000" dirty="0"/>
          </a:p>
        </p:txBody>
      </p:sp>
      <p:sp>
        <p:nvSpPr>
          <p:cNvPr id="53" name="Text 44"/>
          <p:cNvSpPr txBox="1"/>
          <p:nvPr/>
        </p:nvSpPr>
        <p:spPr>
          <a:xfrm>
            <a:off x="4800600" y="35478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SISEP</a:t>
            </a:r>
            <a:endParaRPr lang="en-US" sz="2400" dirty="0"/>
          </a:p>
        </p:txBody>
      </p:sp>
      <p:sp>
        <p:nvSpPr>
          <p:cNvPr id="54" name="Text 45"/>
          <p:cNvSpPr txBox="1"/>
          <p:nvPr/>
        </p:nvSpPr>
        <p:spPr>
          <a:xfrm>
            <a:off x="4800600" y="40416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ECE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 de Monitoreo Pesquero</a:t>
            </a:r>
            <a:endParaRPr lang="en-US" sz="1050" dirty="0"/>
          </a:p>
        </p:txBody>
      </p:sp>
      <p:sp>
        <p:nvSpPr>
          <p:cNvPr id="55" name="Text 46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56" name="Text 47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Vida Submarina — SISEP</dc:title>
  <dc:subject>PptxGenJS Presentation</dc:subject>
  <dc:creator>Equipo Vida Submarina · ADS NRC 62152</dc:creator>
  <cp:lastModifiedBy>Equipo Vida Submarina · ADS NRC 62152</cp:lastModifiedBy>
  <cp:revision>1</cp:revision>
  <dcterms:created xsi:type="dcterms:W3CDTF">2026-09-30T02:27:51Z</dcterms:created>
  <dcterms:modified xsi:type="dcterms:W3CDTF">2026-09-30T02:27:51Z</dcterms:modified>
</cp:coreProperties>
</file>