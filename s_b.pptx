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los casos de uso hay dos actores principales. IMARPE y PRODUCE generan alertas por zonas restringidas o veda, generan reportes y dashboards y realizan auditoría y fiscalización. El pescador o armador registra su embarcación, envía su posición GPS y registra la captura en la bitácora; ese registro incluye la trazabilidad y el QR por lote.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de actividad describe el proceso principal: la embarcación inicia la jornada y enciende el GPS, registra su posición cada 15 minutos, registra la captura con fotos y envía los datos. El sistema valida automáticamente áreas, tallas y permisos: si cumple, almacena la captura y genera el QR del lote; si hay una irregularidad, alerta a las autoridades y al usuario. Al final se generan reportes y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entidad-relación tiene nueve entidades. Un pescador posee embarcaciones; cada embarcación tiene permisos, que el usuario gestiona y que contienen especies; la embarcación tiene capturas, cada captura pertenece a un lote con su código QR y registra una localización; y los sensores generan registros por embarcación.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Pasamos a la Unidad II: modelos de diseño y metodología ágil, con los capítulos 4 y 5 y las herramientas que usamos.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de clases inicial tiene seis clases. Embarcación se compone de Captura y de MonitoreoGPS; cada Captura se compone de DetalleCaptura, que se asocia a una Especie para validar tallas y cuotas; y MonitoreoGPS puede generar una Alerta que notifica a los inspectores.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de secuencia muestra la interacción entre la embarcación, el sistema, la base de datos, IMARPE y PRODUCE. La embarcación envía datos GPS, el sistema los valida contra la base de datos y, si corresponde, envía alertas a IMARPE y PRODUCE. Luego se registran bitácora y fotos, se confirma y se genera el QR; finalmente se envían reportes a ambas instituciones y una notificación a la embarcación.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Trabajamos con Scrum, una metodología ágil basada en sprints cortos que entregan valor de forma incremental. Partimos de un Product Backlog dividido en épicas y tareas, seleccionamos historias para cada Sprint Backlog, trabajamos en sprints de dos semanas y al final de cada uno obtenemos un incremento funcional.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Product Backlog lo organizamos en Jira en cuatro épicas. El Sprint 1 cubre las historias HU01 a HU06: gestión de flota y actividades pesqueras. El Sprint 2 cubre las historias HU07 a HU15: gestión normativa e inteligencia pesquera y medioambiental. Cada épica se vincula con los requerimientos que atiende.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Planificamos dos sprints de dos semanas. El Sprint 1 implementa la gestión de flota y las actividades pesqueras con seis historias; el Sprint 2 desarrolla la gestión normativa y la inteligencia pesquera y medioambiental con nueve historias. En ambos usamos Jira, y cada sprint termina con un incremento: módulos operativos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fueron nuestras herramientas: Jira para planificar el backlog, los sprints y las tareas; Draw.io para los diagramas UML; dbdiagram.io para el modelo de datos; GitHub como repositorio del proyecto con control de versiones y commits; y Canva para la portada y esta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Jira estructuramos el trabajo en cuatro niveles: el proyecto, cuatro épicas, quince historias de usuario y las tareas de cada historia. Durante cada sprint las historias avanzan en el tablero de Por hacer a En curso y a Listo; al cerrar el sprint revisamos el incremento y ajustamos el backlog. Las capturas reales están en los anexos.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conclusiones: SISEP responde a un problema real; el análisis de usuarios nos llevó a requerimientos medibles; los modelos que construimos son coherentes entre sí; y Scrum con Jira nos permitió organizar el trabajo en dos sprints con incrementos. Aquí cada integrante puede añadir su conclusión personal, como pide la plantilla.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Aprendimos que modelar antes de programar reduce ambigüedades, que la consistencia de nombres entre diagramas y base de datos es clave, y que un backlog por épicas hace realistas los sprints. Como mejoras recomendamos una app móvil sin conexión, integrar AIS e imágenes satelitales en tiempo real, analítica predictiva para vedas y cuotas, y un piloto con pescadores artesanales. Cada integrante puede complementar con sus lecciones personales.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referencias en formato ISO 690 numérico. Los números entre corchetes aparecen en las diapositivas donde usamos cada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los anexos mostramos las evidencias: el tablero y backlog en Jira, el repositorio en GitHub con su historial de commits y fotos del trabajo en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Muchas gracias por su atención.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png"/><Relationship Id="rId17" Type="http://schemas.openxmlformats.org/officeDocument/2006/relationships/image" Target="../media/image-2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n.org/sustainabledevelopment/es/oceans/" TargetMode="External"/><Relationship Id="rId3" Type="http://schemas.openxmlformats.org/officeDocument/2006/relationships/hyperlink" Target="https://www.imarpe.gob.pe" TargetMode="External"/><Relationship Id="rId4" Type="http://schemas.openxmlformats.org/officeDocument/2006/relationships/hyperlink" Target="https://www.gob.pe/produce" TargetMode="External"/><Relationship Id="rId5" Type="http://schemas.openxmlformats.org/officeDocument/2006/relationships/hyperlink" Target="https://scrumguides.org" TargetMode="External"/><Relationship Id="rId1" Type="http://schemas.openxmlformats.org/officeDocument/2006/relationships/image" Target="../media/Slide-29-image-1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98064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3 · MODELO FUNCIONAL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Casos de uso generales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331720" y="1554480"/>
            <a:ext cx="7543800" cy="4617720"/>
          </a:xfrm>
          <a:prstGeom prst="roundRect">
            <a:avLst>
              <a:gd name="adj" fmla="val 3564"/>
            </a:avLst>
          </a:prstGeom>
          <a:solidFill>
            <a:srgbClr val="F4F9FA"/>
          </a:solidFill>
          <a:ln w="15875">
            <a:solidFill>
              <a:srgbClr val="9CC3CF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56032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SISEP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flipV="1">
            <a:off x="1481328" y="2468880"/>
            <a:ext cx="1216152" cy="1143000"/>
          </a:xfrm>
          <a:prstGeom prst="line">
            <a:avLst/>
          </a:prstGeom>
          <a:noFill/>
          <a:ln w="15875">
            <a:solidFill>
              <a:srgbClr val="5A6B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481328" y="3611880"/>
            <a:ext cx="1216152" cy="0"/>
          </a:xfrm>
          <a:prstGeom prst="line">
            <a:avLst/>
          </a:prstGeom>
          <a:noFill/>
          <a:ln w="15875">
            <a:solidFill>
              <a:srgbClr val="5A6B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81328" y="3611880"/>
            <a:ext cx="1216152" cy="1143000"/>
          </a:xfrm>
          <a:prstGeom prst="line">
            <a:avLst/>
          </a:prstGeom>
          <a:noFill/>
          <a:ln w="15875">
            <a:solidFill>
              <a:srgbClr val="5A6B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9555480" y="2331720"/>
            <a:ext cx="1170432" cy="1280160"/>
          </a:xfrm>
          <a:prstGeom prst="line">
            <a:avLst/>
          </a:prstGeom>
          <a:noFill/>
          <a:ln w="15875">
            <a:solidFill>
              <a:srgbClr val="5A6B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9555480" y="3291840"/>
            <a:ext cx="1170432" cy="320040"/>
          </a:xfrm>
          <a:prstGeom prst="line">
            <a:avLst/>
          </a:prstGeom>
          <a:noFill/>
          <a:ln w="15875">
            <a:solidFill>
              <a:srgbClr val="5A6B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9555480" y="3611880"/>
            <a:ext cx="1170432" cy="640080"/>
          </a:xfrm>
          <a:prstGeom prst="line">
            <a:avLst/>
          </a:prstGeom>
          <a:noFill/>
          <a:ln w="15875">
            <a:solidFill>
              <a:srgbClr val="5A6B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9555480" y="3611880"/>
            <a:ext cx="1170432" cy="2011680"/>
          </a:xfrm>
          <a:prstGeom prst="line">
            <a:avLst/>
          </a:prstGeom>
          <a:noFill/>
          <a:ln w="15875">
            <a:solidFill>
              <a:srgbClr val="5A6B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7480" y="2103120"/>
            <a:ext cx="315468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880360" y="21031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Generar alertas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(zonas restringidas, veda)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97480" y="3246120"/>
            <a:ext cx="315468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880360" y="32461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Generar reportes / dashboards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97480" y="4389120"/>
            <a:ext cx="315468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880360" y="43891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Auditoría / fiscalización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965960"/>
            <a:ext cx="315468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83680" y="19659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Registrar embarcación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2926080"/>
            <a:ext cx="315468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583680" y="29260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Enviar posición GPS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886200"/>
            <a:ext cx="315468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83680" y="38862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Registrar captura (bitácora)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5257800"/>
            <a:ext cx="3154680" cy="731520"/>
          </a:xfrm>
          <a:prstGeom prst="ellipse">
            <a:avLst/>
          </a:prstGeom>
          <a:solidFill>
            <a:srgbClr val="E3F4F6"/>
          </a:solidFill>
          <a:ln w="19050">
            <a:solidFill>
              <a:srgbClr val="0E7C86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583680" y="52578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Trazabilidad y QR por lote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78140" y="4617720"/>
            <a:ext cx="0" cy="640080"/>
          </a:xfrm>
          <a:prstGeom prst="line">
            <a:avLst/>
          </a:prstGeom>
          <a:noFill/>
          <a:ln w="19050">
            <a:solidFill>
              <a:srgbClr val="0E7C86"/>
            </a:solidFill>
            <a:prstDash val="dash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8087868" y="4754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«include»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80160" y="295351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81328" y="3355848"/>
            <a:ext cx="0" cy="694944"/>
          </a:xfrm>
          <a:prstGeom prst="line">
            <a:avLst/>
          </a:prstGeom>
          <a:noFill/>
          <a:ln w="25400">
            <a:solidFill>
              <a:srgbClr val="0B2A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7280" y="3611880"/>
            <a:ext cx="768096" cy="0"/>
          </a:xfrm>
          <a:prstGeom prst="line">
            <a:avLst/>
          </a:prstGeom>
          <a:noFill/>
          <a:ln w="25400">
            <a:solidFill>
              <a:srgbClr val="0B2A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1179576" y="4050792"/>
            <a:ext cx="301752" cy="475488"/>
          </a:xfrm>
          <a:prstGeom prst="line">
            <a:avLst/>
          </a:prstGeom>
          <a:noFill/>
          <a:ln w="25400">
            <a:solidFill>
              <a:srgbClr val="0B2A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81328" y="4050792"/>
            <a:ext cx="301752" cy="475488"/>
          </a:xfrm>
          <a:prstGeom prst="line">
            <a:avLst/>
          </a:prstGeom>
          <a:noFill/>
          <a:ln w="25400">
            <a:solidFill>
              <a:srgbClr val="0B2A4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2386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IMARPE / PRODUCE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26426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Institución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24744" y="295351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725912" y="3355848"/>
            <a:ext cx="0" cy="694944"/>
          </a:xfrm>
          <a:prstGeom prst="line">
            <a:avLst/>
          </a:prstGeom>
          <a:noFill/>
          <a:ln w="25400">
            <a:solidFill>
              <a:srgbClr val="0B2A4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41864" y="3611880"/>
            <a:ext cx="768096" cy="0"/>
          </a:xfrm>
          <a:prstGeom prst="line">
            <a:avLst/>
          </a:prstGeom>
          <a:noFill/>
          <a:ln w="25400">
            <a:solidFill>
              <a:srgbClr val="0B2A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>
            <a:off x="10424160" y="4050792"/>
            <a:ext cx="301752" cy="475488"/>
          </a:xfrm>
          <a:prstGeom prst="line">
            <a:avLst/>
          </a:prstGeom>
          <a:noFill/>
          <a:ln w="25400">
            <a:solidFill>
              <a:srgbClr val="0B2A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25912" y="4050792"/>
            <a:ext cx="301752" cy="475488"/>
          </a:xfrm>
          <a:prstGeom prst="line">
            <a:avLst/>
          </a:prstGeom>
          <a:noFill/>
          <a:ln w="25400">
            <a:solidFill>
              <a:srgbClr val="0B2A4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811512" y="2386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Pescador / Armador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811512" y="26426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Usuario de campo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62656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3 · MODELO DE PROCESOS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Diagrama de actividad (UML)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Flujo principal desde el inicio de la jornada de pesca hasta la generación de reportes.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65760" cy="365760"/>
          </a:xfrm>
          <a:prstGeom prst="ellipse">
            <a:avLst/>
          </a:prstGeom>
          <a:solidFill>
            <a:srgbClr val="0B1D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2770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Inicio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2514600"/>
            <a:ext cx="320040" cy="0"/>
          </a:xfrm>
          <a:prstGeom prst="line">
            <a:avLst/>
          </a:prstGeom>
          <a:noFill/>
          <a:ln w="1905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234440" y="2057400"/>
            <a:ext cx="22860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417320" y="20574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embarcación inicia la jornada y enciende el GPS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24712" y="1929384"/>
            <a:ext cx="310896" cy="310896"/>
          </a:xfrm>
          <a:prstGeom prst="ellipse">
            <a:avLst/>
          </a:prstGeom>
          <a:solidFill>
            <a:srgbClr val="2EC4C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24712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2514600"/>
            <a:ext cx="320040" cy="0"/>
          </a:xfrm>
          <a:prstGeom prst="line">
            <a:avLst/>
          </a:prstGeom>
          <a:noFill/>
          <a:ln w="1905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40480" y="2057400"/>
            <a:ext cx="22860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023360" y="20574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Registro periódico de GPS (cada 15 min) y sensores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30752" y="1929384"/>
            <a:ext cx="310896" cy="310896"/>
          </a:xfrm>
          <a:prstGeom prst="ellipse">
            <a:avLst/>
          </a:prstGeom>
          <a:solidFill>
            <a:srgbClr val="2EC4C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730752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514600"/>
            <a:ext cx="320040" cy="0"/>
          </a:xfrm>
          <a:prstGeom prst="line">
            <a:avLst/>
          </a:prstGeom>
          <a:noFill/>
          <a:ln w="1905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46520" y="2057400"/>
            <a:ext cx="22860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629400" y="20574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Registro de captura en bitácora digital + fotos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36792" y="1929384"/>
            <a:ext cx="310896" cy="310896"/>
          </a:xfrm>
          <a:prstGeom prst="ellipse">
            <a:avLst/>
          </a:prstGeom>
          <a:solidFill>
            <a:srgbClr val="2EC4C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36792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32520" y="2514600"/>
            <a:ext cx="320040" cy="0"/>
          </a:xfrm>
          <a:prstGeom prst="line">
            <a:avLst/>
          </a:prstGeom>
          <a:noFill/>
          <a:ln w="1905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52560" y="2057400"/>
            <a:ext cx="22860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235440" y="20574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Envío de datos a la plataforma (sync inmediata o por lotes)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42832" y="1929384"/>
            <a:ext cx="310896" cy="310896"/>
          </a:xfrm>
          <a:prstGeom prst="ellipse">
            <a:avLst/>
          </a:prstGeom>
          <a:solidFill>
            <a:srgbClr val="2EC4C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42832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195560" y="2971800"/>
            <a:ext cx="0" cy="571500"/>
          </a:xfrm>
          <a:prstGeom prst="line">
            <a:avLst/>
          </a:prstGeom>
          <a:noFill/>
          <a:ln w="1905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21140" y="3543300"/>
            <a:ext cx="2148840" cy="1325880"/>
          </a:xfrm>
          <a:prstGeom prst="diamond">
            <a:avLst/>
          </a:prstGeom>
          <a:solidFill>
            <a:srgbClr val="E3F4F6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95460" y="3840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Validación automática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(áreas, tallas, permisos)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257800" y="3291840"/>
            <a:ext cx="2743200" cy="777240"/>
          </a:xfrm>
          <a:prstGeom prst="roundRect">
            <a:avLst>
              <a:gd name="adj" fmla="val 16471"/>
            </a:avLst>
          </a:prstGeom>
          <a:solidFill>
            <a:srgbClr val="E6F6F4"/>
          </a:solidFill>
          <a:ln w="15875">
            <a:solidFill>
              <a:srgbClr val="0E7C86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440680" y="3291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Almacenar captura, generar QR y registrar lote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57800" y="4846320"/>
            <a:ext cx="2743200" cy="777240"/>
          </a:xfrm>
          <a:prstGeom prst="roundRect">
            <a:avLst>
              <a:gd name="adj" fmla="val 16471"/>
            </a:avLst>
          </a:prstGeom>
          <a:solidFill>
            <a:srgbClr val="FDECE9"/>
          </a:solidFill>
          <a:ln w="15875">
            <a:solidFill>
              <a:srgbClr val="E8553F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5440680" y="4846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Generar alerta y notificar a autoridades y usuario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 flipH="1" flipV="1">
            <a:off x="8001000" y="3680460"/>
            <a:ext cx="1120140" cy="52578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8001000" y="4206240"/>
            <a:ext cx="1120140" cy="1028700"/>
          </a:xfrm>
          <a:prstGeom prst="line">
            <a:avLst/>
          </a:prstGeom>
          <a:noFill/>
          <a:ln w="19050">
            <a:solidFill>
              <a:srgbClr val="E8553F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7973568" y="3383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[cumple reglas]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092440" y="5349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[irregularidad]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103120" y="3749040"/>
            <a:ext cx="24231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2286000" y="37490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Generar reportes y dashboards (estadísticas, tendencias)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 flipH="1">
            <a:off x="4526280" y="3680460"/>
            <a:ext cx="731520" cy="525780"/>
          </a:xfrm>
          <a:prstGeom prst="line">
            <a:avLst/>
          </a:prstGeom>
          <a:noFill/>
          <a:ln w="1905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H="1" flipV="1">
            <a:off x="4526280" y="4206240"/>
            <a:ext cx="731520" cy="1028700"/>
          </a:xfrm>
          <a:prstGeom prst="line">
            <a:avLst/>
          </a:prstGeom>
          <a:noFill/>
          <a:ln w="1905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>
            <a:off x="1417320" y="4206240"/>
            <a:ext cx="685800" cy="0"/>
          </a:xfrm>
          <a:prstGeom prst="line">
            <a:avLst/>
          </a:prstGeom>
          <a:noFill/>
          <a:ln w="1905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60120" y="39776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B1D2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1560" y="4069080"/>
            <a:ext cx="274320" cy="274320"/>
          </a:xfrm>
          <a:prstGeom prst="ellipse">
            <a:avLst/>
          </a:prstGeom>
          <a:solidFill>
            <a:srgbClr val="0B1D2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22960" y="44988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8640" y="5760720"/>
            <a:ext cx="11064240" cy="475488"/>
          </a:xfrm>
          <a:prstGeom prst="roundRect">
            <a:avLst>
              <a:gd name="adj" fmla="val 19231"/>
            </a:avLst>
          </a:prstGeom>
          <a:solidFill>
            <a:srgbClr val="E3F4F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77240" y="5760720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Clave: </a:t>
            </a:r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validación aplica las reglas de dominio (RD01); lo que cumple se certifica con QR y lo irregular dispara una alerta.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715768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3 · MODELO DE DATOS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entidad-relación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651760" y="3771900"/>
            <a:ext cx="822960" cy="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51760" y="35250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posee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38084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0..*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577840" y="2171700"/>
            <a:ext cx="822960" cy="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77840" y="19248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2082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1..*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503920" y="2171700"/>
            <a:ext cx="822960" cy="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0" y="19248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contiene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22082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N..*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77840" y="3771900"/>
            <a:ext cx="822960" cy="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77840" y="35250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tiene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38084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1..*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503920" y="3771900"/>
            <a:ext cx="822960" cy="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0" y="35250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pertenece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8084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N..1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 flipV="1">
            <a:off x="4526280" y="4343400"/>
            <a:ext cx="0" cy="45720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7720" y="4361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N..*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52360" y="4343400"/>
            <a:ext cx="0" cy="45720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3800" y="4361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 flipV="1">
            <a:off x="5257800" y="2743200"/>
            <a:ext cx="1463040" cy="457200"/>
          </a:xfrm>
          <a:prstGeom prst="line">
            <a:avLst/>
          </a:prstGeom>
          <a:noFill/>
          <a:ln w="15875">
            <a:solidFill>
              <a:srgbClr val="0F4C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59552" y="28072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tiene </a:t>
            </a:r>
            <a:pPr algn="l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1..*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0" y="16002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0" y="16002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28" name="Shape 26"/>
          <p:cNvSpPr/>
          <p:nvPr/>
        </p:nvSpPr>
        <p:spPr>
          <a:xfrm>
            <a:off x="3474720" y="17830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611880" y="1600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611880" y="20025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id_usr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nombre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auth_2fa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16002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0" y="16002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0" y="17830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37960" y="1600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Permiso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537960" y="20025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id_perm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id_emb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tipo_permiso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fecha_inicio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fecha_fin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326880" y="16002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326880" y="16002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38" name="Shape 36"/>
          <p:cNvSpPr/>
          <p:nvPr/>
        </p:nvSpPr>
        <p:spPr>
          <a:xfrm>
            <a:off x="9326880" y="17830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64040" y="1600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Especie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9464040" y="20025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id_esp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nombre_cientifico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nombre_comun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talla_minima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32004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" y="32004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43" name="Shape 41"/>
          <p:cNvSpPr/>
          <p:nvPr/>
        </p:nvSpPr>
        <p:spPr>
          <a:xfrm>
            <a:off x="548640" y="33832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85800" y="3200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Pescador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36027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id_pesc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nombre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documento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comunidad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contacto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74720" y="32004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474720" y="32004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48" name="Shape 46"/>
          <p:cNvSpPr/>
          <p:nvPr/>
        </p:nvSpPr>
        <p:spPr>
          <a:xfrm>
            <a:off x="3474720" y="33832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3611880" y="3200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Embarcación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3611880" y="36027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id_emb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nombre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eslora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matricula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owner_id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00800" y="32004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00800" y="32004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53" name="Shape 51"/>
          <p:cNvSpPr/>
          <p:nvPr/>
        </p:nvSpPr>
        <p:spPr>
          <a:xfrm>
            <a:off x="6400800" y="33832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537960" y="3200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Captura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6537960" y="36027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id_capt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fecha_hora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total_kg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id_emb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id_lote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lugar_id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326880" y="32004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9326880" y="32004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58" name="Shape 56"/>
          <p:cNvSpPr/>
          <p:nvPr/>
        </p:nvSpPr>
        <p:spPr>
          <a:xfrm>
            <a:off x="9326880" y="33832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9464040" y="3200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Lote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9464040" y="36027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id_lote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codigo_qr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fecha_creacion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estado_trazabilidad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474720" y="48006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474720" y="48006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63" name="Shape 61"/>
          <p:cNvSpPr/>
          <p:nvPr/>
        </p:nvSpPr>
        <p:spPr>
          <a:xfrm>
            <a:off x="3474720" y="49834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3611880" y="4800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SensorRegistro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3611880" y="52029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id_reg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id_emb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lat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tipo_sensor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valor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00800" y="48006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8D2D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400800" y="4800600"/>
            <a:ext cx="2103120" cy="329184"/>
          </a:xfrm>
          <a:prstGeom prst="roundRect">
            <a:avLst>
              <a:gd name="adj" fmla="val 27778"/>
            </a:avLst>
          </a:prstGeom>
          <a:solidFill>
            <a:srgbClr val="0B2A45"/>
          </a:solidFill>
          <a:ln/>
        </p:spPr>
      </p:sp>
      <p:sp>
        <p:nvSpPr>
          <p:cNvPr id="68" name="Shape 66"/>
          <p:cNvSpPr/>
          <p:nvPr/>
        </p:nvSpPr>
        <p:spPr>
          <a:xfrm>
            <a:off x="6400800" y="4983480"/>
            <a:ext cx="2103120" cy="146304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6537960" y="4800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Localización</a:t>
            </a:r>
            <a:endParaRPr lang="en-US" sz="1050" dirty="0"/>
          </a:p>
        </p:txBody>
      </p:sp>
      <p:sp>
        <p:nvSpPr>
          <p:cNvPr id="70" name="Text 68"/>
          <p:cNvSpPr txBox="1"/>
          <p:nvPr/>
        </p:nvSpPr>
        <p:spPr>
          <a:xfrm>
            <a:off x="6537960" y="520293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id_loc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latitud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· 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longitud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zona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548640" y="164592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 la base de datos que soportará las operaciones de SISEP: flota, permisos, capturas, lotes y registros de sensores.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548640" y="480060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E3F4F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777240" y="48463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PK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clave primaria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FK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clave foránea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1..*  N..1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cardinalidad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9326880" y="4800600"/>
            <a:ext cx="2286000" cy="1143000"/>
          </a:xfrm>
          <a:prstGeom prst="roundRect">
            <a:avLst>
              <a:gd name="adj" fmla="val 9600"/>
            </a:avLst>
          </a:prstGeom>
          <a:solidFill>
            <a:srgbClr val="071A2C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9509760" y="4846320"/>
            <a:ext cx="731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4400" dirty="0"/>
          </a:p>
        </p:txBody>
      </p:sp>
      <p:sp>
        <p:nvSpPr>
          <p:cNvPr id="76" name="Text 74"/>
          <p:cNvSpPr txBox="1"/>
          <p:nvPr/>
        </p:nvSpPr>
        <p:spPr>
          <a:xfrm>
            <a:off x="10241280" y="484632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entidades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E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relaciones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78" name="Text 76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502920"/>
            <a:ext cx="5943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0" b="1" dirty="0">
                <a:solidFill>
                  <a:srgbClr val="2EC4C9">
                    <a:alpha val="28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9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UNIDAD II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de Diseño y</a:t>
            </a:r>
            <a:endParaRPr lang="en-US" sz="3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Metodología Ágil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394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8ECE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Semanas 5–7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86600" y="1760220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0E3453">
              <a:alpha val="8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194310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846" y="2085746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138160" y="19431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4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21534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de diseño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086600" y="2948940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0E3453">
              <a:alpha val="8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0" y="313182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846" y="3274466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138160" y="31318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5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8138160" y="33421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Metodología de trabajo: Scrum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086600" y="4137660"/>
            <a:ext cx="4526280" cy="960120"/>
          </a:xfrm>
          <a:prstGeom prst="roundRect">
            <a:avLst>
              <a:gd name="adj" fmla="val 11429"/>
            </a:avLst>
          </a:prstGeom>
          <a:solidFill>
            <a:srgbClr val="0E3453">
              <a:alpha val="8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0" y="4320540"/>
            <a:ext cx="594360" cy="59436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7846" y="446318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38160" y="43205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HERRAMIENTAS</a:t>
            </a:r>
            <a:endParaRPr lang="en-US" sz="850" dirty="0"/>
          </a:p>
        </p:txBody>
      </p:sp>
      <p:sp>
        <p:nvSpPr>
          <p:cNvPr id="20" name="Text 15"/>
          <p:cNvSpPr txBox="1"/>
          <p:nvPr/>
        </p:nvSpPr>
        <p:spPr>
          <a:xfrm>
            <a:off x="8138160" y="453085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Jira, Draw.io, dbdiagram.io, GitHub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7FA7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22" name="Text 17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62656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4 · MODELO ESTRUCTURAL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Diagrama de clases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01752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28800"/>
            <a:ext cx="3017520" cy="347472"/>
          </a:xfrm>
          <a:prstGeom prst="rect">
            <a:avLst/>
          </a:prstGeom>
          <a:solidFill>
            <a:srgbClr val="0B2A45"/>
          </a:solidFill>
          <a:ln w="12700">
            <a:solidFill>
              <a:srgbClr val="0F4C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28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Embarcacion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278892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matricula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nombre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tipoEmbarcacion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capacidadBodega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estado : string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3150108"/>
            <a:ext cx="3017520" cy="0"/>
          </a:xfrm>
          <a:prstGeom prst="line">
            <a:avLst/>
          </a:prstGeom>
          <a:noFill/>
          <a:ln w="12700">
            <a:solidFill>
              <a:srgbClr val="0F4C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214116"/>
            <a:ext cx="27889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registrarCaptura()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enviarPosicionGPS()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consultarEstado()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90288" y="1828800"/>
            <a:ext cx="3017520" cy="1787652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0288" y="1828800"/>
            <a:ext cx="3017520" cy="347472"/>
          </a:xfrm>
          <a:prstGeom prst="rect">
            <a:avLst/>
          </a:prstGeom>
          <a:solidFill>
            <a:srgbClr val="0B2A45"/>
          </a:solidFill>
          <a:ln w="12700">
            <a:solidFill>
              <a:srgbClr val="0F4C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0288" y="1828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DetalleCaptura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224028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cantidadKg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cantidadUnidades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tallaPromedioCm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cumpleTallaMinima : string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90288" y="2980944"/>
            <a:ext cx="3017520" cy="0"/>
          </a:xfrm>
          <a:prstGeom prst="line">
            <a:avLst/>
          </a:prstGeom>
          <a:noFill/>
          <a:ln w="12700">
            <a:solidFill>
              <a:srgbClr val="0F4C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27448" y="3044952"/>
            <a:ext cx="27889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validarTalla()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calcularTotal()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verificarCuota()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485632" y="1828800"/>
            <a:ext cx="3017520" cy="1618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85632" y="1828800"/>
            <a:ext cx="3017520" cy="347472"/>
          </a:xfrm>
          <a:prstGeom prst="rect">
            <a:avLst/>
          </a:prstGeom>
          <a:solidFill>
            <a:srgbClr val="0B2A45"/>
          </a:solidFill>
          <a:ln w="12700">
            <a:solidFill>
              <a:srgbClr val="0F4C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85632" y="1828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MonitoreoGPS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622792" y="224028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fechaHora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latitud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longitud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enZonaPermitida : string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85632" y="2980944"/>
            <a:ext cx="3017520" cy="0"/>
          </a:xfrm>
          <a:prstGeom prst="line">
            <a:avLst/>
          </a:prstGeom>
          <a:noFill/>
          <a:ln w="12700">
            <a:solidFill>
              <a:srgbClr val="0F4C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22792" y="3044952"/>
            <a:ext cx="2788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capturarPosicion()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validarZona()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206240"/>
            <a:ext cx="301752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4206240"/>
            <a:ext cx="3017520" cy="347472"/>
          </a:xfrm>
          <a:prstGeom prst="rect">
            <a:avLst/>
          </a:prstGeom>
          <a:solidFill>
            <a:srgbClr val="0B2A45"/>
          </a:solidFill>
          <a:ln w="12700">
            <a:solidFill>
              <a:srgbClr val="0F4C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206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617720"/>
            <a:ext cx="278892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fechaHora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longitud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zonaPesca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temperaturaAgua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codigoQR : string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5800" y="5527548"/>
            <a:ext cx="3017520" cy="0"/>
          </a:xfrm>
          <a:prstGeom prst="line">
            <a:avLst/>
          </a:prstGeom>
          <a:noFill/>
          <a:ln w="12700">
            <a:solidFill>
              <a:srgbClr val="0F4C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591556"/>
            <a:ext cx="27889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registrarDatos()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generarCodigoQR()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validarCumplimiento()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90288" y="4206240"/>
            <a:ext cx="3017520" cy="1787652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90288" y="4206240"/>
            <a:ext cx="3017520" cy="347472"/>
          </a:xfrm>
          <a:prstGeom prst="rect">
            <a:avLst/>
          </a:prstGeom>
          <a:solidFill>
            <a:srgbClr val="0B2A45"/>
          </a:solidFill>
          <a:ln w="12700">
            <a:solidFill>
              <a:srgbClr val="0F4C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90288" y="4206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Especie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727448" y="461772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nombreComun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nombreCientifico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tallaMinimaCm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cuotaAnualTn : string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90288" y="5358384"/>
            <a:ext cx="3017520" cy="0"/>
          </a:xfrm>
          <a:prstGeom prst="line">
            <a:avLst/>
          </a:prstGeom>
          <a:noFill/>
          <a:ln w="12700">
            <a:solidFill>
              <a:srgbClr val="0F4C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27448" y="5422392"/>
            <a:ext cx="27889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verificarVeda()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consultarCuota()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obtenerTallaMinima()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485632" y="4206240"/>
            <a:ext cx="3017520" cy="1787652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6B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485632" y="4206240"/>
            <a:ext cx="3017520" cy="347472"/>
          </a:xfrm>
          <a:prstGeom prst="rect">
            <a:avLst/>
          </a:prstGeom>
          <a:solidFill>
            <a:srgbClr val="0B2A45"/>
          </a:solidFill>
          <a:ln w="12700">
            <a:solidFill>
              <a:srgbClr val="0F4C6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485632" y="42062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Alerta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622792" y="4617720"/>
            <a:ext cx="278892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tipoAlerta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descripcion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fechaHora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nivelGravedad : string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estadoAtencion : string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485632" y="5527548"/>
            <a:ext cx="3017520" cy="0"/>
          </a:xfrm>
          <a:prstGeom prst="line">
            <a:avLst/>
          </a:prstGeom>
          <a:noFill/>
          <a:ln w="12700">
            <a:solidFill>
              <a:srgbClr val="0F4C6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622792" y="5591556"/>
            <a:ext cx="2788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generarAlerta()</a:t>
            </a:r>
            <a:endParaRPr lang="en-US" sz="900" dirty="0"/>
          </a:p>
          <a:p>
            <a:pPr indent="0" marL="0">
              <a:lnSpc>
                <a:spcPts val="1330"/>
              </a:lnSpc>
              <a:buNone/>
            </a:pPr>
            <a:r>
              <a:rPr lang="en-US" sz="900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notificarInspectores()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194560" y="3913632"/>
            <a:ext cx="0" cy="292608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12264" y="3785616"/>
            <a:ext cx="164592" cy="256032"/>
          </a:xfrm>
          <a:prstGeom prst="diamond">
            <a:avLst/>
          </a:prstGeom>
          <a:solidFill>
            <a:srgbClr val="0B2A45"/>
          </a:solidFill>
          <a:ln w="9525">
            <a:solidFill>
              <a:srgbClr val="0B2A4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286000" y="38313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2286000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+captura  1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99048" y="3744468"/>
            <a:ext cx="0" cy="461772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16752" y="3616452"/>
            <a:ext cx="164592" cy="256032"/>
          </a:xfrm>
          <a:prstGeom prst="diamond">
            <a:avLst/>
          </a:prstGeom>
          <a:solidFill>
            <a:srgbClr val="0B2A45"/>
          </a:solidFill>
          <a:ln w="9525">
            <a:solidFill>
              <a:srgbClr val="0B2A4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90488" y="36621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6190488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+especie  0..1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994392" y="3575304"/>
            <a:ext cx="0" cy="630936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912096" y="3447288"/>
            <a:ext cx="164592" cy="256032"/>
          </a:xfrm>
          <a:prstGeom prst="diamond">
            <a:avLst/>
          </a:prstGeom>
          <a:solidFill>
            <a:srgbClr val="0B2A45"/>
          </a:solidFill>
          <a:ln w="9525">
            <a:solidFill>
              <a:srgbClr val="0B2A4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085832" y="34930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10085832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+alerta  0..1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831336" y="5029200"/>
            <a:ext cx="329184" cy="0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03320" y="4946904"/>
            <a:ext cx="256032" cy="164592"/>
          </a:xfrm>
          <a:prstGeom prst="diamond">
            <a:avLst/>
          </a:prstGeom>
          <a:solidFill>
            <a:srgbClr val="0B2A45"/>
          </a:solidFill>
          <a:ln w="9525">
            <a:solidFill>
              <a:srgbClr val="0B2A4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4160520" y="2697480"/>
            <a:ext cx="0" cy="2331720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60520" y="2697480"/>
            <a:ext cx="429768" cy="0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904488" y="48006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4178808" y="24688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0..1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 flipV="1">
            <a:off x="1325880" y="1572768"/>
            <a:ext cx="0" cy="128016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243584" y="1572768"/>
            <a:ext cx="164592" cy="256032"/>
          </a:xfrm>
          <a:prstGeom prst="diamond">
            <a:avLst/>
          </a:prstGeom>
          <a:solidFill>
            <a:srgbClr val="0B2A45"/>
          </a:solidFill>
          <a:ln w="9525">
            <a:solidFill>
              <a:srgbClr val="0B2A4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25880" y="1572768"/>
            <a:ext cx="8668512" cy="0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994392" y="1572768"/>
            <a:ext cx="0" cy="256032"/>
          </a:xfrm>
          <a:prstGeom prst="line">
            <a:avLst/>
          </a:prstGeom>
          <a:noFill/>
          <a:ln w="15875">
            <a:solidFill>
              <a:srgbClr val="0B2A4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211312" y="13533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+monitoreoGPS  0..1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590288" y="6089904"/>
            <a:ext cx="128016" cy="182880"/>
          </a:xfrm>
          <a:prstGeom prst="diamond">
            <a:avLst/>
          </a:prstGeom>
          <a:solidFill>
            <a:srgbClr val="0B2A45"/>
          </a:solidFill>
          <a:ln w="6350">
            <a:solidFill>
              <a:srgbClr val="0B2A45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800600" y="6053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Composición: el todo (◆) contiene a la parte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67" name="Text 65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09544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4 · MODELO DE INTERACCIÓN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Diagrama de secuencia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Intercambio de mensajes entre la embarcación, el sistema, la base de datos, IMARPE y PRODUCE.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417320" y="2468880"/>
            <a:ext cx="0" cy="3520440"/>
          </a:xfrm>
          <a:prstGeom prst="line">
            <a:avLst/>
          </a:prstGeom>
          <a:noFill/>
          <a:ln w="12700">
            <a:solidFill>
              <a:srgbClr val="9AAAB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749040" y="2468880"/>
            <a:ext cx="0" cy="3520440"/>
          </a:xfrm>
          <a:prstGeom prst="line">
            <a:avLst/>
          </a:prstGeom>
          <a:noFill/>
          <a:ln w="12700">
            <a:solidFill>
              <a:srgbClr val="9AAAB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080760" y="2468880"/>
            <a:ext cx="0" cy="3520440"/>
          </a:xfrm>
          <a:prstGeom prst="line">
            <a:avLst/>
          </a:prstGeom>
          <a:noFill/>
          <a:ln w="12700">
            <a:solidFill>
              <a:srgbClr val="9AAAB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412480" y="2468880"/>
            <a:ext cx="0" cy="3520440"/>
          </a:xfrm>
          <a:prstGeom prst="line">
            <a:avLst/>
          </a:prstGeom>
          <a:noFill/>
          <a:ln w="12700">
            <a:solidFill>
              <a:srgbClr val="9AAAB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0744200" y="2468880"/>
            <a:ext cx="0" cy="3520440"/>
          </a:xfrm>
          <a:prstGeom prst="line">
            <a:avLst/>
          </a:prstGeom>
          <a:noFill/>
          <a:ln w="12700">
            <a:solidFill>
              <a:srgbClr val="9AAAB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675888" y="2560320"/>
            <a:ext cx="146304" cy="3383280"/>
          </a:xfrm>
          <a:prstGeom prst="rect">
            <a:avLst/>
          </a:prstGeom>
          <a:solidFill>
            <a:srgbClr val="E3F4F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92024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5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75688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50976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Embarcación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880360" y="192024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88" y="207568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282696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SistemaMonitoreo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212080" y="192024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207568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614416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BD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543800" y="192024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528" y="207568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946136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IMARPE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875520" y="192024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248" y="207568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277856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1417320" y="2788920"/>
            <a:ext cx="2258568" cy="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  <a:tailEnd type="triangle"/>
          </a:ln>
        </p:spPr>
      </p:sp>
      <p:sp>
        <p:nvSpPr>
          <p:cNvPr id="28" name="Text 21"/>
          <p:cNvSpPr txBox="1"/>
          <p:nvPr/>
        </p:nvSpPr>
        <p:spPr>
          <a:xfrm>
            <a:off x="1618488" y="2569464"/>
            <a:ext cx="950976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A4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GPS datos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3822192" y="3090672"/>
            <a:ext cx="2258568" cy="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  <a:tailEnd type="triangle"/>
          </a:ln>
        </p:spPr>
      </p:sp>
      <p:sp>
        <p:nvSpPr>
          <p:cNvPr id="30" name="Text 23"/>
          <p:cNvSpPr txBox="1"/>
          <p:nvPr/>
        </p:nvSpPr>
        <p:spPr>
          <a:xfrm>
            <a:off x="4023360" y="2871216"/>
            <a:ext cx="822960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A4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Validar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 flipH="1">
            <a:off x="3822192" y="3392424"/>
            <a:ext cx="2258568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dash"/>
            <a:tailEnd type="triangle"/>
          </a:ln>
        </p:spPr>
      </p:sp>
      <p:sp>
        <p:nvSpPr>
          <p:cNvPr id="32" name="Text 25"/>
          <p:cNvSpPr txBox="1"/>
          <p:nvPr/>
        </p:nvSpPr>
        <p:spPr>
          <a:xfrm>
            <a:off x="4023360" y="3172968"/>
            <a:ext cx="950976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Respuesta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3822192" y="3694176"/>
            <a:ext cx="4590288" cy="0"/>
          </a:xfrm>
          <a:prstGeom prst="line">
            <a:avLst/>
          </a:prstGeom>
          <a:noFill/>
          <a:ln w="19050">
            <a:solidFill>
              <a:srgbClr val="E8553F"/>
            </a:solidFill>
            <a:prstDash val="solid"/>
            <a:tailEnd type="triangle"/>
          </a:ln>
        </p:spPr>
      </p:sp>
      <p:sp>
        <p:nvSpPr>
          <p:cNvPr id="34" name="Text 27"/>
          <p:cNvSpPr txBox="1"/>
          <p:nvPr/>
        </p:nvSpPr>
        <p:spPr>
          <a:xfrm>
            <a:off x="4023360" y="3474720"/>
            <a:ext cx="758952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Alerta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3822192" y="3995928"/>
            <a:ext cx="6922008" cy="0"/>
          </a:xfrm>
          <a:prstGeom prst="line">
            <a:avLst/>
          </a:prstGeom>
          <a:noFill/>
          <a:ln w="19050">
            <a:solidFill>
              <a:srgbClr val="E8553F"/>
            </a:solidFill>
            <a:prstDash val="solid"/>
            <a:tailEnd type="triangle"/>
          </a:ln>
        </p:spPr>
      </p:sp>
      <p:sp>
        <p:nvSpPr>
          <p:cNvPr id="36" name="Text 29"/>
          <p:cNvSpPr txBox="1"/>
          <p:nvPr/>
        </p:nvSpPr>
        <p:spPr>
          <a:xfrm>
            <a:off x="4023360" y="3776472"/>
            <a:ext cx="758952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53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5. Alerta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1417320" y="4297680"/>
            <a:ext cx="2258568" cy="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  <a:tailEnd type="triangle"/>
          </a:ln>
        </p:spPr>
      </p:sp>
      <p:sp>
        <p:nvSpPr>
          <p:cNvPr id="38" name="Text 31"/>
          <p:cNvSpPr txBox="1"/>
          <p:nvPr/>
        </p:nvSpPr>
        <p:spPr>
          <a:xfrm>
            <a:off x="1618488" y="4078224"/>
            <a:ext cx="1335024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A4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 Bitácora, fotos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 flipH="1">
            <a:off x="3822192" y="4599432"/>
            <a:ext cx="2258568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dash"/>
            <a:tailEnd type="triangle"/>
          </a:ln>
        </p:spPr>
      </p:sp>
      <p:sp>
        <p:nvSpPr>
          <p:cNvPr id="40" name="Text 33"/>
          <p:cNvSpPr txBox="1"/>
          <p:nvPr/>
        </p:nvSpPr>
        <p:spPr>
          <a:xfrm>
            <a:off x="4023360" y="4379976"/>
            <a:ext cx="1143000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7. Confirmación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3822192" y="4901184"/>
            <a:ext cx="2258568" cy="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  <a:tailEnd type="triangle"/>
          </a:ln>
        </p:spPr>
      </p:sp>
      <p:sp>
        <p:nvSpPr>
          <p:cNvPr id="42" name="Text 35"/>
          <p:cNvSpPr txBox="1"/>
          <p:nvPr/>
        </p:nvSpPr>
        <p:spPr>
          <a:xfrm>
            <a:off x="4023360" y="4681728"/>
            <a:ext cx="1078992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A4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8. QR generado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3822192" y="5202936"/>
            <a:ext cx="4590288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44" name="Text 37"/>
          <p:cNvSpPr txBox="1"/>
          <p:nvPr/>
        </p:nvSpPr>
        <p:spPr>
          <a:xfrm>
            <a:off x="4023360" y="4983480"/>
            <a:ext cx="822960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9. Reporte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3822192" y="5504688"/>
            <a:ext cx="6922008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46" name="Text 39"/>
          <p:cNvSpPr txBox="1"/>
          <p:nvPr/>
        </p:nvSpPr>
        <p:spPr>
          <a:xfrm>
            <a:off x="4023360" y="5285232"/>
            <a:ext cx="886968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10. Reporte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 flipH="1">
            <a:off x="1417320" y="5806440"/>
            <a:ext cx="2258568" cy="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  <a:tailEnd type="triangle"/>
          </a:ln>
        </p:spPr>
      </p:sp>
      <p:sp>
        <p:nvSpPr>
          <p:cNvPr id="48" name="Text 41"/>
          <p:cNvSpPr txBox="1"/>
          <p:nvPr/>
        </p:nvSpPr>
        <p:spPr>
          <a:xfrm>
            <a:off x="1618488" y="5586984"/>
            <a:ext cx="1207008" cy="19202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A4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11. Notificación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5852160" y="6217920"/>
            <a:ext cx="365760" cy="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6291072" y="6108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Llamada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7269480" y="6217920"/>
            <a:ext cx="365760" cy="0"/>
          </a:xfrm>
          <a:prstGeom prst="line">
            <a:avLst/>
          </a:prstGeom>
          <a:noFill/>
          <a:ln w="19050">
            <a:solidFill>
              <a:srgbClr val="5A6B7B"/>
            </a:solidFill>
            <a:prstDash val="dash"/>
          </a:ln>
        </p:spPr>
      </p:sp>
      <p:sp>
        <p:nvSpPr>
          <p:cNvPr id="52" name="Text 45"/>
          <p:cNvSpPr txBox="1"/>
          <p:nvPr/>
        </p:nvSpPr>
        <p:spPr>
          <a:xfrm>
            <a:off x="7708392" y="6108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Respuesta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8686800" y="6217920"/>
            <a:ext cx="365760" cy="0"/>
          </a:xfrm>
          <a:prstGeom prst="line">
            <a:avLst/>
          </a:prstGeom>
          <a:noFill/>
          <a:ln w="19050">
            <a:solidFill>
              <a:srgbClr val="E8553F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9125712" y="6108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Alerta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10104120" y="6217920"/>
            <a:ext cx="365760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10543032" y="6108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Reporte</a:t>
            </a:r>
            <a:endParaRPr lang="en-US" sz="900" dirty="0"/>
          </a:p>
        </p:txBody>
      </p:sp>
      <p:sp>
        <p:nvSpPr>
          <p:cNvPr id="57" name="Text 50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58" name="Text 51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5 · METODOLOGÍA DE TRABAJO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Scrum: entregas cortas, valor continuo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Scrum es una metodología ágil para organizar y desarrollar proyectos complejos, especialmente útil cuando los requisitos pueden cambiar o evolucionar. Se basa en ciclos cortos de trabajo —los sprints— que entregan valor de forma incremental y continua. [6]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55080" y="1600200"/>
            <a:ext cx="1645920" cy="1325880"/>
          </a:xfrm>
          <a:prstGeom prst="roundRect">
            <a:avLst>
              <a:gd name="adj" fmla="val 9655"/>
            </a:avLst>
          </a:prstGeom>
          <a:solidFill>
            <a:srgbClr val="E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55080" y="166420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sprints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138160" y="1600200"/>
            <a:ext cx="1645920" cy="1325880"/>
          </a:xfrm>
          <a:prstGeom prst="roundRect">
            <a:avLst>
              <a:gd name="adj" fmla="val 9655"/>
            </a:avLst>
          </a:prstGeom>
          <a:solidFill>
            <a:srgbClr val="071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38160" y="166420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semanas por sprint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921240" y="1600200"/>
            <a:ext cx="1645920" cy="1325880"/>
          </a:xfrm>
          <a:prstGeom prst="roundRect">
            <a:avLst>
              <a:gd name="adj" fmla="val 9655"/>
            </a:avLst>
          </a:prstGeom>
          <a:solidFill>
            <a:srgbClr val="E3F4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921240" y="166420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1001268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historias de usuario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453896" y="3337560"/>
            <a:ext cx="822960" cy="822960"/>
          </a:xfrm>
          <a:prstGeom prst="ellipse">
            <a:avLst/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406" y="3535070"/>
            <a:ext cx="427939" cy="427939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85216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Backlog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" y="4617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Lista priorizada de funcionalidades, dividida en épicas y tareas.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414016" y="3749040"/>
            <a:ext cx="1719072" cy="0"/>
          </a:xfrm>
          <a:prstGeom prst="line">
            <a:avLst/>
          </a:prstGeom>
          <a:noFill/>
          <a:ln w="2540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270248" y="3337560"/>
            <a:ext cx="822960" cy="822960"/>
          </a:xfrm>
          <a:prstGeom prst="ellipse">
            <a:avLst/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758" y="3535070"/>
            <a:ext cx="427939" cy="427939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401568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Backlog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3493008" y="4617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Historias de usuario seleccionadas para cada sprint.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230368" y="3749040"/>
            <a:ext cx="1719072" cy="0"/>
          </a:xfrm>
          <a:prstGeom prst="line">
            <a:avLst/>
          </a:prstGeom>
          <a:noFill/>
          <a:ln w="2540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7086600" y="3337560"/>
            <a:ext cx="822960" cy="822960"/>
          </a:xfrm>
          <a:prstGeom prst="ellipse">
            <a:avLst/>
          </a:prstGeom>
          <a:solidFill>
            <a:srgbClr val="2EC4C9"/>
          </a:solidFill>
          <a:ln/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110" y="3535070"/>
            <a:ext cx="427939" cy="427939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217920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· 2 semanas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6309360" y="4617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Ciclo corto de trabajo gestionado en Jira.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8046720" y="3749040"/>
            <a:ext cx="1719072" cy="0"/>
          </a:xfrm>
          <a:prstGeom prst="line">
            <a:avLst/>
          </a:prstGeom>
          <a:noFill/>
          <a:ln w="25400">
            <a:solidFill>
              <a:srgbClr val="0F4C6B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9902952" y="3337560"/>
            <a:ext cx="822960" cy="822960"/>
          </a:xfrm>
          <a:prstGeom prst="ellipse">
            <a:avLst/>
          </a:prstGeom>
          <a:solidFill>
            <a:srgbClr val="0B2A45"/>
          </a:solidFill>
          <a:ln/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0462" y="3535070"/>
            <a:ext cx="427939" cy="427939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034272" y="4279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Incremento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9125712" y="4617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Entregable funcional: módulos del sistema operativos.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10314432" y="5349240"/>
            <a:ext cx="0" cy="41148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 flipH="1">
            <a:off x="1865376" y="5760720"/>
            <a:ext cx="8449056" cy="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 flipV="1">
            <a:off x="1865376" y="5349240"/>
            <a:ext cx="0" cy="411480"/>
          </a:xfrm>
          <a:prstGeom prst="line">
            <a:avLst/>
          </a:prstGeom>
          <a:noFill/>
          <a:ln w="190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37" name="Text 31"/>
          <p:cNvSpPr txBox="1"/>
          <p:nvPr/>
        </p:nvSpPr>
        <p:spPr>
          <a:xfrm>
            <a:off x="3657600" y="5641848"/>
            <a:ext cx="489204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retroalimentación: se revisa el incremento y se ajusta el backlog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39" name="Text 33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127248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5 · BACKLOG DEL PRODUCTO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Épicas e historias de usuario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Backlog organizado en Jira:  Épica  →  Historia de usuario (HU)  →  Tarea.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F4C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659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9659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HU01 – HU06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633472" cy="361188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697480"/>
            <a:ext cx="566928" cy="566928"/>
          </a:xfrm>
          <a:prstGeom prst="ellipse">
            <a:avLst/>
          </a:prstGeom>
          <a:solidFill>
            <a:srgbClr val="0F4C6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03" y="2833543"/>
            <a:ext cx="294803" cy="29480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81328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ÉPICA 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383280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 flota pesquera</a:t>
            </a:r>
            <a:endParaRPr lang="en-US" sz="13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6908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69848" y="404164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Registrar embarcación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4456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69848" y="451713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Posición GPS cada 15 min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02005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69848" y="4992624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Alertas por zonas restringidas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77240" y="562356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77240" y="5623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RF01.1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1536192" y="562356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1536192" y="5623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RF01.2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3319272" y="2468880"/>
            <a:ext cx="2633472" cy="361188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47872" y="2697480"/>
            <a:ext cx="566928" cy="566928"/>
          </a:xfrm>
          <a:prstGeom prst="ellipse">
            <a:avLst/>
          </a:prstGeom>
          <a:solidFill>
            <a:srgbClr val="0F4C6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3935" y="283354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251960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ÉPICA 2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3547872" y="3383280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Actividades pesqueras</a:t>
            </a:r>
            <a:endParaRPr lang="en-US" sz="13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872" y="4069080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840480" y="404164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Bitácora digital de pesca</a:t>
            </a:r>
            <a:endParaRPr lang="en-US" sz="105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7872" y="4544568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3840480" y="451713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Fotos de capturas como evidencia</a:t>
            </a:r>
            <a:endParaRPr lang="en-US" sz="10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7872" y="5020056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3840480" y="4992624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QR único por lote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3547872" y="562356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6" name="Text 26"/>
          <p:cNvSpPr txBox="1"/>
          <p:nvPr/>
        </p:nvSpPr>
        <p:spPr>
          <a:xfrm>
            <a:off x="3547872" y="5623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RF01.3</a:t>
            </a:r>
            <a:endParaRPr lang="en-US" sz="850" dirty="0"/>
          </a:p>
        </p:txBody>
      </p:sp>
      <p:sp>
        <p:nvSpPr>
          <p:cNvPr id="37" name="Shape 27"/>
          <p:cNvSpPr/>
          <p:nvPr/>
        </p:nvSpPr>
        <p:spPr>
          <a:xfrm>
            <a:off x="4306824" y="562356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8" name="Text 28"/>
          <p:cNvSpPr txBox="1"/>
          <p:nvPr/>
        </p:nvSpPr>
        <p:spPr>
          <a:xfrm>
            <a:off x="4306824" y="5623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RF01.4</a:t>
            </a:r>
            <a:endParaRPr lang="en-US" sz="850" dirty="0"/>
          </a:p>
        </p:txBody>
      </p:sp>
      <p:sp>
        <p:nvSpPr>
          <p:cNvPr id="39" name="Shape 29"/>
          <p:cNvSpPr/>
          <p:nvPr/>
        </p:nvSpPr>
        <p:spPr>
          <a:xfrm>
            <a:off x="5065776" y="562356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5065776" y="5623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RF01.5</a:t>
            </a:r>
            <a:endParaRPr lang="en-US" sz="850" dirty="0"/>
          </a:p>
        </p:txBody>
      </p:sp>
      <p:sp>
        <p:nvSpPr>
          <p:cNvPr id="41" name="Shape 31"/>
          <p:cNvSpPr/>
          <p:nvPr/>
        </p:nvSpPr>
        <p:spPr>
          <a:xfrm>
            <a:off x="6172200" y="196596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2" name="Text 32"/>
          <p:cNvSpPr txBox="1"/>
          <p:nvPr/>
        </p:nvSpPr>
        <p:spPr>
          <a:xfrm>
            <a:off x="6172200" y="19659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2</a:t>
            </a:r>
            <a:endParaRPr lang="en-US" sz="950" dirty="0"/>
          </a:p>
        </p:txBody>
      </p:sp>
      <p:sp>
        <p:nvSpPr>
          <p:cNvPr id="43" name="Text 33"/>
          <p:cNvSpPr txBox="1"/>
          <p:nvPr/>
        </p:nvSpPr>
        <p:spPr>
          <a:xfrm>
            <a:off x="7452360" y="19659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HU07 – HU15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6172200" y="2468880"/>
            <a:ext cx="2633472" cy="361188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400800" y="269748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6863" y="2833543"/>
            <a:ext cx="294803" cy="294803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104888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ÉPICA 3</a:t>
            </a:r>
            <a:endParaRPr lang="en-US" sz="900" dirty="0"/>
          </a:p>
        </p:txBody>
      </p:sp>
      <p:sp>
        <p:nvSpPr>
          <p:cNvPr id="48" name="Text 37"/>
          <p:cNvSpPr txBox="1"/>
          <p:nvPr/>
        </p:nvSpPr>
        <p:spPr>
          <a:xfrm>
            <a:off x="6400800" y="3383280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normativa</a:t>
            </a:r>
            <a:endParaRPr lang="en-US" sz="1350" dirty="0"/>
          </a:p>
        </p:txBody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4069080"/>
            <a:ext cx="201168" cy="201168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6693408" y="404164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Validación de áreas, tallas y permisos</a:t>
            </a:r>
            <a:endParaRPr lang="en-US" sz="1050" dirty="0"/>
          </a:p>
        </p:txBody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4544568"/>
            <a:ext cx="201168" cy="201168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6693408" y="451713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Notificación de irregularidades</a:t>
            </a:r>
            <a:endParaRPr lang="en-US" sz="1050" dirty="0"/>
          </a:p>
        </p:txBody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5020056"/>
            <a:ext cx="201168" cy="201168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6693408" y="4992624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Cumplimiento del D.S. 012-2001-PE</a:t>
            </a:r>
            <a:endParaRPr lang="en-US" sz="1050" dirty="0"/>
          </a:p>
        </p:txBody>
      </p:sp>
      <p:sp>
        <p:nvSpPr>
          <p:cNvPr id="55" name="Shape 41"/>
          <p:cNvSpPr/>
          <p:nvPr/>
        </p:nvSpPr>
        <p:spPr>
          <a:xfrm>
            <a:off x="6400800" y="562356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56" name="Text 42"/>
          <p:cNvSpPr txBox="1"/>
          <p:nvPr/>
        </p:nvSpPr>
        <p:spPr>
          <a:xfrm>
            <a:off x="6400800" y="5623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RF01.7</a:t>
            </a:r>
            <a:endParaRPr lang="en-US" sz="850" dirty="0"/>
          </a:p>
        </p:txBody>
      </p:sp>
      <p:sp>
        <p:nvSpPr>
          <p:cNvPr id="57" name="Shape 43"/>
          <p:cNvSpPr/>
          <p:nvPr/>
        </p:nvSpPr>
        <p:spPr>
          <a:xfrm>
            <a:off x="7159752" y="562356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58" name="Text 44"/>
          <p:cNvSpPr txBox="1"/>
          <p:nvPr/>
        </p:nvSpPr>
        <p:spPr>
          <a:xfrm>
            <a:off x="7159752" y="56235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RD01</a:t>
            </a:r>
            <a:endParaRPr lang="en-US" sz="850" dirty="0"/>
          </a:p>
        </p:txBody>
      </p:sp>
      <p:sp>
        <p:nvSpPr>
          <p:cNvPr id="59" name="Shape 45"/>
          <p:cNvSpPr/>
          <p:nvPr/>
        </p:nvSpPr>
        <p:spPr>
          <a:xfrm>
            <a:off x="7781544" y="562356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60" name="Text 46"/>
          <p:cNvSpPr txBox="1"/>
          <p:nvPr/>
        </p:nvSpPr>
        <p:spPr>
          <a:xfrm>
            <a:off x="7781544" y="56235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RD09</a:t>
            </a:r>
            <a:endParaRPr lang="en-US" sz="850" dirty="0"/>
          </a:p>
        </p:txBody>
      </p:sp>
      <p:sp>
        <p:nvSpPr>
          <p:cNvPr id="61" name="Shape 47"/>
          <p:cNvSpPr/>
          <p:nvPr/>
        </p:nvSpPr>
        <p:spPr>
          <a:xfrm>
            <a:off x="8942832" y="2468880"/>
            <a:ext cx="2633472" cy="3611880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62" name="Shape 48"/>
          <p:cNvSpPr/>
          <p:nvPr/>
        </p:nvSpPr>
        <p:spPr>
          <a:xfrm>
            <a:off x="9171432" y="269748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3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07495" y="2833543"/>
            <a:ext cx="294803" cy="294803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9875520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ÉPICA 4</a:t>
            </a:r>
            <a:endParaRPr lang="en-US" sz="900" dirty="0"/>
          </a:p>
        </p:txBody>
      </p:sp>
      <p:sp>
        <p:nvSpPr>
          <p:cNvPr id="65" name="Text 50"/>
          <p:cNvSpPr txBox="1"/>
          <p:nvPr/>
        </p:nvSpPr>
        <p:spPr>
          <a:xfrm>
            <a:off x="9171432" y="3383280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Inteligencia pesquera y medioambiental</a:t>
            </a:r>
            <a:endParaRPr lang="en-US" sz="1350" dirty="0"/>
          </a:p>
        </p:txBody>
      </p:sp>
      <p:pic>
        <p:nvPicPr>
          <p:cNvPr id="66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71432" y="4069080"/>
            <a:ext cx="201168" cy="201168"/>
          </a:xfrm>
          <a:prstGeom prst="rect">
            <a:avLst/>
          </a:prstGeom>
        </p:spPr>
      </p:pic>
      <p:sp>
        <p:nvSpPr>
          <p:cNvPr id="67" name="Text 51"/>
          <p:cNvSpPr txBox="1"/>
          <p:nvPr/>
        </p:nvSpPr>
        <p:spPr>
          <a:xfrm>
            <a:off x="9464040" y="404164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Condiciones meteorológicas</a:t>
            </a:r>
            <a:endParaRPr lang="en-US" sz="1050" dirty="0"/>
          </a:p>
        </p:txBody>
      </p:sp>
      <p:pic>
        <p:nvPicPr>
          <p:cNvPr id="68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71432" y="4544568"/>
            <a:ext cx="201168" cy="201168"/>
          </a:xfrm>
          <a:prstGeom prst="rect">
            <a:avLst/>
          </a:prstGeom>
        </p:spPr>
      </p:pic>
      <p:sp>
        <p:nvSpPr>
          <p:cNvPr id="69" name="Text 52"/>
          <p:cNvSpPr txBox="1"/>
          <p:nvPr/>
        </p:nvSpPr>
        <p:spPr>
          <a:xfrm>
            <a:off x="9464040" y="451713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Indicadores de sostenibilidad</a:t>
            </a:r>
            <a:endParaRPr lang="en-US" sz="1050" dirty="0"/>
          </a:p>
        </p:txBody>
      </p:sp>
      <p:pic>
        <p:nvPicPr>
          <p:cNvPr id="70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71432" y="5020056"/>
            <a:ext cx="201168" cy="201168"/>
          </a:xfrm>
          <a:prstGeom prst="rect">
            <a:avLst/>
          </a:prstGeom>
        </p:spPr>
      </p:pic>
      <p:sp>
        <p:nvSpPr>
          <p:cNvPr id="71" name="Text 53"/>
          <p:cNvSpPr txBox="1"/>
          <p:nvPr/>
        </p:nvSpPr>
        <p:spPr>
          <a:xfrm>
            <a:off x="9464040" y="4992624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Reportes y dashboards</a:t>
            </a:r>
            <a:endParaRPr lang="en-US" sz="1050" dirty="0"/>
          </a:p>
        </p:txBody>
      </p:sp>
      <p:sp>
        <p:nvSpPr>
          <p:cNvPr id="72" name="Shape 54"/>
          <p:cNvSpPr/>
          <p:nvPr/>
        </p:nvSpPr>
        <p:spPr>
          <a:xfrm>
            <a:off x="9171432" y="5623560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73" name="Text 55"/>
          <p:cNvSpPr txBox="1"/>
          <p:nvPr/>
        </p:nvSpPr>
        <p:spPr>
          <a:xfrm>
            <a:off x="9171432" y="5623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RF01.6</a:t>
            </a:r>
            <a:endParaRPr lang="en-US" sz="850" dirty="0"/>
          </a:p>
        </p:txBody>
      </p:sp>
      <p:sp>
        <p:nvSpPr>
          <p:cNvPr id="74" name="Shape 56"/>
          <p:cNvSpPr/>
          <p:nvPr/>
        </p:nvSpPr>
        <p:spPr>
          <a:xfrm>
            <a:off x="9930384" y="5623560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75" name="Text 57"/>
          <p:cNvSpPr txBox="1"/>
          <p:nvPr/>
        </p:nvSpPr>
        <p:spPr>
          <a:xfrm>
            <a:off x="9930384" y="56235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RD17</a:t>
            </a:r>
            <a:endParaRPr lang="en-US" sz="850" dirty="0"/>
          </a:p>
        </p:txBody>
      </p:sp>
      <p:sp>
        <p:nvSpPr>
          <p:cNvPr id="76" name="Text 58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77" name="Text 59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456432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5 · PLANIFICACIÓN DE SPRINTS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 sprints, dos incrementos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475488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5486400" cy="475488"/>
          </a:xfrm>
          <a:prstGeom prst="roundRect">
            <a:avLst>
              <a:gd name="adj" fmla="val 50000"/>
            </a:avLst>
          </a:prstGeom>
          <a:solidFill>
            <a:srgbClr val="0F4C6B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0" y="1645920"/>
            <a:ext cx="5486400" cy="47548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4592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1  ·  2 SEMANAS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64592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2  ·  2 SEMANAS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48640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HU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3145536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2004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 la gestión de flota pesquera y las actividades pesqueras.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3712464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7673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HISTORIAS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3767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HU01 a HU06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4279392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33425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ÉPICAS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43342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Gestión de flota pesquera · Actividades pesqueras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846320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90118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HERRAMIENTA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194560" y="49011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Jira para la gestión de tareas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5413248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54681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INCREMENTO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2194560" y="54681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Módulos de flota y de actividades pesqueras operativos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2377440"/>
            <a:ext cx="548640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0080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 2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96696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HU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400800" y="3145536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32004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Desarrollar la gestión normativa, la inteligencia pesquera y medioambiental.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0" y="3712464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0" y="37673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HISTORIAS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7772400" y="3767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HU07 a HU15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0" y="4279392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0" y="433425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ÉPICAS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7772400" y="43342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Gestión normativa · Inteligencia pesquera y medioambiental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0" y="4846320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0" y="490118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HERRAMIENTA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7772400" y="49011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Jira para la gestión de tareas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400800" y="5413248"/>
            <a:ext cx="49377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0" y="54681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INCREMENTO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7772400" y="54681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Módulos normativo y de inteligencia pesquera operativos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374136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5 · HERRAMIENTAS UTILIZADAS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Nuestras herramientas de trabajo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B2A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727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· PLANIFICAR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88920" y="1572768"/>
            <a:ext cx="4343400" cy="310896"/>
          </a:xfrm>
          <a:prstGeom prst="roundRect">
            <a:avLst>
              <a:gd name="adj" fmla="val 50000"/>
            </a:avLst>
          </a:prstGeom>
          <a:solidFill>
            <a:srgbClr val="0B2A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88920" y="157276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· MODELAR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269480" y="157276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B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69480" y="15727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· VERSIONAR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509760" y="157276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B2A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509760" y="157276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· PRESENTAR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103120"/>
            <a:ext cx="2103120" cy="342900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2377440"/>
            <a:ext cx="731520" cy="731520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5" y="2553005"/>
            <a:ext cx="380390" cy="38039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7724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Jira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7307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ÁGIL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041648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Backlog con épicas e historias HU01–HU15, planificación de los sprints y seguimiento de tareas.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77240" y="5074920"/>
            <a:ext cx="735178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" y="5074920"/>
            <a:ext cx="73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Backlog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585570" y="5074920"/>
            <a:ext cx="735178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585570" y="5074920"/>
            <a:ext cx="73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Sprints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788920" y="2103120"/>
            <a:ext cx="2103120" cy="342900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017520" y="2377440"/>
            <a:ext cx="731520" cy="731520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085" y="2553005"/>
            <a:ext cx="380390" cy="38039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301752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Draw.io</a:t>
            </a:r>
            <a:endParaRPr lang="en-US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3017520" y="37307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MODELADO UML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3017520" y="4041648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Diagramas de contexto, casos de uso, actividad, clases y secuencia del sistema.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017520" y="5074920"/>
            <a:ext cx="471830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3017520" y="5074920"/>
            <a:ext cx="4718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UML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3562502" y="5074920"/>
            <a:ext cx="866851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3562502" y="5074920"/>
            <a:ext cx="866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Diagramas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5029200" y="2103120"/>
            <a:ext cx="2103120" cy="342900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5257800" y="2377440"/>
            <a:ext cx="731520" cy="731520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365" y="2553005"/>
            <a:ext cx="380390" cy="38039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dbdiagram.io</a:t>
            </a:r>
            <a:endParaRPr lang="en-US" sz="1700" dirty="0"/>
          </a:p>
        </p:txBody>
      </p:sp>
      <p:sp>
        <p:nvSpPr>
          <p:cNvPr id="37" name="Text 32"/>
          <p:cNvSpPr txBox="1"/>
          <p:nvPr/>
        </p:nvSpPr>
        <p:spPr>
          <a:xfrm>
            <a:off x="5257800" y="37307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DE DATOS</a:t>
            </a:r>
            <a:endParaRPr lang="en-US" sz="800" dirty="0"/>
          </a:p>
        </p:txBody>
      </p:sp>
      <p:sp>
        <p:nvSpPr>
          <p:cNvPr id="38" name="Text 33"/>
          <p:cNvSpPr txBox="1"/>
          <p:nvPr/>
        </p:nvSpPr>
        <p:spPr>
          <a:xfrm>
            <a:off x="5257800" y="4041648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Entidades, atributos, claves PK/FK y relaciones de la base de datos.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5257800" y="5074920"/>
            <a:ext cx="471830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5257800" y="5074920"/>
            <a:ext cx="4718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E-R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5802782" y="5074920"/>
            <a:ext cx="735178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5802782" y="5074920"/>
            <a:ext cx="73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PK / FK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7269480" y="2103120"/>
            <a:ext cx="2103120" cy="342900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7498080" y="2377440"/>
            <a:ext cx="731520" cy="731520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645" y="2553005"/>
            <a:ext cx="380390" cy="380390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749808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</a:t>
            </a:r>
            <a:endParaRPr lang="en-US" sz="1700" dirty="0"/>
          </a:p>
        </p:txBody>
      </p:sp>
      <p:sp>
        <p:nvSpPr>
          <p:cNvPr id="47" name="Text 41"/>
          <p:cNvSpPr txBox="1"/>
          <p:nvPr/>
        </p:nvSpPr>
        <p:spPr>
          <a:xfrm>
            <a:off x="7498080" y="37307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DE VERSIONES</a:t>
            </a:r>
            <a:endParaRPr lang="en-US" sz="800" dirty="0"/>
          </a:p>
        </p:txBody>
      </p:sp>
      <p:sp>
        <p:nvSpPr>
          <p:cNvPr id="48" name="Text 42"/>
          <p:cNvSpPr txBox="1"/>
          <p:nvPr/>
        </p:nvSpPr>
        <p:spPr>
          <a:xfrm>
            <a:off x="7498080" y="4041648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Repositorio con el nombre del proyecto: versiones, commits y trabajo colaborativo.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7498080" y="5074920"/>
            <a:ext cx="998525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7498080" y="5074920"/>
            <a:ext cx="9985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Repositorio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8569757" y="5074920"/>
            <a:ext cx="735178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8569757" y="5074920"/>
            <a:ext cx="73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Commits</a:t>
            </a:r>
            <a:endParaRPr lang="en-US" sz="800" dirty="0"/>
          </a:p>
        </p:txBody>
      </p:sp>
      <p:sp>
        <p:nvSpPr>
          <p:cNvPr id="53" name="Shape 47"/>
          <p:cNvSpPr/>
          <p:nvPr/>
        </p:nvSpPr>
        <p:spPr>
          <a:xfrm>
            <a:off x="9509760" y="2103120"/>
            <a:ext cx="2103120" cy="342900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54" name="Shape 48"/>
          <p:cNvSpPr/>
          <p:nvPr/>
        </p:nvSpPr>
        <p:spPr>
          <a:xfrm>
            <a:off x="9738360" y="2377440"/>
            <a:ext cx="731520" cy="731520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3925" y="2553005"/>
            <a:ext cx="380390" cy="380390"/>
          </a:xfrm>
          <a:prstGeom prst="rect">
            <a:avLst/>
          </a:prstGeom>
        </p:spPr>
      </p:pic>
      <p:sp>
        <p:nvSpPr>
          <p:cNvPr id="56" name="Text 49"/>
          <p:cNvSpPr txBox="1"/>
          <p:nvPr/>
        </p:nvSpPr>
        <p:spPr>
          <a:xfrm>
            <a:off x="97383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Canva</a:t>
            </a:r>
            <a:endParaRPr lang="en-US" sz="1700" dirty="0"/>
          </a:p>
        </p:txBody>
      </p:sp>
      <p:sp>
        <p:nvSpPr>
          <p:cNvPr id="57" name="Text 50"/>
          <p:cNvSpPr txBox="1"/>
          <p:nvPr/>
        </p:nvSpPr>
        <p:spPr>
          <a:xfrm>
            <a:off x="9738360" y="37307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DISEÑO</a:t>
            </a:r>
            <a:endParaRPr lang="en-US" sz="800" dirty="0"/>
          </a:p>
        </p:txBody>
      </p:sp>
      <p:sp>
        <p:nvSpPr>
          <p:cNvPr id="58" name="Text 51"/>
          <p:cNvSpPr txBox="1"/>
          <p:nvPr/>
        </p:nvSpPr>
        <p:spPr>
          <a:xfrm>
            <a:off x="9738360" y="4041648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Portada del informe y presentación final del proyecto.</a:t>
            </a:r>
            <a:endParaRPr lang="en-US" sz="1100" dirty="0"/>
          </a:p>
        </p:txBody>
      </p:sp>
      <p:sp>
        <p:nvSpPr>
          <p:cNvPr id="59" name="Shape 52"/>
          <p:cNvSpPr/>
          <p:nvPr/>
        </p:nvSpPr>
        <p:spPr>
          <a:xfrm>
            <a:off x="9738360" y="5074920"/>
            <a:ext cx="735178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60" name="Text 53"/>
          <p:cNvSpPr txBox="1"/>
          <p:nvPr/>
        </p:nvSpPr>
        <p:spPr>
          <a:xfrm>
            <a:off x="9738360" y="5074920"/>
            <a:ext cx="735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Portada</a:t>
            </a:r>
            <a:endParaRPr lang="en-US" sz="800" dirty="0"/>
          </a:p>
        </p:txBody>
      </p:sp>
      <p:sp>
        <p:nvSpPr>
          <p:cNvPr id="61" name="Shape 54"/>
          <p:cNvSpPr/>
          <p:nvPr/>
        </p:nvSpPr>
        <p:spPr>
          <a:xfrm>
            <a:off x="10546690" y="5074920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EEF6F8"/>
          </a:solidFill>
          <a:ln/>
        </p:spPr>
      </p:sp>
      <p:sp>
        <p:nvSpPr>
          <p:cNvPr id="62" name="Text 55"/>
          <p:cNvSpPr txBox="1"/>
          <p:nvPr/>
        </p:nvSpPr>
        <p:spPr>
          <a:xfrm>
            <a:off x="10546690" y="507492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4C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Exposición</a:t>
            </a:r>
            <a:endParaRPr lang="en-US" sz="800" dirty="0"/>
          </a:p>
        </p:txBody>
      </p:sp>
      <p:sp>
        <p:nvSpPr>
          <p:cNvPr id="63" name="Shape 56"/>
          <p:cNvSpPr/>
          <p:nvPr/>
        </p:nvSpPr>
        <p:spPr>
          <a:xfrm>
            <a:off x="548640" y="571500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E3F4F6"/>
          </a:solidFill>
          <a:ln/>
        </p:spPr>
      </p:sp>
      <p:sp>
        <p:nvSpPr>
          <p:cNvPr id="64" name="Text 57"/>
          <p:cNvSpPr txBox="1"/>
          <p:nvPr/>
        </p:nvSpPr>
        <p:spPr>
          <a:xfrm>
            <a:off x="777240" y="5715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Flujo de trabajo: </a:t>
            </a:r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planificamos en Jira → modelamos en Draw.io y dbdiagram.io → versionamos en GitHub → presentamos en Canva.</a:t>
            </a:r>
            <a:endParaRPr lang="en-US" sz="1200" dirty="0"/>
          </a:p>
        </p:txBody>
      </p:sp>
      <p:sp>
        <p:nvSpPr>
          <p:cNvPr id="65" name="Text 58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66" name="Text 59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3785616" cy="274320"/>
          </a:xfrm>
          <a:prstGeom prst="roundRect">
            <a:avLst>
              <a:gd name="adj" fmla="val 50000"/>
            </a:avLst>
          </a:prstGeom>
          <a:solidFill>
            <a:srgbClr val="123E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CAPÍTULO 5 · GESTIÓN DEL PROYECTO EN JIRA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Así organizamos el trabajo en Jira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0E3453">
              <a:alpha val="9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47088"/>
            <a:ext cx="512064" cy="512064"/>
          </a:xfrm>
          <a:prstGeom prst="ellipse">
            <a:avLst/>
          </a:prstGeom>
          <a:solidFill>
            <a:srgbClr val="16486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27" y="1969983"/>
            <a:ext cx="266273" cy="2662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80136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Proyecto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112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Vida Submarina · SISEP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074920" y="16916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969264" y="2514600"/>
            <a:ext cx="0" cy="667512"/>
          </a:xfrm>
          <a:prstGeom prst="line">
            <a:avLst/>
          </a:prstGeom>
          <a:noFill/>
          <a:ln w="15875">
            <a:solidFill>
              <a:srgbClr val="2EC4C9">
                <a:alpha val="7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9264" y="3182112"/>
            <a:ext cx="36576" cy="0"/>
          </a:xfrm>
          <a:prstGeom prst="line">
            <a:avLst/>
          </a:prstGeom>
          <a:noFill/>
          <a:ln w="15875">
            <a:solidFill>
              <a:srgbClr val="2EC4C9">
                <a:alpha val="7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" y="2770632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0E3453">
              <a:alpha val="9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70432" y="2926080"/>
            <a:ext cx="512064" cy="512064"/>
          </a:xfrm>
          <a:prstGeom prst="ellipse">
            <a:avLst/>
          </a:prstGeom>
          <a:solidFill>
            <a:srgbClr val="16486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327" y="3048975"/>
            <a:ext cx="266273" cy="26627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828800" y="288036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Épicas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828800" y="3191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Flota · Actividades · Normativa · Inteligencia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5074920" y="277063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1426464" y="3593592"/>
            <a:ext cx="0" cy="667512"/>
          </a:xfrm>
          <a:prstGeom prst="line">
            <a:avLst/>
          </a:prstGeom>
          <a:noFill/>
          <a:ln w="15875">
            <a:solidFill>
              <a:srgbClr val="2EC4C9">
                <a:alpha val="70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426464" y="4261104"/>
            <a:ext cx="36576" cy="0"/>
          </a:xfrm>
          <a:prstGeom prst="line">
            <a:avLst/>
          </a:prstGeom>
          <a:noFill/>
          <a:ln w="15875">
            <a:solidFill>
              <a:srgbClr val="2EC4C9">
                <a:alpha val="70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463040" y="3849624"/>
            <a:ext cx="4480560" cy="822960"/>
          </a:xfrm>
          <a:prstGeom prst="roundRect">
            <a:avLst>
              <a:gd name="adj" fmla="val 13333"/>
            </a:avLst>
          </a:prstGeom>
          <a:solidFill>
            <a:srgbClr val="0E3453">
              <a:alpha val="9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627632" y="4005072"/>
            <a:ext cx="512064" cy="51206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527" y="4127967"/>
            <a:ext cx="266273" cy="266273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2286000" y="395935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Historias de usuario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2286000" y="4270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HU01 – HU15, repartidas en 2 sprints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5074920" y="3849624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1883664" y="4672584"/>
            <a:ext cx="0" cy="667512"/>
          </a:xfrm>
          <a:prstGeom prst="line">
            <a:avLst/>
          </a:prstGeom>
          <a:noFill/>
          <a:ln w="15875">
            <a:solidFill>
              <a:srgbClr val="2EC4C9">
                <a:alpha val="7000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883664" y="5340096"/>
            <a:ext cx="36576" cy="0"/>
          </a:xfrm>
          <a:prstGeom prst="line">
            <a:avLst/>
          </a:prstGeom>
          <a:noFill/>
          <a:ln w="15875">
            <a:solidFill>
              <a:srgbClr val="2EC4C9">
                <a:alpha val="70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920240" y="4928616"/>
            <a:ext cx="4023360" cy="822960"/>
          </a:xfrm>
          <a:prstGeom prst="roundRect">
            <a:avLst>
              <a:gd name="adj" fmla="val 13333"/>
            </a:avLst>
          </a:prstGeom>
          <a:solidFill>
            <a:srgbClr val="0E3453">
              <a:alpha val="95000"/>
            </a:srgbClr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084832" y="5084064"/>
            <a:ext cx="512064" cy="512064"/>
          </a:xfrm>
          <a:prstGeom prst="ellipse">
            <a:avLst/>
          </a:prstGeom>
          <a:solidFill>
            <a:srgbClr val="164867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7727" y="5206959"/>
            <a:ext cx="266273" cy="266273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2743200" y="5038344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Tareas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2743200" y="5349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Trabajo concreto para completar cada historia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5074920" y="4928616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400" dirty="0"/>
          </a:p>
        </p:txBody>
      </p:sp>
      <p:sp>
        <p:nvSpPr>
          <p:cNvPr id="35" name="Text 29"/>
          <p:cNvSpPr txBox="1"/>
          <p:nvPr/>
        </p:nvSpPr>
        <p:spPr>
          <a:xfrm>
            <a:off x="64008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TABLERO DEL SPRINT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6400800" y="2057400"/>
            <a:ext cx="1645920" cy="2926080"/>
          </a:xfrm>
          <a:prstGeom prst="roundRect">
            <a:avLst>
              <a:gd name="adj" fmla="val 6667"/>
            </a:avLst>
          </a:prstGeom>
          <a:solidFill>
            <a:srgbClr val="0A2640"/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537960" y="2130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hacer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6510528" y="256032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123A5A"/>
          </a:solidFill>
          <a:ln/>
        </p:spPr>
      </p:sp>
      <p:sp>
        <p:nvSpPr>
          <p:cNvPr id="39" name="Shape 33"/>
          <p:cNvSpPr/>
          <p:nvPr/>
        </p:nvSpPr>
        <p:spPr>
          <a:xfrm>
            <a:off x="6629400" y="2688336"/>
            <a:ext cx="1010412" cy="82296"/>
          </a:xfrm>
          <a:prstGeom prst="roundRect">
            <a:avLst>
              <a:gd name="adj" fmla="val 50000"/>
            </a:avLst>
          </a:prstGeom>
          <a:solidFill>
            <a:srgbClr val="4C7A94"/>
          </a:solidFill>
          <a:ln/>
        </p:spPr>
      </p:sp>
      <p:sp>
        <p:nvSpPr>
          <p:cNvPr id="40" name="Shape 34"/>
          <p:cNvSpPr/>
          <p:nvPr/>
        </p:nvSpPr>
        <p:spPr>
          <a:xfrm>
            <a:off x="6629400" y="2852928"/>
            <a:ext cx="653796" cy="82296"/>
          </a:xfrm>
          <a:prstGeom prst="roundRect">
            <a:avLst>
              <a:gd name="adj" fmla="val 50000"/>
            </a:avLst>
          </a:prstGeom>
          <a:solidFill>
            <a:srgbClr val="3A6682"/>
          </a:solidFill>
          <a:ln/>
        </p:spPr>
      </p:sp>
      <p:sp>
        <p:nvSpPr>
          <p:cNvPr id="41" name="Shape 35"/>
          <p:cNvSpPr/>
          <p:nvPr/>
        </p:nvSpPr>
        <p:spPr>
          <a:xfrm>
            <a:off x="6629400" y="3017520"/>
            <a:ext cx="109728" cy="109728"/>
          </a:xfrm>
          <a:prstGeom prst="ellipse">
            <a:avLst/>
          </a:prstGeom>
          <a:solidFill>
            <a:srgbClr val="2EC4C9"/>
          </a:solidFill>
          <a:ln/>
        </p:spPr>
      </p:sp>
      <p:sp>
        <p:nvSpPr>
          <p:cNvPr id="42" name="Shape 36"/>
          <p:cNvSpPr/>
          <p:nvPr/>
        </p:nvSpPr>
        <p:spPr>
          <a:xfrm>
            <a:off x="6510528" y="333756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123A5A"/>
          </a:solidFill>
          <a:ln/>
        </p:spPr>
      </p:sp>
      <p:sp>
        <p:nvSpPr>
          <p:cNvPr id="43" name="Shape 37"/>
          <p:cNvSpPr/>
          <p:nvPr/>
        </p:nvSpPr>
        <p:spPr>
          <a:xfrm>
            <a:off x="6629400" y="3465576"/>
            <a:ext cx="713232" cy="82296"/>
          </a:xfrm>
          <a:prstGeom prst="roundRect">
            <a:avLst>
              <a:gd name="adj" fmla="val 50000"/>
            </a:avLst>
          </a:prstGeom>
          <a:solidFill>
            <a:srgbClr val="4C7A94"/>
          </a:solidFill>
          <a:ln/>
        </p:spPr>
      </p:sp>
      <p:sp>
        <p:nvSpPr>
          <p:cNvPr id="44" name="Shape 38"/>
          <p:cNvSpPr/>
          <p:nvPr/>
        </p:nvSpPr>
        <p:spPr>
          <a:xfrm>
            <a:off x="6629400" y="3630168"/>
            <a:ext cx="653796" cy="82296"/>
          </a:xfrm>
          <a:prstGeom prst="roundRect">
            <a:avLst>
              <a:gd name="adj" fmla="val 50000"/>
            </a:avLst>
          </a:prstGeom>
          <a:solidFill>
            <a:srgbClr val="3A6682"/>
          </a:solidFill>
          <a:ln/>
        </p:spPr>
      </p:sp>
      <p:sp>
        <p:nvSpPr>
          <p:cNvPr id="45" name="Shape 39"/>
          <p:cNvSpPr/>
          <p:nvPr/>
        </p:nvSpPr>
        <p:spPr>
          <a:xfrm>
            <a:off x="6629400" y="3794760"/>
            <a:ext cx="109728" cy="109728"/>
          </a:xfrm>
          <a:prstGeom prst="ellipse">
            <a:avLst/>
          </a:prstGeom>
          <a:solidFill>
            <a:srgbClr val="A8ECE7"/>
          </a:solidFill>
          <a:ln/>
        </p:spPr>
      </p:sp>
      <p:sp>
        <p:nvSpPr>
          <p:cNvPr id="46" name="Shape 40"/>
          <p:cNvSpPr/>
          <p:nvPr/>
        </p:nvSpPr>
        <p:spPr>
          <a:xfrm>
            <a:off x="6510528" y="411480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123A5A"/>
          </a:solidFill>
          <a:ln/>
        </p:spPr>
      </p:sp>
      <p:sp>
        <p:nvSpPr>
          <p:cNvPr id="47" name="Shape 41"/>
          <p:cNvSpPr/>
          <p:nvPr/>
        </p:nvSpPr>
        <p:spPr>
          <a:xfrm>
            <a:off x="6629400" y="4242816"/>
            <a:ext cx="1010412" cy="82296"/>
          </a:xfrm>
          <a:prstGeom prst="roundRect">
            <a:avLst>
              <a:gd name="adj" fmla="val 50000"/>
            </a:avLst>
          </a:prstGeom>
          <a:solidFill>
            <a:srgbClr val="4C7A94"/>
          </a:solidFill>
          <a:ln/>
        </p:spPr>
      </p:sp>
      <p:sp>
        <p:nvSpPr>
          <p:cNvPr id="48" name="Shape 42"/>
          <p:cNvSpPr/>
          <p:nvPr/>
        </p:nvSpPr>
        <p:spPr>
          <a:xfrm>
            <a:off x="6629400" y="4407408"/>
            <a:ext cx="653796" cy="82296"/>
          </a:xfrm>
          <a:prstGeom prst="roundRect">
            <a:avLst>
              <a:gd name="adj" fmla="val 50000"/>
            </a:avLst>
          </a:prstGeom>
          <a:solidFill>
            <a:srgbClr val="3A6682"/>
          </a:solidFill>
          <a:ln/>
        </p:spPr>
      </p:sp>
      <p:sp>
        <p:nvSpPr>
          <p:cNvPr id="49" name="Shape 43"/>
          <p:cNvSpPr/>
          <p:nvPr/>
        </p:nvSpPr>
        <p:spPr>
          <a:xfrm>
            <a:off x="6629400" y="4572000"/>
            <a:ext cx="109728" cy="109728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50" name="Shape 44"/>
          <p:cNvSpPr/>
          <p:nvPr/>
        </p:nvSpPr>
        <p:spPr>
          <a:xfrm>
            <a:off x="8051292" y="2286000"/>
            <a:ext cx="82296" cy="0"/>
          </a:xfrm>
          <a:prstGeom prst="line">
            <a:avLst/>
          </a:prstGeom>
          <a:noFill/>
          <a:ln w="12700">
            <a:solidFill>
              <a:srgbClr val="2EC4C9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8138160" y="2057400"/>
            <a:ext cx="1645920" cy="2926080"/>
          </a:xfrm>
          <a:prstGeom prst="roundRect">
            <a:avLst>
              <a:gd name="adj" fmla="val 6667"/>
            </a:avLst>
          </a:prstGeom>
          <a:solidFill>
            <a:srgbClr val="0A2640"/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8275320" y="2130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curso</a:t>
            </a:r>
            <a:endParaRPr lang="en-US" sz="1050" dirty="0"/>
          </a:p>
        </p:txBody>
      </p:sp>
      <p:sp>
        <p:nvSpPr>
          <p:cNvPr id="53" name="Shape 47"/>
          <p:cNvSpPr/>
          <p:nvPr/>
        </p:nvSpPr>
        <p:spPr>
          <a:xfrm>
            <a:off x="8247888" y="256032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123A5A"/>
          </a:solidFill>
          <a:ln/>
        </p:spPr>
      </p:sp>
      <p:sp>
        <p:nvSpPr>
          <p:cNvPr id="54" name="Shape 48"/>
          <p:cNvSpPr/>
          <p:nvPr/>
        </p:nvSpPr>
        <p:spPr>
          <a:xfrm>
            <a:off x="8366760" y="2688336"/>
            <a:ext cx="1010412" cy="82296"/>
          </a:xfrm>
          <a:prstGeom prst="roundRect">
            <a:avLst>
              <a:gd name="adj" fmla="val 50000"/>
            </a:avLst>
          </a:prstGeom>
          <a:solidFill>
            <a:srgbClr val="4C7A94"/>
          </a:solidFill>
          <a:ln/>
        </p:spPr>
      </p:sp>
      <p:sp>
        <p:nvSpPr>
          <p:cNvPr id="55" name="Shape 49"/>
          <p:cNvSpPr/>
          <p:nvPr/>
        </p:nvSpPr>
        <p:spPr>
          <a:xfrm>
            <a:off x="8366760" y="2852928"/>
            <a:ext cx="653796" cy="82296"/>
          </a:xfrm>
          <a:prstGeom prst="roundRect">
            <a:avLst>
              <a:gd name="adj" fmla="val 50000"/>
            </a:avLst>
          </a:prstGeom>
          <a:solidFill>
            <a:srgbClr val="3A6682"/>
          </a:solidFill>
          <a:ln/>
        </p:spPr>
      </p:sp>
      <p:sp>
        <p:nvSpPr>
          <p:cNvPr id="56" name="Shape 50"/>
          <p:cNvSpPr/>
          <p:nvPr/>
        </p:nvSpPr>
        <p:spPr>
          <a:xfrm>
            <a:off x="8366760" y="3017520"/>
            <a:ext cx="109728" cy="109728"/>
          </a:xfrm>
          <a:prstGeom prst="ellipse">
            <a:avLst/>
          </a:prstGeom>
          <a:solidFill>
            <a:srgbClr val="A8ECE7"/>
          </a:solidFill>
          <a:ln/>
        </p:spPr>
      </p:sp>
      <p:sp>
        <p:nvSpPr>
          <p:cNvPr id="57" name="Shape 51"/>
          <p:cNvSpPr/>
          <p:nvPr/>
        </p:nvSpPr>
        <p:spPr>
          <a:xfrm>
            <a:off x="8247888" y="333756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123A5A"/>
          </a:solidFill>
          <a:ln/>
        </p:spPr>
      </p:sp>
      <p:sp>
        <p:nvSpPr>
          <p:cNvPr id="58" name="Shape 52"/>
          <p:cNvSpPr/>
          <p:nvPr/>
        </p:nvSpPr>
        <p:spPr>
          <a:xfrm>
            <a:off x="8366760" y="3465576"/>
            <a:ext cx="713232" cy="82296"/>
          </a:xfrm>
          <a:prstGeom prst="roundRect">
            <a:avLst>
              <a:gd name="adj" fmla="val 50000"/>
            </a:avLst>
          </a:prstGeom>
          <a:solidFill>
            <a:srgbClr val="4C7A94"/>
          </a:solidFill>
          <a:ln/>
        </p:spPr>
      </p:sp>
      <p:sp>
        <p:nvSpPr>
          <p:cNvPr id="59" name="Shape 53"/>
          <p:cNvSpPr/>
          <p:nvPr/>
        </p:nvSpPr>
        <p:spPr>
          <a:xfrm>
            <a:off x="8366760" y="3630168"/>
            <a:ext cx="653796" cy="82296"/>
          </a:xfrm>
          <a:prstGeom prst="roundRect">
            <a:avLst>
              <a:gd name="adj" fmla="val 50000"/>
            </a:avLst>
          </a:prstGeom>
          <a:solidFill>
            <a:srgbClr val="3A6682"/>
          </a:solidFill>
          <a:ln/>
        </p:spPr>
      </p:sp>
      <p:sp>
        <p:nvSpPr>
          <p:cNvPr id="60" name="Shape 54"/>
          <p:cNvSpPr/>
          <p:nvPr/>
        </p:nvSpPr>
        <p:spPr>
          <a:xfrm>
            <a:off x="8366760" y="3794760"/>
            <a:ext cx="109728" cy="109728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61" name="Shape 55"/>
          <p:cNvSpPr/>
          <p:nvPr/>
        </p:nvSpPr>
        <p:spPr>
          <a:xfrm>
            <a:off x="9788652" y="2286000"/>
            <a:ext cx="82296" cy="0"/>
          </a:xfrm>
          <a:prstGeom prst="line">
            <a:avLst/>
          </a:prstGeom>
          <a:noFill/>
          <a:ln w="12700">
            <a:solidFill>
              <a:srgbClr val="2EC4C9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9875520" y="2057400"/>
            <a:ext cx="1645920" cy="2926080"/>
          </a:xfrm>
          <a:prstGeom prst="roundRect">
            <a:avLst>
              <a:gd name="adj" fmla="val 6667"/>
            </a:avLst>
          </a:prstGeom>
          <a:solidFill>
            <a:srgbClr val="0A2640"/>
          </a:solidFill>
          <a:ln w="9525">
            <a:solidFill>
              <a:srgbClr val="24617E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10012680" y="2130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Listo</a:t>
            </a:r>
            <a:endParaRPr lang="en-US" sz="1050" dirty="0"/>
          </a:p>
        </p:txBody>
      </p:sp>
      <p:sp>
        <p:nvSpPr>
          <p:cNvPr id="64" name="Shape 58"/>
          <p:cNvSpPr/>
          <p:nvPr/>
        </p:nvSpPr>
        <p:spPr>
          <a:xfrm>
            <a:off x="9985248" y="256032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134E5E"/>
          </a:solidFill>
          <a:ln/>
        </p:spPr>
      </p:sp>
      <p:sp>
        <p:nvSpPr>
          <p:cNvPr id="65" name="Shape 59"/>
          <p:cNvSpPr/>
          <p:nvPr/>
        </p:nvSpPr>
        <p:spPr>
          <a:xfrm>
            <a:off x="10104120" y="2688336"/>
            <a:ext cx="1010412" cy="82296"/>
          </a:xfrm>
          <a:prstGeom prst="roundRect">
            <a:avLst>
              <a:gd name="adj" fmla="val 50000"/>
            </a:avLst>
          </a:prstGeom>
          <a:solidFill>
            <a:srgbClr val="4C7A94"/>
          </a:solidFill>
          <a:ln/>
        </p:spPr>
      </p:sp>
      <p:sp>
        <p:nvSpPr>
          <p:cNvPr id="66" name="Shape 60"/>
          <p:cNvSpPr/>
          <p:nvPr/>
        </p:nvSpPr>
        <p:spPr>
          <a:xfrm>
            <a:off x="10104120" y="2852928"/>
            <a:ext cx="653796" cy="82296"/>
          </a:xfrm>
          <a:prstGeom prst="roundRect">
            <a:avLst>
              <a:gd name="adj" fmla="val 50000"/>
            </a:avLst>
          </a:prstGeom>
          <a:solidFill>
            <a:srgbClr val="3A6682"/>
          </a:solidFill>
          <a:ln/>
        </p:spPr>
      </p:sp>
      <p:sp>
        <p:nvSpPr>
          <p:cNvPr id="67" name="Shape 61"/>
          <p:cNvSpPr/>
          <p:nvPr/>
        </p:nvSpPr>
        <p:spPr>
          <a:xfrm>
            <a:off x="10104120" y="3017520"/>
            <a:ext cx="109728" cy="109728"/>
          </a:xfrm>
          <a:prstGeom prst="ellipse">
            <a:avLst/>
          </a:prstGeom>
          <a:solidFill>
            <a:srgbClr val="5FA8D3"/>
          </a:solidFill>
          <a:ln/>
        </p:spPr>
      </p:sp>
      <p:pic>
        <p:nvPicPr>
          <p:cNvPr id="6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9960" y="2962656"/>
            <a:ext cx="182880" cy="182880"/>
          </a:xfrm>
          <a:prstGeom prst="rect">
            <a:avLst/>
          </a:prstGeom>
        </p:spPr>
      </p:pic>
      <p:sp>
        <p:nvSpPr>
          <p:cNvPr id="69" name="Shape 62"/>
          <p:cNvSpPr/>
          <p:nvPr/>
        </p:nvSpPr>
        <p:spPr>
          <a:xfrm>
            <a:off x="9985248" y="333756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134E5E"/>
          </a:solidFill>
          <a:ln/>
        </p:spPr>
      </p:sp>
      <p:sp>
        <p:nvSpPr>
          <p:cNvPr id="70" name="Shape 63"/>
          <p:cNvSpPr/>
          <p:nvPr/>
        </p:nvSpPr>
        <p:spPr>
          <a:xfrm>
            <a:off x="10104120" y="3465576"/>
            <a:ext cx="713232" cy="82296"/>
          </a:xfrm>
          <a:prstGeom prst="roundRect">
            <a:avLst>
              <a:gd name="adj" fmla="val 50000"/>
            </a:avLst>
          </a:prstGeom>
          <a:solidFill>
            <a:srgbClr val="4C7A94"/>
          </a:solidFill>
          <a:ln/>
        </p:spPr>
      </p:sp>
      <p:sp>
        <p:nvSpPr>
          <p:cNvPr id="71" name="Shape 64"/>
          <p:cNvSpPr/>
          <p:nvPr/>
        </p:nvSpPr>
        <p:spPr>
          <a:xfrm>
            <a:off x="10104120" y="3630168"/>
            <a:ext cx="653796" cy="82296"/>
          </a:xfrm>
          <a:prstGeom prst="roundRect">
            <a:avLst>
              <a:gd name="adj" fmla="val 50000"/>
            </a:avLst>
          </a:prstGeom>
          <a:solidFill>
            <a:srgbClr val="3A6682"/>
          </a:solidFill>
          <a:ln/>
        </p:spPr>
      </p:sp>
      <p:sp>
        <p:nvSpPr>
          <p:cNvPr id="72" name="Shape 65"/>
          <p:cNvSpPr/>
          <p:nvPr/>
        </p:nvSpPr>
        <p:spPr>
          <a:xfrm>
            <a:off x="10104120" y="3794760"/>
            <a:ext cx="109728" cy="109728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7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9960" y="3739896"/>
            <a:ext cx="182880" cy="182880"/>
          </a:xfrm>
          <a:prstGeom prst="rect">
            <a:avLst/>
          </a:prstGeom>
        </p:spPr>
      </p:pic>
      <p:sp>
        <p:nvSpPr>
          <p:cNvPr id="74" name="Text 66"/>
          <p:cNvSpPr txBox="1"/>
          <p:nvPr/>
        </p:nvSpPr>
        <p:spPr>
          <a:xfrm>
            <a:off x="6400800" y="50292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6A9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Esquema ilustrativo del flujo del tablero</a:t>
            </a:r>
            <a:endParaRPr lang="en-US" sz="850" dirty="0"/>
          </a:p>
        </p:txBody>
      </p:sp>
      <p:sp>
        <p:nvSpPr>
          <p:cNvPr id="75" name="Shape 67"/>
          <p:cNvSpPr/>
          <p:nvPr/>
        </p:nvSpPr>
        <p:spPr>
          <a:xfrm>
            <a:off x="6400800" y="539496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2EC4C9"/>
          </a:solidFill>
          <a:ln/>
        </p:spPr>
      </p:sp>
      <p:pic>
        <p:nvPicPr>
          <p:cNvPr id="7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968" y="5596128"/>
            <a:ext cx="365760" cy="365760"/>
          </a:xfrm>
          <a:prstGeom prst="rect">
            <a:avLst/>
          </a:prstGeom>
        </p:spPr>
      </p:pic>
      <p:sp>
        <p:nvSpPr>
          <p:cNvPr id="77" name="Text 68"/>
          <p:cNvSpPr txBox="1"/>
          <p:nvPr/>
        </p:nvSpPr>
        <p:spPr>
          <a:xfrm>
            <a:off x="7132320" y="53949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A2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historia avanza por el tablero durante el sprint; al cerrarlo, revisamos el incremento y ajustamos el backlog.</a:t>
            </a:r>
            <a:endParaRPr lang="en-US" sz="1100" dirty="0"/>
          </a:p>
        </p:txBody>
      </p:sp>
      <p:sp>
        <p:nvSpPr>
          <p:cNvPr id="78" name="Text 69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7FA7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79" name="Text 70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88036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CONCLUSIONES Y RECOMENDACIONES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Conclusiones del equipo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931920" cy="4480560"/>
          </a:xfrm>
          <a:prstGeom prst="roundRect">
            <a:avLst>
              <a:gd name="adj" fmla="val 3721"/>
            </a:avLst>
          </a:prstGeom>
          <a:solidFill>
            <a:srgbClr val="071A2C"/>
          </a:solidFill>
          <a:ln/>
          <a:effectLst>
            <a:outerShdw sx="100000" sy="100000" kx="0" ky="0" algn="bl" rotWithShape="0" blurRad="152400" dist="38100" dir="5400000">
              <a:srgbClr val="0B1D2E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0604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Tecnología, gestión gubernamental y participación local: la combinación que puede hacer sostenible la pesca peruana.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8ECE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Propuesta SISEP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66420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SISEP responde a un problema real del Perú: la sobreexplotación, la pesca ilegal y la falta de monitoreo inmediato de capturas y áreas de faena.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846320" y="2670048"/>
            <a:ext cx="67665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2788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280720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análisis de cuatro grupos de usuarios nos permitió definir 7 requerimientos funcionales, 4 no funcionales y 3 de dominio, medibles y trazables.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846320" y="3813048"/>
            <a:ext cx="67665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46320" y="3931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395020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modelos —contexto, casos de uso, actividad, E-R, clases y secuencia— son coherentes entre sí: Embarcación, Captura, Especie y Lote atraviesan todo el diseño.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846320" y="4956048"/>
            <a:ext cx="6766560" cy="0"/>
          </a:xfrm>
          <a:prstGeom prst="line">
            <a:avLst/>
          </a:prstGeom>
          <a:noFill/>
          <a:ln w="9525">
            <a:solidFill>
              <a:srgbClr val="D5E3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46320" y="5074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39A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509320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Scrum y Jira nos permitieron dividir el trabajo en 2 sprints de 2 semanas y 15 historias de usuario, con incrementos funcionales al cierre de cada uno.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880360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CONCLUSIONES Y RECOMENDACIONES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Lecciones aprendidas y mejoras futuras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4068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5E3E8"/>
            </a:solidFill>
            <a:prstDash val="solid"/>
          </a:ln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74520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801" y="2019361"/>
            <a:ext cx="313822" cy="3138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7452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Lecciones aprendidas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7977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7432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Modelar antes de programar reduce ambigüedades entre requerimientos y diseño.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0273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35661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Usar los mismos nombres en diagramas y base de datos evita inconsistencias.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425696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438912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backlog priorizado por épicas hace que los sprints sean realistas.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248656"/>
            <a:ext cx="274320" cy="2743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34440" y="52120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Jira y GitHub dejan evidencia clara del avance y del aporte de cada integrante.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6172200" y="1645920"/>
            <a:ext cx="5440680" cy="4480560"/>
          </a:xfrm>
          <a:prstGeom prst="roundRect">
            <a:avLst>
              <a:gd name="adj" fmla="val 2857"/>
            </a:avLst>
          </a:prstGeom>
          <a:solidFill>
            <a:srgbClr val="071A2C"/>
          </a:solidFill>
          <a:ln/>
          <a:effectLst>
            <a:outerShdw sx="100000" sy="100000" kx="0" ky="0" algn="bl" rotWithShape="0" blurRad="152400" dist="38100" dir="5400000">
              <a:srgbClr val="0B1D2E">
                <a:alpha val="20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6446520" y="1874520"/>
            <a:ext cx="603504" cy="603504"/>
          </a:xfrm>
          <a:prstGeom prst="ellipse">
            <a:avLst/>
          </a:prstGeom>
          <a:solidFill>
            <a:srgbClr val="2EC4C9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1361" y="2019361"/>
            <a:ext cx="313822" cy="31382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223760" y="187452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Recomendaciones de mejora</a:t>
            </a:r>
            <a:endParaRPr lang="en-US" sz="17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2779776"/>
            <a:ext cx="292608" cy="292608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6903720" y="27432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móvil sin conexión </a:t>
            </a:r>
            <a:pPr indent="0" marL="0">
              <a:buNone/>
            </a:pPr>
            <a:r>
              <a:rPr lang="en-US" sz="130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 sincronización por lotes para zonas sin cobertura.</a:t>
            </a:r>
            <a:endParaRPr lang="en-US" sz="13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3602736"/>
            <a:ext cx="292608" cy="292608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903720" y="3566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Integración AIS y satelital </a:t>
            </a:r>
            <a:pPr indent="0" marL="0">
              <a:buNone/>
            </a:pPr>
            <a:r>
              <a:rPr lang="en-US" sz="130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tiempo real, actor ya previsto en el contexto.</a:t>
            </a:r>
            <a:endParaRPr lang="en-US" sz="13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4425696"/>
            <a:ext cx="292608" cy="292608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903720" y="43891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Analítica predictiva </a:t>
            </a:r>
            <a:pPr indent="0" marL="0">
              <a:buNone/>
            </a:pPr>
            <a:r>
              <a:rPr lang="en-US" sz="130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apoyar a IMARPE en vedas y cuotas.</a:t>
            </a:r>
            <a:endParaRPr lang="en-US" sz="13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248656"/>
            <a:ext cx="292608" cy="292608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6903720" y="52120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Piloto y capacitación </a:t>
            </a:r>
            <a:pPr indent="0" marL="0">
              <a:buNone/>
            </a:pPr>
            <a:r>
              <a:rPr lang="en-US" sz="1300" dirty="0">
                <a:solidFill>
                  <a:srgbClr val="C9DEE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 una comunidad de pescadores artesanales.</a:t>
            </a:r>
            <a:endParaRPr lang="en-US" sz="1300" dirty="0"/>
          </a:p>
        </p:txBody>
      </p:sp>
      <p:sp>
        <p:nvSpPr>
          <p:cNvPr id="29" name="Text 17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30" name="Text 18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51176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REFERENCIAS BIBLIOGRÁFICAS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Referencias (ISO 690 numérico)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02336" cy="402336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[1]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NACIONES UNIDAS. </a:t>
            </a:r>
            <a:pPr indent="0" marL="0">
              <a:buNone/>
            </a:pPr>
            <a:r>
              <a:rPr lang="en-US" sz="1200" i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Objetivo 14: Conservar y utilizar sosteniblemente los océanos, los mares y los recursos marinos</a:t>
            </a:r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[en línea]. Nueva York: ONU [consulta: 29 septiembre 2026]. Disponible en: </a:t>
            </a:r>
            <a:pPr indent="0" marL="0">
              <a:buNone/>
            </a:pPr>
            <a:r>
              <a:rPr lang="en-US" sz="1200" u="sng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https://www.un.org/sustainabledevelopment/es/oceans/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402336" cy="402336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23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[2]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7744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PERÚ. Decreto Ley N.° 25977. </a:t>
            </a:r>
            <a:pPr indent="0" marL="0">
              <a:buNone/>
            </a:pPr>
            <a:r>
              <a:rPr lang="en-US" sz="1200" i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Ley General de Pesca</a:t>
            </a:r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Diario Oficial El Peruano. Lima, 1992.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402336" cy="402336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[3]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1089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PERÚ. Decreto Supremo N.° 012-2001-PE. </a:t>
            </a:r>
            <a:pPr indent="0" marL="0">
              <a:buNone/>
            </a:pPr>
            <a:r>
              <a:rPr lang="en-US" sz="1200" i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Reglamento de la Ley General de Pesca</a:t>
            </a:r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Diario Oficial El Peruano. Lima, 2001.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402336" cy="402336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[4]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84048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INSTITUTO DEL MAR DEL PERÚ (IMARPE). </a:t>
            </a:r>
            <a:pPr indent="0" marL="0">
              <a:buNone/>
            </a:pPr>
            <a:r>
              <a:rPr lang="en-US" sz="1200" i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Portal institucional</a:t>
            </a:r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[en línea]. Callao: IMARPE [consulta: 29 septiembre 2026]. Disponible en: </a:t>
            </a:r>
            <a:pPr indent="0" marL="0">
              <a:buNone/>
            </a:pPr>
            <a:r>
              <a:rPr lang="en-US" sz="1200" u="sng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https://www.imarpe.gob.pe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402336" cy="402336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617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[5]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57200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MINISTERIO DE LA PRODUCCIÓN (PRODUCE). </a:t>
            </a:r>
            <a:pPr indent="0" marL="0">
              <a:buNone/>
            </a:pPr>
            <a:r>
              <a:rPr lang="en-US" sz="1200" i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Portal institucional</a:t>
            </a:r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[en línea]. Lima: PRODUCE [consulta: 29 septiembre 2026]. Disponible en: </a:t>
            </a:r>
            <a:pPr indent="0" marL="0">
              <a:buNone/>
            </a:pPr>
            <a:r>
              <a:rPr lang="en-US" sz="1200" u="sng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https://www.gob.pe/produce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402336" cy="402336"/>
          </a:xfrm>
          <a:prstGeom prst="ellipse">
            <a:avLst/>
          </a:prstGeom>
          <a:solidFill>
            <a:srgbClr val="E3F4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349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[6]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30352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SCHWABER, Ken y SUTHERLAND, Jeff. </a:t>
            </a:r>
            <a:pPr indent="0" marL="0">
              <a:buNone/>
            </a:pPr>
            <a:r>
              <a:rPr lang="en-US" sz="1200" i="1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Guía Scrum: la guía definitiva de Scrum, las reglas del juego</a:t>
            </a:r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[en línea]. 2020 [consulta: 29 septiembre 2026]. Disponible en: </a:t>
            </a:r>
            <a:pPr indent="0" marL="0">
              <a:buNone/>
            </a:pPr>
            <a:r>
              <a:rPr lang="en-US" sz="1200" u="sng" dirty="0">
                <a:solidFill>
                  <a:srgbClr val="0E7C8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https://scrumguides.org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05256" cy="274320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ANEXOS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Evidencias del trabajo en equipo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Espacios para las capturas reales de Jira, GitHub y del trabajo del equipo.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66160" cy="2971800"/>
          </a:xfrm>
          <a:prstGeom prst="roundRect">
            <a:avLst>
              <a:gd name="adj" fmla="val 4308"/>
            </a:avLst>
          </a:prstGeom>
          <a:solidFill>
            <a:srgbClr val="F4F9FA"/>
          </a:solidFill>
          <a:ln w="15875">
            <a:solidFill>
              <a:srgbClr val="9CC3C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965960" y="2880360"/>
            <a:ext cx="731520" cy="731520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525" y="3055925"/>
            <a:ext cx="380390" cy="3803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Insertar captura aquí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166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Tablero y backlog en Jira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504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Épicas, historias HU01–HU15 y sprints.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2011680"/>
            <a:ext cx="3566160" cy="2971800"/>
          </a:xfrm>
          <a:prstGeom prst="roundRect">
            <a:avLst>
              <a:gd name="adj" fmla="val 4308"/>
            </a:avLst>
          </a:prstGeom>
          <a:solidFill>
            <a:srgbClr val="F4F9FA"/>
          </a:solidFill>
          <a:ln w="15875">
            <a:solidFill>
              <a:srgbClr val="9CC3CF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5715000" y="2880360"/>
            <a:ext cx="731520" cy="731520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65" y="3055925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29768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Insertar captura aquí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297680" y="5166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Repositorio en GitHub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297680" y="5504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Carpeta con el nombre del proyecto e historial de commits.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46720" y="2011680"/>
            <a:ext cx="3566160" cy="2971800"/>
          </a:xfrm>
          <a:prstGeom prst="roundRect">
            <a:avLst>
              <a:gd name="adj" fmla="val 4308"/>
            </a:avLst>
          </a:prstGeom>
          <a:solidFill>
            <a:srgbClr val="F4F9FA"/>
          </a:solidFill>
          <a:ln w="15875">
            <a:solidFill>
              <a:srgbClr val="9CC3CF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9464040" y="2880360"/>
            <a:ext cx="731520" cy="731520"/>
          </a:xfrm>
          <a:prstGeom prst="ellipse">
            <a:avLst/>
          </a:prstGeom>
          <a:solidFill>
            <a:srgbClr val="E3F4F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9605" y="3055925"/>
            <a:ext cx="380390" cy="38039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04672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A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Insertar captura aquí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8046720" y="5166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Trabajo en equipo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046720" y="5504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Reuniones, reparto de tareas y avances.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419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9AAA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SUBMARINA · SISEP</a:t>
            </a:r>
            <a:endParaRPr lang="en-US" sz="750" dirty="0"/>
          </a:p>
        </p:txBody>
      </p:sp>
      <p:sp>
        <p:nvSpPr>
          <p:cNvPr id="25" name="Text 20"/>
          <p:cNvSpPr txBox="1"/>
          <p:nvPr/>
        </p:nvSpPr>
        <p:spPr>
          <a:xfrm>
            <a:off x="11091672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785616" cy="274320"/>
          </a:xfrm>
          <a:prstGeom prst="roundRect">
            <a:avLst>
              <a:gd name="adj" fmla="val 50000"/>
            </a:avLst>
          </a:prstGeom>
          <a:solidFill>
            <a:srgbClr val="123E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A8ECE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Y DISEÑO DE SOFTWARE · NRC 62152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¿Preguntas?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EAF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Proyecto Vida Submarina · Sistema de Monitoreo Pesquero Sostenible (SISEP)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EC4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INTEGRANTES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Oroya Molina Luis Fernando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Cardenas Rosales Abigail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Yupanqui Castro Romina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468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Olarte Tuya Shadi Allegra Rashel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5468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Gonzales Zarate Jhosep Rafael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01100" y="2537460"/>
            <a:ext cx="1143000" cy="1143000"/>
          </a:xfrm>
          <a:prstGeom prst="ellipse">
            <a:avLst/>
          </a:prstGeom>
          <a:ln w="19050">
            <a:solidFill>
              <a:srgbClr val="2EC4C9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2103120"/>
            <a:ext cx="2011680" cy="2011680"/>
          </a:xfrm>
          <a:prstGeom prst="ellipse">
            <a:avLst/>
          </a:prstGeom>
          <a:ln w="12700">
            <a:solidFill>
              <a:srgbClr val="2EC4C9">
                <a:alpha val="50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932420" y="1668780"/>
            <a:ext cx="2880360" cy="2880360"/>
          </a:xfrm>
          <a:prstGeom prst="ellipse">
            <a:avLst/>
          </a:prstGeom>
          <a:ln w="12700">
            <a:solidFill>
              <a:srgbClr val="2EC4C9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1234440"/>
            <a:ext cx="3749040" cy="3749040"/>
          </a:xfrm>
          <a:prstGeom prst="ellipse">
            <a:avLst/>
          </a:prstGeom>
          <a:ln w="12700">
            <a:solidFill>
              <a:srgbClr val="2EC4C9">
                <a:alpha val="20000"/>
              </a:srgbClr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988552" y="2724912"/>
            <a:ext cx="768096" cy="768096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228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895" y="2909255"/>
            <a:ext cx="399410" cy="3994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Vida Submarina — SISEP</dc:title>
  <dc:subject>PptxGenJS Presentation</dc:subject>
  <dc:creator>Equipo Vida Submarina · ADS NRC 62152</dc:creator>
  <cp:lastModifiedBy>Equipo Vida Submarina · ADS NRC 62152</cp:lastModifiedBy>
  <cp:revision>1</cp:revision>
  <dcterms:created xsi:type="dcterms:W3CDTF">2026-09-30T02:27:51Z</dcterms:created>
  <dcterms:modified xsi:type="dcterms:W3CDTF">2026-09-30T02:27:51Z</dcterms:modified>
</cp:coreProperties>
</file>