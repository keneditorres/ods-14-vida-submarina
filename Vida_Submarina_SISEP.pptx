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Buenos días. Somos el equipo del Proyecto Vida Submarina del curso Análisis y Diseño de Software, NRC 62152. Presentaremos SISEP, un Sistema de Monitoreo Pesquero Sostenible pensado para el Perú y alineado con el ODS 14, siguiendo la estructura de las Unidades I y II del informe.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exposición sigue la plantilla del curso. En la Unidad I presentamos el proyecto, el análisis de requerimientos y los modelos iniciales. En la Unidad II, los modelos de diseño y la metodología Scrum con las herramientas que usamos. Cerramos con conclusiones, referencias y anexos.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Iniciamos la Unidad I: fundamentos y modelado inicial, que abarca los capítulos 1 a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Nuestro proyecto se vincula con el ODS 14, Vida Submarina. SISEP contribuye directamente a la meta 14.4, que busca reglamentar la pesca y poner fin a la pesca ilegal. Además impulsa la sostenibilidad en sus tres dimensiones: económica, ambiental y social.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principal beneficiario es IMARPE, por su rol en la investigación y el seguimiento de los recursos pesqueros. Con SISEP obtendría datos en tiempo real sobre especies, áreas de faena y tallas, lo que le daría mayor precisión para definir vedas y cuotas. La plataforma central sería gestionada junto con PRODUCE.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problema: en el Perú existe sobreexplotación de especies, pesca no regulada e ilegal y no hay un monitoreo inmediato de las capturas ni de las áreas de faena. Esto pone en riesgo la biodiversidad marina, limita la sostenibilidad futura del recurso y perjudica a las comunidades costeras que dependen de la pesca.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Proponemos SISEP, que combina innovación tecnológica, gestión gubernamental y participación local. Las embarcaciones cuentan con GPS y registros digitales que envían datos a una plataforma central gestionada por IMARPE y PRODUCE. Se integran sensores marinos e imágenes satelitales, y un método de trazabilidad con QR certifica la procedencia legal de cada lote. Así se combate la pesca ilegal, se protege el ecosistema y se impulsa a las comunidades costeras.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concreto, SISEP tendrá seis módulos: rastreo GPS cada 15 minutos, alertas por zonas restringidas e irregularidades, bitácora digital con fotos, trazabilidad con QR por lote, monitoreo de clima y sensores, y reportes y dashboards para las autoridades. Cada módulo está respaldado por los requerimientos que presentaremos en el capítulo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actor gana algo: el Estado obtiene datos confiables, alertas y reportes; armadores y empresas simplifican trámites y certifican la legalidad de su pesca; los pescadores artesanales acceden a tecnología asequible y dan valor agregado a su producto; y el mercado y las organizaciones ambientales ganan transparencia y trazabilidad.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el capítulo 2 describimos el problema como una crisis multidimensional: sobreexplotación, pesca ilegal, deficiencia en el monitoreo, pérdida de biodiversidad y vulnerabilidad socioeconómica. El eje común es la falta de datos confiables y en tiempo real, y ahí es donde actúa el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Identificamos cuatro grupos de usuarios. El Estado necesita datos confiables, fiscalización y alertas tempranas. Armadores y empresas necesitan documentación simple y certificación de legalidad. Los pescadores artesanales necesitan tecnología asequible y participar en la gestión. Y las organizaciones ambientales necesitan transparencia e indicadores de sostenibilidad.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Definimos siete requerimientos funcionales: registro GPS cada 15 minutos, alertas por zonas restringidas, bitácora digital, fotos como evidencia, QR único por lote, monitoreo meteorológico y notificaciones automáticas de irregularidades. Los agrupamos en monitoreo, captura, trazabilidad y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requerimientos no funcionales son medibles: respuesta menor a 3 segundos en consultas, autenticación de dos factores para usuarios críticos, 99,5 % de disponibilidad en horario laboral y capacidad para crecer hasta 10 000 embarcaciones.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requerimientos de dominio son reglas del sector: RD01 exige cumplir el Reglamento de la Ley General de Pesca, D.S. 012-2001-PE; RD09 pide procesos simples que no retrasen la operación; y RD17 exige monitorear indicadores de sostenibilidad. Cada uno se refleja luego en el diseño: validación automática, sincronización por lotes y reportes.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diagrama de contexto muestra a SISEP en el centro y sus siete actores externos: IMARPE, PRODUCE, armadores, pescadores artesanales, satélites y sensores, el mercado que verifica la trazabilidad y las organizaciones ambientales. Así delimitamos qué está dentro y qué está fuera del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los casos de uso hay dos actores principales. IMARPE y PRODUCE generan alertas por zonas restringidas o veda, generan reportes y dashboards y realizan auditoría y fiscalización. El pescador o armador registra su embarcación, envía su posición GPS y registra la captura en la bitácora; ese registro incluye la trazabilidad y el QR por lote.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diagrama de actividad describe el proceso principal: la embarcación inicia la jornada y enciende el GPS, registra su posición cada 15 minutos, registra la captura con fotos y envía los datos. El sistema valida automáticamente áreas, tallas y permisos: si cumple, almacena la captura y genera el QR del lote; si hay una irregularidad, alerta a las autoridades y al usuario. Al final se generan reportes y dashboards.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entidad-relación tiene nueve entidades. Un pescador posee embarcaciones; cada embarcación tiene permisos, que el usuario gestiona y que contienen especies; la embarcación tiene capturas, cada captura pertenece a un lote con su código QR y registra una localización; y los sensores generan registros por embarcación.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Pasamos a la Unidad II: modelos de diseño y metodología ágil, con los capítulos 4 y 5 y las herramientas que usamos.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diagrama de clases inicial tiene seis clases. Embarcación se compone de Captura y de MonitoreoGPS; cada Captura se compone de DetalleCaptura, que se asocia a una Especie para validar tallas y cuotas; y MonitoreoGPS puede generar una Alerta que notifica a los inspectores.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diagrama de secuencia muestra la interacción entre la embarcación, el sistema, la base de datos, IMARPE y PRODUCE. La embarcación envía datos GPS, el sistema los valida contra la base de datos y, si corresponde, envía alertas a IMARPE y PRODUCE. Luego se registran bitácora y fotos, se confirma y se genera el QR; finalmente se envían reportes a ambas instituciones y una notificación a la embarcación.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Trabajamos con Scrum, una metodología ágil basada en sprints cortos que entregan valor de forma incremental. Partimos de un Product Backlog dividido en épicas y tareas, seleccionamos historias para cada Sprint Backlog, trabajamos en sprints de dos semanas y al final de cada uno obtenemos un incremento funcional.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Product Backlog lo organizamos en Jira en cuatro épicas. El Sprint 1 cubre las historias HU01 a HU06: gestión de flota y actividades pesqueras. El Sprint 2 cubre las historias HU07 a HU15: gestión normativa e inteligencia pesquera y medioambiental. Cada épica se vincula con los requerimientos que atiende.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Planificamos dos sprints de dos semanas. El Sprint 1 implementa la gestión de flota y las actividades pesqueras con seis historias; el Sprint 2 desarrolla la gestión normativa y la inteligencia pesquera y medioambiental con nueve historias. En ambos usamos Jira, y cada sprint termina con un incremento: módulos operativos del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fueron nuestras herramientas: Jira para planificar el backlog, los sprints y las tareas; Draw.io para los diagramas UML; dbdiagram.io para el modelo de datos; GitHub como repositorio del proyecto con control de versiones y commits; y Canva para la portada y esta presentación.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Jira estructuramos el trabajo en cuatro niveles: el proyecto, cuatro épicas, quince historias de usuario y las tareas de cada historia. Durante cada sprint las historias avanzan en el tablero de Por hacer a En curso y a Listo; al cerrar el sprint revisamos el incremento y ajustamos el backlog. Las capturas reales están en los anexos.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conclusiones: SISEP responde a un problema real; el análisis de usuarios nos llevó a requerimientos medibles; los modelos que construimos son coherentes entre sí; y Scrum con Jira nos permitió organizar el trabajo en dos sprints con incrementos. Aquí cada integrante puede añadir su conclusión personal, como pide la plantilla.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Aprendimos que modelar antes de programar reduce ambigüedades, que la consistencia de nombres entre diagramas y base de datos es clave, y que un backlog por épicas hace realistas los sprints. Como mejoras recomendamos una app móvil sin conexión, integrar AIS e imágenes satelitales en tiempo real, analítica predictiva para vedas y cuotas, y un piloto con pescadores artesanales. Cada integrante puede complementar con sus lecciones personales.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son las referencias en formato ISO 690 numérico. Los números entre corchetes aparecen en las diapositivas donde usamos cada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los anexos mostramos las evidencias: el tablero y backlog en Jira, el repositorio en GitHub con su historial de commits y fotos del trabajo en equipo.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Muchas gracias por su atención. Quedamos atentos a sus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jp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jp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image" Target="../media/image-23-11.png"/><Relationship Id="rId12" Type="http://schemas.openxmlformats.org/officeDocument/2006/relationships/image" Target="../media/image-23-12.png"/><Relationship Id="rId13" Type="http://schemas.openxmlformats.org/officeDocument/2006/relationships/image" Target="../media/image-23-13.png"/><Relationship Id="rId14" Type="http://schemas.openxmlformats.org/officeDocument/2006/relationships/image" Target="../media/image-23-14.png"/><Relationship Id="rId15" Type="http://schemas.openxmlformats.org/officeDocument/2006/relationships/image" Target="../media/image-23-15.png"/><Relationship Id="rId16" Type="http://schemas.openxmlformats.org/officeDocument/2006/relationships/image" Target="../media/image-23-16.png"/><Relationship Id="rId17" Type="http://schemas.openxmlformats.org/officeDocument/2006/relationships/image" Target="../media/image-23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jpe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jpe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image" Target="../media/image-28-9.png"/><Relationship Id="rId10" Type="http://schemas.openxmlformats.org/officeDocument/2006/relationships/image" Target="../media/image-28-10.png"/><Relationship Id="rId11" Type="http://schemas.openxmlformats.org/officeDocument/2006/relationships/image" Target="../media/image-2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un.org/sustainabledevelopment/es/oceans/" TargetMode="External"/><Relationship Id="rId3" Type="http://schemas.openxmlformats.org/officeDocument/2006/relationships/hyperlink" Target="https://www.imarpe.gob.pe" TargetMode="External"/><Relationship Id="rId4" Type="http://schemas.openxmlformats.org/officeDocument/2006/relationships/hyperlink" Target="https://www.gob.pe/produce" TargetMode="External"/><Relationship Id="rId5" Type="http://schemas.openxmlformats.org/officeDocument/2006/relationships/hyperlink" Target="https://scrumguides.org" TargetMode="External"/><Relationship Id="rId1" Type="http://schemas.openxmlformats.org/officeDocument/2006/relationships/image" Target="../media/Slide-29-image-1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jpe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jpe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785616" cy="274320"/>
          </a:xfrm>
          <a:prstGeom prst="roundRect">
            <a:avLst>
              <a:gd name="adj" fmla="val 50000"/>
            </a:avLst>
          </a:prstGeom>
          <a:solidFill>
            <a:srgbClr val="123E5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A8EC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ANÁLISIS Y DISEÑO DE SOFTWARE · NRC 62152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309360" y="50292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FC0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“Año de la recuperación y consolidación de la economía peruana”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PROYECTO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6675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</a:t>
            </a:r>
            <a:endParaRPr lang="en-US" sz="70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Submarina</a:t>
            </a:r>
            <a:endParaRPr lang="en-US" sz="7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0233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D6EA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Sistema de Monitoreo Pesquero Sostenible </a:t>
            </a:r>
            <a:pPr indent="0" marL="0">
              <a:buNone/>
            </a:pPr>
            <a:r>
              <a:rPr lang="en-US" sz="1900" b="1" dirty="0">
                <a:solidFill>
                  <a:srgbClr val="2E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SISEP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0E3A57"/>
          </a:solidFill>
          <a:ln w="9525">
            <a:solidFill>
              <a:srgbClr val="2A7C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461772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ECE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ODS 14 · Vida submarina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26080" y="4617720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0E3A57"/>
          </a:solidFill>
          <a:ln w="9525">
            <a:solidFill>
              <a:srgbClr val="2A7C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26080" y="46177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ECE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IMARPE · PRODUCE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0" y="4617720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0E3A57"/>
          </a:solidFill>
          <a:ln w="9525">
            <a:solidFill>
              <a:srgbClr val="2A7C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46177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ECE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Metodología Scrum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303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INTEGRANTES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596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Oroya Molina Luis Fernando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5596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Cardenas Rosales Abigail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5596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Yupanqui Castro Romina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925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Olarte Tuya Shadi Allegra Rashel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5925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Gonzales Zarate Jhosep Rafael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801100" y="2217420"/>
            <a:ext cx="1143000" cy="1143000"/>
          </a:xfrm>
          <a:prstGeom prst="ellipse">
            <a:avLst/>
          </a:prstGeom>
          <a:ln w="19050">
            <a:solidFill>
              <a:srgbClr val="2EC4C9">
                <a:alpha val="6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66760" y="1783080"/>
            <a:ext cx="2011680" cy="2011680"/>
          </a:xfrm>
          <a:prstGeom prst="ellipse">
            <a:avLst/>
          </a:prstGeom>
          <a:ln w="12700">
            <a:solidFill>
              <a:srgbClr val="2EC4C9">
                <a:alpha val="50000"/>
              </a:srgbClr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932420" y="1348740"/>
            <a:ext cx="2880360" cy="2880360"/>
          </a:xfrm>
          <a:prstGeom prst="ellipse">
            <a:avLst/>
          </a:prstGeom>
          <a:ln w="12700">
            <a:solidFill>
              <a:srgbClr val="2EC4C9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0" y="914400"/>
            <a:ext cx="3749040" cy="3749040"/>
          </a:xfrm>
          <a:prstGeom prst="ellipse">
            <a:avLst/>
          </a:prstGeom>
          <a:ln w="12700">
            <a:solidFill>
              <a:srgbClr val="2EC4C9">
                <a:alpha val="20000"/>
              </a:srgbClr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8988552" y="2404872"/>
            <a:ext cx="768096" cy="768096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228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2895" y="2589215"/>
            <a:ext cx="399410" cy="39941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 flipV="1">
            <a:off x="8092440" y="3611880"/>
            <a:ext cx="640080" cy="365760"/>
          </a:xfrm>
          <a:prstGeom prst="line">
            <a:avLst/>
          </a:prstGeom>
          <a:noFill/>
          <a:ln w="15875">
            <a:solidFill>
              <a:srgbClr val="A8ECE7">
                <a:alpha val="80000"/>
              </a:srgbClr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 flipV="1">
            <a:off x="10241280" y="1417320"/>
            <a:ext cx="502920" cy="685800"/>
          </a:xfrm>
          <a:prstGeom prst="line">
            <a:avLst/>
          </a:prstGeom>
          <a:noFill/>
          <a:ln w="15875">
            <a:solidFill>
              <a:srgbClr val="A8ECE7">
                <a:alpha val="80000"/>
              </a:srgbClr>
            </a:solidFill>
            <a:prstDash val="dash"/>
          </a:ln>
        </p:spPr>
      </p:sp>
      <p:sp>
        <p:nvSpPr>
          <p:cNvPr id="28" name="Shape 25"/>
          <p:cNvSpPr/>
          <p:nvPr/>
        </p:nvSpPr>
        <p:spPr>
          <a:xfrm>
            <a:off x="7973568" y="3858768"/>
            <a:ext cx="237744" cy="237744"/>
          </a:xfrm>
          <a:prstGeom prst="ellipse">
            <a:avLst/>
          </a:prstGeom>
          <a:solidFill>
            <a:srgbClr val="2EC4C9">
              <a:alpha val="3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8037576" y="3922776"/>
            <a:ext cx="109728" cy="109728"/>
          </a:xfrm>
          <a:prstGeom prst="ellipse">
            <a:avLst/>
          </a:prstGeom>
          <a:solidFill>
            <a:srgbClr val="A8ECE7"/>
          </a:solidFill>
          <a:ln/>
        </p:spPr>
      </p:sp>
      <p:sp>
        <p:nvSpPr>
          <p:cNvPr id="30" name="Shape 27"/>
          <p:cNvSpPr/>
          <p:nvPr/>
        </p:nvSpPr>
        <p:spPr>
          <a:xfrm>
            <a:off x="8613648" y="3493008"/>
            <a:ext cx="237744" cy="237744"/>
          </a:xfrm>
          <a:prstGeom prst="ellipse">
            <a:avLst/>
          </a:prstGeom>
          <a:solidFill>
            <a:srgbClr val="2EC4C9">
              <a:alpha val="35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8677656" y="3557016"/>
            <a:ext cx="109728" cy="109728"/>
          </a:xfrm>
          <a:prstGeom prst="ellipse">
            <a:avLst/>
          </a:prstGeom>
          <a:solidFill>
            <a:srgbClr val="A8ECE7"/>
          </a:solidFill>
          <a:ln/>
        </p:spPr>
      </p:sp>
      <p:sp>
        <p:nvSpPr>
          <p:cNvPr id="32" name="Shape 29"/>
          <p:cNvSpPr/>
          <p:nvPr/>
        </p:nvSpPr>
        <p:spPr>
          <a:xfrm>
            <a:off x="10122408" y="1984248"/>
            <a:ext cx="237744" cy="237744"/>
          </a:xfrm>
          <a:prstGeom prst="ellipse">
            <a:avLst/>
          </a:prstGeom>
          <a:solidFill>
            <a:srgbClr val="2EC4C9">
              <a:alpha val="35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10186416" y="2048256"/>
            <a:ext cx="109728" cy="109728"/>
          </a:xfrm>
          <a:prstGeom prst="ellipse">
            <a:avLst/>
          </a:prstGeom>
          <a:solidFill>
            <a:srgbClr val="A8ECE7"/>
          </a:solidFill>
          <a:ln/>
        </p:spPr>
      </p:sp>
      <p:sp>
        <p:nvSpPr>
          <p:cNvPr id="34" name="Shape 31"/>
          <p:cNvSpPr/>
          <p:nvPr/>
        </p:nvSpPr>
        <p:spPr>
          <a:xfrm>
            <a:off x="10625328" y="1298448"/>
            <a:ext cx="237744" cy="237744"/>
          </a:xfrm>
          <a:prstGeom prst="ellipse">
            <a:avLst/>
          </a:prstGeom>
          <a:solidFill>
            <a:srgbClr val="2EC4C9">
              <a:alpha val="35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10689336" y="1362456"/>
            <a:ext cx="109728" cy="109728"/>
          </a:xfrm>
          <a:prstGeom prst="ellipse">
            <a:avLst/>
          </a:prstGeom>
          <a:solidFill>
            <a:srgbClr val="A8ECE7"/>
          </a:solidFill>
          <a:ln/>
        </p:spPr>
      </p:sp>
      <p:sp>
        <p:nvSpPr>
          <p:cNvPr id="36" name="Shape 33"/>
          <p:cNvSpPr/>
          <p:nvPr/>
        </p:nvSpPr>
        <p:spPr>
          <a:xfrm>
            <a:off x="10104120" y="3520440"/>
            <a:ext cx="1600200" cy="566928"/>
          </a:xfrm>
          <a:prstGeom prst="roundRect">
            <a:avLst>
              <a:gd name="adj" fmla="val 16129"/>
            </a:avLst>
          </a:prstGeom>
          <a:solidFill>
            <a:srgbClr val="0E3A57">
              <a:alpha val="90000"/>
            </a:srgbClr>
          </a:solidFill>
          <a:ln w="9525">
            <a:solidFill>
              <a:srgbClr val="2A7C93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241280" y="35844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cada 15 min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7269480" y="1417320"/>
            <a:ext cx="1783080" cy="566928"/>
          </a:xfrm>
          <a:prstGeom prst="roundRect">
            <a:avLst>
              <a:gd name="adj" fmla="val 16129"/>
            </a:avLst>
          </a:prstGeom>
          <a:solidFill>
            <a:srgbClr val="0E3A57">
              <a:alpha val="90000"/>
            </a:srgbClr>
          </a:solidFill>
          <a:ln w="9525">
            <a:solidFill>
              <a:srgbClr val="2A7C93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406640" y="14813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LOTE · QR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Trazabilidad legal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7818120" y="4114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FC0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12°03′ S · 77°09′ O</a:t>
            </a:r>
            <a:endParaRPr lang="en-US" sz="850" dirty="0"/>
          </a:p>
        </p:txBody>
      </p:sp>
      <p:sp>
        <p:nvSpPr>
          <p:cNvPr id="41" name="Text 38"/>
          <p:cNvSpPr txBox="1"/>
          <p:nvPr/>
        </p:nvSpPr>
        <p:spPr>
          <a:xfrm>
            <a:off x="10424160" y="5943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2025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dark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40690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2920"/>
            <a:ext cx="1152144" cy="274320"/>
          </a:xfrm>
          <a:prstGeom prst="roundRect">
            <a:avLst>
              <a:gd name="adj" fmla="val 50000"/>
            </a:avLst>
          </a:prstGeom>
          <a:solidFill>
            <a:srgbClr val="123E5B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50292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A8EC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CONTENIDO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601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Índice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659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E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Recorrido de la exposición según la plantilla del informe del curso: Unidad I y Unidad II.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1554480" y="4206240"/>
            <a:ext cx="914400" cy="914400"/>
          </a:xfrm>
          <a:prstGeom prst="ellipse">
            <a:avLst/>
          </a:prstGeom>
          <a:ln w="19050">
            <a:solidFill>
              <a:srgbClr val="2EC4C9">
                <a:alpha val="65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88720" y="3840480"/>
            <a:ext cx="1645920" cy="1645920"/>
          </a:xfrm>
          <a:prstGeom prst="ellipse">
            <a:avLst/>
          </a:prstGeom>
          <a:ln w="12700">
            <a:solidFill>
              <a:srgbClr val="2EC4C9">
                <a:alpha val="50000"/>
              </a:srgbClr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822960" y="3474720"/>
            <a:ext cx="2377440" cy="2377440"/>
          </a:xfrm>
          <a:prstGeom prst="ellipse">
            <a:avLst/>
          </a:prstGeom>
          <a:ln w="12700">
            <a:solidFill>
              <a:srgbClr val="2EC4C9">
                <a:alpha val="35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27632" y="4279392"/>
            <a:ext cx="768096" cy="768096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228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1975" y="4463735"/>
            <a:ext cx="399410" cy="39941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" y="6355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6A9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Análisis y Diseño de Software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50292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UNIDAD I · FUNDAMENTOS Y MODELADO INICIAL · SEMANAS 1–4</a:t>
            </a:r>
            <a:endParaRPr lang="en-US" sz="85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81381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39A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300" dirty="0"/>
          </a:p>
        </p:txBody>
      </p:sp>
      <p:sp>
        <p:nvSpPr>
          <p:cNvPr id="15" name="Text 11"/>
          <p:cNvSpPr txBox="1"/>
          <p:nvPr/>
        </p:nvSpPr>
        <p:spPr>
          <a:xfrm>
            <a:off x="5532120" y="81381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Presentación del proyecto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5532120" y="1088136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ODS, institución beneficiaria, problema y solución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532120" y="1389888"/>
            <a:ext cx="60807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663440" y="145389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39A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300" dirty="0"/>
          </a:p>
        </p:txBody>
      </p:sp>
      <p:sp>
        <p:nvSpPr>
          <p:cNvPr id="19" name="Text 15"/>
          <p:cNvSpPr txBox="1"/>
          <p:nvPr/>
        </p:nvSpPr>
        <p:spPr>
          <a:xfrm>
            <a:off x="5532120" y="145389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Análisis de necesidades y requerimientos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5532120" y="1728216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Usuarios, requerimientos funcionales, no funcionales y de dominio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532120" y="2029968"/>
            <a:ext cx="60807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663440" y="209397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39A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300" dirty="0"/>
          </a:p>
        </p:txBody>
      </p:sp>
      <p:sp>
        <p:nvSpPr>
          <p:cNvPr id="23" name="Text 19"/>
          <p:cNvSpPr txBox="1"/>
          <p:nvPr/>
        </p:nvSpPr>
        <p:spPr>
          <a:xfrm>
            <a:off x="5532120" y="209397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iniciales del sistema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5532120" y="2368296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Contexto, casos de uso, procesos y modelo entidad-relación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532120" y="2670048"/>
            <a:ext cx="60807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663440" y="282549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UNIDAD II · MODELOS DE DISEÑO Y METODOLOGÍA ÁGIL · SEMANAS 5–7</a:t>
            </a:r>
            <a:endParaRPr lang="en-US" sz="850" dirty="0"/>
          </a:p>
        </p:txBody>
      </p:sp>
      <p:sp>
        <p:nvSpPr>
          <p:cNvPr id="27" name="Text 23"/>
          <p:cNvSpPr txBox="1"/>
          <p:nvPr/>
        </p:nvSpPr>
        <p:spPr>
          <a:xfrm>
            <a:off x="4663440" y="313639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39A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300" dirty="0"/>
          </a:p>
        </p:txBody>
      </p:sp>
      <p:sp>
        <p:nvSpPr>
          <p:cNvPr id="28" name="Text 24"/>
          <p:cNvSpPr txBox="1"/>
          <p:nvPr/>
        </p:nvSpPr>
        <p:spPr>
          <a:xfrm>
            <a:off x="5532120" y="31363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de diseño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5532120" y="3410712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Diagrama de clases y diagrama de secuencia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5532120" y="3712464"/>
            <a:ext cx="60807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663440" y="377647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39A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300" dirty="0"/>
          </a:p>
        </p:txBody>
      </p:sp>
      <p:sp>
        <p:nvSpPr>
          <p:cNvPr id="32" name="Text 28"/>
          <p:cNvSpPr txBox="1"/>
          <p:nvPr/>
        </p:nvSpPr>
        <p:spPr>
          <a:xfrm>
            <a:off x="5532120" y="377647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Metodología de trabajo: Scrum</a:t>
            </a:r>
            <a:endParaRPr lang="en-US" sz="1400" dirty="0"/>
          </a:p>
        </p:txBody>
      </p:sp>
      <p:sp>
        <p:nvSpPr>
          <p:cNvPr id="33" name="Text 29"/>
          <p:cNvSpPr txBox="1"/>
          <p:nvPr/>
        </p:nvSpPr>
        <p:spPr>
          <a:xfrm>
            <a:off x="5532120" y="4050792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Backlog, sprints y herramientas (Jira, GitHub, Draw.io…)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5532120" y="4352544"/>
            <a:ext cx="60807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4663440" y="450799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CIERRE</a:t>
            </a:r>
            <a:endParaRPr lang="en-US" sz="850" dirty="0"/>
          </a:p>
        </p:txBody>
      </p:sp>
      <p:sp>
        <p:nvSpPr>
          <p:cNvPr id="36" name="Text 32"/>
          <p:cNvSpPr txBox="1"/>
          <p:nvPr/>
        </p:nvSpPr>
        <p:spPr>
          <a:xfrm>
            <a:off x="4663440" y="481888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39A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300" dirty="0"/>
          </a:p>
        </p:txBody>
      </p:sp>
      <p:sp>
        <p:nvSpPr>
          <p:cNvPr id="37" name="Text 33"/>
          <p:cNvSpPr txBox="1"/>
          <p:nvPr/>
        </p:nvSpPr>
        <p:spPr>
          <a:xfrm>
            <a:off x="5532120" y="481888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Conclusiones y recomendaciones</a:t>
            </a:r>
            <a:endParaRPr lang="en-US" sz="1400" dirty="0"/>
          </a:p>
        </p:txBody>
      </p:sp>
      <p:sp>
        <p:nvSpPr>
          <p:cNvPr id="38" name="Text 34"/>
          <p:cNvSpPr txBox="1"/>
          <p:nvPr/>
        </p:nvSpPr>
        <p:spPr>
          <a:xfrm>
            <a:off x="5532120" y="5093208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Conclusiones, lecciones aprendidas y mejoras futuras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5532120" y="5394960"/>
            <a:ext cx="60807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4663440" y="545896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39A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2300" dirty="0"/>
          </a:p>
        </p:txBody>
      </p:sp>
      <p:sp>
        <p:nvSpPr>
          <p:cNvPr id="41" name="Text 37"/>
          <p:cNvSpPr txBox="1"/>
          <p:nvPr/>
        </p:nvSpPr>
        <p:spPr>
          <a:xfrm>
            <a:off x="5532120" y="545896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Referencias y anexos</a:t>
            </a:r>
            <a:endParaRPr lang="en-US" sz="1400" dirty="0"/>
          </a:p>
        </p:txBody>
      </p:sp>
      <p:sp>
        <p:nvSpPr>
          <p:cNvPr id="42" name="Text 38"/>
          <p:cNvSpPr txBox="1"/>
          <p:nvPr/>
        </p:nvSpPr>
        <p:spPr>
          <a:xfrm>
            <a:off x="5532120" y="5733288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Fuentes en ISO 690 y evidencias del trabajo en equipo</a:t>
            </a:r>
            <a:endParaRPr lang="en-US" sz="1100" dirty="0"/>
          </a:p>
        </p:txBody>
      </p:sp>
      <p:sp>
        <p:nvSpPr>
          <p:cNvPr id="43" name="Shape 39"/>
          <p:cNvSpPr/>
          <p:nvPr/>
        </p:nvSpPr>
        <p:spPr>
          <a:xfrm>
            <a:off x="5532120" y="6035040"/>
            <a:ext cx="60807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46634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45" name="Text 41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502920"/>
            <a:ext cx="5943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0" b="1" dirty="0">
                <a:solidFill>
                  <a:srgbClr val="2EC4C9">
                    <a:alpha val="28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9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UNIDAD I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03320"/>
            <a:ext cx="6035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y</a:t>
            </a:r>
            <a:endParaRPr lang="en-US" sz="3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Modelado Inicial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94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ECE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Semanas 1–4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086600" y="1760220"/>
            <a:ext cx="4526280" cy="960120"/>
          </a:xfrm>
          <a:prstGeom prst="roundRect">
            <a:avLst>
              <a:gd name="adj" fmla="val 11429"/>
            </a:avLst>
          </a:prstGeom>
          <a:solidFill>
            <a:srgbClr val="0E3453">
              <a:alpha val="85000"/>
            </a:srgbClr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1943100"/>
            <a:ext cx="594360" cy="594360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7846" y="2085746"/>
            <a:ext cx="309067" cy="30906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138160" y="19431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1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215341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Presentación del proyecto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086600" y="2948940"/>
            <a:ext cx="4526280" cy="960120"/>
          </a:xfrm>
          <a:prstGeom prst="roundRect">
            <a:avLst>
              <a:gd name="adj" fmla="val 11429"/>
            </a:avLst>
          </a:prstGeom>
          <a:solidFill>
            <a:srgbClr val="0E3453">
              <a:alpha val="85000"/>
            </a:srgbClr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0" y="3131820"/>
            <a:ext cx="594360" cy="594360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846" y="3274466"/>
            <a:ext cx="309067" cy="30906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138160" y="31318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2</a:t>
            </a:r>
            <a:endParaRPr lang="en-US" sz="850" dirty="0"/>
          </a:p>
        </p:txBody>
      </p:sp>
      <p:sp>
        <p:nvSpPr>
          <p:cNvPr id="15" name="Text 11"/>
          <p:cNvSpPr txBox="1"/>
          <p:nvPr/>
        </p:nvSpPr>
        <p:spPr>
          <a:xfrm>
            <a:off x="8138160" y="334213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Análisis de necesidades y requerimientos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7086600" y="4137660"/>
            <a:ext cx="4526280" cy="960120"/>
          </a:xfrm>
          <a:prstGeom prst="roundRect">
            <a:avLst>
              <a:gd name="adj" fmla="val 11429"/>
            </a:avLst>
          </a:prstGeom>
          <a:solidFill>
            <a:srgbClr val="0E3453">
              <a:alpha val="85000"/>
            </a:srgbClr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315200" y="4320540"/>
            <a:ext cx="594360" cy="594360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7846" y="4463186"/>
            <a:ext cx="309067" cy="30906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138160" y="43205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3</a:t>
            </a:r>
            <a:endParaRPr lang="en-US" sz="850" dirty="0"/>
          </a:p>
        </p:txBody>
      </p:sp>
      <p:sp>
        <p:nvSpPr>
          <p:cNvPr id="20" name="Text 15"/>
          <p:cNvSpPr txBox="1"/>
          <p:nvPr/>
        </p:nvSpPr>
        <p:spPr>
          <a:xfrm>
            <a:off x="8138160" y="453085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iniciales del sistema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7FA7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22" name="Text 17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8EC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538728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1 · PRESENTACIÓN DEL PROYECTO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ODS vinculado: ODS 14 — Vida submarina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017520" cy="3017520"/>
          </a:xfrm>
          <a:prstGeom prst="roundRect">
            <a:avLst>
              <a:gd name="adj" fmla="val 4848"/>
            </a:avLst>
          </a:prstGeom>
          <a:solidFill>
            <a:srgbClr val="0A97D9"/>
          </a:solidFill>
          <a:ln/>
          <a:effectLst>
            <a:outerShdw sx="100000" sy="100000" kx="0" ky="0" algn="bl" rotWithShape="0" blurRad="152400" dist="38100" dir="5400000">
              <a:srgbClr val="0B1D2E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 DE DESARROLLO SOSTENIBLE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4884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10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03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</a:t>
            </a: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SUBMARINA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3794760"/>
            <a:ext cx="566928" cy="56692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3931920" y="16916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“Conservar y utilizar sosteniblemente los océanos, los mares y los recursos marinos para el desarrollo sostenible.” [1]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3931920" y="26517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implementación de SISEP en el Perú se alinea con el ODS 14 e impulsa la sostenibilidad pesquera en sus tres dimensiones, garantizando que las próximas generaciones puedan seguir beneficiándose de los recursos marinos.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931920" y="3749040"/>
            <a:ext cx="7680960" cy="960120"/>
          </a:xfrm>
          <a:prstGeom prst="roundRect">
            <a:avLst>
              <a:gd name="adj" fmla="val 11429"/>
            </a:avLst>
          </a:prstGeom>
          <a:solidFill>
            <a:srgbClr val="E3F4F6"/>
          </a:solidFill>
          <a:ln/>
        </p:spPr>
      </p:sp>
      <p:sp>
        <p:nvSpPr>
          <p:cNvPr id="13" name="Shape 10"/>
          <p:cNvSpPr/>
          <p:nvPr/>
        </p:nvSpPr>
        <p:spPr>
          <a:xfrm>
            <a:off x="4114800" y="39319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446" y="4074566"/>
            <a:ext cx="309067" cy="30906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892040" y="3858768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Meta 14.4 </a:t>
            </a:r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Reglamentar la explotación pesquera y poner fin a la pesca excesiva y a la pesca ilegal, no declarada y no reglamentada: justo lo que SISEP ayuda a controlar. [1]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4983480"/>
            <a:ext cx="356616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5257800"/>
            <a:ext cx="594360" cy="594360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5400446"/>
            <a:ext cx="309067" cy="30906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54480" y="5166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DIMENSIÓN ECONÓMICA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554480" y="541324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Impulsa el desarrollo económico de las comunidades costeras.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297680" y="4983480"/>
            <a:ext cx="356616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526280" y="5257800"/>
            <a:ext cx="594360" cy="594360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926" y="5400446"/>
            <a:ext cx="309067" cy="30906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303520" y="5166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DIMENSIÓN AMBIENTAL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5303520" y="541324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Protege el ecosistema marino y la biodiversidad nacional.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8046720" y="4983480"/>
            <a:ext cx="356616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275320" y="5257800"/>
            <a:ext cx="594360" cy="594360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7966" y="5400446"/>
            <a:ext cx="309067" cy="30906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052560" y="5166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DIMENSIÓN SOCIAL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9052560" y="541324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Asegura que las próximas generaciones sigan beneficiándose del mar.</a:t>
            </a:r>
            <a:endParaRPr lang="en-US" sz="1150" dirty="0"/>
          </a:p>
        </p:txBody>
      </p:sp>
      <p:sp>
        <p:nvSpPr>
          <p:cNvPr id="31" name="Text 24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32" name="Text 25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dark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44805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3456432" cy="274320"/>
          </a:xfrm>
          <a:prstGeom prst="roundRect">
            <a:avLst>
              <a:gd name="adj" fmla="val 50000"/>
            </a:avLst>
          </a:prstGeom>
          <a:solidFill>
            <a:srgbClr val="123E5B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41148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A8EC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1 · INSTITUCIÓN BENEFICIARIA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548640" y="1188720"/>
            <a:ext cx="822960" cy="822960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1386230"/>
            <a:ext cx="427939" cy="42793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21945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IMARPE</a:t>
            </a:r>
            <a:endParaRPr lang="en-US" sz="4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8ECE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Instituto del Mar del Perú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34290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E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Institución dedicada a la investigación y al seguimiento de los recursos pesqueros del país. [4]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4526280"/>
            <a:ext cx="3383280" cy="0"/>
          </a:xfrm>
          <a:prstGeom prst="line">
            <a:avLst/>
          </a:prstGeom>
          <a:noFill/>
          <a:ln w="9525">
            <a:solidFill>
              <a:srgbClr val="24617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4709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ALIANZA CON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rgbClr val="123E5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5195621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34440" y="5029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C9DE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Ministerio de la Producción: co-gestiona la plataforma central de SISEP. [5]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5029200" y="6858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¿Por qué IMARPE es el principal beneficiario?</a:t>
            </a:r>
            <a:endParaRPr lang="en-US" sz="2600" dirty="0"/>
          </a:p>
        </p:txBody>
      </p:sp>
      <p:sp>
        <p:nvSpPr>
          <p:cNvPr id="16" name="Text 11"/>
          <p:cNvSpPr txBox="1"/>
          <p:nvPr/>
        </p:nvSpPr>
        <p:spPr>
          <a:xfrm>
            <a:off x="5029200" y="16459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 rol en la investigación de los recursos pesqueros lo convierte en el usuario que más valor obtiene del sistema.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029200" y="2331720"/>
            <a:ext cx="65836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230368" y="2487168"/>
            <a:ext cx="557784" cy="557784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4236" y="2621036"/>
            <a:ext cx="290048" cy="2900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989320" y="2459736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Datos en tiempo real</a:t>
            </a:r>
            <a:endParaRPr lang="en-US" sz="1350" dirty="0"/>
          </a:p>
        </p:txBody>
      </p:sp>
      <p:sp>
        <p:nvSpPr>
          <p:cNvPr id="21" name="Text 15"/>
          <p:cNvSpPr txBox="1"/>
          <p:nvPr/>
        </p:nvSpPr>
        <p:spPr>
          <a:xfrm>
            <a:off x="5989320" y="277063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Especies capturadas, áreas de faena y tallas permitidas, al instante.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029200" y="3319272"/>
            <a:ext cx="65836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230368" y="3474720"/>
            <a:ext cx="557784" cy="557784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4236" y="3608588"/>
            <a:ext cx="290048" cy="2900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989320" y="3447288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Vedas y cuotas más precisas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989320" y="3758184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Mejor base para definir periodos de veda y cuotas de extracción.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5029200" y="4306824"/>
            <a:ext cx="65836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5230368" y="4462272"/>
            <a:ext cx="557784" cy="557784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4236" y="4596140"/>
            <a:ext cx="290048" cy="2900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989320" y="4434840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Biodiversidad protegida</a:t>
            </a:r>
            <a:endParaRPr lang="en-US" sz="1350" dirty="0"/>
          </a:p>
        </p:txBody>
      </p:sp>
      <p:sp>
        <p:nvSpPr>
          <p:cNvPr id="31" name="Text 23"/>
          <p:cNvSpPr txBox="1"/>
          <p:nvPr/>
        </p:nvSpPr>
        <p:spPr>
          <a:xfrm>
            <a:off x="5989320" y="4745736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Aporta a la protección de la biodiversidad marina nacional.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5029200" y="5294376"/>
            <a:ext cx="65836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5230368" y="5449824"/>
            <a:ext cx="557784" cy="557784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4236" y="5583692"/>
            <a:ext cx="290048" cy="290048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5989320" y="5422392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Pesca responsable</a:t>
            </a:r>
            <a:endParaRPr lang="en-US" sz="1350" dirty="0"/>
          </a:p>
        </p:txBody>
      </p:sp>
      <p:sp>
        <p:nvSpPr>
          <p:cNvPr id="36" name="Text 27"/>
          <p:cNvSpPr txBox="1"/>
          <p:nvPr/>
        </p:nvSpPr>
        <p:spPr>
          <a:xfrm>
            <a:off x="5989320" y="573328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Favorece una pesca que beneficia al país y a sus comunidades pesqueras.</a:t>
            </a:r>
            <a:endParaRPr lang="en-US" sz="1150" dirty="0"/>
          </a:p>
        </p:txBody>
      </p:sp>
      <p:sp>
        <p:nvSpPr>
          <p:cNvPr id="37" name="Text 28"/>
          <p:cNvSpPr txBox="1"/>
          <p:nvPr/>
        </p:nvSpPr>
        <p:spPr>
          <a:xfrm>
            <a:off x="502920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38" name="Text 29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209544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1 · PROBLEMA IDENTIFICADO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mar productivo, bajo presión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 el Perú, la actividad pesquera presenta serias dificultades que ponen en riesgo el recurso y a quienes viven de él.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55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CAUSAS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72084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489204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688336"/>
            <a:ext cx="603504" cy="603504"/>
          </a:xfrm>
          <a:prstGeom prst="ellipse">
            <a:avLst/>
          </a:prstGeom>
          <a:solidFill>
            <a:srgbClr val="FDECE9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81" y="2833177"/>
            <a:ext cx="313822" cy="31382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0020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Sobreexplotación de especies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1600200" y="299008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Extracción excesiva que agota las poblaciones marinas.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720840" y="2487168"/>
            <a:ext cx="489204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949440" y="2688336"/>
            <a:ext cx="603504" cy="603504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281" y="2833177"/>
            <a:ext cx="313822" cy="31382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77240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Biodiversidad marina en riesgo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7772400" y="299008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debilita el equilibrio de los ecosistemas.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48640" y="3675888"/>
            <a:ext cx="489204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77240" y="3877056"/>
            <a:ext cx="603504" cy="603504"/>
          </a:xfrm>
          <a:prstGeom prst="ellipse">
            <a:avLst/>
          </a:prstGeom>
          <a:solidFill>
            <a:srgbClr val="FDECE9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081" y="4021897"/>
            <a:ext cx="313822" cy="31382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60020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Pesca no regulada e ilegal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1600200" y="417880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Capturas que escapan al control y a la normativa.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720840" y="3675888"/>
            <a:ext cx="489204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949440" y="3877056"/>
            <a:ext cx="603504" cy="603504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4281" y="4021897"/>
            <a:ext cx="313822" cy="31382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77240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Sostenibilidad futura limitada</a:t>
            </a:r>
            <a:endParaRPr lang="en-US" sz="1350" dirty="0"/>
          </a:p>
        </p:txBody>
      </p:sp>
      <p:sp>
        <p:nvSpPr>
          <p:cNvPr id="27" name="Text 21"/>
          <p:cNvSpPr txBox="1"/>
          <p:nvPr/>
        </p:nvSpPr>
        <p:spPr>
          <a:xfrm>
            <a:off x="7772400" y="417880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Menos recursos para las próximas generaciones.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548640" y="4864608"/>
            <a:ext cx="489204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7240" y="5065776"/>
            <a:ext cx="603504" cy="603504"/>
          </a:xfrm>
          <a:prstGeom prst="ellipse">
            <a:avLst/>
          </a:prstGeom>
          <a:solidFill>
            <a:srgbClr val="FDECE9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081" y="5210617"/>
            <a:ext cx="313822" cy="31382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600200" y="5029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 monitoreo inmediato</a:t>
            </a:r>
            <a:endParaRPr lang="en-US" sz="1350" dirty="0"/>
          </a:p>
        </p:txBody>
      </p:sp>
      <p:sp>
        <p:nvSpPr>
          <p:cNvPr id="32" name="Text 25"/>
          <p:cNvSpPr txBox="1"/>
          <p:nvPr/>
        </p:nvSpPr>
        <p:spPr>
          <a:xfrm>
            <a:off x="1600200" y="536752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se sabe a tiempo qué se captura ni en qué áreas de faena.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6720840" y="4864608"/>
            <a:ext cx="489204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949440" y="5065776"/>
            <a:ext cx="603504" cy="603504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4281" y="5210617"/>
            <a:ext cx="313822" cy="313822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7772400" y="5029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Comunidades costeras afectadas</a:t>
            </a:r>
            <a:endParaRPr lang="en-US" sz="1350" dirty="0"/>
          </a:p>
        </p:txBody>
      </p:sp>
      <p:sp>
        <p:nvSpPr>
          <p:cNvPr id="37" name="Text 29"/>
          <p:cNvSpPr txBox="1"/>
          <p:nvPr/>
        </p:nvSpPr>
        <p:spPr>
          <a:xfrm>
            <a:off x="7772400" y="536752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 subsistencia y economía dependen de la pesca.</a:t>
            </a:r>
            <a:endParaRPr lang="en-US" sz="1150" dirty="0"/>
          </a:p>
        </p:txBody>
      </p:sp>
      <p:sp>
        <p:nvSpPr>
          <p:cNvPr id="38" name="Shape 30"/>
          <p:cNvSpPr/>
          <p:nvPr/>
        </p:nvSpPr>
        <p:spPr>
          <a:xfrm>
            <a:off x="5669280" y="3611880"/>
            <a:ext cx="822960" cy="822960"/>
          </a:xfrm>
          <a:prstGeom prst="ellipse">
            <a:avLst/>
          </a:prstGeom>
          <a:solidFill>
            <a:srgbClr val="0B2A45"/>
          </a:solidFill>
          <a:ln/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99709" y="3842309"/>
            <a:ext cx="362102" cy="362102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41" name="Text 32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962656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1 · SOLUCIÓN PROPUESTA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Solución propuesta: SISEP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2395728" cy="36576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554480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1481328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Innovación tecnológica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081528" y="1481328"/>
            <a:ext cx="2318004" cy="36576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544" y="155448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493008" y="1481328"/>
            <a:ext cx="18608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Gestión gubernamental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536692" y="1481328"/>
            <a:ext cx="2162556" cy="36576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4708" y="1554480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948172" y="1481328"/>
            <a:ext cx="1705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Participación local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48640" y="2194560"/>
            <a:ext cx="283464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77240" y="2395728"/>
            <a:ext cx="640080" cy="640080"/>
          </a:xfrm>
          <a:prstGeom prst="ellipse">
            <a:avLst/>
          </a:prstGeom>
          <a:solidFill>
            <a:srgbClr val="0B2A45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859" y="2549347"/>
            <a:ext cx="332842" cy="33284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77240" y="3127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Embarcaciones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777240" y="34747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GPS a bordo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Bitácora y registros digitales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Fotos de las capturas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4069080" y="2011680"/>
            <a:ext cx="4069080" cy="2560320"/>
          </a:xfrm>
          <a:prstGeom prst="roundRect">
            <a:avLst>
              <a:gd name="adj" fmla="val 5714"/>
            </a:avLst>
          </a:prstGeom>
          <a:solidFill>
            <a:srgbClr val="071A2C"/>
          </a:solidFill>
          <a:ln/>
          <a:effectLst>
            <a:outerShdw sx="100000" sy="100000" kx="0" ky="0" algn="bl" rotWithShape="0" blurRad="228600" dist="38100" dir="5400000">
              <a:srgbClr val="0B1D2E">
                <a:alpha val="25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4343400" y="22128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PLATAFORMA CENTRAL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4343400" y="24871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IMARPE · PRODUCE</a:t>
            </a:r>
            <a:endParaRPr lang="en-US" sz="2100" dirty="0"/>
          </a:p>
        </p:txBody>
      </p:sp>
      <p:sp>
        <p:nvSpPr>
          <p:cNvPr id="22" name="Shape 16"/>
          <p:cNvSpPr/>
          <p:nvPr/>
        </p:nvSpPr>
        <p:spPr>
          <a:xfrm>
            <a:off x="4572000" y="3154680"/>
            <a:ext cx="548640" cy="548640"/>
          </a:xfrm>
          <a:prstGeom prst="ellipse">
            <a:avLst/>
          </a:prstGeom>
          <a:solidFill>
            <a:srgbClr val="123E5B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3674" y="3286354"/>
            <a:ext cx="285293" cy="285293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343400" y="3767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E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Validación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5760720" y="3154680"/>
            <a:ext cx="548640" cy="548640"/>
          </a:xfrm>
          <a:prstGeom prst="ellipse">
            <a:avLst/>
          </a:prstGeom>
          <a:solidFill>
            <a:srgbClr val="123E5B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2394" y="3286354"/>
            <a:ext cx="285293" cy="285293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532120" y="3767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E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Alertas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6949440" y="3154680"/>
            <a:ext cx="548640" cy="548640"/>
          </a:xfrm>
          <a:prstGeom prst="ellipse">
            <a:avLst/>
          </a:prstGeom>
          <a:solidFill>
            <a:srgbClr val="123E5B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1114" y="3286354"/>
            <a:ext cx="285293" cy="285293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720840" y="3767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E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Reportes</a:t>
            </a:r>
            <a:endParaRPr lang="en-US" sz="1050" dirty="0"/>
          </a:p>
        </p:txBody>
      </p:sp>
      <p:sp>
        <p:nvSpPr>
          <p:cNvPr id="31" name="Shape 22"/>
          <p:cNvSpPr/>
          <p:nvPr/>
        </p:nvSpPr>
        <p:spPr>
          <a:xfrm>
            <a:off x="8823960" y="2194560"/>
            <a:ext cx="278892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9052560" y="2395728"/>
            <a:ext cx="640080" cy="640080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06179" y="2549347"/>
            <a:ext cx="332842" cy="332842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9052560" y="3127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Trazabilidad</a:t>
            </a:r>
            <a:endParaRPr lang="en-US" sz="1400" dirty="0"/>
          </a:p>
        </p:txBody>
      </p:sp>
      <p:sp>
        <p:nvSpPr>
          <p:cNvPr id="35" name="Text 25"/>
          <p:cNvSpPr txBox="1"/>
          <p:nvPr/>
        </p:nvSpPr>
        <p:spPr>
          <a:xfrm>
            <a:off x="9052560" y="34747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QR único por lote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Procedencia legal y responsable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Verificable por el mercado</a:t>
            </a:r>
            <a:endParaRPr lang="en-US" sz="1150" dirty="0"/>
          </a:p>
        </p:txBody>
      </p:sp>
      <p:sp>
        <p:nvSpPr>
          <p:cNvPr id="36" name="Shape 26"/>
          <p:cNvSpPr/>
          <p:nvPr/>
        </p:nvSpPr>
        <p:spPr>
          <a:xfrm>
            <a:off x="3429000" y="3291840"/>
            <a:ext cx="594360" cy="0"/>
          </a:xfrm>
          <a:prstGeom prst="line">
            <a:avLst/>
          </a:prstGeom>
          <a:noFill/>
          <a:ln w="25400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37" name="Text 27"/>
          <p:cNvSpPr txBox="1"/>
          <p:nvPr/>
        </p:nvSpPr>
        <p:spPr>
          <a:xfrm>
            <a:off x="3401568" y="29992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datos</a:t>
            </a:r>
            <a:endParaRPr lang="en-US" sz="900" dirty="0"/>
          </a:p>
        </p:txBody>
      </p:sp>
      <p:sp>
        <p:nvSpPr>
          <p:cNvPr id="38" name="Shape 28"/>
          <p:cNvSpPr/>
          <p:nvPr/>
        </p:nvSpPr>
        <p:spPr>
          <a:xfrm>
            <a:off x="8183880" y="3291840"/>
            <a:ext cx="594360" cy="0"/>
          </a:xfrm>
          <a:prstGeom prst="line">
            <a:avLst/>
          </a:prstGeom>
          <a:noFill/>
          <a:ln w="25400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39" name="Text 29"/>
          <p:cNvSpPr txBox="1"/>
          <p:nvPr/>
        </p:nvSpPr>
        <p:spPr>
          <a:xfrm>
            <a:off x="8138160" y="299923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certifica</a:t>
            </a:r>
            <a:endParaRPr lang="en-US" sz="900" dirty="0"/>
          </a:p>
        </p:txBody>
      </p:sp>
      <p:sp>
        <p:nvSpPr>
          <p:cNvPr id="40" name="Shape 30"/>
          <p:cNvSpPr/>
          <p:nvPr/>
        </p:nvSpPr>
        <p:spPr>
          <a:xfrm>
            <a:off x="4114800" y="4892040"/>
            <a:ext cx="3977640" cy="45720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97680" y="4983480"/>
            <a:ext cx="274320" cy="274320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4663440" y="4892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Sensores marinos + imágenes satelitales</a:t>
            </a:r>
            <a:endParaRPr lang="en-US" sz="1100" dirty="0"/>
          </a:p>
        </p:txBody>
      </p:sp>
      <p:sp>
        <p:nvSpPr>
          <p:cNvPr id="43" name="Shape 32"/>
          <p:cNvSpPr/>
          <p:nvPr/>
        </p:nvSpPr>
        <p:spPr>
          <a:xfrm flipV="1">
            <a:off x="6099048" y="4617720"/>
            <a:ext cx="0" cy="256032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44" name="Shape 33"/>
          <p:cNvSpPr/>
          <p:nvPr/>
        </p:nvSpPr>
        <p:spPr>
          <a:xfrm>
            <a:off x="548640" y="5687568"/>
            <a:ext cx="365760" cy="365760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107" y="5768035"/>
            <a:ext cx="204826" cy="204826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1051560" y="56875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Combate la pesca ilegal</a:t>
            </a:r>
            <a:endParaRPr lang="en-US" sz="1250" dirty="0"/>
          </a:p>
        </p:txBody>
      </p:sp>
      <p:sp>
        <p:nvSpPr>
          <p:cNvPr id="47" name="Shape 35"/>
          <p:cNvSpPr/>
          <p:nvPr/>
        </p:nvSpPr>
        <p:spPr>
          <a:xfrm>
            <a:off x="4297680" y="5687568"/>
            <a:ext cx="365760" cy="365760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78147" y="5768035"/>
            <a:ext cx="204826" cy="204826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4800600" y="56875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Protege el ecosistema marino</a:t>
            </a:r>
            <a:endParaRPr lang="en-US" sz="1250" dirty="0"/>
          </a:p>
        </p:txBody>
      </p:sp>
      <p:sp>
        <p:nvSpPr>
          <p:cNvPr id="50" name="Shape 37"/>
          <p:cNvSpPr/>
          <p:nvPr/>
        </p:nvSpPr>
        <p:spPr>
          <a:xfrm>
            <a:off x="8046720" y="5687568"/>
            <a:ext cx="365760" cy="365760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27187" y="5768035"/>
            <a:ext cx="204826" cy="204826"/>
          </a:xfrm>
          <a:prstGeom prst="rect">
            <a:avLst/>
          </a:prstGeom>
        </p:spPr>
      </p:pic>
      <p:sp>
        <p:nvSpPr>
          <p:cNvPr id="52" name="Text 38"/>
          <p:cNvSpPr txBox="1"/>
          <p:nvPr/>
        </p:nvSpPr>
        <p:spPr>
          <a:xfrm>
            <a:off x="8549640" y="56875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Impulsa a las comunidades costeras</a:t>
            </a:r>
            <a:endParaRPr lang="en-US" sz="1250" dirty="0"/>
          </a:p>
        </p:txBody>
      </p:sp>
      <p:sp>
        <p:nvSpPr>
          <p:cNvPr id="53" name="Text 39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54" name="Text 40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209544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1 · PROPUESTA DEL SISTEMA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¿Qué tendrá</a:t>
            </a:r>
            <a:endParaRPr lang="en-US" sz="3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SISEP?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Seis módulos que cubren todo el ciclo de la pesca: desde que la embarcación zarpa hasta que el producto llega al mercado con su código QR.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3246120" cy="1600200"/>
          </a:xfrm>
          <a:prstGeom prst="roundRect">
            <a:avLst>
              <a:gd name="adj" fmla="val 8000"/>
            </a:avLst>
          </a:prstGeom>
          <a:solidFill>
            <a:srgbClr val="071A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43434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· 4 · 3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95604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E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requerimientos funcionales, no funcionales y de dominio respaldan cada módulo.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685800"/>
            <a:ext cx="2331720" cy="251460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941832"/>
            <a:ext cx="603504" cy="603504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1121" y="1086673"/>
            <a:ext cx="313822" cy="31382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760720" y="96012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5E3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Rastreo GPS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203911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Posición registrada automáticamente cada 15 minutos.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26280" y="277063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526280" y="27706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RF01.1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793992" y="685800"/>
            <a:ext cx="2331720" cy="251460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022592" y="941832"/>
            <a:ext cx="603504" cy="603504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7433" y="1086673"/>
            <a:ext cx="313822" cy="31382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257032" y="96012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5E3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7022592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Alertas inteligentes</a:t>
            </a:r>
            <a:endParaRPr lang="en-US" sz="1350" dirty="0"/>
          </a:p>
        </p:txBody>
      </p:sp>
      <p:sp>
        <p:nvSpPr>
          <p:cNvPr id="22" name="Text 18"/>
          <p:cNvSpPr txBox="1"/>
          <p:nvPr/>
        </p:nvSpPr>
        <p:spPr>
          <a:xfrm>
            <a:off x="7022592" y="203911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Avisos por ingreso a zonas restringidas e irregularidades.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7022592" y="2770632"/>
            <a:ext cx="1348740" cy="256032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022592" y="2770632"/>
            <a:ext cx="13487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RF01.2 · RF01.7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9290304" y="685800"/>
            <a:ext cx="2331720" cy="251460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9518904" y="941832"/>
            <a:ext cx="603504" cy="603504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3745" y="1086673"/>
            <a:ext cx="313822" cy="313822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0753344" y="96012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5E3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9518904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Bitácora digital</a:t>
            </a:r>
            <a:endParaRPr lang="en-US" sz="1350" dirty="0"/>
          </a:p>
        </p:txBody>
      </p:sp>
      <p:sp>
        <p:nvSpPr>
          <p:cNvPr id="30" name="Text 25"/>
          <p:cNvSpPr txBox="1"/>
          <p:nvPr/>
        </p:nvSpPr>
        <p:spPr>
          <a:xfrm>
            <a:off x="9518904" y="203911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Registro de capturas con fotos como evidencia.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9518904" y="2770632"/>
            <a:ext cx="1348740" cy="256032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9518904" y="2770632"/>
            <a:ext cx="13487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RF01.3 · RF01.4</a:t>
            </a:r>
            <a:endParaRPr lang="en-US" sz="850" dirty="0"/>
          </a:p>
        </p:txBody>
      </p:sp>
      <p:sp>
        <p:nvSpPr>
          <p:cNvPr id="33" name="Shape 28"/>
          <p:cNvSpPr/>
          <p:nvPr/>
        </p:nvSpPr>
        <p:spPr>
          <a:xfrm>
            <a:off x="4297680" y="3429000"/>
            <a:ext cx="2331720" cy="251460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4526280" y="3685032"/>
            <a:ext cx="603504" cy="603504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1121" y="3829873"/>
            <a:ext cx="313822" cy="313822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5760720" y="370332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5E3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600" dirty="0"/>
          </a:p>
        </p:txBody>
      </p:sp>
      <p:sp>
        <p:nvSpPr>
          <p:cNvPr id="37" name="Text 31"/>
          <p:cNvSpPr txBox="1"/>
          <p:nvPr/>
        </p:nvSpPr>
        <p:spPr>
          <a:xfrm>
            <a:off x="4526280" y="4434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Trazabilidad QR</a:t>
            </a:r>
            <a:endParaRPr lang="en-US" sz="1350" dirty="0"/>
          </a:p>
        </p:txBody>
      </p:sp>
      <p:sp>
        <p:nvSpPr>
          <p:cNvPr id="38" name="Text 32"/>
          <p:cNvSpPr txBox="1"/>
          <p:nvPr/>
        </p:nvSpPr>
        <p:spPr>
          <a:xfrm>
            <a:off x="4526280" y="478231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Código QR único por cada lote de captura.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4526280" y="551383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4526280" y="55138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RF01.5</a:t>
            </a:r>
            <a:endParaRPr lang="en-US" sz="850" dirty="0"/>
          </a:p>
        </p:txBody>
      </p:sp>
      <p:sp>
        <p:nvSpPr>
          <p:cNvPr id="41" name="Shape 35"/>
          <p:cNvSpPr/>
          <p:nvPr/>
        </p:nvSpPr>
        <p:spPr>
          <a:xfrm>
            <a:off x="6793992" y="3429000"/>
            <a:ext cx="2331720" cy="251460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7022592" y="3685032"/>
            <a:ext cx="603504" cy="603504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7433" y="3829873"/>
            <a:ext cx="313822" cy="313822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8257032" y="370332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5E3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600" dirty="0"/>
          </a:p>
        </p:txBody>
      </p:sp>
      <p:sp>
        <p:nvSpPr>
          <p:cNvPr id="45" name="Text 38"/>
          <p:cNvSpPr txBox="1"/>
          <p:nvPr/>
        </p:nvSpPr>
        <p:spPr>
          <a:xfrm>
            <a:off x="7022592" y="4434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Clima y sensores</a:t>
            </a:r>
            <a:endParaRPr lang="en-US" sz="1350" dirty="0"/>
          </a:p>
        </p:txBody>
      </p:sp>
      <p:sp>
        <p:nvSpPr>
          <p:cNvPr id="46" name="Text 39"/>
          <p:cNvSpPr txBox="1"/>
          <p:nvPr/>
        </p:nvSpPr>
        <p:spPr>
          <a:xfrm>
            <a:off x="7022592" y="478231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Monitoreo de condiciones meteorológicas y del mar.</a:t>
            </a:r>
            <a:endParaRPr lang="en-US" sz="1100" dirty="0"/>
          </a:p>
        </p:txBody>
      </p:sp>
      <p:sp>
        <p:nvSpPr>
          <p:cNvPr id="47" name="Shape 40"/>
          <p:cNvSpPr/>
          <p:nvPr/>
        </p:nvSpPr>
        <p:spPr>
          <a:xfrm>
            <a:off x="7022592" y="551383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48" name="Text 41"/>
          <p:cNvSpPr txBox="1"/>
          <p:nvPr/>
        </p:nvSpPr>
        <p:spPr>
          <a:xfrm>
            <a:off x="7022592" y="55138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RF01.6</a:t>
            </a:r>
            <a:endParaRPr lang="en-US" sz="850" dirty="0"/>
          </a:p>
        </p:txBody>
      </p:sp>
      <p:sp>
        <p:nvSpPr>
          <p:cNvPr id="49" name="Shape 42"/>
          <p:cNvSpPr/>
          <p:nvPr/>
        </p:nvSpPr>
        <p:spPr>
          <a:xfrm>
            <a:off x="9290304" y="3429000"/>
            <a:ext cx="2331720" cy="251460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50" name="Shape 43"/>
          <p:cNvSpPr/>
          <p:nvPr/>
        </p:nvSpPr>
        <p:spPr>
          <a:xfrm>
            <a:off x="9518904" y="3685032"/>
            <a:ext cx="603504" cy="603504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3745" y="3829873"/>
            <a:ext cx="313822" cy="313822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10753344" y="370332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5E3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600" dirty="0"/>
          </a:p>
        </p:txBody>
      </p:sp>
      <p:sp>
        <p:nvSpPr>
          <p:cNvPr id="53" name="Text 45"/>
          <p:cNvSpPr txBox="1"/>
          <p:nvPr/>
        </p:nvSpPr>
        <p:spPr>
          <a:xfrm>
            <a:off x="9518904" y="4434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Reportes</a:t>
            </a:r>
            <a:endParaRPr lang="en-US" sz="1350" dirty="0"/>
          </a:p>
        </p:txBody>
      </p:sp>
      <p:sp>
        <p:nvSpPr>
          <p:cNvPr id="54" name="Text 46"/>
          <p:cNvSpPr txBox="1"/>
          <p:nvPr/>
        </p:nvSpPr>
        <p:spPr>
          <a:xfrm>
            <a:off x="9518904" y="478231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Dashboards con estadísticas y tendencias para IMARPE y PRODUCE.</a:t>
            </a:r>
            <a:endParaRPr lang="en-US" sz="1100" dirty="0"/>
          </a:p>
        </p:txBody>
      </p:sp>
      <p:sp>
        <p:nvSpPr>
          <p:cNvPr id="55" name="Shape 47"/>
          <p:cNvSpPr/>
          <p:nvPr/>
        </p:nvSpPr>
        <p:spPr>
          <a:xfrm>
            <a:off x="9518904" y="5513832"/>
            <a:ext cx="1074420" cy="256032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56" name="Text 48"/>
          <p:cNvSpPr txBox="1"/>
          <p:nvPr/>
        </p:nvSpPr>
        <p:spPr>
          <a:xfrm>
            <a:off x="9518904" y="5513832"/>
            <a:ext cx="10744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Caso de uso</a:t>
            </a:r>
            <a:endParaRPr lang="en-US" sz="850" dirty="0"/>
          </a:p>
        </p:txBody>
      </p:sp>
      <p:sp>
        <p:nvSpPr>
          <p:cNvPr id="57" name="Text 49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58" name="Text 50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962656" cy="274320"/>
          </a:xfrm>
          <a:prstGeom prst="roundRect">
            <a:avLst>
              <a:gd name="adj" fmla="val 50000"/>
            </a:avLst>
          </a:prstGeom>
          <a:solidFill>
            <a:srgbClr val="123E5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A8EC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1 · PROPUESTA DE VALOR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Beneficios para cada actor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E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 qué a cada usuario le conviene participar en SISEP.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633472" cy="4114800"/>
          </a:xfrm>
          <a:prstGeom prst="roundRect">
            <a:avLst>
              <a:gd name="adj" fmla="val 4861"/>
            </a:avLst>
          </a:prstGeom>
          <a:solidFill>
            <a:srgbClr val="0E3453">
              <a:alpha val="90000"/>
            </a:srgbClr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286000"/>
            <a:ext cx="685800" cy="685800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2450592"/>
            <a:ext cx="356616" cy="35661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4672" y="3108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GOBIERNO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IMARPE y PRODUCE</a:t>
            </a:r>
            <a:endParaRPr lang="en-US" sz="14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95935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43000" y="3931920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A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Datos confiables en tiempo real</a:t>
            </a:r>
            <a:endParaRPr lang="en-US" sz="11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672584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43000" y="4645152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A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Fiscalización eficiente y alertas tempranas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385816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43000" y="5358384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A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Reportes automáticos para políticas públicas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3364992" y="2011680"/>
            <a:ext cx="2633472" cy="4114800"/>
          </a:xfrm>
          <a:prstGeom prst="roundRect">
            <a:avLst>
              <a:gd name="adj" fmla="val 4861"/>
            </a:avLst>
          </a:prstGeom>
          <a:solidFill>
            <a:srgbClr val="0E3453">
              <a:alpha val="90000"/>
            </a:srgbClr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3621024" y="2286000"/>
            <a:ext cx="685800" cy="685800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5616" y="2450592"/>
            <a:ext cx="356616" cy="35661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3621024" y="3108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SECTOR PESQUERO</a:t>
            </a:r>
            <a:endParaRPr lang="en-US" sz="800" dirty="0"/>
          </a:p>
        </p:txBody>
      </p:sp>
      <p:sp>
        <p:nvSpPr>
          <p:cNvPr id="21" name="Text 14"/>
          <p:cNvSpPr txBox="1"/>
          <p:nvPr/>
        </p:nvSpPr>
        <p:spPr>
          <a:xfrm>
            <a:off x="3621024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Armadores y empresas</a:t>
            </a:r>
            <a:endParaRPr lang="en-US" sz="14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1024" y="3959352"/>
            <a:ext cx="237744" cy="237744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3959352" y="3931920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A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Documentación simplificada</a:t>
            </a:r>
            <a:endParaRPr lang="en-US" sz="115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1024" y="4672584"/>
            <a:ext cx="237744" cy="237744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3959352" y="4645152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A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Certificación de legalidad para acceder a mercados</a:t>
            </a:r>
            <a:endParaRPr lang="en-US" sz="115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21024" y="5385816"/>
            <a:ext cx="237744" cy="237744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3959352" y="5358384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A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Protección frente a la pesca ilegal</a:t>
            </a:r>
            <a:endParaRPr lang="en-US" sz="1150" dirty="0"/>
          </a:p>
        </p:txBody>
      </p:sp>
      <p:sp>
        <p:nvSpPr>
          <p:cNvPr id="28" name="Shape 18"/>
          <p:cNvSpPr/>
          <p:nvPr/>
        </p:nvSpPr>
        <p:spPr>
          <a:xfrm>
            <a:off x="6181344" y="2011680"/>
            <a:ext cx="2633472" cy="4114800"/>
          </a:xfrm>
          <a:prstGeom prst="roundRect">
            <a:avLst>
              <a:gd name="adj" fmla="val 4861"/>
            </a:avLst>
          </a:prstGeom>
          <a:solidFill>
            <a:srgbClr val="0E3453">
              <a:alpha val="90000"/>
            </a:srgbClr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6437376" y="2286000"/>
            <a:ext cx="685800" cy="685800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1968" y="2450592"/>
            <a:ext cx="356616" cy="356616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6437376" y="3108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COMUNIDADES COSTERAS</a:t>
            </a:r>
            <a:endParaRPr lang="en-US" sz="800" dirty="0"/>
          </a:p>
        </p:txBody>
      </p:sp>
      <p:sp>
        <p:nvSpPr>
          <p:cNvPr id="32" name="Text 21"/>
          <p:cNvSpPr txBox="1"/>
          <p:nvPr/>
        </p:nvSpPr>
        <p:spPr>
          <a:xfrm>
            <a:off x="6437376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Pescadores artesanales</a:t>
            </a:r>
            <a:endParaRPr lang="en-US" sz="145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7376" y="3959352"/>
            <a:ext cx="237744" cy="237744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6775704" y="3931920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A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Tecnología asequible y fácil de usar</a:t>
            </a:r>
            <a:endParaRPr lang="en-US" sz="1150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7376" y="4672584"/>
            <a:ext cx="237744" cy="237744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6775704" y="4645152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A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Valor agregado por certificación</a:t>
            </a:r>
            <a:endParaRPr lang="en-US" sz="1150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7376" y="5385816"/>
            <a:ext cx="237744" cy="237744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6775704" y="5358384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A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Participación en la gestión del recurso</a:t>
            </a:r>
            <a:endParaRPr lang="en-US" sz="1150" dirty="0"/>
          </a:p>
        </p:txBody>
      </p:sp>
      <p:sp>
        <p:nvSpPr>
          <p:cNvPr id="39" name="Shape 25"/>
          <p:cNvSpPr/>
          <p:nvPr/>
        </p:nvSpPr>
        <p:spPr>
          <a:xfrm>
            <a:off x="8997696" y="2011680"/>
            <a:ext cx="2633472" cy="4114800"/>
          </a:xfrm>
          <a:prstGeom prst="roundRect">
            <a:avLst>
              <a:gd name="adj" fmla="val 4861"/>
            </a:avLst>
          </a:prstGeom>
          <a:solidFill>
            <a:srgbClr val="0E3453">
              <a:alpha val="90000"/>
            </a:srgbClr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40" name="Shape 26"/>
          <p:cNvSpPr/>
          <p:nvPr/>
        </p:nvSpPr>
        <p:spPr>
          <a:xfrm>
            <a:off x="9253728" y="2286000"/>
            <a:ext cx="685800" cy="685800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41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18320" y="2450592"/>
            <a:ext cx="356616" cy="356616"/>
          </a:xfrm>
          <a:prstGeom prst="rect">
            <a:avLst/>
          </a:prstGeom>
        </p:spPr>
      </p:pic>
      <p:sp>
        <p:nvSpPr>
          <p:cNvPr id="42" name="Text 27"/>
          <p:cNvSpPr txBox="1"/>
          <p:nvPr/>
        </p:nvSpPr>
        <p:spPr>
          <a:xfrm>
            <a:off x="9253728" y="3108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CONSUMIDORES E I+D</a:t>
            </a:r>
            <a:endParaRPr lang="en-US" sz="800" dirty="0"/>
          </a:p>
        </p:txBody>
      </p:sp>
      <p:sp>
        <p:nvSpPr>
          <p:cNvPr id="43" name="Text 28"/>
          <p:cNvSpPr txBox="1"/>
          <p:nvPr/>
        </p:nvSpPr>
        <p:spPr>
          <a:xfrm>
            <a:off x="9253728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Mercado y ONG</a:t>
            </a:r>
            <a:endParaRPr lang="en-US" sz="1450" dirty="0"/>
          </a:p>
        </p:txBody>
      </p:sp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53728" y="3959352"/>
            <a:ext cx="237744" cy="237744"/>
          </a:xfrm>
          <a:prstGeom prst="rect">
            <a:avLst/>
          </a:prstGeom>
        </p:spPr>
      </p:pic>
      <p:sp>
        <p:nvSpPr>
          <p:cNvPr id="45" name="Text 29"/>
          <p:cNvSpPr txBox="1"/>
          <p:nvPr/>
        </p:nvSpPr>
        <p:spPr>
          <a:xfrm>
            <a:off x="9592056" y="3931920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A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Verificación de trazabilidad con QR</a:t>
            </a:r>
            <a:endParaRPr lang="en-US" sz="1150" dirty="0"/>
          </a:p>
        </p:txBody>
      </p:sp>
      <p:pic>
        <p:nvPicPr>
          <p:cNvPr id="4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53728" y="4672584"/>
            <a:ext cx="237744" cy="237744"/>
          </a:xfrm>
          <a:prstGeom prst="rect">
            <a:avLst/>
          </a:prstGeom>
        </p:spPr>
      </p:pic>
      <p:sp>
        <p:nvSpPr>
          <p:cNvPr id="47" name="Text 30"/>
          <p:cNvSpPr txBox="1"/>
          <p:nvPr/>
        </p:nvSpPr>
        <p:spPr>
          <a:xfrm>
            <a:off x="9592056" y="4645152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A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Transparencia de la información pesquera</a:t>
            </a:r>
            <a:endParaRPr lang="en-US" sz="1150" dirty="0"/>
          </a:p>
        </p:txBody>
      </p:sp>
      <p:pic>
        <p:nvPicPr>
          <p:cNvPr id="48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53728" y="5385816"/>
            <a:ext cx="237744" cy="237744"/>
          </a:xfrm>
          <a:prstGeom prst="rect">
            <a:avLst/>
          </a:prstGeom>
        </p:spPr>
      </p:pic>
      <p:sp>
        <p:nvSpPr>
          <p:cNvPr id="49" name="Text 31"/>
          <p:cNvSpPr txBox="1"/>
          <p:nvPr/>
        </p:nvSpPr>
        <p:spPr>
          <a:xfrm>
            <a:off x="9592056" y="5358384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A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Indicadores de sostenibilidad</a:t>
            </a:r>
            <a:endParaRPr lang="en-US" sz="1150" dirty="0"/>
          </a:p>
        </p:txBody>
      </p:sp>
      <p:sp>
        <p:nvSpPr>
          <p:cNvPr id="50" name="Text 32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7FA7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51" name="Text 33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8EC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456432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2 · DESCRIPCIÓN DEL PROBLEMA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crisis multidimensional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sector pesquero peruano enfrenta cinco problemas que se refuerzan entre sí.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600200" y="2697480"/>
            <a:ext cx="8961120" cy="0"/>
          </a:xfrm>
          <a:prstGeom prst="line">
            <a:avLst/>
          </a:prstGeom>
          <a:noFill/>
          <a:ln w="25400">
            <a:solidFill>
              <a:srgbClr val="D5E3E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097280" y="2194560"/>
            <a:ext cx="1005840" cy="10058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EC4C9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2423160"/>
            <a:ext cx="548640" cy="548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801368" y="2103120"/>
            <a:ext cx="347472" cy="347472"/>
          </a:xfrm>
          <a:prstGeom prst="ellipse">
            <a:avLst/>
          </a:prstGeom>
          <a:solidFill>
            <a:srgbClr val="0B2A4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801368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76072" y="3401568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Sobreexplotación de recursos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005072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Presión sobre las especies por encima de lo sostenible.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37560" y="2194560"/>
            <a:ext cx="1005840" cy="10058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EC4C9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2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2423160"/>
            <a:ext cx="548640" cy="5486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041648" y="2103120"/>
            <a:ext cx="347472" cy="347472"/>
          </a:xfrm>
          <a:prstGeom prst="ellipse">
            <a:avLst/>
          </a:prstGeom>
          <a:solidFill>
            <a:srgbClr val="0B2A45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041648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2816352" y="3401568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Pesca ilegal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2852928" y="4005072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Capturas no reguladas que escapan a la fiscalización.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577840" y="2194560"/>
            <a:ext cx="1005840" cy="10058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EC4C9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2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423160"/>
            <a:ext cx="548640" cy="54864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281928" y="2103120"/>
            <a:ext cx="347472" cy="347472"/>
          </a:xfrm>
          <a:prstGeom prst="ellipse">
            <a:avLst/>
          </a:prstGeom>
          <a:solidFill>
            <a:srgbClr val="0B2A45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6281928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5056632" y="3401568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Deficiencia en el monitoreo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5093208" y="4005072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 control inmediato de capturas y áreas de faena.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7818120" y="2194560"/>
            <a:ext cx="1005840" cy="10058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EC4C9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2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2423160"/>
            <a:ext cx="548640" cy="54864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8522208" y="2103120"/>
            <a:ext cx="347472" cy="347472"/>
          </a:xfrm>
          <a:prstGeom prst="ellipse">
            <a:avLst/>
          </a:prstGeom>
          <a:solidFill>
            <a:srgbClr val="0B2A45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8522208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7296912" y="3401568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Pérdida de biodiversidad marina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7333488" y="4005072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Ecosistemas marinos cada vez más frágiles.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10058400" y="2194560"/>
            <a:ext cx="1005840" cy="10058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EC4C9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2000"/>
              </a:srgbClr>
            </a:outerShdw>
          </a:effectLst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2423160"/>
            <a:ext cx="548640" cy="548640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10762488" y="2103120"/>
            <a:ext cx="347472" cy="347472"/>
          </a:xfrm>
          <a:prstGeom prst="ellipse">
            <a:avLst/>
          </a:prstGeom>
          <a:solidFill>
            <a:srgbClr val="0B2A45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10762488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9537192" y="3401568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Vulnerabilidad socioeconómica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9573768" y="4005072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Comunidades costeras que dependen de la pesca.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548640" y="5029200"/>
            <a:ext cx="11064240" cy="1005840"/>
          </a:xfrm>
          <a:prstGeom prst="roundRect">
            <a:avLst>
              <a:gd name="adj" fmla="val 12727"/>
            </a:avLst>
          </a:prstGeom>
          <a:solidFill>
            <a:srgbClr val="071A2C"/>
          </a:solidFill>
          <a:ln/>
        </p:spPr>
      </p:sp>
      <p:sp>
        <p:nvSpPr>
          <p:cNvPr id="38" name="Shape 31"/>
          <p:cNvSpPr/>
          <p:nvPr/>
        </p:nvSpPr>
        <p:spPr>
          <a:xfrm>
            <a:off x="822960" y="5230368"/>
            <a:ext cx="603504" cy="603504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801" y="5375209"/>
            <a:ext cx="313822" cy="313822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1645920" y="502920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eje común: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falta de datos confiables y de monitoreo en tiempo real. Ahí actúa SISEP.</a:t>
            </a:r>
            <a:endParaRPr lang="en-US" sz="1500" dirty="0"/>
          </a:p>
        </p:txBody>
      </p:sp>
      <p:sp>
        <p:nvSpPr>
          <p:cNvPr id="41" name="Text 33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42" name="Text 34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2 · NECESIDADES DE LOS USUARIOS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Cuatro usuarios, necesidades distintas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4068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828800"/>
            <a:ext cx="566928" cy="566928"/>
          </a:xfrm>
          <a:prstGeom prst="ellipse">
            <a:avLst/>
          </a:prstGeom>
          <a:solidFill>
            <a:srgbClr val="0B2A4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735" y="1964863"/>
            <a:ext cx="294803" cy="29480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18288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IMARPE · PRODUCE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20574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Usuarios gubernamentales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5603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Datos confiables y en tiempo real sobre la actividad pesquera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Herramientas para una fiscalización eficiente y la toma de decisiones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Sistemas de alerta temprana para actividades ilegales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Reportes automáticos para políticas públicas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72200" y="1600200"/>
            <a:ext cx="544068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1828800"/>
            <a:ext cx="566928" cy="566928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295" y="1964863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78040" y="18288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SECTOR INDUSTRIAL</a:t>
            </a:r>
            <a:endParaRPr lang="en-US" sz="850" dirty="0"/>
          </a:p>
        </p:txBody>
      </p:sp>
      <p:sp>
        <p:nvSpPr>
          <p:cNvPr id="15" name="Text 11"/>
          <p:cNvSpPr txBox="1"/>
          <p:nvPr/>
        </p:nvSpPr>
        <p:spPr>
          <a:xfrm>
            <a:off x="7178040" y="20574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Armadores y empresas pesqueras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6492240" y="25603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Documentación simplificada que no afecte su operatividad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Certificación de legalidad para acceder a mercados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Menores tiempos administrativos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Protección contra la competencia desleal de la pesca ilegal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8640" y="3931920"/>
            <a:ext cx="544068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4672" y="4160520"/>
            <a:ext cx="566928" cy="566928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735" y="4296583"/>
            <a:ext cx="294803" cy="29480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554480" y="4160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COMUNIDADES COSTERAS</a:t>
            </a:r>
            <a:endParaRPr lang="en-US" sz="850" dirty="0"/>
          </a:p>
        </p:txBody>
      </p:sp>
      <p:sp>
        <p:nvSpPr>
          <p:cNvPr id="21" name="Text 16"/>
          <p:cNvSpPr txBox="1"/>
          <p:nvPr/>
        </p:nvSpPr>
        <p:spPr>
          <a:xfrm>
            <a:off x="1554480" y="438912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Pescadores artesanales y comunidades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868680" y="489204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Garantía de sostenibilidad del recurso a futuro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Acceso a tecnología asequible y fácil de usar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Valor agregado para sus productos mediante certificación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Participación en la gestión de sus recursos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172200" y="3931920"/>
            <a:ext cx="544068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28232" y="4160520"/>
            <a:ext cx="566928" cy="566928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4295" y="4296583"/>
            <a:ext cx="294803" cy="294803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178040" y="4160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ONG · ACADEMIA</a:t>
            </a:r>
            <a:endParaRPr lang="en-US" sz="850" dirty="0"/>
          </a:p>
        </p:txBody>
      </p:sp>
      <p:sp>
        <p:nvSpPr>
          <p:cNvPr id="27" name="Text 21"/>
          <p:cNvSpPr txBox="1"/>
          <p:nvPr/>
        </p:nvSpPr>
        <p:spPr>
          <a:xfrm>
            <a:off x="7178040" y="438912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Organizaciones ambientales y de investigación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6492240" y="489204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Transparencia en la información pesquera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Indicadores de sostenibilidad y salud de los ecosistemas</a:t>
            </a:r>
            <a:endParaRPr lang="en-US" sz="115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30" name="Text 24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621024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2 · REQUERIMIENTOS FUNCIONALES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 que el sistema debe hacer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8122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3736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7373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RF01.1</a:t>
            </a:r>
            <a:endParaRPr lang="en-US" sz="9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17373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240280" y="1600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Registro automático de posición GPS cada 15 minutos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240280"/>
            <a:ext cx="68122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13232" y="23774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3232" y="23774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RF01.2</a:t>
            </a:r>
            <a:endParaRPr lang="en-US" sz="9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237744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240280" y="22402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Alertas automáticas por ingreso a zonas restringidas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2880360"/>
            <a:ext cx="68122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3232" y="301752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13232" y="3017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RF01.3</a:t>
            </a:r>
            <a:endParaRPr lang="en-US" sz="9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30175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240280" y="28803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Digitalización de bitácoras de pesca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48640" y="3520440"/>
            <a:ext cx="68122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13232" y="365760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713232" y="36576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RF01.4</a:t>
            </a:r>
            <a:endParaRPr lang="en-US" sz="9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365760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2240280" y="3520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Fotos digitales de capturas como evidencia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48640" y="4160520"/>
            <a:ext cx="68122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13232" y="429768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713232" y="42976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RF01.5</a:t>
            </a:r>
            <a:endParaRPr lang="en-US" sz="95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3080" y="429768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2240280" y="41605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Códigos QR únicos por lote de captura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548640" y="4800600"/>
            <a:ext cx="68122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713232" y="493776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713232" y="49377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RF01.6</a:t>
            </a:r>
            <a:endParaRPr lang="en-US" sz="95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3080" y="4937760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2240280" y="48006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Monitoreo de condiciones meteorológicas</a:t>
            </a:r>
            <a:endParaRPr lang="en-US" sz="1300" dirty="0"/>
          </a:p>
        </p:txBody>
      </p:sp>
      <p:sp>
        <p:nvSpPr>
          <p:cNvPr id="35" name="Shape 27"/>
          <p:cNvSpPr/>
          <p:nvPr/>
        </p:nvSpPr>
        <p:spPr>
          <a:xfrm>
            <a:off x="548640" y="5440680"/>
            <a:ext cx="68122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713232" y="55778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7" name="Text 29"/>
          <p:cNvSpPr txBox="1"/>
          <p:nvPr/>
        </p:nvSpPr>
        <p:spPr>
          <a:xfrm>
            <a:off x="713232" y="55778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RF01.7</a:t>
            </a:r>
            <a:endParaRPr lang="en-US" sz="95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3080" y="5577840"/>
            <a:ext cx="274320" cy="27432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2240280" y="5440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Notificaciones automáticas de irregularidades</a:t>
            </a:r>
            <a:endParaRPr lang="en-US" sz="1300" dirty="0"/>
          </a:p>
        </p:txBody>
      </p:sp>
      <p:sp>
        <p:nvSpPr>
          <p:cNvPr id="40" name="Shape 31"/>
          <p:cNvSpPr/>
          <p:nvPr/>
        </p:nvSpPr>
        <p:spPr>
          <a:xfrm>
            <a:off x="7726680" y="1600200"/>
            <a:ext cx="3886200" cy="4389120"/>
          </a:xfrm>
          <a:prstGeom prst="roundRect">
            <a:avLst>
              <a:gd name="adj" fmla="val 3765"/>
            </a:avLst>
          </a:prstGeom>
          <a:solidFill>
            <a:srgbClr val="071A2C"/>
          </a:solidFill>
          <a:ln/>
          <a:effectLst>
            <a:outerShdw sx="100000" sy="100000" kx="0" ky="0" algn="bl" rotWithShape="0" blurRad="152400" dist="38100" dir="5400000">
              <a:srgbClr val="0B1D2E">
                <a:alpha val="20000"/>
              </a:srgbClr>
            </a:outerShdw>
          </a:effectLst>
        </p:spPr>
      </p:sp>
      <p:sp>
        <p:nvSpPr>
          <p:cNvPr id="41" name="Text 32"/>
          <p:cNvSpPr txBox="1"/>
          <p:nvPr/>
        </p:nvSpPr>
        <p:spPr>
          <a:xfrm>
            <a:off x="8001000" y="16916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8000" dirty="0"/>
          </a:p>
        </p:txBody>
      </p:sp>
      <p:sp>
        <p:nvSpPr>
          <p:cNvPr id="42" name="Text 33"/>
          <p:cNvSpPr txBox="1"/>
          <p:nvPr/>
        </p:nvSpPr>
        <p:spPr>
          <a:xfrm>
            <a:off x="9189720" y="1965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requerimientos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funcionales</a:t>
            </a:r>
            <a:endParaRPr lang="en-US" sz="1500" dirty="0"/>
          </a:p>
        </p:txBody>
      </p:sp>
      <p:sp>
        <p:nvSpPr>
          <p:cNvPr id="43" name="Shape 34"/>
          <p:cNvSpPr/>
          <p:nvPr/>
        </p:nvSpPr>
        <p:spPr>
          <a:xfrm>
            <a:off x="8001000" y="2971800"/>
            <a:ext cx="3337560" cy="0"/>
          </a:xfrm>
          <a:prstGeom prst="line">
            <a:avLst/>
          </a:prstGeom>
          <a:noFill/>
          <a:ln w="9525">
            <a:solidFill>
              <a:srgbClr val="24617E"/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8001000" y="3063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MONITOREO</a:t>
            </a:r>
            <a:endParaRPr lang="en-US" sz="900" dirty="0"/>
          </a:p>
        </p:txBody>
      </p:sp>
      <p:sp>
        <p:nvSpPr>
          <p:cNvPr id="45" name="Text 36"/>
          <p:cNvSpPr txBox="1"/>
          <p:nvPr/>
        </p:nvSpPr>
        <p:spPr>
          <a:xfrm>
            <a:off x="9509760" y="3063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RF01.1 · RF01.2 · RF01.6</a:t>
            </a:r>
            <a:endParaRPr lang="en-US" sz="1150" dirty="0"/>
          </a:p>
        </p:txBody>
      </p:sp>
      <p:sp>
        <p:nvSpPr>
          <p:cNvPr id="46" name="Shape 37"/>
          <p:cNvSpPr/>
          <p:nvPr/>
        </p:nvSpPr>
        <p:spPr>
          <a:xfrm>
            <a:off x="8001000" y="3657600"/>
            <a:ext cx="3337560" cy="0"/>
          </a:xfrm>
          <a:prstGeom prst="line">
            <a:avLst/>
          </a:prstGeom>
          <a:noFill/>
          <a:ln w="9525">
            <a:solidFill>
              <a:srgbClr val="24617E"/>
            </a:solidFill>
            <a:prstDash val="solid"/>
          </a:ln>
        </p:spPr>
      </p:sp>
      <p:sp>
        <p:nvSpPr>
          <p:cNvPr id="47" name="Text 38"/>
          <p:cNvSpPr txBox="1"/>
          <p:nvPr/>
        </p:nvSpPr>
        <p:spPr>
          <a:xfrm>
            <a:off x="8001000" y="3749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CAPTURA</a:t>
            </a:r>
            <a:endParaRPr lang="en-US" sz="900" dirty="0"/>
          </a:p>
        </p:txBody>
      </p:sp>
      <p:sp>
        <p:nvSpPr>
          <p:cNvPr id="48" name="Text 39"/>
          <p:cNvSpPr txBox="1"/>
          <p:nvPr/>
        </p:nvSpPr>
        <p:spPr>
          <a:xfrm>
            <a:off x="9509760" y="3749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RF01.3 · RF01.4</a:t>
            </a:r>
            <a:endParaRPr lang="en-US" sz="1150" dirty="0"/>
          </a:p>
        </p:txBody>
      </p:sp>
      <p:sp>
        <p:nvSpPr>
          <p:cNvPr id="49" name="Shape 40"/>
          <p:cNvSpPr/>
          <p:nvPr/>
        </p:nvSpPr>
        <p:spPr>
          <a:xfrm>
            <a:off x="8001000" y="4343400"/>
            <a:ext cx="3337560" cy="0"/>
          </a:xfrm>
          <a:prstGeom prst="line">
            <a:avLst/>
          </a:prstGeom>
          <a:noFill/>
          <a:ln w="9525">
            <a:solidFill>
              <a:srgbClr val="24617E"/>
            </a:solidFill>
            <a:prstDash val="solid"/>
          </a:ln>
        </p:spPr>
      </p:sp>
      <p:sp>
        <p:nvSpPr>
          <p:cNvPr id="50" name="Text 41"/>
          <p:cNvSpPr txBox="1"/>
          <p:nvPr/>
        </p:nvSpPr>
        <p:spPr>
          <a:xfrm>
            <a:off x="8001000" y="44348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TRAZABILIDAD</a:t>
            </a:r>
            <a:endParaRPr lang="en-US" sz="900" dirty="0"/>
          </a:p>
        </p:txBody>
      </p:sp>
      <p:sp>
        <p:nvSpPr>
          <p:cNvPr id="51" name="Text 42"/>
          <p:cNvSpPr txBox="1"/>
          <p:nvPr/>
        </p:nvSpPr>
        <p:spPr>
          <a:xfrm>
            <a:off x="9509760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RF01.5</a:t>
            </a:r>
            <a:endParaRPr lang="en-US" sz="1150" dirty="0"/>
          </a:p>
        </p:txBody>
      </p:sp>
      <p:sp>
        <p:nvSpPr>
          <p:cNvPr id="52" name="Shape 43"/>
          <p:cNvSpPr/>
          <p:nvPr/>
        </p:nvSpPr>
        <p:spPr>
          <a:xfrm>
            <a:off x="8001000" y="5029200"/>
            <a:ext cx="3337560" cy="0"/>
          </a:xfrm>
          <a:prstGeom prst="line">
            <a:avLst/>
          </a:prstGeom>
          <a:noFill/>
          <a:ln w="9525">
            <a:solidFill>
              <a:srgbClr val="24617E"/>
            </a:solidFill>
            <a:prstDash val="solid"/>
          </a:ln>
        </p:spPr>
      </p:sp>
      <p:sp>
        <p:nvSpPr>
          <p:cNvPr id="53" name="Text 44"/>
          <p:cNvSpPr txBox="1"/>
          <p:nvPr/>
        </p:nvSpPr>
        <p:spPr>
          <a:xfrm>
            <a:off x="8001000" y="5120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</a:t>
            </a:r>
            <a:endParaRPr lang="en-US" sz="900" dirty="0"/>
          </a:p>
        </p:txBody>
      </p:sp>
      <p:sp>
        <p:nvSpPr>
          <p:cNvPr id="54" name="Text 45"/>
          <p:cNvSpPr txBox="1"/>
          <p:nvPr/>
        </p:nvSpPr>
        <p:spPr>
          <a:xfrm>
            <a:off x="9509760" y="5120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RF01.7</a:t>
            </a:r>
            <a:endParaRPr lang="en-US" sz="1150" dirty="0"/>
          </a:p>
        </p:txBody>
      </p:sp>
      <p:sp>
        <p:nvSpPr>
          <p:cNvPr id="55" name="Text 46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56" name="Text 47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867912" cy="274320"/>
          </a:xfrm>
          <a:prstGeom prst="roundRect">
            <a:avLst>
              <a:gd name="adj" fmla="val 50000"/>
            </a:avLst>
          </a:prstGeom>
          <a:solidFill>
            <a:srgbClr val="123E5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A8EC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2 · REQUERIMIENTOS NO FUNCIONALES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Calidad medible desde el diseño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E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Cuatro metas concretas que guían la arquitectura, la base de datos y la seguridad.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633472" cy="3246120"/>
          </a:xfrm>
          <a:prstGeom prst="roundRect">
            <a:avLst>
              <a:gd name="adj" fmla="val 4861"/>
            </a:avLst>
          </a:prstGeom>
          <a:solidFill>
            <a:srgbClr val="0E3453">
              <a:alpha val="90000"/>
            </a:srgbClr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423160"/>
            <a:ext cx="566928" cy="566928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735" y="2559223"/>
            <a:ext cx="294803" cy="29480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08760" y="24414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RNF 01.1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26791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C9DE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RENDIMIENTO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804672" y="3383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 3 s</a:t>
            </a:r>
            <a:endParaRPr lang="en-US" sz="4200" dirty="0"/>
          </a:p>
        </p:txBody>
      </p:sp>
      <p:sp>
        <p:nvSpPr>
          <p:cNvPr id="12" name="Text 9"/>
          <p:cNvSpPr txBox="1"/>
          <p:nvPr/>
        </p:nvSpPr>
        <p:spPr>
          <a:xfrm>
            <a:off x="804672" y="44805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CE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Tiempo de respuesta para consultas.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364992" y="2148840"/>
            <a:ext cx="2633472" cy="3246120"/>
          </a:xfrm>
          <a:prstGeom prst="roundRect">
            <a:avLst>
              <a:gd name="adj" fmla="val 4861"/>
            </a:avLst>
          </a:prstGeom>
          <a:solidFill>
            <a:srgbClr val="0E3453">
              <a:alpha val="90000"/>
            </a:srgbClr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21024" y="2423160"/>
            <a:ext cx="566928" cy="566928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7087" y="2559223"/>
            <a:ext cx="294803" cy="294803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325112" y="24414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RNF 01.2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4325112" y="26791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C9DE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SEGURIDAD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3621024" y="3383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2FA</a:t>
            </a:r>
            <a:endParaRPr lang="en-US" sz="4200" dirty="0"/>
          </a:p>
        </p:txBody>
      </p:sp>
      <p:sp>
        <p:nvSpPr>
          <p:cNvPr id="19" name="Text 15"/>
          <p:cNvSpPr txBox="1"/>
          <p:nvPr/>
        </p:nvSpPr>
        <p:spPr>
          <a:xfrm>
            <a:off x="3621024" y="44805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CE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Autenticación de dos factores para usuarios críticos.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181344" y="2148840"/>
            <a:ext cx="2633472" cy="3246120"/>
          </a:xfrm>
          <a:prstGeom prst="roundRect">
            <a:avLst>
              <a:gd name="adj" fmla="val 4861"/>
            </a:avLst>
          </a:prstGeom>
          <a:solidFill>
            <a:srgbClr val="0E3453">
              <a:alpha val="90000"/>
            </a:srgbClr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437376" y="2423160"/>
            <a:ext cx="566928" cy="566928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3439" y="2559223"/>
            <a:ext cx="294803" cy="294803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141464" y="24414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RNF 01.3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7141464" y="26791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C9DE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DISPONIBILIDAD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6437376" y="3383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99,5 %</a:t>
            </a:r>
            <a:endParaRPr lang="en-US" sz="4200" dirty="0"/>
          </a:p>
        </p:txBody>
      </p:sp>
      <p:sp>
        <p:nvSpPr>
          <p:cNvPr id="26" name="Text 21"/>
          <p:cNvSpPr txBox="1"/>
          <p:nvPr/>
        </p:nvSpPr>
        <p:spPr>
          <a:xfrm>
            <a:off x="6437376" y="44805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CE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Disponibilidad del sistema en horario laboral.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8997696" y="2148840"/>
            <a:ext cx="2633472" cy="3246120"/>
          </a:xfrm>
          <a:prstGeom prst="roundRect">
            <a:avLst>
              <a:gd name="adj" fmla="val 4861"/>
            </a:avLst>
          </a:prstGeom>
          <a:solidFill>
            <a:srgbClr val="0E3453">
              <a:alpha val="90000"/>
            </a:srgbClr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9253728" y="2423160"/>
            <a:ext cx="566928" cy="566928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9791" y="2559223"/>
            <a:ext cx="294803" cy="294803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957816" y="24414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RNF 01.4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9957816" y="26791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C9DE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ESCALABILIDAD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9253728" y="3383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10 000</a:t>
            </a:r>
            <a:endParaRPr lang="en-US" sz="4200" dirty="0"/>
          </a:p>
        </p:txBody>
      </p:sp>
      <p:sp>
        <p:nvSpPr>
          <p:cNvPr id="33" name="Text 27"/>
          <p:cNvSpPr txBox="1"/>
          <p:nvPr/>
        </p:nvSpPr>
        <p:spPr>
          <a:xfrm>
            <a:off x="9253728" y="44805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CE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Embarcaciones: capacidad de crecimiento del sistema.</a:t>
            </a:r>
            <a:endParaRPr lang="en-US" sz="1250" dirty="0"/>
          </a:p>
        </p:txBody>
      </p:sp>
      <p:sp>
        <p:nvSpPr>
          <p:cNvPr id="34" name="Text 28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7FA7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35" name="Text 29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8EC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538728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2 · REQUERIMIENTOS DE DOMINIO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 reglas del sector pesquero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Condiciones propias del dominio pesquero que SISEP debe respetar.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56616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26771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RD01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291840" y="2286000"/>
            <a:ext cx="566928" cy="566928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7903" y="2422063"/>
            <a:ext cx="294803" cy="29480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960" y="29992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5A6B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NORMATIVA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2918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Cumplimiento del Reglamento de la Ley General de Pesca (D.S. N.° 012-2001-PE) y sus modificatorias. [2] [3]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297680" y="2011680"/>
            <a:ext cx="356616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572000" y="226771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RD09</a:t>
            </a:r>
            <a:endParaRPr lang="en-US" sz="3600" dirty="0"/>
          </a:p>
        </p:txBody>
      </p:sp>
      <p:sp>
        <p:nvSpPr>
          <p:cNvPr id="14" name="Shape 11"/>
          <p:cNvSpPr/>
          <p:nvPr/>
        </p:nvSpPr>
        <p:spPr>
          <a:xfrm>
            <a:off x="7040880" y="2286000"/>
            <a:ext cx="566928" cy="566928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943" y="2422063"/>
            <a:ext cx="294803" cy="294803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572000" y="29992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5A6B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OPERATIVIDAD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0" y="32918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Procesos simplificados que no retrasen las operaciones pesqueras.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046720" y="2011680"/>
            <a:ext cx="356616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8321040" y="226771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RD17</a:t>
            </a:r>
            <a:endParaRPr lang="en-US" sz="3600" dirty="0"/>
          </a:p>
        </p:txBody>
      </p:sp>
      <p:sp>
        <p:nvSpPr>
          <p:cNvPr id="20" name="Shape 16"/>
          <p:cNvSpPr/>
          <p:nvPr/>
        </p:nvSpPr>
        <p:spPr>
          <a:xfrm>
            <a:off x="10789920" y="2286000"/>
            <a:ext cx="566928" cy="566928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5983" y="2422063"/>
            <a:ext cx="294803" cy="294803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321040" y="29992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5A6B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SOSTENIBILIDAD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8321040" y="32918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Monitoreo de indicadores de sostenibilidad pesquera.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548640" y="502920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E3F4F6"/>
          </a:solidFill>
          <a:ln/>
        </p:spPr>
      </p:sp>
      <p:sp>
        <p:nvSpPr>
          <p:cNvPr id="25" name="Shape 20"/>
          <p:cNvSpPr/>
          <p:nvPr/>
        </p:nvSpPr>
        <p:spPr>
          <a:xfrm>
            <a:off x="777240" y="5230368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081" y="5375209"/>
            <a:ext cx="313822" cy="31382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600200" y="5029200"/>
            <a:ext cx="9829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¿Cómo se aplican?  </a:t>
            </a:r>
            <a:pPr indent="0" marL="0">
              <a:buNone/>
            </a:pPr>
            <a:r>
              <a:rPr lang="en-US" sz="12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RD01 → validación automática de áreas, tallas y permisos  ·  RD09 → sincronización inmediata o por lotes  ·  RD17 → reportes y dashboards de sostenibilidad.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29" name="Text 23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98064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3 · MODELO FUNCIONAL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Diagrama de contexto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Límites del sistema, entradas y salidas de información y organismos relacionados.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636008" y="2924251"/>
            <a:ext cx="2926080" cy="2926080"/>
          </a:xfrm>
          <a:prstGeom prst="ellipse">
            <a:avLst/>
          </a:prstGeom>
          <a:ln w="12700">
            <a:solidFill>
              <a:srgbClr val="2EC4C9">
                <a:alpha val="45000"/>
              </a:srgbClr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4133088" y="2562149"/>
            <a:ext cx="3931920" cy="3931920"/>
          </a:xfrm>
          <a:prstGeom prst="ellipse">
            <a:avLst/>
          </a:prstGeom>
          <a:ln w="12700">
            <a:solidFill>
              <a:srgbClr val="2EC4C9">
                <a:alpha val="30000"/>
              </a:srgbClr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474720" y="2368296"/>
            <a:ext cx="1325880" cy="1197864"/>
          </a:xfrm>
          <a:prstGeom prst="line">
            <a:avLst/>
          </a:prstGeom>
          <a:noFill/>
          <a:ln w="15875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74720" y="3374136"/>
            <a:ext cx="1325880" cy="466344"/>
          </a:xfrm>
          <a:prstGeom prst="line">
            <a:avLst/>
          </a:prstGeom>
          <a:noFill/>
          <a:ln w="15875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3474720" y="4114800"/>
            <a:ext cx="1325880" cy="265176"/>
          </a:xfrm>
          <a:prstGeom prst="line">
            <a:avLst/>
          </a:prstGeom>
          <a:noFill/>
          <a:ln w="15875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flipV="1">
            <a:off x="3474720" y="4389120"/>
            <a:ext cx="1325880" cy="996696"/>
          </a:xfrm>
          <a:prstGeom prst="line">
            <a:avLst/>
          </a:prstGeom>
          <a:noFill/>
          <a:ln w="15875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H="1">
            <a:off x="7406640" y="2779776"/>
            <a:ext cx="1280160" cy="877824"/>
          </a:xfrm>
          <a:prstGeom prst="line">
            <a:avLst/>
          </a:prstGeom>
          <a:noFill/>
          <a:ln w="15875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H="1">
            <a:off x="7406640" y="3968496"/>
            <a:ext cx="1280160" cy="9144"/>
          </a:xfrm>
          <a:prstGeom prst="line">
            <a:avLst/>
          </a:prstGeom>
          <a:noFill/>
          <a:ln w="15875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H="1" flipV="1">
            <a:off x="7406640" y="4297680"/>
            <a:ext cx="1280160" cy="859536"/>
          </a:xfrm>
          <a:prstGeom prst="line">
            <a:avLst/>
          </a:prstGeom>
          <a:noFill/>
          <a:ln w="15875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2011680"/>
            <a:ext cx="2926080" cy="7132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6656" y="2121408"/>
            <a:ext cx="493776" cy="493776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62" y="2239914"/>
            <a:ext cx="256764" cy="25676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280160" y="21122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IMARPE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238658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Investigación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48640" y="3017520"/>
            <a:ext cx="2926080" cy="7132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76656" y="3127248"/>
            <a:ext cx="493776" cy="493776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162" y="3245754"/>
            <a:ext cx="256764" cy="25676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280160" y="31181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PRODUCE</a:t>
            </a:r>
            <a:endParaRPr lang="en-US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1280160" y="339242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Regulación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548640" y="4023360"/>
            <a:ext cx="2926080" cy="7132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76656" y="4133088"/>
            <a:ext cx="493776" cy="493776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162" y="4251594"/>
            <a:ext cx="256764" cy="25676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280160" y="41239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Armadores / Empresas</a:t>
            </a:r>
            <a:endParaRPr lang="en-US" sz="1150" dirty="0"/>
          </a:p>
        </p:txBody>
      </p:sp>
      <p:sp>
        <p:nvSpPr>
          <p:cNvPr id="29" name="Text 24"/>
          <p:cNvSpPr txBox="1"/>
          <p:nvPr/>
        </p:nvSpPr>
        <p:spPr>
          <a:xfrm>
            <a:off x="1280160" y="439826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Pesqueras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548640" y="5029200"/>
            <a:ext cx="2926080" cy="7132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76656" y="5138928"/>
            <a:ext cx="493776" cy="493776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162" y="5257434"/>
            <a:ext cx="256764" cy="25676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280160" y="51297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Pescadores artesanales</a:t>
            </a:r>
            <a:endParaRPr lang="en-US" sz="1150" dirty="0"/>
          </a:p>
        </p:txBody>
      </p:sp>
      <p:sp>
        <p:nvSpPr>
          <p:cNvPr id="34" name="Text 28"/>
          <p:cNvSpPr txBox="1"/>
          <p:nvPr/>
        </p:nvSpPr>
        <p:spPr>
          <a:xfrm>
            <a:off x="1280160" y="540410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Comunidades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8686800" y="2423160"/>
            <a:ext cx="2926080" cy="7132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8814816" y="2532888"/>
            <a:ext cx="493776" cy="493776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3322" y="2651394"/>
            <a:ext cx="256764" cy="256764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9418320" y="25237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Satélites / Sensores</a:t>
            </a:r>
            <a:endParaRPr lang="en-US" sz="1150" dirty="0"/>
          </a:p>
        </p:txBody>
      </p:sp>
      <p:sp>
        <p:nvSpPr>
          <p:cNvPr id="39" name="Text 32"/>
          <p:cNvSpPr txBox="1"/>
          <p:nvPr/>
        </p:nvSpPr>
        <p:spPr>
          <a:xfrm>
            <a:off x="9418320" y="279806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Imágenes, AIS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8686800" y="3611880"/>
            <a:ext cx="2926080" cy="7132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8814816" y="3721608"/>
            <a:ext cx="493776" cy="493776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3322" y="3840114"/>
            <a:ext cx="256764" cy="256764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9418320" y="37124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Mercado / Consumidores</a:t>
            </a:r>
            <a:endParaRPr lang="en-US" sz="1150" dirty="0"/>
          </a:p>
        </p:txBody>
      </p:sp>
      <p:sp>
        <p:nvSpPr>
          <p:cNvPr id="44" name="Text 36"/>
          <p:cNvSpPr txBox="1"/>
          <p:nvPr/>
        </p:nvSpPr>
        <p:spPr>
          <a:xfrm>
            <a:off x="9418320" y="398678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Verificación de trazabilidad</a:t>
            </a:r>
            <a:endParaRPr lang="en-US" sz="950" dirty="0"/>
          </a:p>
        </p:txBody>
      </p:sp>
      <p:sp>
        <p:nvSpPr>
          <p:cNvPr id="45" name="Shape 37"/>
          <p:cNvSpPr/>
          <p:nvPr/>
        </p:nvSpPr>
        <p:spPr>
          <a:xfrm>
            <a:off x="8686800" y="4800600"/>
            <a:ext cx="2926080" cy="7132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8814816" y="4910328"/>
            <a:ext cx="493776" cy="493776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33322" y="5028834"/>
            <a:ext cx="256764" cy="256764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9418320" y="49011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Org. ambientales / I+D</a:t>
            </a:r>
            <a:endParaRPr lang="en-US" sz="1150" dirty="0"/>
          </a:p>
        </p:txBody>
      </p:sp>
      <p:sp>
        <p:nvSpPr>
          <p:cNvPr id="49" name="Text 40"/>
          <p:cNvSpPr txBox="1"/>
          <p:nvPr/>
        </p:nvSpPr>
        <p:spPr>
          <a:xfrm>
            <a:off x="9418320" y="517550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Organizaciones ambientales</a:t>
            </a:r>
            <a:endParaRPr lang="en-US" sz="950" dirty="0"/>
          </a:p>
        </p:txBody>
      </p:sp>
      <p:sp>
        <p:nvSpPr>
          <p:cNvPr id="50" name="Shape 41"/>
          <p:cNvSpPr/>
          <p:nvPr/>
        </p:nvSpPr>
        <p:spPr>
          <a:xfrm>
            <a:off x="4800600" y="3383280"/>
            <a:ext cx="2606040" cy="1188720"/>
          </a:xfrm>
          <a:prstGeom prst="roundRect">
            <a:avLst>
              <a:gd name="adj" fmla="val 12308"/>
            </a:avLst>
          </a:prstGeom>
          <a:solidFill>
            <a:srgbClr val="071A2C"/>
          </a:solidFill>
          <a:ln/>
          <a:effectLst>
            <a:outerShdw sx="100000" sy="100000" kx="0" ky="0" algn="bl" rotWithShape="0" blurRad="254000" dist="38100" dir="5400000">
              <a:srgbClr val="0B1D2E">
                <a:alpha val="30000"/>
              </a:srgbClr>
            </a:outerShdw>
          </a:effectLst>
        </p:spPr>
      </p:sp>
      <p:sp>
        <p:nvSpPr>
          <p:cNvPr id="51" name="Shape 42"/>
          <p:cNvSpPr/>
          <p:nvPr/>
        </p:nvSpPr>
        <p:spPr>
          <a:xfrm>
            <a:off x="548640" y="5989320"/>
            <a:ext cx="502920" cy="0"/>
          </a:xfrm>
          <a:prstGeom prst="line">
            <a:avLst/>
          </a:prstGeom>
          <a:noFill/>
          <a:ln w="15875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52" name="Text 43"/>
          <p:cNvSpPr txBox="1"/>
          <p:nvPr/>
        </p:nvSpPr>
        <p:spPr>
          <a:xfrm>
            <a:off x="1188720" y="58704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Flujo de información entre cada actor externo y el sistema</a:t>
            </a:r>
            <a:endParaRPr lang="en-US" sz="1000" dirty="0"/>
          </a:p>
        </p:txBody>
      </p:sp>
      <p:sp>
        <p:nvSpPr>
          <p:cNvPr id="53" name="Text 44"/>
          <p:cNvSpPr txBox="1"/>
          <p:nvPr/>
        </p:nvSpPr>
        <p:spPr>
          <a:xfrm>
            <a:off x="4800600" y="35478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SISEP</a:t>
            </a:r>
            <a:endParaRPr lang="en-US" sz="2400" dirty="0"/>
          </a:p>
        </p:txBody>
      </p:sp>
      <p:sp>
        <p:nvSpPr>
          <p:cNvPr id="54" name="Text 45"/>
          <p:cNvSpPr txBox="1"/>
          <p:nvPr/>
        </p:nvSpPr>
        <p:spPr>
          <a:xfrm>
            <a:off x="4800600" y="40416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ECE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Sistema de Monitoreo Pesquero</a:t>
            </a:r>
            <a:endParaRPr lang="en-US" sz="1050" dirty="0"/>
          </a:p>
        </p:txBody>
      </p:sp>
      <p:sp>
        <p:nvSpPr>
          <p:cNvPr id="55" name="Text 46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56" name="Text 47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98064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3 · MODELO FUNCIONAL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Casos de uso generales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331720" y="1554480"/>
            <a:ext cx="7543800" cy="4617720"/>
          </a:xfrm>
          <a:prstGeom prst="roundRect">
            <a:avLst>
              <a:gd name="adj" fmla="val 3564"/>
            </a:avLst>
          </a:prstGeom>
          <a:solidFill>
            <a:srgbClr val="F4F9FA"/>
          </a:solidFill>
          <a:ln w="15875">
            <a:solidFill>
              <a:srgbClr val="9CC3CF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2560320" y="1664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SISEP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 flipV="1">
            <a:off x="1481328" y="2468880"/>
            <a:ext cx="1216152" cy="1143000"/>
          </a:xfrm>
          <a:prstGeom prst="line">
            <a:avLst/>
          </a:prstGeom>
          <a:noFill/>
          <a:ln w="15875">
            <a:solidFill>
              <a:srgbClr val="5A6B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481328" y="3611880"/>
            <a:ext cx="1216152" cy="0"/>
          </a:xfrm>
          <a:prstGeom prst="line">
            <a:avLst/>
          </a:prstGeom>
          <a:noFill/>
          <a:ln w="15875">
            <a:solidFill>
              <a:srgbClr val="5A6B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81328" y="3611880"/>
            <a:ext cx="1216152" cy="1143000"/>
          </a:xfrm>
          <a:prstGeom prst="line">
            <a:avLst/>
          </a:prstGeom>
          <a:noFill/>
          <a:ln w="15875">
            <a:solidFill>
              <a:srgbClr val="5A6B7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 flipV="1">
            <a:off x="9555480" y="2331720"/>
            <a:ext cx="1170432" cy="1280160"/>
          </a:xfrm>
          <a:prstGeom prst="line">
            <a:avLst/>
          </a:prstGeom>
          <a:noFill/>
          <a:ln w="15875">
            <a:solidFill>
              <a:srgbClr val="5A6B7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 flipV="1">
            <a:off x="9555480" y="3291840"/>
            <a:ext cx="1170432" cy="320040"/>
          </a:xfrm>
          <a:prstGeom prst="line">
            <a:avLst/>
          </a:prstGeom>
          <a:noFill/>
          <a:ln w="15875">
            <a:solidFill>
              <a:srgbClr val="5A6B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9555480" y="3611880"/>
            <a:ext cx="1170432" cy="640080"/>
          </a:xfrm>
          <a:prstGeom prst="line">
            <a:avLst/>
          </a:prstGeom>
          <a:noFill/>
          <a:ln w="15875">
            <a:solidFill>
              <a:srgbClr val="5A6B7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9555480" y="3611880"/>
            <a:ext cx="1170432" cy="2011680"/>
          </a:xfrm>
          <a:prstGeom prst="line">
            <a:avLst/>
          </a:prstGeom>
          <a:noFill/>
          <a:ln w="15875">
            <a:solidFill>
              <a:srgbClr val="5A6B7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97480" y="2103120"/>
            <a:ext cx="315468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4C6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2880360" y="210312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Generar alertas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(zonas restringidas, veda)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97480" y="3246120"/>
            <a:ext cx="315468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4C6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2880360" y="324612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Generar reportes / dashboards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97480" y="4389120"/>
            <a:ext cx="315468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4C6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2880360" y="438912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Auditoría / fiscalización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1965960"/>
            <a:ext cx="315468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4C6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583680" y="196596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Registrar embarcación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2926080"/>
            <a:ext cx="315468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4C6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583680" y="292608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Enviar posición GPS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3886200"/>
            <a:ext cx="315468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4C6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583680" y="38862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Registrar captura (bitácora)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5257800"/>
            <a:ext cx="3154680" cy="731520"/>
          </a:xfrm>
          <a:prstGeom prst="ellipse">
            <a:avLst/>
          </a:prstGeom>
          <a:solidFill>
            <a:srgbClr val="E3F4F6"/>
          </a:solidFill>
          <a:ln w="19050">
            <a:solidFill>
              <a:srgbClr val="0E7C86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583680" y="52578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Trazabilidad y QR por lote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978140" y="4617720"/>
            <a:ext cx="0" cy="640080"/>
          </a:xfrm>
          <a:prstGeom prst="line">
            <a:avLst/>
          </a:prstGeom>
          <a:noFill/>
          <a:ln w="19050">
            <a:solidFill>
              <a:srgbClr val="0E7C86"/>
            </a:solidFill>
            <a:prstDash val="dash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8087868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«include»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280160" y="295351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81328" y="3355848"/>
            <a:ext cx="0" cy="694944"/>
          </a:xfrm>
          <a:prstGeom prst="line">
            <a:avLst/>
          </a:prstGeom>
          <a:noFill/>
          <a:ln w="25400">
            <a:solidFill>
              <a:srgbClr val="0B2A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97280" y="3611880"/>
            <a:ext cx="768096" cy="0"/>
          </a:xfrm>
          <a:prstGeom prst="line">
            <a:avLst/>
          </a:prstGeom>
          <a:noFill/>
          <a:ln w="25400">
            <a:solidFill>
              <a:srgbClr val="0B2A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H="1">
            <a:off x="1179576" y="4050792"/>
            <a:ext cx="301752" cy="475488"/>
          </a:xfrm>
          <a:prstGeom prst="line">
            <a:avLst/>
          </a:prstGeom>
          <a:noFill/>
          <a:ln w="25400">
            <a:solidFill>
              <a:srgbClr val="0B2A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481328" y="4050792"/>
            <a:ext cx="301752" cy="475488"/>
          </a:xfrm>
          <a:prstGeom prst="line">
            <a:avLst/>
          </a:prstGeom>
          <a:noFill/>
          <a:ln w="25400">
            <a:solidFill>
              <a:srgbClr val="0B2A4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66928" y="2386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IMARPE / PRODUCE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26426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Institución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524744" y="295351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725912" y="3355848"/>
            <a:ext cx="0" cy="694944"/>
          </a:xfrm>
          <a:prstGeom prst="line">
            <a:avLst/>
          </a:prstGeom>
          <a:noFill/>
          <a:ln w="25400">
            <a:solidFill>
              <a:srgbClr val="0B2A4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341864" y="3611880"/>
            <a:ext cx="768096" cy="0"/>
          </a:xfrm>
          <a:prstGeom prst="line">
            <a:avLst/>
          </a:prstGeom>
          <a:noFill/>
          <a:ln w="25400">
            <a:solidFill>
              <a:srgbClr val="0B2A4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>
            <a:off x="10424160" y="4050792"/>
            <a:ext cx="301752" cy="475488"/>
          </a:xfrm>
          <a:prstGeom prst="line">
            <a:avLst/>
          </a:prstGeom>
          <a:noFill/>
          <a:ln w="25400">
            <a:solidFill>
              <a:srgbClr val="0B2A4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725912" y="4050792"/>
            <a:ext cx="301752" cy="475488"/>
          </a:xfrm>
          <a:prstGeom prst="line">
            <a:avLst/>
          </a:prstGeom>
          <a:noFill/>
          <a:ln w="25400">
            <a:solidFill>
              <a:srgbClr val="0B2A4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811512" y="2386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Pescador / Armador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9811512" y="26426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Usuario de campo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962656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3 · MODELO DE PROCESOS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Diagrama de actividad (UML)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Flujo principal desde el inicio de la jornada de pesca hasta la generación de reportes.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65760" cy="365760"/>
          </a:xfrm>
          <a:prstGeom prst="ellipse">
            <a:avLst/>
          </a:prstGeom>
          <a:solidFill>
            <a:srgbClr val="0B1D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760" y="27706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Inicio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2514600"/>
            <a:ext cx="320040" cy="0"/>
          </a:xfrm>
          <a:prstGeom prst="line">
            <a:avLst/>
          </a:prstGeom>
          <a:noFill/>
          <a:ln w="19050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234440" y="2057400"/>
            <a:ext cx="22860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0F4C6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417320" y="20574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embarcación inicia la jornada y enciende el GPS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24712" y="1929384"/>
            <a:ext cx="310896" cy="310896"/>
          </a:xfrm>
          <a:prstGeom prst="ellipse">
            <a:avLst/>
          </a:prstGeom>
          <a:solidFill>
            <a:srgbClr val="2EC4C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24712" y="1929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20440" y="2514600"/>
            <a:ext cx="320040" cy="0"/>
          </a:xfrm>
          <a:prstGeom prst="line">
            <a:avLst/>
          </a:prstGeom>
          <a:noFill/>
          <a:ln w="19050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840480" y="2057400"/>
            <a:ext cx="22860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0F4C6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023360" y="20574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Registro periódico de GPS (cada 15 min) y sensores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30752" y="1929384"/>
            <a:ext cx="310896" cy="310896"/>
          </a:xfrm>
          <a:prstGeom prst="ellipse">
            <a:avLst/>
          </a:prstGeom>
          <a:solidFill>
            <a:srgbClr val="2EC4C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730752" y="1929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2514600"/>
            <a:ext cx="320040" cy="0"/>
          </a:xfrm>
          <a:prstGeom prst="line">
            <a:avLst/>
          </a:prstGeom>
          <a:noFill/>
          <a:ln w="19050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46520" y="2057400"/>
            <a:ext cx="22860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0F4C6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629400" y="20574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Registro de captura en bitácora digital + fotos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36792" y="1929384"/>
            <a:ext cx="310896" cy="310896"/>
          </a:xfrm>
          <a:prstGeom prst="ellipse">
            <a:avLst/>
          </a:prstGeom>
          <a:solidFill>
            <a:srgbClr val="2EC4C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36792" y="1929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732520" y="2514600"/>
            <a:ext cx="320040" cy="0"/>
          </a:xfrm>
          <a:prstGeom prst="line">
            <a:avLst/>
          </a:prstGeom>
          <a:noFill/>
          <a:ln w="19050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52560" y="2057400"/>
            <a:ext cx="22860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0F4C6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235440" y="20574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Envío de datos a la plataforma (sync inmediata o por lotes)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42832" y="1929384"/>
            <a:ext cx="310896" cy="310896"/>
          </a:xfrm>
          <a:prstGeom prst="ellipse">
            <a:avLst/>
          </a:prstGeom>
          <a:solidFill>
            <a:srgbClr val="2EC4C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942832" y="1929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195560" y="2971800"/>
            <a:ext cx="0" cy="571500"/>
          </a:xfrm>
          <a:prstGeom prst="line">
            <a:avLst/>
          </a:prstGeom>
          <a:noFill/>
          <a:ln w="19050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121140" y="3543300"/>
            <a:ext cx="2148840" cy="1325880"/>
          </a:xfrm>
          <a:prstGeom prst="diamond">
            <a:avLst/>
          </a:prstGeom>
          <a:solidFill>
            <a:srgbClr val="E3F4F6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395460" y="38404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Validación automática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(áreas, tallas, permisos)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257800" y="3291840"/>
            <a:ext cx="2743200" cy="777240"/>
          </a:xfrm>
          <a:prstGeom prst="roundRect">
            <a:avLst>
              <a:gd name="adj" fmla="val 16471"/>
            </a:avLst>
          </a:prstGeom>
          <a:solidFill>
            <a:srgbClr val="E6F6F4"/>
          </a:solidFill>
          <a:ln w="15875">
            <a:solidFill>
              <a:srgbClr val="0E7C86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5440680" y="32918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Almacenar captura, generar QR y registrar lote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257800" y="4846320"/>
            <a:ext cx="2743200" cy="777240"/>
          </a:xfrm>
          <a:prstGeom prst="roundRect">
            <a:avLst>
              <a:gd name="adj" fmla="val 16471"/>
            </a:avLst>
          </a:prstGeom>
          <a:solidFill>
            <a:srgbClr val="FDECE9"/>
          </a:solidFill>
          <a:ln w="15875">
            <a:solidFill>
              <a:srgbClr val="E8553F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5440680" y="48463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Generar alerta y notificar a autoridades y usuario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 flipH="1" flipV="1">
            <a:off x="8001000" y="3680460"/>
            <a:ext cx="1120140" cy="52578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 flipH="1">
            <a:off x="8001000" y="4206240"/>
            <a:ext cx="1120140" cy="1028700"/>
          </a:xfrm>
          <a:prstGeom prst="line">
            <a:avLst/>
          </a:prstGeom>
          <a:noFill/>
          <a:ln w="19050">
            <a:solidFill>
              <a:srgbClr val="E8553F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7973568" y="33832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[cumple reglas]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8092440" y="5349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55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[irregularidad]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103120" y="3749040"/>
            <a:ext cx="242316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0F4C6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2286000" y="374904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Generar reportes y dashboards (estadísticas, tendencias)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 flipH="1">
            <a:off x="4526280" y="3680460"/>
            <a:ext cx="731520" cy="525780"/>
          </a:xfrm>
          <a:prstGeom prst="line">
            <a:avLst/>
          </a:prstGeom>
          <a:noFill/>
          <a:ln w="19050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H="1" flipV="1">
            <a:off x="4526280" y="4206240"/>
            <a:ext cx="731520" cy="1028700"/>
          </a:xfrm>
          <a:prstGeom prst="line">
            <a:avLst/>
          </a:prstGeom>
          <a:noFill/>
          <a:ln w="19050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H="1">
            <a:off x="1417320" y="4206240"/>
            <a:ext cx="685800" cy="0"/>
          </a:xfrm>
          <a:prstGeom prst="line">
            <a:avLst/>
          </a:prstGeom>
          <a:noFill/>
          <a:ln w="19050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60120" y="397764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B1D2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51560" y="4069080"/>
            <a:ext cx="274320" cy="274320"/>
          </a:xfrm>
          <a:prstGeom prst="ellipse">
            <a:avLst/>
          </a:prstGeom>
          <a:solidFill>
            <a:srgbClr val="0B1D2E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22960" y="44988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48640" y="5760720"/>
            <a:ext cx="11064240" cy="475488"/>
          </a:xfrm>
          <a:prstGeom prst="roundRect">
            <a:avLst>
              <a:gd name="adj" fmla="val 19231"/>
            </a:avLst>
          </a:prstGeom>
          <a:solidFill>
            <a:srgbClr val="E3F4F6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77240" y="5760720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Clave: </a:t>
            </a:r>
            <a:pPr indent="0" marL="0">
              <a:buNone/>
            </a:pPr>
            <a:r>
              <a:rPr lang="en-US" sz="11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validación aplica las reglas de dominio (RD01); lo que cumple se certifica con QR y lo irregular dispara una alerta.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50" name="Text 48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15768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3 · MODELO DE DATOS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 entidad-relación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651760" y="3771900"/>
            <a:ext cx="822960" cy="0"/>
          </a:xfrm>
          <a:prstGeom prst="line">
            <a:avLst/>
          </a:prstGeom>
          <a:noFill/>
          <a:ln w="15875">
            <a:solidFill>
              <a:srgbClr val="0F4C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651760" y="35250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posee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380847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0..*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577840" y="2171700"/>
            <a:ext cx="822960" cy="0"/>
          </a:xfrm>
          <a:prstGeom prst="line">
            <a:avLst/>
          </a:prstGeom>
          <a:noFill/>
          <a:ln w="15875">
            <a:solidFill>
              <a:srgbClr val="0F4C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577840" y="19248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gestiona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220827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1..*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503920" y="2171700"/>
            <a:ext cx="822960" cy="0"/>
          </a:xfrm>
          <a:prstGeom prst="line">
            <a:avLst/>
          </a:prstGeom>
          <a:noFill/>
          <a:ln w="15875">
            <a:solidFill>
              <a:srgbClr val="0F4C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03920" y="19248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contiene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220827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N..*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577840" y="3771900"/>
            <a:ext cx="822960" cy="0"/>
          </a:xfrm>
          <a:prstGeom prst="line">
            <a:avLst/>
          </a:prstGeom>
          <a:noFill/>
          <a:ln w="15875">
            <a:solidFill>
              <a:srgbClr val="0F4C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77840" y="35250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tiene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577840" y="380847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1..*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503920" y="3771900"/>
            <a:ext cx="822960" cy="0"/>
          </a:xfrm>
          <a:prstGeom prst="line">
            <a:avLst/>
          </a:prstGeom>
          <a:noFill/>
          <a:ln w="15875">
            <a:solidFill>
              <a:srgbClr val="0F4C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03920" y="35250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pertenece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380847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N..1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 flipV="1">
            <a:off x="4526280" y="4343400"/>
            <a:ext cx="0" cy="457200"/>
          </a:xfrm>
          <a:prstGeom prst="line">
            <a:avLst/>
          </a:prstGeom>
          <a:noFill/>
          <a:ln w="15875">
            <a:solidFill>
              <a:srgbClr val="0F4C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17720" y="4361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N..*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452360" y="4343400"/>
            <a:ext cx="0" cy="457200"/>
          </a:xfrm>
          <a:prstGeom prst="line">
            <a:avLst/>
          </a:prstGeom>
          <a:noFill/>
          <a:ln w="15875">
            <a:solidFill>
              <a:srgbClr val="0F4C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43800" y="4361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 flipV="1">
            <a:off x="5257800" y="2743200"/>
            <a:ext cx="1463040" cy="457200"/>
          </a:xfrm>
          <a:prstGeom prst="line">
            <a:avLst/>
          </a:prstGeom>
          <a:noFill/>
          <a:ln w="15875">
            <a:solidFill>
              <a:srgbClr val="0F4C6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559552" y="28072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tiene </a:t>
            </a:r>
            <a:pPr algn="l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1..*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74720" y="160020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8D2D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0" y="1600200"/>
            <a:ext cx="2103120" cy="329184"/>
          </a:xfrm>
          <a:prstGeom prst="roundRect">
            <a:avLst>
              <a:gd name="adj" fmla="val 27778"/>
            </a:avLst>
          </a:prstGeom>
          <a:solidFill>
            <a:srgbClr val="0B2A45"/>
          </a:solidFill>
          <a:ln/>
        </p:spPr>
      </p:sp>
      <p:sp>
        <p:nvSpPr>
          <p:cNvPr id="28" name="Shape 26"/>
          <p:cNvSpPr/>
          <p:nvPr/>
        </p:nvSpPr>
        <p:spPr>
          <a:xfrm>
            <a:off x="3474720" y="1783080"/>
            <a:ext cx="2103120" cy="146304"/>
          </a:xfrm>
          <a:prstGeom prst="rect">
            <a:avLst/>
          </a:prstGeom>
          <a:solidFill>
            <a:srgbClr val="0B2A4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611880" y="1600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Usuario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3611880" y="2002536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PK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id_usr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nombre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· 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rol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email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· 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auth_2fa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0" y="160020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8D2D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00800" y="1600200"/>
            <a:ext cx="2103120" cy="329184"/>
          </a:xfrm>
          <a:prstGeom prst="roundRect">
            <a:avLst>
              <a:gd name="adj" fmla="val 27778"/>
            </a:avLst>
          </a:prstGeom>
          <a:solidFill>
            <a:srgbClr val="0B2A45"/>
          </a:solidFill>
          <a:ln/>
        </p:spPr>
      </p:sp>
      <p:sp>
        <p:nvSpPr>
          <p:cNvPr id="33" name="Shape 31"/>
          <p:cNvSpPr/>
          <p:nvPr/>
        </p:nvSpPr>
        <p:spPr>
          <a:xfrm>
            <a:off x="6400800" y="1783080"/>
            <a:ext cx="2103120" cy="146304"/>
          </a:xfrm>
          <a:prstGeom prst="rect">
            <a:avLst/>
          </a:prstGeom>
          <a:solidFill>
            <a:srgbClr val="0B2A45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37960" y="1600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Permiso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537960" y="2002536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PK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id_perm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·  </a:t>
            </a:r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E855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FK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id_emb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tipo_permiso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fecha_inicio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· 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fecha_fin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326880" y="160020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8D2D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326880" y="1600200"/>
            <a:ext cx="2103120" cy="329184"/>
          </a:xfrm>
          <a:prstGeom prst="roundRect">
            <a:avLst>
              <a:gd name="adj" fmla="val 27778"/>
            </a:avLst>
          </a:prstGeom>
          <a:solidFill>
            <a:srgbClr val="0B2A45"/>
          </a:solidFill>
          <a:ln/>
        </p:spPr>
      </p:sp>
      <p:sp>
        <p:nvSpPr>
          <p:cNvPr id="38" name="Shape 36"/>
          <p:cNvSpPr/>
          <p:nvPr/>
        </p:nvSpPr>
        <p:spPr>
          <a:xfrm>
            <a:off x="9326880" y="1783080"/>
            <a:ext cx="2103120" cy="146304"/>
          </a:xfrm>
          <a:prstGeom prst="rect">
            <a:avLst/>
          </a:prstGeom>
          <a:solidFill>
            <a:srgbClr val="0B2A45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464040" y="1600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Especie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9464040" y="2002536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PK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id_esp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nombre_cientifico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nombre_comun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· 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talla_minima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8640" y="320040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8D2D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8640" y="3200400"/>
            <a:ext cx="2103120" cy="329184"/>
          </a:xfrm>
          <a:prstGeom prst="roundRect">
            <a:avLst>
              <a:gd name="adj" fmla="val 27778"/>
            </a:avLst>
          </a:prstGeom>
          <a:solidFill>
            <a:srgbClr val="0B2A45"/>
          </a:solidFill>
          <a:ln/>
        </p:spPr>
      </p:sp>
      <p:sp>
        <p:nvSpPr>
          <p:cNvPr id="43" name="Shape 41"/>
          <p:cNvSpPr/>
          <p:nvPr/>
        </p:nvSpPr>
        <p:spPr>
          <a:xfrm>
            <a:off x="548640" y="3383280"/>
            <a:ext cx="2103120" cy="146304"/>
          </a:xfrm>
          <a:prstGeom prst="rect">
            <a:avLst/>
          </a:prstGeom>
          <a:solidFill>
            <a:srgbClr val="0B2A45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85800" y="32004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Pescador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685800" y="3602736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PK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id_pesc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nombre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· 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documento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comunidad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· 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contacto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474720" y="320040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8D2D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474720" y="3200400"/>
            <a:ext cx="2103120" cy="329184"/>
          </a:xfrm>
          <a:prstGeom prst="roundRect">
            <a:avLst>
              <a:gd name="adj" fmla="val 27778"/>
            </a:avLst>
          </a:prstGeom>
          <a:solidFill>
            <a:srgbClr val="0B2A45"/>
          </a:solidFill>
          <a:ln/>
        </p:spPr>
      </p:sp>
      <p:sp>
        <p:nvSpPr>
          <p:cNvPr id="48" name="Shape 46"/>
          <p:cNvSpPr/>
          <p:nvPr/>
        </p:nvSpPr>
        <p:spPr>
          <a:xfrm>
            <a:off x="3474720" y="3383280"/>
            <a:ext cx="2103120" cy="146304"/>
          </a:xfrm>
          <a:prstGeom prst="rect">
            <a:avLst/>
          </a:prstGeom>
          <a:solidFill>
            <a:srgbClr val="0B2A45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3611880" y="32004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Embarcación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3611880" y="3602736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PK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id_emb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· 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nombre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tipo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· 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eslora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· 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matricula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E855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FK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owner_id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400800" y="320040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8D2D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400800" y="3200400"/>
            <a:ext cx="2103120" cy="329184"/>
          </a:xfrm>
          <a:prstGeom prst="roundRect">
            <a:avLst>
              <a:gd name="adj" fmla="val 27778"/>
            </a:avLst>
          </a:prstGeom>
          <a:solidFill>
            <a:srgbClr val="0B2A45"/>
          </a:solidFill>
          <a:ln/>
        </p:spPr>
      </p:sp>
      <p:sp>
        <p:nvSpPr>
          <p:cNvPr id="53" name="Shape 51"/>
          <p:cNvSpPr/>
          <p:nvPr/>
        </p:nvSpPr>
        <p:spPr>
          <a:xfrm>
            <a:off x="6400800" y="3383280"/>
            <a:ext cx="2103120" cy="146304"/>
          </a:xfrm>
          <a:prstGeom prst="rect">
            <a:avLst/>
          </a:prstGeom>
          <a:solidFill>
            <a:srgbClr val="0B2A45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537960" y="32004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Captura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6537960" y="3602736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PK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id_capt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· 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fecha_hora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total_kg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·  </a:t>
            </a:r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E855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FK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id_emb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E855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FK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id_lote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·  </a:t>
            </a:r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E855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FK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lugar_id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9326880" y="320040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8D2D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9326880" y="3200400"/>
            <a:ext cx="2103120" cy="329184"/>
          </a:xfrm>
          <a:prstGeom prst="roundRect">
            <a:avLst>
              <a:gd name="adj" fmla="val 27778"/>
            </a:avLst>
          </a:prstGeom>
          <a:solidFill>
            <a:srgbClr val="0B2A45"/>
          </a:solidFill>
          <a:ln/>
        </p:spPr>
      </p:sp>
      <p:sp>
        <p:nvSpPr>
          <p:cNvPr id="58" name="Shape 56"/>
          <p:cNvSpPr/>
          <p:nvPr/>
        </p:nvSpPr>
        <p:spPr>
          <a:xfrm>
            <a:off x="9326880" y="3383280"/>
            <a:ext cx="2103120" cy="146304"/>
          </a:xfrm>
          <a:prstGeom prst="rect">
            <a:avLst/>
          </a:prstGeom>
          <a:solidFill>
            <a:srgbClr val="0B2A45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9464040" y="32004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Lote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9464040" y="3602736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PK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id_lote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· 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codigo_qr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fecha_creacion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estado_trazabilidad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474720" y="480060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8D2D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3474720" y="4800600"/>
            <a:ext cx="2103120" cy="329184"/>
          </a:xfrm>
          <a:prstGeom prst="roundRect">
            <a:avLst>
              <a:gd name="adj" fmla="val 27778"/>
            </a:avLst>
          </a:prstGeom>
          <a:solidFill>
            <a:srgbClr val="0B2A45"/>
          </a:solidFill>
          <a:ln/>
        </p:spPr>
      </p:sp>
      <p:sp>
        <p:nvSpPr>
          <p:cNvPr id="63" name="Shape 61"/>
          <p:cNvSpPr/>
          <p:nvPr/>
        </p:nvSpPr>
        <p:spPr>
          <a:xfrm>
            <a:off x="3474720" y="4983480"/>
            <a:ext cx="2103120" cy="146304"/>
          </a:xfrm>
          <a:prstGeom prst="rect">
            <a:avLst/>
          </a:prstGeom>
          <a:solidFill>
            <a:srgbClr val="0B2A45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3611880" y="48006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SensorRegistro</a:t>
            </a:r>
            <a:endParaRPr lang="en-US" sz="1050" dirty="0"/>
          </a:p>
        </p:txBody>
      </p:sp>
      <p:sp>
        <p:nvSpPr>
          <p:cNvPr id="65" name="Text 63"/>
          <p:cNvSpPr txBox="1"/>
          <p:nvPr/>
        </p:nvSpPr>
        <p:spPr>
          <a:xfrm>
            <a:off x="3611880" y="5202936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PK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id_reg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·  </a:t>
            </a:r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E855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FK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id_emb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· 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ts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lat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· 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lon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· 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tipo_sensor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valor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00800" y="480060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8D2D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6400800" y="4800600"/>
            <a:ext cx="2103120" cy="329184"/>
          </a:xfrm>
          <a:prstGeom prst="roundRect">
            <a:avLst>
              <a:gd name="adj" fmla="val 27778"/>
            </a:avLst>
          </a:prstGeom>
          <a:solidFill>
            <a:srgbClr val="0B2A45"/>
          </a:solidFill>
          <a:ln/>
        </p:spPr>
      </p:sp>
      <p:sp>
        <p:nvSpPr>
          <p:cNvPr id="68" name="Shape 66"/>
          <p:cNvSpPr/>
          <p:nvPr/>
        </p:nvSpPr>
        <p:spPr>
          <a:xfrm>
            <a:off x="6400800" y="4983480"/>
            <a:ext cx="2103120" cy="146304"/>
          </a:xfrm>
          <a:prstGeom prst="rect">
            <a:avLst/>
          </a:prstGeom>
          <a:solidFill>
            <a:srgbClr val="0B2A45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6537960" y="48006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Localización</a:t>
            </a:r>
            <a:endParaRPr lang="en-US" sz="1050" dirty="0"/>
          </a:p>
        </p:txBody>
      </p:sp>
      <p:sp>
        <p:nvSpPr>
          <p:cNvPr id="70" name="Text 68"/>
          <p:cNvSpPr txBox="1"/>
          <p:nvPr/>
        </p:nvSpPr>
        <p:spPr>
          <a:xfrm>
            <a:off x="6537960" y="5202936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PK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id_loc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latitud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· 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longitud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zona</a:t>
            </a:r>
            <a:endParaRPr lang="en-US" sz="900" dirty="0"/>
          </a:p>
        </p:txBody>
      </p:sp>
      <p:sp>
        <p:nvSpPr>
          <p:cNvPr id="71" name="Text 69"/>
          <p:cNvSpPr txBox="1"/>
          <p:nvPr/>
        </p:nvSpPr>
        <p:spPr>
          <a:xfrm>
            <a:off x="548640" y="164592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Organiza la base de datos que soportará las operaciones de SISEP: flota, permisos, capturas, lotes y registros de sensores.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548640" y="4800600"/>
            <a:ext cx="2514600" cy="1143000"/>
          </a:xfrm>
          <a:prstGeom prst="roundRect">
            <a:avLst>
              <a:gd name="adj" fmla="val 9600"/>
            </a:avLst>
          </a:prstGeom>
          <a:solidFill>
            <a:srgbClr val="E3F4F6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777240" y="48463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PK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clave primaria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855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FK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clave foránea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1..*  N..1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cardinalidad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9326880" y="4800600"/>
            <a:ext cx="2286000" cy="1143000"/>
          </a:xfrm>
          <a:prstGeom prst="roundRect">
            <a:avLst>
              <a:gd name="adj" fmla="val 9600"/>
            </a:avLst>
          </a:prstGeom>
          <a:solidFill>
            <a:srgbClr val="071A2C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9509760" y="4846320"/>
            <a:ext cx="731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4400" dirty="0"/>
          </a:p>
        </p:txBody>
      </p:sp>
      <p:sp>
        <p:nvSpPr>
          <p:cNvPr id="76" name="Text 74"/>
          <p:cNvSpPr txBox="1"/>
          <p:nvPr/>
        </p:nvSpPr>
        <p:spPr>
          <a:xfrm>
            <a:off x="10241280" y="484632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entidades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E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relaciones</a:t>
            </a:r>
            <a:endParaRPr lang="en-US" sz="1200" dirty="0"/>
          </a:p>
        </p:txBody>
      </p:sp>
      <p:sp>
        <p:nvSpPr>
          <p:cNvPr id="77" name="Text 75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78" name="Text 76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502920"/>
            <a:ext cx="5943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0" b="1" dirty="0">
                <a:solidFill>
                  <a:srgbClr val="2EC4C9">
                    <a:alpha val="28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9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UNIDAD II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03320"/>
            <a:ext cx="6035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de Diseño y</a:t>
            </a:r>
            <a:endParaRPr lang="en-US" sz="3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Metodología Ágil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94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ECE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Semanas 5–7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086600" y="1760220"/>
            <a:ext cx="4526280" cy="960120"/>
          </a:xfrm>
          <a:prstGeom prst="roundRect">
            <a:avLst>
              <a:gd name="adj" fmla="val 11429"/>
            </a:avLst>
          </a:prstGeom>
          <a:solidFill>
            <a:srgbClr val="0E3453">
              <a:alpha val="85000"/>
            </a:srgbClr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1943100"/>
            <a:ext cx="594360" cy="594360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7846" y="2085746"/>
            <a:ext cx="309067" cy="30906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138160" y="19431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4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215341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de diseño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086600" y="2948940"/>
            <a:ext cx="4526280" cy="960120"/>
          </a:xfrm>
          <a:prstGeom prst="roundRect">
            <a:avLst>
              <a:gd name="adj" fmla="val 11429"/>
            </a:avLst>
          </a:prstGeom>
          <a:solidFill>
            <a:srgbClr val="0E3453">
              <a:alpha val="85000"/>
            </a:srgbClr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0" y="3131820"/>
            <a:ext cx="594360" cy="594360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846" y="3274466"/>
            <a:ext cx="309067" cy="30906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138160" y="31318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5</a:t>
            </a:r>
            <a:endParaRPr lang="en-US" sz="850" dirty="0"/>
          </a:p>
        </p:txBody>
      </p:sp>
      <p:sp>
        <p:nvSpPr>
          <p:cNvPr id="15" name="Text 11"/>
          <p:cNvSpPr txBox="1"/>
          <p:nvPr/>
        </p:nvSpPr>
        <p:spPr>
          <a:xfrm>
            <a:off x="8138160" y="334213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Metodología de trabajo: Scrum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7086600" y="4137660"/>
            <a:ext cx="4526280" cy="960120"/>
          </a:xfrm>
          <a:prstGeom prst="roundRect">
            <a:avLst>
              <a:gd name="adj" fmla="val 11429"/>
            </a:avLst>
          </a:prstGeom>
          <a:solidFill>
            <a:srgbClr val="0E3453">
              <a:alpha val="85000"/>
            </a:srgbClr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315200" y="4320540"/>
            <a:ext cx="594360" cy="594360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7846" y="4463186"/>
            <a:ext cx="309067" cy="30906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138160" y="43205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HERRAMIENTAS</a:t>
            </a:r>
            <a:endParaRPr lang="en-US" sz="850" dirty="0"/>
          </a:p>
        </p:txBody>
      </p:sp>
      <p:sp>
        <p:nvSpPr>
          <p:cNvPr id="20" name="Text 15"/>
          <p:cNvSpPr txBox="1"/>
          <p:nvPr/>
        </p:nvSpPr>
        <p:spPr>
          <a:xfrm>
            <a:off x="8138160" y="453085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Jira, Draw.io, dbdiagram.io, GitHub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7FA7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22" name="Text 17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8EC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962656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4 · MODELO ESTRUCTURAL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Diagrama de clases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301752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6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828800"/>
            <a:ext cx="3017520" cy="347472"/>
          </a:xfrm>
          <a:prstGeom prst="rect">
            <a:avLst/>
          </a:prstGeom>
          <a:solidFill>
            <a:srgbClr val="0B2A45"/>
          </a:solidFill>
          <a:ln w="12700">
            <a:solidFill>
              <a:srgbClr val="0F4C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8288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Embarcacion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40280"/>
            <a:ext cx="278892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matricula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nombre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tipoEmbarcacion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capacidadBodega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estado : string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3150108"/>
            <a:ext cx="3017520" cy="0"/>
          </a:xfrm>
          <a:prstGeom prst="line">
            <a:avLst/>
          </a:prstGeom>
          <a:noFill/>
          <a:ln w="12700">
            <a:solidFill>
              <a:srgbClr val="0F4C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214116"/>
            <a:ext cx="27889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registrarCaptura()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enviarPosicionGPS()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consultarEstado()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90288" y="1828800"/>
            <a:ext cx="3017520" cy="1787652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6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90288" y="1828800"/>
            <a:ext cx="3017520" cy="347472"/>
          </a:xfrm>
          <a:prstGeom prst="rect">
            <a:avLst/>
          </a:prstGeom>
          <a:solidFill>
            <a:srgbClr val="0B2A45"/>
          </a:solidFill>
          <a:ln w="12700">
            <a:solidFill>
              <a:srgbClr val="0F4C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90288" y="18288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DetalleCaptura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27448" y="2240280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cantidadKg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cantidadUnidades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tallaPromedioCm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cumpleTallaMinima : string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90288" y="2980944"/>
            <a:ext cx="3017520" cy="0"/>
          </a:xfrm>
          <a:prstGeom prst="line">
            <a:avLst/>
          </a:prstGeom>
          <a:noFill/>
          <a:ln w="12700">
            <a:solidFill>
              <a:srgbClr val="0F4C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27448" y="3044952"/>
            <a:ext cx="27889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validarTalla()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calcularTotal()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verificarCuota()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485632" y="1828800"/>
            <a:ext cx="3017520" cy="1618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6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85632" y="1828800"/>
            <a:ext cx="3017520" cy="347472"/>
          </a:xfrm>
          <a:prstGeom prst="rect">
            <a:avLst/>
          </a:prstGeom>
          <a:solidFill>
            <a:srgbClr val="0B2A45"/>
          </a:solidFill>
          <a:ln w="12700">
            <a:solidFill>
              <a:srgbClr val="0F4C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85632" y="18288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MonitoreoGPS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622792" y="2240280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fechaHora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latitud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longitud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enZonaPermitida : string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485632" y="2980944"/>
            <a:ext cx="3017520" cy="0"/>
          </a:xfrm>
          <a:prstGeom prst="line">
            <a:avLst/>
          </a:prstGeom>
          <a:noFill/>
          <a:ln w="12700">
            <a:solidFill>
              <a:srgbClr val="0F4C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22792" y="3044952"/>
            <a:ext cx="2788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capturarPosicion()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validarZona()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4206240"/>
            <a:ext cx="301752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6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" y="4206240"/>
            <a:ext cx="3017520" cy="347472"/>
          </a:xfrm>
          <a:prstGeom prst="rect">
            <a:avLst/>
          </a:prstGeom>
          <a:solidFill>
            <a:srgbClr val="0B2A45"/>
          </a:solidFill>
          <a:ln w="12700">
            <a:solidFill>
              <a:srgbClr val="0F4C6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42062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Captura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4617720"/>
            <a:ext cx="278892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fechaHora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longitud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zonaPesca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temperaturaAgua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codigoQR : string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5800" y="5527548"/>
            <a:ext cx="3017520" cy="0"/>
          </a:xfrm>
          <a:prstGeom prst="line">
            <a:avLst/>
          </a:prstGeom>
          <a:noFill/>
          <a:ln w="12700">
            <a:solidFill>
              <a:srgbClr val="0F4C6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5591556"/>
            <a:ext cx="27889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registrarDatos()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generarCodigoQR()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validarCumplimiento()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90288" y="4206240"/>
            <a:ext cx="3017520" cy="1787652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6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90288" y="4206240"/>
            <a:ext cx="3017520" cy="347472"/>
          </a:xfrm>
          <a:prstGeom prst="rect">
            <a:avLst/>
          </a:prstGeom>
          <a:solidFill>
            <a:srgbClr val="0B2A45"/>
          </a:solidFill>
          <a:ln w="12700">
            <a:solidFill>
              <a:srgbClr val="0F4C6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90288" y="42062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Especie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727448" y="4617720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nombreComun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nombreCientifico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tallaMinimaCm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cuotaAnualTn : string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90288" y="5358384"/>
            <a:ext cx="3017520" cy="0"/>
          </a:xfrm>
          <a:prstGeom prst="line">
            <a:avLst/>
          </a:prstGeom>
          <a:noFill/>
          <a:ln w="12700">
            <a:solidFill>
              <a:srgbClr val="0F4C6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727448" y="5422392"/>
            <a:ext cx="27889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verificarVeda()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consultarCuota()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obtenerTallaMinima()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485632" y="4206240"/>
            <a:ext cx="3017520" cy="1787652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6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485632" y="4206240"/>
            <a:ext cx="3017520" cy="347472"/>
          </a:xfrm>
          <a:prstGeom prst="rect">
            <a:avLst/>
          </a:prstGeom>
          <a:solidFill>
            <a:srgbClr val="0B2A45"/>
          </a:solidFill>
          <a:ln w="12700">
            <a:solidFill>
              <a:srgbClr val="0F4C6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485632" y="42062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Alerta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622792" y="4617720"/>
            <a:ext cx="278892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tipoAlerta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descripcion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fechaHora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nivelGravedad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estadoAtencion : string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485632" y="5527548"/>
            <a:ext cx="3017520" cy="0"/>
          </a:xfrm>
          <a:prstGeom prst="line">
            <a:avLst/>
          </a:prstGeom>
          <a:noFill/>
          <a:ln w="12700">
            <a:solidFill>
              <a:srgbClr val="0F4C6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622792" y="5591556"/>
            <a:ext cx="2788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generarAlerta()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notificarInspectores()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194560" y="3913632"/>
            <a:ext cx="0" cy="292608"/>
          </a:xfrm>
          <a:prstGeom prst="line">
            <a:avLst/>
          </a:prstGeom>
          <a:noFill/>
          <a:ln w="15875">
            <a:solidFill>
              <a:srgbClr val="0B2A4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112264" y="3785616"/>
            <a:ext cx="164592" cy="256032"/>
          </a:xfrm>
          <a:prstGeom prst="diamond">
            <a:avLst/>
          </a:prstGeom>
          <a:solidFill>
            <a:srgbClr val="0B2A45"/>
          </a:solidFill>
          <a:ln w="9525">
            <a:solidFill>
              <a:srgbClr val="0B2A4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286000" y="383133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2286000" y="3977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+captura  1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099048" y="3744468"/>
            <a:ext cx="0" cy="461772"/>
          </a:xfrm>
          <a:prstGeom prst="line">
            <a:avLst/>
          </a:prstGeom>
          <a:noFill/>
          <a:ln w="15875">
            <a:solidFill>
              <a:srgbClr val="0B2A4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16752" y="3616452"/>
            <a:ext cx="164592" cy="256032"/>
          </a:xfrm>
          <a:prstGeom prst="diamond">
            <a:avLst/>
          </a:prstGeom>
          <a:solidFill>
            <a:srgbClr val="0B2A45"/>
          </a:solidFill>
          <a:ln w="9525">
            <a:solidFill>
              <a:srgbClr val="0B2A4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190488" y="36621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6190488" y="3977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+especie  0..1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9994392" y="3575304"/>
            <a:ext cx="0" cy="630936"/>
          </a:xfrm>
          <a:prstGeom prst="line">
            <a:avLst/>
          </a:prstGeom>
          <a:noFill/>
          <a:ln w="15875">
            <a:solidFill>
              <a:srgbClr val="0B2A4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912096" y="3447288"/>
            <a:ext cx="164592" cy="256032"/>
          </a:xfrm>
          <a:prstGeom prst="diamond">
            <a:avLst/>
          </a:prstGeom>
          <a:solidFill>
            <a:srgbClr val="0B2A45"/>
          </a:solidFill>
          <a:ln w="9525">
            <a:solidFill>
              <a:srgbClr val="0B2A45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085832" y="34930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10085832" y="3977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+alerta  0..1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831336" y="5029200"/>
            <a:ext cx="329184" cy="0"/>
          </a:xfrm>
          <a:prstGeom prst="line">
            <a:avLst/>
          </a:prstGeom>
          <a:noFill/>
          <a:ln w="15875">
            <a:solidFill>
              <a:srgbClr val="0B2A4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703320" y="4946904"/>
            <a:ext cx="256032" cy="164592"/>
          </a:xfrm>
          <a:prstGeom prst="diamond">
            <a:avLst/>
          </a:prstGeom>
          <a:solidFill>
            <a:srgbClr val="0B2A45"/>
          </a:solidFill>
          <a:ln w="9525">
            <a:solidFill>
              <a:srgbClr val="0B2A4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4160520" y="2697480"/>
            <a:ext cx="0" cy="2331720"/>
          </a:xfrm>
          <a:prstGeom prst="line">
            <a:avLst/>
          </a:prstGeom>
          <a:noFill/>
          <a:ln w="15875">
            <a:solidFill>
              <a:srgbClr val="0B2A4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160520" y="2697480"/>
            <a:ext cx="429768" cy="0"/>
          </a:xfrm>
          <a:prstGeom prst="line">
            <a:avLst/>
          </a:prstGeom>
          <a:noFill/>
          <a:ln w="15875">
            <a:solidFill>
              <a:srgbClr val="0B2A45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904488" y="48006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</a:t>
            </a:r>
            <a:endParaRPr lang="en-US" sz="850" dirty="0"/>
          </a:p>
        </p:txBody>
      </p:sp>
      <p:sp>
        <p:nvSpPr>
          <p:cNvPr id="58" name="Text 56"/>
          <p:cNvSpPr txBox="1"/>
          <p:nvPr/>
        </p:nvSpPr>
        <p:spPr>
          <a:xfrm>
            <a:off x="4178808" y="24688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0..1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 flipV="1">
            <a:off x="1325880" y="1572768"/>
            <a:ext cx="0" cy="128016"/>
          </a:xfrm>
          <a:prstGeom prst="line">
            <a:avLst/>
          </a:prstGeom>
          <a:noFill/>
          <a:ln w="15875">
            <a:solidFill>
              <a:srgbClr val="0B2A4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243584" y="1572768"/>
            <a:ext cx="164592" cy="256032"/>
          </a:xfrm>
          <a:prstGeom prst="diamond">
            <a:avLst/>
          </a:prstGeom>
          <a:solidFill>
            <a:srgbClr val="0B2A45"/>
          </a:solidFill>
          <a:ln w="9525">
            <a:solidFill>
              <a:srgbClr val="0B2A4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325880" y="1572768"/>
            <a:ext cx="8668512" cy="0"/>
          </a:xfrm>
          <a:prstGeom prst="line">
            <a:avLst/>
          </a:prstGeom>
          <a:noFill/>
          <a:ln w="15875">
            <a:solidFill>
              <a:srgbClr val="0B2A4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994392" y="1572768"/>
            <a:ext cx="0" cy="256032"/>
          </a:xfrm>
          <a:prstGeom prst="line">
            <a:avLst/>
          </a:prstGeom>
          <a:noFill/>
          <a:ln w="15875">
            <a:solidFill>
              <a:srgbClr val="0B2A45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211312" y="135331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+monitoreoGPS  0..1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590288" y="6089904"/>
            <a:ext cx="128016" cy="182880"/>
          </a:xfrm>
          <a:prstGeom prst="diamond">
            <a:avLst/>
          </a:prstGeom>
          <a:solidFill>
            <a:srgbClr val="0B2A45"/>
          </a:solidFill>
          <a:ln w="6350">
            <a:solidFill>
              <a:srgbClr val="0B2A45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4800600" y="6053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Composición: el todo (◆) contiene a la parte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67" name="Text 65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209544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4 · MODELO DE INTERACCIÓN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Diagrama de secuencia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Intercambio de mensajes entre la embarcación, el sistema, la base de datos, IMARPE y PRODUCE.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417320" y="2468880"/>
            <a:ext cx="0" cy="3520440"/>
          </a:xfrm>
          <a:prstGeom prst="line">
            <a:avLst/>
          </a:prstGeom>
          <a:noFill/>
          <a:ln w="12700">
            <a:solidFill>
              <a:srgbClr val="9AAAB6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749040" y="2468880"/>
            <a:ext cx="0" cy="3520440"/>
          </a:xfrm>
          <a:prstGeom prst="line">
            <a:avLst/>
          </a:prstGeom>
          <a:noFill/>
          <a:ln w="12700">
            <a:solidFill>
              <a:srgbClr val="9AAAB6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080760" y="2468880"/>
            <a:ext cx="0" cy="3520440"/>
          </a:xfrm>
          <a:prstGeom prst="line">
            <a:avLst/>
          </a:prstGeom>
          <a:noFill/>
          <a:ln w="12700">
            <a:solidFill>
              <a:srgbClr val="9AAAB6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8412480" y="2468880"/>
            <a:ext cx="0" cy="3520440"/>
          </a:xfrm>
          <a:prstGeom prst="line">
            <a:avLst/>
          </a:prstGeom>
          <a:noFill/>
          <a:ln w="12700">
            <a:solidFill>
              <a:srgbClr val="9AAAB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0744200" y="2468880"/>
            <a:ext cx="0" cy="3520440"/>
          </a:xfrm>
          <a:prstGeom prst="line">
            <a:avLst/>
          </a:prstGeom>
          <a:noFill/>
          <a:ln w="12700">
            <a:solidFill>
              <a:srgbClr val="9AAAB6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675888" y="2560320"/>
            <a:ext cx="146304" cy="3383280"/>
          </a:xfrm>
          <a:prstGeom prst="rect">
            <a:avLst/>
          </a:prstGeom>
          <a:solidFill>
            <a:srgbClr val="E3F4F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920240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0B2A45"/>
          </a:solidFill>
          <a:ln/>
          <a:effectLst>
            <a:outerShdw sx="100000" sy="100000" kx="0" ky="0" algn="bl" rotWithShape="0" blurRad="152400" dist="38100" dir="5400000">
              <a:srgbClr val="0B1D2E">
                <a:alpha val="15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75688"/>
            <a:ext cx="237744" cy="23774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950976" y="1920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Embarcación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880360" y="1920240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0B2A45"/>
          </a:solidFill>
          <a:ln/>
          <a:effectLst>
            <a:outerShdw sx="100000" sy="100000" kx="0" ky="0" algn="bl" rotWithShape="0" blurRad="152400" dist="38100" dir="5400000">
              <a:srgbClr val="0B1D2E">
                <a:alpha val="15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088" y="2075688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282696" y="1920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SistemaMonitoreo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212080" y="1920240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0B2A45"/>
          </a:solidFill>
          <a:ln/>
          <a:effectLst>
            <a:outerShdw sx="100000" sy="100000" kx="0" ky="0" algn="bl" rotWithShape="0" blurRad="152400" dist="38100" dir="5400000">
              <a:srgbClr val="0B1D2E">
                <a:alpha val="15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08" y="2075688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614416" y="1920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BD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543800" y="1920240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0B2A45"/>
          </a:solidFill>
          <a:ln/>
          <a:effectLst>
            <a:outerShdw sx="100000" sy="100000" kx="0" ky="0" algn="bl" rotWithShape="0" blurRad="152400" dist="38100" dir="5400000">
              <a:srgbClr val="0B1D2E">
                <a:alpha val="15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3528" y="2075688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946136" y="1920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IMARPE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9875520" y="1920240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0B2A45"/>
          </a:solidFill>
          <a:ln/>
          <a:effectLst>
            <a:outerShdw sx="100000" sy="100000" kx="0" ky="0" algn="bl" rotWithShape="0" blurRad="152400" dist="38100" dir="5400000">
              <a:srgbClr val="0B1D2E">
                <a:alpha val="15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5248" y="2075688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277856" y="1920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PRODUCE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1417320" y="2788920"/>
            <a:ext cx="2258568" cy="0"/>
          </a:xfrm>
          <a:prstGeom prst="line">
            <a:avLst/>
          </a:prstGeom>
          <a:noFill/>
          <a:ln w="19050">
            <a:solidFill>
              <a:srgbClr val="0B2A45"/>
            </a:solidFill>
            <a:prstDash val="solid"/>
            <a:tailEnd type="triangle"/>
          </a:ln>
        </p:spPr>
      </p:sp>
      <p:sp>
        <p:nvSpPr>
          <p:cNvPr id="28" name="Text 21"/>
          <p:cNvSpPr txBox="1"/>
          <p:nvPr/>
        </p:nvSpPr>
        <p:spPr>
          <a:xfrm>
            <a:off x="1618488" y="2569464"/>
            <a:ext cx="950976" cy="1920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A4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GPS datos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3822192" y="3090672"/>
            <a:ext cx="2258568" cy="0"/>
          </a:xfrm>
          <a:prstGeom prst="line">
            <a:avLst/>
          </a:prstGeom>
          <a:noFill/>
          <a:ln w="19050">
            <a:solidFill>
              <a:srgbClr val="0B2A45"/>
            </a:solidFill>
            <a:prstDash val="solid"/>
            <a:tailEnd type="triangle"/>
          </a:ln>
        </p:spPr>
      </p:sp>
      <p:sp>
        <p:nvSpPr>
          <p:cNvPr id="30" name="Text 23"/>
          <p:cNvSpPr txBox="1"/>
          <p:nvPr/>
        </p:nvSpPr>
        <p:spPr>
          <a:xfrm>
            <a:off x="4023360" y="2871216"/>
            <a:ext cx="822960" cy="1920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A4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Validar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 flipH="1">
            <a:off x="3822192" y="3392424"/>
            <a:ext cx="2258568" cy="0"/>
          </a:xfrm>
          <a:prstGeom prst="line">
            <a:avLst/>
          </a:prstGeom>
          <a:noFill/>
          <a:ln w="19050">
            <a:solidFill>
              <a:srgbClr val="5A6B7B"/>
            </a:solidFill>
            <a:prstDash val="dash"/>
            <a:tailEnd type="triangle"/>
          </a:ln>
        </p:spPr>
      </p:sp>
      <p:sp>
        <p:nvSpPr>
          <p:cNvPr id="32" name="Text 25"/>
          <p:cNvSpPr txBox="1"/>
          <p:nvPr/>
        </p:nvSpPr>
        <p:spPr>
          <a:xfrm>
            <a:off x="4023360" y="3172968"/>
            <a:ext cx="950976" cy="1920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Respuesta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3822192" y="3694176"/>
            <a:ext cx="4590288" cy="0"/>
          </a:xfrm>
          <a:prstGeom prst="line">
            <a:avLst/>
          </a:prstGeom>
          <a:noFill/>
          <a:ln w="19050">
            <a:solidFill>
              <a:srgbClr val="E8553F"/>
            </a:solidFill>
            <a:prstDash val="solid"/>
            <a:tailEnd type="triangle"/>
          </a:ln>
        </p:spPr>
      </p:sp>
      <p:sp>
        <p:nvSpPr>
          <p:cNvPr id="34" name="Text 27"/>
          <p:cNvSpPr txBox="1"/>
          <p:nvPr/>
        </p:nvSpPr>
        <p:spPr>
          <a:xfrm>
            <a:off x="4023360" y="3474720"/>
            <a:ext cx="758952" cy="1920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55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4. Alerta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3822192" y="3995928"/>
            <a:ext cx="6922008" cy="0"/>
          </a:xfrm>
          <a:prstGeom prst="line">
            <a:avLst/>
          </a:prstGeom>
          <a:noFill/>
          <a:ln w="19050">
            <a:solidFill>
              <a:srgbClr val="E8553F"/>
            </a:solidFill>
            <a:prstDash val="solid"/>
            <a:tailEnd type="triangle"/>
          </a:ln>
        </p:spPr>
      </p:sp>
      <p:sp>
        <p:nvSpPr>
          <p:cNvPr id="36" name="Text 29"/>
          <p:cNvSpPr txBox="1"/>
          <p:nvPr/>
        </p:nvSpPr>
        <p:spPr>
          <a:xfrm>
            <a:off x="4023360" y="3776472"/>
            <a:ext cx="758952" cy="1920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55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5. Alerta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1417320" y="4297680"/>
            <a:ext cx="2258568" cy="0"/>
          </a:xfrm>
          <a:prstGeom prst="line">
            <a:avLst/>
          </a:prstGeom>
          <a:noFill/>
          <a:ln w="19050">
            <a:solidFill>
              <a:srgbClr val="0B2A45"/>
            </a:solidFill>
            <a:prstDash val="solid"/>
            <a:tailEnd type="triangle"/>
          </a:ln>
        </p:spPr>
      </p:sp>
      <p:sp>
        <p:nvSpPr>
          <p:cNvPr id="38" name="Text 31"/>
          <p:cNvSpPr txBox="1"/>
          <p:nvPr/>
        </p:nvSpPr>
        <p:spPr>
          <a:xfrm>
            <a:off x="1618488" y="4078224"/>
            <a:ext cx="1335024" cy="1920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A4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6. Bitácora, fotos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 flipH="1">
            <a:off x="3822192" y="4599432"/>
            <a:ext cx="2258568" cy="0"/>
          </a:xfrm>
          <a:prstGeom prst="line">
            <a:avLst/>
          </a:prstGeom>
          <a:noFill/>
          <a:ln w="19050">
            <a:solidFill>
              <a:srgbClr val="5A6B7B"/>
            </a:solidFill>
            <a:prstDash val="dash"/>
            <a:tailEnd type="triangle"/>
          </a:ln>
        </p:spPr>
      </p:sp>
      <p:sp>
        <p:nvSpPr>
          <p:cNvPr id="40" name="Text 33"/>
          <p:cNvSpPr txBox="1"/>
          <p:nvPr/>
        </p:nvSpPr>
        <p:spPr>
          <a:xfrm>
            <a:off x="4023360" y="4379976"/>
            <a:ext cx="1143000" cy="1920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7. Confirmación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3822192" y="4901184"/>
            <a:ext cx="2258568" cy="0"/>
          </a:xfrm>
          <a:prstGeom prst="line">
            <a:avLst/>
          </a:prstGeom>
          <a:noFill/>
          <a:ln w="19050">
            <a:solidFill>
              <a:srgbClr val="0B2A45"/>
            </a:solidFill>
            <a:prstDash val="solid"/>
            <a:tailEnd type="triangle"/>
          </a:ln>
        </p:spPr>
      </p:sp>
      <p:sp>
        <p:nvSpPr>
          <p:cNvPr id="42" name="Text 35"/>
          <p:cNvSpPr txBox="1"/>
          <p:nvPr/>
        </p:nvSpPr>
        <p:spPr>
          <a:xfrm>
            <a:off x="4023360" y="4681728"/>
            <a:ext cx="1078992" cy="1920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A4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8. QR generado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3822192" y="5202936"/>
            <a:ext cx="4590288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44" name="Text 37"/>
          <p:cNvSpPr txBox="1"/>
          <p:nvPr/>
        </p:nvSpPr>
        <p:spPr>
          <a:xfrm>
            <a:off x="4023360" y="4983480"/>
            <a:ext cx="822960" cy="1920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9. Reporte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3822192" y="5504688"/>
            <a:ext cx="6922008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46" name="Text 39"/>
          <p:cNvSpPr txBox="1"/>
          <p:nvPr/>
        </p:nvSpPr>
        <p:spPr>
          <a:xfrm>
            <a:off x="4023360" y="5285232"/>
            <a:ext cx="886968" cy="1920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10. Reporte</a:t>
            </a:r>
            <a:endParaRPr lang="en-US" sz="900" dirty="0"/>
          </a:p>
        </p:txBody>
      </p:sp>
      <p:sp>
        <p:nvSpPr>
          <p:cNvPr id="47" name="Shape 40"/>
          <p:cNvSpPr/>
          <p:nvPr/>
        </p:nvSpPr>
        <p:spPr>
          <a:xfrm flipH="1">
            <a:off x="1417320" y="5806440"/>
            <a:ext cx="2258568" cy="0"/>
          </a:xfrm>
          <a:prstGeom prst="line">
            <a:avLst/>
          </a:prstGeom>
          <a:noFill/>
          <a:ln w="19050">
            <a:solidFill>
              <a:srgbClr val="0B2A45"/>
            </a:solidFill>
            <a:prstDash val="solid"/>
            <a:tailEnd type="triangle"/>
          </a:ln>
        </p:spPr>
      </p:sp>
      <p:sp>
        <p:nvSpPr>
          <p:cNvPr id="48" name="Text 41"/>
          <p:cNvSpPr txBox="1"/>
          <p:nvPr/>
        </p:nvSpPr>
        <p:spPr>
          <a:xfrm>
            <a:off x="1618488" y="5586984"/>
            <a:ext cx="1207008" cy="1920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A4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11. Notificación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5852160" y="6217920"/>
            <a:ext cx="365760" cy="0"/>
          </a:xfrm>
          <a:prstGeom prst="line">
            <a:avLst/>
          </a:prstGeom>
          <a:noFill/>
          <a:ln w="19050">
            <a:solidFill>
              <a:srgbClr val="0B2A45"/>
            </a:solidFill>
            <a:prstDash val="solid"/>
          </a:ln>
        </p:spPr>
      </p:sp>
      <p:sp>
        <p:nvSpPr>
          <p:cNvPr id="50" name="Text 43"/>
          <p:cNvSpPr txBox="1"/>
          <p:nvPr/>
        </p:nvSpPr>
        <p:spPr>
          <a:xfrm>
            <a:off x="6291072" y="61081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Llamada</a:t>
            </a:r>
            <a:endParaRPr lang="en-US" sz="900" dirty="0"/>
          </a:p>
        </p:txBody>
      </p:sp>
      <p:sp>
        <p:nvSpPr>
          <p:cNvPr id="51" name="Shape 44"/>
          <p:cNvSpPr/>
          <p:nvPr/>
        </p:nvSpPr>
        <p:spPr>
          <a:xfrm>
            <a:off x="7269480" y="6217920"/>
            <a:ext cx="365760" cy="0"/>
          </a:xfrm>
          <a:prstGeom prst="line">
            <a:avLst/>
          </a:prstGeom>
          <a:noFill/>
          <a:ln w="19050">
            <a:solidFill>
              <a:srgbClr val="5A6B7B"/>
            </a:solidFill>
            <a:prstDash val="dash"/>
          </a:ln>
        </p:spPr>
      </p:sp>
      <p:sp>
        <p:nvSpPr>
          <p:cNvPr id="52" name="Text 45"/>
          <p:cNvSpPr txBox="1"/>
          <p:nvPr/>
        </p:nvSpPr>
        <p:spPr>
          <a:xfrm>
            <a:off x="7708392" y="61081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Respuesta</a:t>
            </a:r>
            <a:endParaRPr lang="en-US" sz="900" dirty="0"/>
          </a:p>
        </p:txBody>
      </p:sp>
      <p:sp>
        <p:nvSpPr>
          <p:cNvPr id="53" name="Shape 46"/>
          <p:cNvSpPr/>
          <p:nvPr/>
        </p:nvSpPr>
        <p:spPr>
          <a:xfrm>
            <a:off x="8686800" y="6217920"/>
            <a:ext cx="365760" cy="0"/>
          </a:xfrm>
          <a:prstGeom prst="line">
            <a:avLst/>
          </a:prstGeom>
          <a:noFill/>
          <a:ln w="19050">
            <a:solidFill>
              <a:srgbClr val="E8553F"/>
            </a:solidFill>
            <a:prstDash val="solid"/>
          </a:ln>
        </p:spPr>
      </p:sp>
      <p:sp>
        <p:nvSpPr>
          <p:cNvPr id="54" name="Text 47"/>
          <p:cNvSpPr txBox="1"/>
          <p:nvPr/>
        </p:nvSpPr>
        <p:spPr>
          <a:xfrm>
            <a:off x="9125712" y="61081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Alerta</a:t>
            </a:r>
            <a:endParaRPr lang="en-US" sz="900" dirty="0"/>
          </a:p>
        </p:txBody>
      </p:sp>
      <p:sp>
        <p:nvSpPr>
          <p:cNvPr id="55" name="Shape 48"/>
          <p:cNvSpPr/>
          <p:nvPr/>
        </p:nvSpPr>
        <p:spPr>
          <a:xfrm>
            <a:off x="10104120" y="6217920"/>
            <a:ext cx="365760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</p:sp>
      <p:sp>
        <p:nvSpPr>
          <p:cNvPr id="56" name="Text 49"/>
          <p:cNvSpPr txBox="1"/>
          <p:nvPr/>
        </p:nvSpPr>
        <p:spPr>
          <a:xfrm>
            <a:off x="10543032" y="61081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Reporte</a:t>
            </a:r>
            <a:endParaRPr lang="en-US" sz="900" dirty="0"/>
          </a:p>
        </p:txBody>
      </p:sp>
      <p:sp>
        <p:nvSpPr>
          <p:cNvPr id="57" name="Text 50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58" name="Text 51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291840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5 · METODOLOGÍA DE TRABAJO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Scrum: entregas cortas, valor continuo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Scrum es una metodología ágil para organizar y desarrollar proyectos complejos, especialmente útil cuando los requisitos pueden cambiar o evolucionar. Se basa en ciclos cortos de trabajo —los sprints— que entregan valor de forma incremental y continua. [6]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55080" y="1600200"/>
            <a:ext cx="1645920" cy="1325880"/>
          </a:xfrm>
          <a:prstGeom prst="roundRect">
            <a:avLst>
              <a:gd name="adj" fmla="val 9655"/>
            </a:avLst>
          </a:prstGeom>
          <a:solidFill>
            <a:srgbClr val="E3F4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355080" y="166420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377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sprints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138160" y="1600200"/>
            <a:ext cx="1645920" cy="1325880"/>
          </a:xfrm>
          <a:prstGeom prst="roundRect">
            <a:avLst>
              <a:gd name="adj" fmla="val 9655"/>
            </a:avLst>
          </a:prstGeom>
          <a:solidFill>
            <a:srgbClr val="071A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138160" y="166420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2377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semanas por sprint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921240" y="1600200"/>
            <a:ext cx="1645920" cy="1325880"/>
          </a:xfrm>
          <a:prstGeom prst="roundRect">
            <a:avLst>
              <a:gd name="adj" fmla="val 9655"/>
            </a:avLst>
          </a:prstGeom>
          <a:solidFill>
            <a:srgbClr val="E3F4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921240" y="166420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10012680" y="2377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historias de usuario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453896" y="3337560"/>
            <a:ext cx="822960" cy="822960"/>
          </a:xfrm>
          <a:prstGeom prst="ellipse">
            <a:avLst/>
          </a:prstGeom>
          <a:solidFill>
            <a:srgbClr val="0B2A45"/>
          </a:solidFill>
          <a:ln/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406" y="3535070"/>
            <a:ext cx="427939" cy="427939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85216" y="4279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Backlog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76656" y="4617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Lista priorizada de funcionalidades, dividida en épicas y tareas.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414016" y="3749040"/>
            <a:ext cx="1719072" cy="0"/>
          </a:xfrm>
          <a:prstGeom prst="line">
            <a:avLst/>
          </a:prstGeom>
          <a:noFill/>
          <a:ln w="25400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4270248" y="3337560"/>
            <a:ext cx="822960" cy="822960"/>
          </a:xfrm>
          <a:prstGeom prst="ellipse">
            <a:avLst/>
          </a:prstGeom>
          <a:solidFill>
            <a:srgbClr val="0B2A45"/>
          </a:solidFill>
          <a:ln/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7758" y="3535070"/>
            <a:ext cx="427939" cy="427939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3401568" y="4279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Sprint Backlog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3493008" y="4617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Historias de usuario seleccionadas para cada sprint.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230368" y="3749040"/>
            <a:ext cx="1719072" cy="0"/>
          </a:xfrm>
          <a:prstGeom prst="line">
            <a:avLst/>
          </a:prstGeom>
          <a:noFill/>
          <a:ln w="25400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7086600" y="3337560"/>
            <a:ext cx="822960" cy="822960"/>
          </a:xfrm>
          <a:prstGeom prst="ellipse">
            <a:avLst/>
          </a:prstGeom>
          <a:solidFill>
            <a:srgbClr val="2EC4C9"/>
          </a:solidFill>
          <a:ln/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4110" y="3535070"/>
            <a:ext cx="427939" cy="427939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217920" y="4279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Sprint · 2 semanas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6309360" y="4617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Ciclo corto de trabajo gestionado en Jira.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8046720" y="3749040"/>
            <a:ext cx="1719072" cy="0"/>
          </a:xfrm>
          <a:prstGeom prst="line">
            <a:avLst/>
          </a:prstGeom>
          <a:noFill/>
          <a:ln w="25400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30" name="Shape 25"/>
          <p:cNvSpPr/>
          <p:nvPr/>
        </p:nvSpPr>
        <p:spPr>
          <a:xfrm>
            <a:off x="9902952" y="3337560"/>
            <a:ext cx="822960" cy="822960"/>
          </a:xfrm>
          <a:prstGeom prst="ellipse">
            <a:avLst/>
          </a:prstGeom>
          <a:solidFill>
            <a:srgbClr val="0B2A45"/>
          </a:solidFill>
          <a:ln/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0462" y="3535070"/>
            <a:ext cx="427939" cy="427939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034272" y="4279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Incremento</a:t>
            </a:r>
            <a:endParaRPr lang="en-US" sz="1400" dirty="0"/>
          </a:p>
        </p:txBody>
      </p:sp>
      <p:sp>
        <p:nvSpPr>
          <p:cNvPr id="33" name="Text 27"/>
          <p:cNvSpPr txBox="1"/>
          <p:nvPr/>
        </p:nvSpPr>
        <p:spPr>
          <a:xfrm>
            <a:off x="9125712" y="4617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Entregable funcional: módulos del sistema operativos.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10314432" y="5349240"/>
            <a:ext cx="0" cy="41148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 flipH="1">
            <a:off x="1865376" y="5760720"/>
            <a:ext cx="8449056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 flipV="1">
            <a:off x="1865376" y="5349240"/>
            <a:ext cx="0" cy="41148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37" name="Text 31"/>
          <p:cNvSpPr txBox="1"/>
          <p:nvPr/>
        </p:nvSpPr>
        <p:spPr>
          <a:xfrm>
            <a:off x="3657600" y="5641848"/>
            <a:ext cx="48920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retroalimentación: se revisa el incremento y se ajusta el backlog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39" name="Text 33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127248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5 · BACKLOG DEL PRODUCTO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Épicas e historias de usuario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 Backlog organizado en Jira:  Épica  →  Historia de usuario (HU)  →  Tarea.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F4C6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96596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SPRINT 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19659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HU01 – HU06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2633472" cy="3611880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697480"/>
            <a:ext cx="566928" cy="566928"/>
          </a:xfrm>
          <a:prstGeom prst="ellipse">
            <a:avLst/>
          </a:prstGeom>
          <a:solidFill>
            <a:srgbClr val="0F4C6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303" y="2833543"/>
            <a:ext cx="294803" cy="294803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81328" y="27432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ÉPICA 1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383280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Gestión de flota pesquera</a:t>
            </a:r>
            <a:endParaRPr lang="en-US" sz="13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06908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69848" y="4041648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Registrar embarcación</a:t>
            </a:r>
            <a:endParaRPr lang="en-US" sz="10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544568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069848" y="4517136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Posición GPS cada 15 min</a:t>
            </a:r>
            <a:endParaRPr lang="en-US" sz="10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020056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69848" y="4992624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Alertas por zonas restringidas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777240" y="5623560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777240" y="56235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RF01.1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1536192" y="5623560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1536192" y="56235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RF01.2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3319272" y="2468880"/>
            <a:ext cx="2633472" cy="3611880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547872" y="2697480"/>
            <a:ext cx="566928" cy="566928"/>
          </a:xfrm>
          <a:prstGeom prst="ellipse">
            <a:avLst/>
          </a:prstGeom>
          <a:solidFill>
            <a:srgbClr val="0F4C6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3935" y="2833543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251960" y="27432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ÉPICA 2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3547872" y="3383280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Actividades pesqueras</a:t>
            </a:r>
            <a:endParaRPr lang="en-US" sz="135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7872" y="4069080"/>
            <a:ext cx="201168" cy="20116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3840480" y="4041648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Bitácora digital de pesca</a:t>
            </a:r>
            <a:endParaRPr lang="en-US" sz="105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7872" y="4544568"/>
            <a:ext cx="201168" cy="201168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3840480" y="4517136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Fotos de capturas como evidencia</a:t>
            </a:r>
            <a:endParaRPr lang="en-US" sz="105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47872" y="5020056"/>
            <a:ext cx="201168" cy="201168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3840480" y="4992624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QR único por lote</a:t>
            </a:r>
            <a:endParaRPr lang="en-US" sz="1050" dirty="0"/>
          </a:p>
        </p:txBody>
      </p:sp>
      <p:sp>
        <p:nvSpPr>
          <p:cNvPr id="35" name="Shape 25"/>
          <p:cNvSpPr/>
          <p:nvPr/>
        </p:nvSpPr>
        <p:spPr>
          <a:xfrm>
            <a:off x="3547872" y="5623560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6" name="Text 26"/>
          <p:cNvSpPr txBox="1"/>
          <p:nvPr/>
        </p:nvSpPr>
        <p:spPr>
          <a:xfrm>
            <a:off x="3547872" y="56235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RF01.3</a:t>
            </a:r>
            <a:endParaRPr lang="en-US" sz="850" dirty="0"/>
          </a:p>
        </p:txBody>
      </p:sp>
      <p:sp>
        <p:nvSpPr>
          <p:cNvPr id="37" name="Shape 27"/>
          <p:cNvSpPr/>
          <p:nvPr/>
        </p:nvSpPr>
        <p:spPr>
          <a:xfrm>
            <a:off x="4306824" y="5623560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8" name="Text 28"/>
          <p:cNvSpPr txBox="1"/>
          <p:nvPr/>
        </p:nvSpPr>
        <p:spPr>
          <a:xfrm>
            <a:off x="4306824" y="56235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RF01.4</a:t>
            </a:r>
            <a:endParaRPr lang="en-US" sz="850" dirty="0"/>
          </a:p>
        </p:txBody>
      </p:sp>
      <p:sp>
        <p:nvSpPr>
          <p:cNvPr id="39" name="Shape 29"/>
          <p:cNvSpPr/>
          <p:nvPr/>
        </p:nvSpPr>
        <p:spPr>
          <a:xfrm>
            <a:off x="5065776" y="5623560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40" name="Text 30"/>
          <p:cNvSpPr txBox="1"/>
          <p:nvPr/>
        </p:nvSpPr>
        <p:spPr>
          <a:xfrm>
            <a:off x="5065776" y="56235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RF01.5</a:t>
            </a:r>
            <a:endParaRPr lang="en-US" sz="850" dirty="0"/>
          </a:p>
        </p:txBody>
      </p:sp>
      <p:sp>
        <p:nvSpPr>
          <p:cNvPr id="41" name="Shape 31"/>
          <p:cNvSpPr/>
          <p:nvPr/>
        </p:nvSpPr>
        <p:spPr>
          <a:xfrm>
            <a:off x="6172200" y="196596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42" name="Text 32"/>
          <p:cNvSpPr txBox="1"/>
          <p:nvPr/>
        </p:nvSpPr>
        <p:spPr>
          <a:xfrm>
            <a:off x="6172200" y="196596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SPRINT 2</a:t>
            </a:r>
            <a:endParaRPr lang="en-US" sz="950" dirty="0"/>
          </a:p>
        </p:txBody>
      </p:sp>
      <p:sp>
        <p:nvSpPr>
          <p:cNvPr id="43" name="Text 33"/>
          <p:cNvSpPr txBox="1"/>
          <p:nvPr/>
        </p:nvSpPr>
        <p:spPr>
          <a:xfrm>
            <a:off x="7452360" y="19659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HU07 – HU15</a:t>
            </a:r>
            <a:endParaRPr lang="en-US" sz="1300" dirty="0"/>
          </a:p>
        </p:txBody>
      </p:sp>
      <p:sp>
        <p:nvSpPr>
          <p:cNvPr id="44" name="Shape 34"/>
          <p:cNvSpPr/>
          <p:nvPr/>
        </p:nvSpPr>
        <p:spPr>
          <a:xfrm>
            <a:off x="6172200" y="2468880"/>
            <a:ext cx="2633472" cy="3611880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6400800" y="269748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6863" y="2833543"/>
            <a:ext cx="294803" cy="294803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7104888" y="27432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ÉPICA 3</a:t>
            </a:r>
            <a:endParaRPr lang="en-US" sz="900" dirty="0"/>
          </a:p>
        </p:txBody>
      </p:sp>
      <p:sp>
        <p:nvSpPr>
          <p:cNvPr id="48" name="Text 37"/>
          <p:cNvSpPr txBox="1"/>
          <p:nvPr/>
        </p:nvSpPr>
        <p:spPr>
          <a:xfrm>
            <a:off x="6400800" y="3383280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Gestión normativa</a:t>
            </a:r>
            <a:endParaRPr lang="en-US" sz="1350" dirty="0"/>
          </a:p>
        </p:txBody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4069080"/>
            <a:ext cx="201168" cy="201168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6693408" y="4041648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Validación de áreas, tallas y permisos</a:t>
            </a:r>
            <a:endParaRPr lang="en-US" sz="1050" dirty="0"/>
          </a:p>
        </p:txBody>
      </p:sp>
      <p:pic>
        <p:nvPicPr>
          <p:cNvPr id="51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4544568"/>
            <a:ext cx="201168" cy="201168"/>
          </a:xfrm>
          <a:prstGeom prst="rect">
            <a:avLst/>
          </a:prstGeom>
        </p:spPr>
      </p:pic>
      <p:sp>
        <p:nvSpPr>
          <p:cNvPr id="52" name="Text 39"/>
          <p:cNvSpPr txBox="1"/>
          <p:nvPr/>
        </p:nvSpPr>
        <p:spPr>
          <a:xfrm>
            <a:off x="6693408" y="4517136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Notificación de irregularidades</a:t>
            </a:r>
            <a:endParaRPr lang="en-US" sz="1050" dirty="0"/>
          </a:p>
        </p:txBody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5020056"/>
            <a:ext cx="201168" cy="201168"/>
          </a:xfrm>
          <a:prstGeom prst="rect">
            <a:avLst/>
          </a:prstGeom>
        </p:spPr>
      </p:pic>
      <p:sp>
        <p:nvSpPr>
          <p:cNvPr id="54" name="Text 40"/>
          <p:cNvSpPr txBox="1"/>
          <p:nvPr/>
        </p:nvSpPr>
        <p:spPr>
          <a:xfrm>
            <a:off x="6693408" y="4992624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Cumplimiento del D.S. 012-2001-PE</a:t>
            </a:r>
            <a:endParaRPr lang="en-US" sz="1050" dirty="0"/>
          </a:p>
        </p:txBody>
      </p:sp>
      <p:sp>
        <p:nvSpPr>
          <p:cNvPr id="55" name="Shape 41"/>
          <p:cNvSpPr/>
          <p:nvPr/>
        </p:nvSpPr>
        <p:spPr>
          <a:xfrm>
            <a:off x="6400800" y="5623560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56" name="Text 42"/>
          <p:cNvSpPr txBox="1"/>
          <p:nvPr/>
        </p:nvSpPr>
        <p:spPr>
          <a:xfrm>
            <a:off x="6400800" y="56235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RF01.7</a:t>
            </a:r>
            <a:endParaRPr lang="en-US" sz="850" dirty="0"/>
          </a:p>
        </p:txBody>
      </p:sp>
      <p:sp>
        <p:nvSpPr>
          <p:cNvPr id="57" name="Shape 43"/>
          <p:cNvSpPr/>
          <p:nvPr/>
        </p:nvSpPr>
        <p:spPr>
          <a:xfrm>
            <a:off x="7159752" y="5623560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58" name="Text 44"/>
          <p:cNvSpPr txBox="1"/>
          <p:nvPr/>
        </p:nvSpPr>
        <p:spPr>
          <a:xfrm>
            <a:off x="7159752" y="56235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RD01</a:t>
            </a:r>
            <a:endParaRPr lang="en-US" sz="850" dirty="0"/>
          </a:p>
        </p:txBody>
      </p:sp>
      <p:sp>
        <p:nvSpPr>
          <p:cNvPr id="59" name="Shape 45"/>
          <p:cNvSpPr/>
          <p:nvPr/>
        </p:nvSpPr>
        <p:spPr>
          <a:xfrm>
            <a:off x="7781544" y="5623560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60" name="Text 46"/>
          <p:cNvSpPr txBox="1"/>
          <p:nvPr/>
        </p:nvSpPr>
        <p:spPr>
          <a:xfrm>
            <a:off x="7781544" y="56235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RD09</a:t>
            </a:r>
            <a:endParaRPr lang="en-US" sz="850" dirty="0"/>
          </a:p>
        </p:txBody>
      </p:sp>
      <p:sp>
        <p:nvSpPr>
          <p:cNvPr id="61" name="Shape 47"/>
          <p:cNvSpPr/>
          <p:nvPr/>
        </p:nvSpPr>
        <p:spPr>
          <a:xfrm>
            <a:off x="8942832" y="2468880"/>
            <a:ext cx="2633472" cy="3611880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62" name="Shape 48"/>
          <p:cNvSpPr/>
          <p:nvPr/>
        </p:nvSpPr>
        <p:spPr>
          <a:xfrm>
            <a:off x="9171432" y="269748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63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07495" y="2833543"/>
            <a:ext cx="294803" cy="294803"/>
          </a:xfrm>
          <a:prstGeom prst="rect">
            <a:avLst/>
          </a:prstGeom>
        </p:spPr>
      </p:pic>
      <p:sp>
        <p:nvSpPr>
          <p:cNvPr id="64" name="Text 49"/>
          <p:cNvSpPr txBox="1"/>
          <p:nvPr/>
        </p:nvSpPr>
        <p:spPr>
          <a:xfrm>
            <a:off x="9875520" y="27432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ÉPICA 4</a:t>
            </a:r>
            <a:endParaRPr lang="en-US" sz="900" dirty="0"/>
          </a:p>
        </p:txBody>
      </p:sp>
      <p:sp>
        <p:nvSpPr>
          <p:cNvPr id="65" name="Text 50"/>
          <p:cNvSpPr txBox="1"/>
          <p:nvPr/>
        </p:nvSpPr>
        <p:spPr>
          <a:xfrm>
            <a:off x="9171432" y="3383280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Inteligencia pesquera y medioambiental</a:t>
            </a:r>
            <a:endParaRPr lang="en-US" sz="1350" dirty="0"/>
          </a:p>
        </p:txBody>
      </p:sp>
      <p:pic>
        <p:nvPicPr>
          <p:cNvPr id="66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71432" y="4069080"/>
            <a:ext cx="201168" cy="201168"/>
          </a:xfrm>
          <a:prstGeom prst="rect">
            <a:avLst/>
          </a:prstGeom>
        </p:spPr>
      </p:pic>
      <p:sp>
        <p:nvSpPr>
          <p:cNvPr id="67" name="Text 51"/>
          <p:cNvSpPr txBox="1"/>
          <p:nvPr/>
        </p:nvSpPr>
        <p:spPr>
          <a:xfrm>
            <a:off x="9464040" y="4041648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Condiciones meteorológicas</a:t>
            </a:r>
            <a:endParaRPr lang="en-US" sz="1050" dirty="0"/>
          </a:p>
        </p:txBody>
      </p:sp>
      <p:pic>
        <p:nvPicPr>
          <p:cNvPr id="68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71432" y="4544568"/>
            <a:ext cx="201168" cy="201168"/>
          </a:xfrm>
          <a:prstGeom prst="rect">
            <a:avLst/>
          </a:prstGeom>
        </p:spPr>
      </p:pic>
      <p:sp>
        <p:nvSpPr>
          <p:cNvPr id="69" name="Text 52"/>
          <p:cNvSpPr txBox="1"/>
          <p:nvPr/>
        </p:nvSpPr>
        <p:spPr>
          <a:xfrm>
            <a:off x="9464040" y="4517136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Indicadores de sostenibilidad</a:t>
            </a:r>
            <a:endParaRPr lang="en-US" sz="1050" dirty="0"/>
          </a:p>
        </p:txBody>
      </p:sp>
      <p:pic>
        <p:nvPicPr>
          <p:cNvPr id="70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71432" y="5020056"/>
            <a:ext cx="201168" cy="201168"/>
          </a:xfrm>
          <a:prstGeom prst="rect">
            <a:avLst/>
          </a:prstGeom>
        </p:spPr>
      </p:pic>
      <p:sp>
        <p:nvSpPr>
          <p:cNvPr id="71" name="Text 53"/>
          <p:cNvSpPr txBox="1"/>
          <p:nvPr/>
        </p:nvSpPr>
        <p:spPr>
          <a:xfrm>
            <a:off x="9464040" y="4992624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Reportes y dashboards</a:t>
            </a:r>
            <a:endParaRPr lang="en-US" sz="1050" dirty="0"/>
          </a:p>
        </p:txBody>
      </p:sp>
      <p:sp>
        <p:nvSpPr>
          <p:cNvPr id="72" name="Shape 54"/>
          <p:cNvSpPr/>
          <p:nvPr/>
        </p:nvSpPr>
        <p:spPr>
          <a:xfrm>
            <a:off x="9171432" y="5623560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73" name="Text 55"/>
          <p:cNvSpPr txBox="1"/>
          <p:nvPr/>
        </p:nvSpPr>
        <p:spPr>
          <a:xfrm>
            <a:off x="9171432" y="56235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RF01.6</a:t>
            </a:r>
            <a:endParaRPr lang="en-US" sz="850" dirty="0"/>
          </a:p>
        </p:txBody>
      </p:sp>
      <p:sp>
        <p:nvSpPr>
          <p:cNvPr id="74" name="Shape 56"/>
          <p:cNvSpPr/>
          <p:nvPr/>
        </p:nvSpPr>
        <p:spPr>
          <a:xfrm>
            <a:off x="9930384" y="5623560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75" name="Text 57"/>
          <p:cNvSpPr txBox="1"/>
          <p:nvPr/>
        </p:nvSpPr>
        <p:spPr>
          <a:xfrm>
            <a:off x="9930384" y="56235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RD17</a:t>
            </a:r>
            <a:endParaRPr lang="en-US" sz="850" dirty="0"/>
          </a:p>
        </p:txBody>
      </p:sp>
      <p:sp>
        <p:nvSpPr>
          <p:cNvPr id="76" name="Text 58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77" name="Text 59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456432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5 · PLANIFICACIÓN DE SPRINTS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Dos sprints, dos incrementos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475488"/>
          </a:xfrm>
          <a:prstGeom prst="roundRect">
            <a:avLst>
              <a:gd name="adj" fmla="val 50000"/>
            </a:avLst>
          </a:prstGeom>
          <a:solidFill>
            <a:srgbClr val="EEF6F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45920"/>
            <a:ext cx="5486400" cy="475488"/>
          </a:xfrm>
          <a:prstGeom prst="roundRect">
            <a:avLst>
              <a:gd name="adj" fmla="val 50000"/>
            </a:avLst>
          </a:prstGeom>
          <a:solidFill>
            <a:srgbClr val="0F4C6B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0" y="1645920"/>
            <a:ext cx="5486400" cy="475488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64592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SPRINT 1  ·  2 SEMANAS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164592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SPRINT 2  ·  2 SEMANAS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5486400" cy="374904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2560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Sprint 1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2560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HU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22960" y="3145536"/>
            <a:ext cx="49377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2004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3200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Implementar la gestión de flota pesquera y las actividades pesqueras.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3712464"/>
            <a:ext cx="49377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7673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HISTORIAS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2194560" y="37673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HU01 a HU06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" y="4279392"/>
            <a:ext cx="49377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33425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ÉPICAS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2194560" y="43342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Gestión de flota pesquera · Actividades pesqueras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" y="4846320"/>
            <a:ext cx="49377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490118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HERRAMIENTA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2194560" y="490118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Jira para la gestión de tareas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2960" y="5413248"/>
            <a:ext cx="49377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546811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INCREMENTO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2194560" y="54681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Módulos de flota y de actividades pesqueras operativos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26480" y="2377440"/>
            <a:ext cx="5486400" cy="374904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400800" y="2560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Sprint 2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9966960" y="2560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HU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400800" y="3145536"/>
            <a:ext cx="49377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0" y="32004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7772400" y="3200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Desarrollar la gestión normativa, la inteligencia pesquera y medioambiental.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0" y="3712464"/>
            <a:ext cx="49377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0" y="37673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HISTORIAS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7772400" y="37673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HU07 a HU15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0" y="4279392"/>
            <a:ext cx="49377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00800" y="433425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ÉPICAS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7772400" y="43342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Gestión normativa · Inteligencia pesquera y medioambiental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400800" y="4846320"/>
            <a:ext cx="49377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0800" y="490118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HERRAMIENTA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7772400" y="490118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Jira para la gestión de tareas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400800" y="5413248"/>
            <a:ext cx="49377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00800" y="546811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INCREMENTO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7772400" y="54681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Módulos normativo y de inteligencia pesquera operativos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374136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5 · HERRAMIENTAS UTILIZADAS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Nuestras herramientas de trabajo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0B2A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5727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· PLANIFICAR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88920" y="1572768"/>
            <a:ext cx="4343400" cy="310896"/>
          </a:xfrm>
          <a:prstGeom prst="roundRect">
            <a:avLst>
              <a:gd name="adj" fmla="val 50000"/>
            </a:avLst>
          </a:prstGeom>
          <a:solidFill>
            <a:srgbClr val="0B2A4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88920" y="157276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· MODELAR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269480" y="157276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0B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69480" y="15727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· VERSIONAR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509760" y="157276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0B2A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509760" y="15727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· PRESENTAR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103120"/>
            <a:ext cx="2103120" cy="342900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2377440"/>
            <a:ext cx="731520" cy="731520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5" y="2553005"/>
            <a:ext cx="380390" cy="38039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77724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Jira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37307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GESTIÓN ÁGIL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041648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 Backlog con épicas e historias HU01–HU15, planificación de los sprints y seguimiento de tareas.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77240" y="5074920"/>
            <a:ext cx="735178" cy="256032"/>
          </a:xfrm>
          <a:prstGeom prst="roundRect">
            <a:avLst>
              <a:gd name="adj" fmla="val 50000"/>
            </a:avLst>
          </a:prstGeom>
          <a:solidFill>
            <a:srgbClr val="EEF6F8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77240" y="5074920"/>
            <a:ext cx="7351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Backlog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1585570" y="5074920"/>
            <a:ext cx="735178" cy="256032"/>
          </a:xfrm>
          <a:prstGeom prst="roundRect">
            <a:avLst>
              <a:gd name="adj" fmla="val 50000"/>
            </a:avLst>
          </a:prstGeom>
          <a:solidFill>
            <a:srgbClr val="EEF6F8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585570" y="5074920"/>
            <a:ext cx="7351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Sprints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2788920" y="2103120"/>
            <a:ext cx="2103120" cy="342900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017520" y="2377440"/>
            <a:ext cx="731520" cy="731520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3085" y="2553005"/>
            <a:ext cx="380390" cy="38039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301752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Draw.io</a:t>
            </a:r>
            <a:endParaRPr lang="en-US" sz="1700" dirty="0"/>
          </a:p>
        </p:txBody>
      </p:sp>
      <p:sp>
        <p:nvSpPr>
          <p:cNvPr id="27" name="Text 23"/>
          <p:cNvSpPr txBox="1"/>
          <p:nvPr/>
        </p:nvSpPr>
        <p:spPr>
          <a:xfrm>
            <a:off x="3017520" y="37307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MODELADO UML</a:t>
            </a:r>
            <a:endParaRPr lang="en-US" sz="800" dirty="0"/>
          </a:p>
        </p:txBody>
      </p:sp>
      <p:sp>
        <p:nvSpPr>
          <p:cNvPr id="28" name="Text 24"/>
          <p:cNvSpPr txBox="1"/>
          <p:nvPr/>
        </p:nvSpPr>
        <p:spPr>
          <a:xfrm>
            <a:off x="3017520" y="4041648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Diagramas de contexto, casos de uso, actividad, clases y secuencia del sistema.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3017520" y="5074920"/>
            <a:ext cx="471830" cy="256032"/>
          </a:xfrm>
          <a:prstGeom prst="roundRect">
            <a:avLst>
              <a:gd name="adj" fmla="val 50000"/>
            </a:avLst>
          </a:prstGeom>
          <a:solidFill>
            <a:srgbClr val="EEF6F8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3017520" y="5074920"/>
            <a:ext cx="4718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UML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3562502" y="5074920"/>
            <a:ext cx="866851" cy="256032"/>
          </a:xfrm>
          <a:prstGeom prst="roundRect">
            <a:avLst>
              <a:gd name="adj" fmla="val 50000"/>
            </a:avLst>
          </a:prstGeom>
          <a:solidFill>
            <a:srgbClr val="EEF6F8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3562502" y="5074920"/>
            <a:ext cx="866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Diagramas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5029200" y="2103120"/>
            <a:ext cx="2103120" cy="342900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5257800" y="2377440"/>
            <a:ext cx="731520" cy="731520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3365" y="2553005"/>
            <a:ext cx="380390" cy="380390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525780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dbdiagram.io</a:t>
            </a:r>
            <a:endParaRPr lang="en-US" sz="1700" dirty="0"/>
          </a:p>
        </p:txBody>
      </p:sp>
      <p:sp>
        <p:nvSpPr>
          <p:cNvPr id="37" name="Text 32"/>
          <p:cNvSpPr txBox="1"/>
          <p:nvPr/>
        </p:nvSpPr>
        <p:spPr>
          <a:xfrm>
            <a:off x="5257800" y="37307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 DE DATOS</a:t>
            </a:r>
            <a:endParaRPr lang="en-US" sz="800" dirty="0"/>
          </a:p>
        </p:txBody>
      </p:sp>
      <p:sp>
        <p:nvSpPr>
          <p:cNvPr id="38" name="Text 33"/>
          <p:cNvSpPr txBox="1"/>
          <p:nvPr/>
        </p:nvSpPr>
        <p:spPr>
          <a:xfrm>
            <a:off x="5257800" y="4041648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Entidades, atributos, claves PK/FK y relaciones de la base de datos.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5257800" y="5074920"/>
            <a:ext cx="471830" cy="256032"/>
          </a:xfrm>
          <a:prstGeom prst="roundRect">
            <a:avLst>
              <a:gd name="adj" fmla="val 50000"/>
            </a:avLst>
          </a:prstGeom>
          <a:solidFill>
            <a:srgbClr val="EEF6F8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5257800" y="5074920"/>
            <a:ext cx="4718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E-R</a:t>
            </a:r>
            <a:endParaRPr lang="en-US" sz="800" dirty="0"/>
          </a:p>
        </p:txBody>
      </p:sp>
      <p:sp>
        <p:nvSpPr>
          <p:cNvPr id="41" name="Shape 36"/>
          <p:cNvSpPr/>
          <p:nvPr/>
        </p:nvSpPr>
        <p:spPr>
          <a:xfrm>
            <a:off x="5802782" y="5074920"/>
            <a:ext cx="735178" cy="256032"/>
          </a:xfrm>
          <a:prstGeom prst="roundRect">
            <a:avLst>
              <a:gd name="adj" fmla="val 50000"/>
            </a:avLst>
          </a:prstGeom>
          <a:solidFill>
            <a:srgbClr val="EEF6F8"/>
          </a:solidFill>
          <a:ln/>
        </p:spPr>
      </p:sp>
      <p:sp>
        <p:nvSpPr>
          <p:cNvPr id="42" name="Text 37"/>
          <p:cNvSpPr txBox="1"/>
          <p:nvPr/>
        </p:nvSpPr>
        <p:spPr>
          <a:xfrm>
            <a:off x="5802782" y="5074920"/>
            <a:ext cx="7351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PK / FK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7269480" y="2103120"/>
            <a:ext cx="2103120" cy="342900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44" name="Shape 39"/>
          <p:cNvSpPr/>
          <p:nvPr/>
        </p:nvSpPr>
        <p:spPr>
          <a:xfrm>
            <a:off x="7498080" y="2377440"/>
            <a:ext cx="731520" cy="731520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3645" y="2553005"/>
            <a:ext cx="380390" cy="380390"/>
          </a:xfrm>
          <a:prstGeom prst="rect">
            <a:avLst/>
          </a:prstGeom>
        </p:spPr>
      </p:pic>
      <p:sp>
        <p:nvSpPr>
          <p:cNvPr id="46" name="Text 40"/>
          <p:cNvSpPr txBox="1"/>
          <p:nvPr/>
        </p:nvSpPr>
        <p:spPr>
          <a:xfrm>
            <a:off x="749808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GitHub</a:t>
            </a:r>
            <a:endParaRPr lang="en-US" sz="1700" dirty="0"/>
          </a:p>
        </p:txBody>
      </p:sp>
      <p:sp>
        <p:nvSpPr>
          <p:cNvPr id="47" name="Text 41"/>
          <p:cNvSpPr txBox="1"/>
          <p:nvPr/>
        </p:nvSpPr>
        <p:spPr>
          <a:xfrm>
            <a:off x="7498080" y="37307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 DE VERSIONES</a:t>
            </a:r>
            <a:endParaRPr lang="en-US" sz="800" dirty="0"/>
          </a:p>
        </p:txBody>
      </p:sp>
      <p:sp>
        <p:nvSpPr>
          <p:cNvPr id="48" name="Text 42"/>
          <p:cNvSpPr txBox="1"/>
          <p:nvPr/>
        </p:nvSpPr>
        <p:spPr>
          <a:xfrm>
            <a:off x="7498080" y="4041648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Repositorio con el nombre del proyecto: versiones, commits y trabajo colaborativo.</a:t>
            </a:r>
            <a:endParaRPr lang="en-US" sz="1100" dirty="0"/>
          </a:p>
        </p:txBody>
      </p:sp>
      <p:sp>
        <p:nvSpPr>
          <p:cNvPr id="49" name="Shape 43"/>
          <p:cNvSpPr/>
          <p:nvPr/>
        </p:nvSpPr>
        <p:spPr>
          <a:xfrm>
            <a:off x="7498080" y="5074920"/>
            <a:ext cx="998525" cy="256032"/>
          </a:xfrm>
          <a:prstGeom prst="roundRect">
            <a:avLst>
              <a:gd name="adj" fmla="val 50000"/>
            </a:avLst>
          </a:prstGeom>
          <a:solidFill>
            <a:srgbClr val="EEF6F8"/>
          </a:solidFill>
          <a:ln/>
        </p:spPr>
      </p:sp>
      <p:sp>
        <p:nvSpPr>
          <p:cNvPr id="50" name="Text 44"/>
          <p:cNvSpPr txBox="1"/>
          <p:nvPr/>
        </p:nvSpPr>
        <p:spPr>
          <a:xfrm>
            <a:off x="7498080" y="5074920"/>
            <a:ext cx="9985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Repositorio</a:t>
            </a:r>
            <a:endParaRPr lang="en-US" sz="800" dirty="0"/>
          </a:p>
        </p:txBody>
      </p:sp>
      <p:sp>
        <p:nvSpPr>
          <p:cNvPr id="51" name="Shape 45"/>
          <p:cNvSpPr/>
          <p:nvPr/>
        </p:nvSpPr>
        <p:spPr>
          <a:xfrm>
            <a:off x="8569757" y="5074920"/>
            <a:ext cx="735178" cy="256032"/>
          </a:xfrm>
          <a:prstGeom prst="roundRect">
            <a:avLst>
              <a:gd name="adj" fmla="val 50000"/>
            </a:avLst>
          </a:prstGeom>
          <a:solidFill>
            <a:srgbClr val="EEF6F8"/>
          </a:solidFill>
          <a:ln/>
        </p:spPr>
      </p:sp>
      <p:sp>
        <p:nvSpPr>
          <p:cNvPr id="52" name="Text 46"/>
          <p:cNvSpPr txBox="1"/>
          <p:nvPr/>
        </p:nvSpPr>
        <p:spPr>
          <a:xfrm>
            <a:off x="8569757" y="5074920"/>
            <a:ext cx="7351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Commits</a:t>
            </a:r>
            <a:endParaRPr lang="en-US" sz="800" dirty="0"/>
          </a:p>
        </p:txBody>
      </p:sp>
      <p:sp>
        <p:nvSpPr>
          <p:cNvPr id="53" name="Shape 47"/>
          <p:cNvSpPr/>
          <p:nvPr/>
        </p:nvSpPr>
        <p:spPr>
          <a:xfrm>
            <a:off x="9509760" y="2103120"/>
            <a:ext cx="2103120" cy="342900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54" name="Shape 48"/>
          <p:cNvSpPr/>
          <p:nvPr/>
        </p:nvSpPr>
        <p:spPr>
          <a:xfrm>
            <a:off x="9738360" y="2377440"/>
            <a:ext cx="731520" cy="731520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5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3925" y="2553005"/>
            <a:ext cx="380390" cy="380390"/>
          </a:xfrm>
          <a:prstGeom prst="rect">
            <a:avLst/>
          </a:prstGeom>
        </p:spPr>
      </p:pic>
      <p:sp>
        <p:nvSpPr>
          <p:cNvPr id="56" name="Text 49"/>
          <p:cNvSpPr txBox="1"/>
          <p:nvPr/>
        </p:nvSpPr>
        <p:spPr>
          <a:xfrm>
            <a:off x="973836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Canva</a:t>
            </a:r>
            <a:endParaRPr lang="en-US" sz="1700" dirty="0"/>
          </a:p>
        </p:txBody>
      </p:sp>
      <p:sp>
        <p:nvSpPr>
          <p:cNvPr id="57" name="Text 50"/>
          <p:cNvSpPr txBox="1"/>
          <p:nvPr/>
        </p:nvSpPr>
        <p:spPr>
          <a:xfrm>
            <a:off x="9738360" y="37307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DISEÑO</a:t>
            </a:r>
            <a:endParaRPr lang="en-US" sz="800" dirty="0"/>
          </a:p>
        </p:txBody>
      </p:sp>
      <p:sp>
        <p:nvSpPr>
          <p:cNvPr id="58" name="Text 51"/>
          <p:cNvSpPr txBox="1"/>
          <p:nvPr/>
        </p:nvSpPr>
        <p:spPr>
          <a:xfrm>
            <a:off x="9738360" y="4041648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Portada del informe y presentación final del proyecto.</a:t>
            </a:r>
            <a:endParaRPr lang="en-US" sz="1100" dirty="0"/>
          </a:p>
        </p:txBody>
      </p:sp>
      <p:sp>
        <p:nvSpPr>
          <p:cNvPr id="59" name="Shape 52"/>
          <p:cNvSpPr/>
          <p:nvPr/>
        </p:nvSpPr>
        <p:spPr>
          <a:xfrm>
            <a:off x="9738360" y="5074920"/>
            <a:ext cx="735178" cy="256032"/>
          </a:xfrm>
          <a:prstGeom prst="roundRect">
            <a:avLst>
              <a:gd name="adj" fmla="val 50000"/>
            </a:avLst>
          </a:prstGeom>
          <a:solidFill>
            <a:srgbClr val="EEF6F8"/>
          </a:solidFill>
          <a:ln/>
        </p:spPr>
      </p:sp>
      <p:sp>
        <p:nvSpPr>
          <p:cNvPr id="60" name="Text 53"/>
          <p:cNvSpPr txBox="1"/>
          <p:nvPr/>
        </p:nvSpPr>
        <p:spPr>
          <a:xfrm>
            <a:off x="9738360" y="5074920"/>
            <a:ext cx="7351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Portada</a:t>
            </a:r>
            <a:endParaRPr lang="en-US" sz="800" dirty="0"/>
          </a:p>
        </p:txBody>
      </p:sp>
      <p:sp>
        <p:nvSpPr>
          <p:cNvPr id="61" name="Shape 54"/>
          <p:cNvSpPr/>
          <p:nvPr/>
        </p:nvSpPr>
        <p:spPr>
          <a:xfrm>
            <a:off x="10546690" y="5074920"/>
            <a:ext cx="932688" cy="256032"/>
          </a:xfrm>
          <a:prstGeom prst="roundRect">
            <a:avLst>
              <a:gd name="adj" fmla="val 50000"/>
            </a:avLst>
          </a:prstGeom>
          <a:solidFill>
            <a:srgbClr val="EEF6F8"/>
          </a:solidFill>
          <a:ln/>
        </p:spPr>
      </p:sp>
      <p:sp>
        <p:nvSpPr>
          <p:cNvPr id="62" name="Text 55"/>
          <p:cNvSpPr txBox="1"/>
          <p:nvPr/>
        </p:nvSpPr>
        <p:spPr>
          <a:xfrm>
            <a:off x="10546690" y="507492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Exposición</a:t>
            </a:r>
            <a:endParaRPr lang="en-US" sz="800" dirty="0"/>
          </a:p>
        </p:txBody>
      </p:sp>
      <p:sp>
        <p:nvSpPr>
          <p:cNvPr id="63" name="Shape 56"/>
          <p:cNvSpPr/>
          <p:nvPr/>
        </p:nvSpPr>
        <p:spPr>
          <a:xfrm>
            <a:off x="548640" y="5715000"/>
            <a:ext cx="11064240" cy="457200"/>
          </a:xfrm>
          <a:prstGeom prst="roundRect">
            <a:avLst>
              <a:gd name="adj" fmla="val 20000"/>
            </a:avLst>
          </a:prstGeom>
          <a:solidFill>
            <a:srgbClr val="E3F4F6"/>
          </a:solidFill>
          <a:ln/>
        </p:spPr>
      </p:sp>
      <p:sp>
        <p:nvSpPr>
          <p:cNvPr id="64" name="Text 57"/>
          <p:cNvSpPr txBox="1"/>
          <p:nvPr/>
        </p:nvSpPr>
        <p:spPr>
          <a:xfrm>
            <a:off x="777240" y="5715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Flujo de trabajo: </a:t>
            </a:r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planificamos en Jira → modelamos en Draw.io y dbdiagram.io → versionamos en GitHub → presentamos en Canva.</a:t>
            </a:r>
            <a:endParaRPr lang="en-US" sz="1200" dirty="0"/>
          </a:p>
        </p:txBody>
      </p:sp>
      <p:sp>
        <p:nvSpPr>
          <p:cNvPr id="65" name="Text 58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66" name="Text 59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785616" cy="274320"/>
          </a:xfrm>
          <a:prstGeom prst="roundRect">
            <a:avLst>
              <a:gd name="adj" fmla="val 50000"/>
            </a:avLst>
          </a:prstGeom>
          <a:solidFill>
            <a:srgbClr val="123E5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A8EC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5 · GESTIÓN DEL PROYECTO EN JIRA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Así organizamos el trabajo en Jira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0E3453">
              <a:alpha val="95000"/>
            </a:srgbClr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47088"/>
            <a:ext cx="512064" cy="512064"/>
          </a:xfrm>
          <a:prstGeom prst="ellipse">
            <a:avLst/>
          </a:prstGeom>
          <a:solidFill>
            <a:srgbClr val="16486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127" y="1969983"/>
            <a:ext cx="266273" cy="26627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80136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Proyecto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21122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E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Vida Submarina · SISEP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074920" y="16916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969264" y="2514600"/>
            <a:ext cx="0" cy="667512"/>
          </a:xfrm>
          <a:prstGeom prst="line">
            <a:avLst/>
          </a:prstGeom>
          <a:noFill/>
          <a:ln w="15875">
            <a:solidFill>
              <a:srgbClr val="2EC4C9">
                <a:alpha val="7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69264" y="3182112"/>
            <a:ext cx="36576" cy="0"/>
          </a:xfrm>
          <a:prstGeom prst="line">
            <a:avLst/>
          </a:prstGeom>
          <a:noFill/>
          <a:ln w="15875">
            <a:solidFill>
              <a:srgbClr val="2EC4C9">
                <a:alpha val="7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05840" y="2770632"/>
            <a:ext cx="4937760" cy="822960"/>
          </a:xfrm>
          <a:prstGeom prst="roundRect">
            <a:avLst>
              <a:gd name="adj" fmla="val 13333"/>
            </a:avLst>
          </a:prstGeom>
          <a:solidFill>
            <a:srgbClr val="0E3453">
              <a:alpha val="95000"/>
            </a:srgbClr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70432" y="2926080"/>
            <a:ext cx="512064" cy="512064"/>
          </a:xfrm>
          <a:prstGeom prst="ellipse">
            <a:avLst/>
          </a:prstGeom>
          <a:solidFill>
            <a:srgbClr val="164867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327" y="3048975"/>
            <a:ext cx="266273" cy="266273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828800" y="288036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Épicas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1828800" y="31912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E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Flota · Actividades · Normativa · Inteligencia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5074920" y="2770632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Shape 15"/>
          <p:cNvSpPr/>
          <p:nvPr/>
        </p:nvSpPr>
        <p:spPr>
          <a:xfrm>
            <a:off x="1426464" y="3593592"/>
            <a:ext cx="0" cy="667512"/>
          </a:xfrm>
          <a:prstGeom prst="line">
            <a:avLst/>
          </a:prstGeom>
          <a:noFill/>
          <a:ln w="15875">
            <a:solidFill>
              <a:srgbClr val="2EC4C9">
                <a:alpha val="70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426464" y="4261104"/>
            <a:ext cx="36576" cy="0"/>
          </a:xfrm>
          <a:prstGeom prst="line">
            <a:avLst/>
          </a:prstGeom>
          <a:noFill/>
          <a:ln w="15875">
            <a:solidFill>
              <a:srgbClr val="2EC4C9">
                <a:alpha val="70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463040" y="3849624"/>
            <a:ext cx="4480560" cy="822960"/>
          </a:xfrm>
          <a:prstGeom prst="roundRect">
            <a:avLst>
              <a:gd name="adj" fmla="val 13333"/>
            </a:avLst>
          </a:prstGeom>
          <a:solidFill>
            <a:srgbClr val="0E3453">
              <a:alpha val="95000"/>
            </a:srgbClr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627632" y="4005072"/>
            <a:ext cx="512064" cy="512064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0527" y="4127967"/>
            <a:ext cx="266273" cy="266273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2286000" y="3959352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Historias de usuario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2286000" y="4270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E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HU01 – HU15, repartidas en 2 sprints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5074920" y="3849624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2400" dirty="0"/>
          </a:p>
        </p:txBody>
      </p:sp>
      <p:sp>
        <p:nvSpPr>
          <p:cNvPr id="27" name="Shape 22"/>
          <p:cNvSpPr/>
          <p:nvPr/>
        </p:nvSpPr>
        <p:spPr>
          <a:xfrm>
            <a:off x="1883664" y="4672584"/>
            <a:ext cx="0" cy="667512"/>
          </a:xfrm>
          <a:prstGeom prst="line">
            <a:avLst/>
          </a:prstGeom>
          <a:noFill/>
          <a:ln w="15875">
            <a:solidFill>
              <a:srgbClr val="2EC4C9">
                <a:alpha val="70000"/>
              </a:srgbClr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1883664" y="5340096"/>
            <a:ext cx="36576" cy="0"/>
          </a:xfrm>
          <a:prstGeom prst="line">
            <a:avLst/>
          </a:prstGeom>
          <a:noFill/>
          <a:ln w="15875">
            <a:solidFill>
              <a:srgbClr val="2EC4C9">
                <a:alpha val="7000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920240" y="4928616"/>
            <a:ext cx="4023360" cy="822960"/>
          </a:xfrm>
          <a:prstGeom prst="roundRect">
            <a:avLst>
              <a:gd name="adj" fmla="val 13333"/>
            </a:avLst>
          </a:prstGeom>
          <a:solidFill>
            <a:srgbClr val="0E3453">
              <a:alpha val="95000"/>
            </a:srgbClr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2084832" y="5084064"/>
            <a:ext cx="512064" cy="512064"/>
          </a:xfrm>
          <a:prstGeom prst="ellipse">
            <a:avLst/>
          </a:prstGeom>
          <a:solidFill>
            <a:srgbClr val="164867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7727" y="5206959"/>
            <a:ext cx="266273" cy="266273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2743200" y="5038344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Tareas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2743200" y="5349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E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Trabajo concreto para completar cada historia</a:t>
            </a:r>
            <a:endParaRPr lang="en-US" sz="1050" dirty="0"/>
          </a:p>
        </p:txBody>
      </p:sp>
      <p:sp>
        <p:nvSpPr>
          <p:cNvPr id="34" name="Text 28"/>
          <p:cNvSpPr txBox="1"/>
          <p:nvPr/>
        </p:nvSpPr>
        <p:spPr>
          <a:xfrm>
            <a:off x="5074920" y="4928616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2400" dirty="0"/>
          </a:p>
        </p:txBody>
      </p:sp>
      <p:sp>
        <p:nvSpPr>
          <p:cNvPr id="35" name="Text 29"/>
          <p:cNvSpPr txBox="1"/>
          <p:nvPr/>
        </p:nvSpPr>
        <p:spPr>
          <a:xfrm>
            <a:off x="640080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TABLERO DEL SPRINT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6400800" y="2057400"/>
            <a:ext cx="1645920" cy="2926080"/>
          </a:xfrm>
          <a:prstGeom prst="roundRect">
            <a:avLst>
              <a:gd name="adj" fmla="val 6667"/>
            </a:avLst>
          </a:prstGeom>
          <a:solidFill>
            <a:srgbClr val="0A2640"/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6537960" y="21305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hacer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6510528" y="2560320"/>
            <a:ext cx="1426464" cy="658368"/>
          </a:xfrm>
          <a:prstGeom prst="roundRect">
            <a:avLst>
              <a:gd name="adj" fmla="val 11111"/>
            </a:avLst>
          </a:prstGeom>
          <a:solidFill>
            <a:srgbClr val="123A5A"/>
          </a:solidFill>
          <a:ln/>
        </p:spPr>
      </p:sp>
      <p:sp>
        <p:nvSpPr>
          <p:cNvPr id="39" name="Shape 33"/>
          <p:cNvSpPr/>
          <p:nvPr/>
        </p:nvSpPr>
        <p:spPr>
          <a:xfrm>
            <a:off x="6629400" y="2688336"/>
            <a:ext cx="1010412" cy="82296"/>
          </a:xfrm>
          <a:prstGeom prst="roundRect">
            <a:avLst>
              <a:gd name="adj" fmla="val 50000"/>
            </a:avLst>
          </a:prstGeom>
          <a:solidFill>
            <a:srgbClr val="4C7A94"/>
          </a:solidFill>
          <a:ln/>
        </p:spPr>
      </p:sp>
      <p:sp>
        <p:nvSpPr>
          <p:cNvPr id="40" name="Shape 34"/>
          <p:cNvSpPr/>
          <p:nvPr/>
        </p:nvSpPr>
        <p:spPr>
          <a:xfrm>
            <a:off x="6629400" y="2852928"/>
            <a:ext cx="653796" cy="82296"/>
          </a:xfrm>
          <a:prstGeom prst="roundRect">
            <a:avLst>
              <a:gd name="adj" fmla="val 50000"/>
            </a:avLst>
          </a:prstGeom>
          <a:solidFill>
            <a:srgbClr val="3A6682"/>
          </a:solidFill>
          <a:ln/>
        </p:spPr>
      </p:sp>
      <p:sp>
        <p:nvSpPr>
          <p:cNvPr id="41" name="Shape 35"/>
          <p:cNvSpPr/>
          <p:nvPr/>
        </p:nvSpPr>
        <p:spPr>
          <a:xfrm>
            <a:off x="6629400" y="3017520"/>
            <a:ext cx="109728" cy="109728"/>
          </a:xfrm>
          <a:prstGeom prst="ellipse">
            <a:avLst/>
          </a:prstGeom>
          <a:solidFill>
            <a:srgbClr val="2EC4C9"/>
          </a:solidFill>
          <a:ln/>
        </p:spPr>
      </p:sp>
      <p:sp>
        <p:nvSpPr>
          <p:cNvPr id="42" name="Shape 36"/>
          <p:cNvSpPr/>
          <p:nvPr/>
        </p:nvSpPr>
        <p:spPr>
          <a:xfrm>
            <a:off x="6510528" y="3337560"/>
            <a:ext cx="1426464" cy="658368"/>
          </a:xfrm>
          <a:prstGeom prst="roundRect">
            <a:avLst>
              <a:gd name="adj" fmla="val 11111"/>
            </a:avLst>
          </a:prstGeom>
          <a:solidFill>
            <a:srgbClr val="123A5A"/>
          </a:solidFill>
          <a:ln/>
        </p:spPr>
      </p:sp>
      <p:sp>
        <p:nvSpPr>
          <p:cNvPr id="43" name="Shape 37"/>
          <p:cNvSpPr/>
          <p:nvPr/>
        </p:nvSpPr>
        <p:spPr>
          <a:xfrm>
            <a:off x="6629400" y="3465576"/>
            <a:ext cx="713232" cy="82296"/>
          </a:xfrm>
          <a:prstGeom prst="roundRect">
            <a:avLst>
              <a:gd name="adj" fmla="val 50000"/>
            </a:avLst>
          </a:prstGeom>
          <a:solidFill>
            <a:srgbClr val="4C7A94"/>
          </a:solidFill>
          <a:ln/>
        </p:spPr>
      </p:sp>
      <p:sp>
        <p:nvSpPr>
          <p:cNvPr id="44" name="Shape 38"/>
          <p:cNvSpPr/>
          <p:nvPr/>
        </p:nvSpPr>
        <p:spPr>
          <a:xfrm>
            <a:off x="6629400" y="3630168"/>
            <a:ext cx="653796" cy="82296"/>
          </a:xfrm>
          <a:prstGeom prst="roundRect">
            <a:avLst>
              <a:gd name="adj" fmla="val 50000"/>
            </a:avLst>
          </a:prstGeom>
          <a:solidFill>
            <a:srgbClr val="3A6682"/>
          </a:solidFill>
          <a:ln/>
        </p:spPr>
      </p:sp>
      <p:sp>
        <p:nvSpPr>
          <p:cNvPr id="45" name="Shape 39"/>
          <p:cNvSpPr/>
          <p:nvPr/>
        </p:nvSpPr>
        <p:spPr>
          <a:xfrm>
            <a:off x="6629400" y="3794760"/>
            <a:ext cx="109728" cy="109728"/>
          </a:xfrm>
          <a:prstGeom prst="ellipse">
            <a:avLst/>
          </a:prstGeom>
          <a:solidFill>
            <a:srgbClr val="A8ECE7"/>
          </a:solidFill>
          <a:ln/>
        </p:spPr>
      </p:sp>
      <p:sp>
        <p:nvSpPr>
          <p:cNvPr id="46" name="Shape 40"/>
          <p:cNvSpPr/>
          <p:nvPr/>
        </p:nvSpPr>
        <p:spPr>
          <a:xfrm>
            <a:off x="6510528" y="4114800"/>
            <a:ext cx="1426464" cy="658368"/>
          </a:xfrm>
          <a:prstGeom prst="roundRect">
            <a:avLst>
              <a:gd name="adj" fmla="val 11111"/>
            </a:avLst>
          </a:prstGeom>
          <a:solidFill>
            <a:srgbClr val="123A5A"/>
          </a:solidFill>
          <a:ln/>
        </p:spPr>
      </p:sp>
      <p:sp>
        <p:nvSpPr>
          <p:cNvPr id="47" name="Shape 41"/>
          <p:cNvSpPr/>
          <p:nvPr/>
        </p:nvSpPr>
        <p:spPr>
          <a:xfrm>
            <a:off x="6629400" y="4242816"/>
            <a:ext cx="1010412" cy="82296"/>
          </a:xfrm>
          <a:prstGeom prst="roundRect">
            <a:avLst>
              <a:gd name="adj" fmla="val 50000"/>
            </a:avLst>
          </a:prstGeom>
          <a:solidFill>
            <a:srgbClr val="4C7A94"/>
          </a:solidFill>
          <a:ln/>
        </p:spPr>
      </p:sp>
      <p:sp>
        <p:nvSpPr>
          <p:cNvPr id="48" name="Shape 42"/>
          <p:cNvSpPr/>
          <p:nvPr/>
        </p:nvSpPr>
        <p:spPr>
          <a:xfrm>
            <a:off x="6629400" y="4407408"/>
            <a:ext cx="653796" cy="82296"/>
          </a:xfrm>
          <a:prstGeom prst="roundRect">
            <a:avLst>
              <a:gd name="adj" fmla="val 50000"/>
            </a:avLst>
          </a:prstGeom>
          <a:solidFill>
            <a:srgbClr val="3A6682"/>
          </a:solidFill>
          <a:ln/>
        </p:spPr>
      </p:sp>
      <p:sp>
        <p:nvSpPr>
          <p:cNvPr id="49" name="Shape 43"/>
          <p:cNvSpPr/>
          <p:nvPr/>
        </p:nvSpPr>
        <p:spPr>
          <a:xfrm>
            <a:off x="6629400" y="4572000"/>
            <a:ext cx="109728" cy="109728"/>
          </a:xfrm>
          <a:prstGeom prst="ellipse">
            <a:avLst/>
          </a:prstGeom>
          <a:solidFill>
            <a:srgbClr val="5FA8D3"/>
          </a:solidFill>
          <a:ln/>
        </p:spPr>
      </p:sp>
      <p:sp>
        <p:nvSpPr>
          <p:cNvPr id="50" name="Shape 44"/>
          <p:cNvSpPr/>
          <p:nvPr/>
        </p:nvSpPr>
        <p:spPr>
          <a:xfrm>
            <a:off x="8051292" y="2286000"/>
            <a:ext cx="82296" cy="0"/>
          </a:xfrm>
          <a:prstGeom prst="line">
            <a:avLst/>
          </a:prstGeom>
          <a:noFill/>
          <a:ln w="12700">
            <a:solidFill>
              <a:srgbClr val="2EC4C9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8138160" y="2057400"/>
            <a:ext cx="1645920" cy="2926080"/>
          </a:xfrm>
          <a:prstGeom prst="roundRect">
            <a:avLst>
              <a:gd name="adj" fmla="val 6667"/>
            </a:avLst>
          </a:prstGeom>
          <a:solidFill>
            <a:srgbClr val="0A2640"/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52" name="Text 46"/>
          <p:cNvSpPr txBox="1"/>
          <p:nvPr/>
        </p:nvSpPr>
        <p:spPr>
          <a:xfrm>
            <a:off x="8275320" y="21305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curso</a:t>
            </a:r>
            <a:endParaRPr lang="en-US" sz="1050" dirty="0"/>
          </a:p>
        </p:txBody>
      </p:sp>
      <p:sp>
        <p:nvSpPr>
          <p:cNvPr id="53" name="Shape 47"/>
          <p:cNvSpPr/>
          <p:nvPr/>
        </p:nvSpPr>
        <p:spPr>
          <a:xfrm>
            <a:off x="8247888" y="2560320"/>
            <a:ext cx="1426464" cy="658368"/>
          </a:xfrm>
          <a:prstGeom prst="roundRect">
            <a:avLst>
              <a:gd name="adj" fmla="val 11111"/>
            </a:avLst>
          </a:prstGeom>
          <a:solidFill>
            <a:srgbClr val="123A5A"/>
          </a:solidFill>
          <a:ln/>
        </p:spPr>
      </p:sp>
      <p:sp>
        <p:nvSpPr>
          <p:cNvPr id="54" name="Shape 48"/>
          <p:cNvSpPr/>
          <p:nvPr/>
        </p:nvSpPr>
        <p:spPr>
          <a:xfrm>
            <a:off x="8366760" y="2688336"/>
            <a:ext cx="1010412" cy="82296"/>
          </a:xfrm>
          <a:prstGeom prst="roundRect">
            <a:avLst>
              <a:gd name="adj" fmla="val 50000"/>
            </a:avLst>
          </a:prstGeom>
          <a:solidFill>
            <a:srgbClr val="4C7A94"/>
          </a:solidFill>
          <a:ln/>
        </p:spPr>
      </p:sp>
      <p:sp>
        <p:nvSpPr>
          <p:cNvPr id="55" name="Shape 49"/>
          <p:cNvSpPr/>
          <p:nvPr/>
        </p:nvSpPr>
        <p:spPr>
          <a:xfrm>
            <a:off x="8366760" y="2852928"/>
            <a:ext cx="653796" cy="82296"/>
          </a:xfrm>
          <a:prstGeom prst="roundRect">
            <a:avLst>
              <a:gd name="adj" fmla="val 50000"/>
            </a:avLst>
          </a:prstGeom>
          <a:solidFill>
            <a:srgbClr val="3A6682"/>
          </a:solidFill>
          <a:ln/>
        </p:spPr>
      </p:sp>
      <p:sp>
        <p:nvSpPr>
          <p:cNvPr id="56" name="Shape 50"/>
          <p:cNvSpPr/>
          <p:nvPr/>
        </p:nvSpPr>
        <p:spPr>
          <a:xfrm>
            <a:off x="8366760" y="3017520"/>
            <a:ext cx="109728" cy="109728"/>
          </a:xfrm>
          <a:prstGeom prst="ellipse">
            <a:avLst/>
          </a:prstGeom>
          <a:solidFill>
            <a:srgbClr val="A8ECE7"/>
          </a:solidFill>
          <a:ln/>
        </p:spPr>
      </p:sp>
      <p:sp>
        <p:nvSpPr>
          <p:cNvPr id="57" name="Shape 51"/>
          <p:cNvSpPr/>
          <p:nvPr/>
        </p:nvSpPr>
        <p:spPr>
          <a:xfrm>
            <a:off x="8247888" y="3337560"/>
            <a:ext cx="1426464" cy="658368"/>
          </a:xfrm>
          <a:prstGeom prst="roundRect">
            <a:avLst>
              <a:gd name="adj" fmla="val 11111"/>
            </a:avLst>
          </a:prstGeom>
          <a:solidFill>
            <a:srgbClr val="123A5A"/>
          </a:solidFill>
          <a:ln/>
        </p:spPr>
      </p:sp>
      <p:sp>
        <p:nvSpPr>
          <p:cNvPr id="58" name="Shape 52"/>
          <p:cNvSpPr/>
          <p:nvPr/>
        </p:nvSpPr>
        <p:spPr>
          <a:xfrm>
            <a:off x="8366760" y="3465576"/>
            <a:ext cx="713232" cy="82296"/>
          </a:xfrm>
          <a:prstGeom prst="roundRect">
            <a:avLst>
              <a:gd name="adj" fmla="val 50000"/>
            </a:avLst>
          </a:prstGeom>
          <a:solidFill>
            <a:srgbClr val="4C7A94"/>
          </a:solidFill>
          <a:ln/>
        </p:spPr>
      </p:sp>
      <p:sp>
        <p:nvSpPr>
          <p:cNvPr id="59" name="Shape 53"/>
          <p:cNvSpPr/>
          <p:nvPr/>
        </p:nvSpPr>
        <p:spPr>
          <a:xfrm>
            <a:off x="8366760" y="3630168"/>
            <a:ext cx="653796" cy="82296"/>
          </a:xfrm>
          <a:prstGeom prst="roundRect">
            <a:avLst>
              <a:gd name="adj" fmla="val 50000"/>
            </a:avLst>
          </a:prstGeom>
          <a:solidFill>
            <a:srgbClr val="3A6682"/>
          </a:solidFill>
          <a:ln/>
        </p:spPr>
      </p:sp>
      <p:sp>
        <p:nvSpPr>
          <p:cNvPr id="60" name="Shape 54"/>
          <p:cNvSpPr/>
          <p:nvPr/>
        </p:nvSpPr>
        <p:spPr>
          <a:xfrm>
            <a:off x="8366760" y="3794760"/>
            <a:ext cx="109728" cy="109728"/>
          </a:xfrm>
          <a:prstGeom prst="ellipse">
            <a:avLst/>
          </a:prstGeom>
          <a:solidFill>
            <a:srgbClr val="5FA8D3"/>
          </a:solidFill>
          <a:ln/>
        </p:spPr>
      </p:sp>
      <p:sp>
        <p:nvSpPr>
          <p:cNvPr id="61" name="Shape 55"/>
          <p:cNvSpPr/>
          <p:nvPr/>
        </p:nvSpPr>
        <p:spPr>
          <a:xfrm>
            <a:off x="9788652" y="2286000"/>
            <a:ext cx="82296" cy="0"/>
          </a:xfrm>
          <a:prstGeom prst="line">
            <a:avLst/>
          </a:prstGeom>
          <a:noFill/>
          <a:ln w="12700">
            <a:solidFill>
              <a:srgbClr val="2EC4C9"/>
            </a:solidFill>
            <a:prstDash val="solid"/>
          </a:ln>
        </p:spPr>
      </p:sp>
      <p:sp>
        <p:nvSpPr>
          <p:cNvPr id="62" name="Shape 56"/>
          <p:cNvSpPr/>
          <p:nvPr/>
        </p:nvSpPr>
        <p:spPr>
          <a:xfrm>
            <a:off x="9875520" y="2057400"/>
            <a:ext cx="1645920" cy="2926080"/>
          </a:xfrm>
          <a:prstGeom prst="roundRect">
            <a:avLst>
              <a:gd name="adj" fmla="val 6667"/>
            </a:avLst>
          </a:prstGeom>
          <a:solidFill>
            <a:srgbClr val="0A2640"/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63" name="Text 57"/>
          <p:cNvSpPr txBox="1"/>
          <p:nvPr/>
        </p:nvSpPr>
        <p:spPr>
          <a:xfrm>
            <a:off x="10012680" y="21305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Listo</a:t>
            </a:r>
            <a:endParaRPr lang="en-US" sz="1050" dirty="0"/>
          </a:p>
        </p:txBody>
      </p:sp>
      <p:sp>
        <p:nvSpPr>
          <p:cNvPr id="64" name="Shape 58"/>
          <p:cNvSpPr/>
          <p:nvPr/>
        </p:nvSpPr>
        <p:spPr>
          <a:xfrm>
            <a:off x="9985248" y="2560320"/>
            <a:ext cx="1426464" cy="658368"/>
          </a:xfrm>
          <a:prstGeom prst="roundRect">
            <a:avLst>
              <a:gd name="adj" fmla="val 11111"/>
            </a:avLst>
          </a:prstGeom>
          <a:solidFill>
            <a:srgbClr val="134E5E"/>
          </a:solidFill>
          <a:ln/>
        </p:spPr>
      </p:sp>
      <p:sp>
        <p:nvSpPr>
          <p:cNvPr id="65" name="Shape 59"/>
          <p:cNvSpPr/>
          <p:nvPr/>
        </p:nvSpPr>
        <p:spPr>
          <a:xfrm>
            <a:off x="10104120" y="2688336"/>
            <a:ext cx="1010412" cy="82296"/>
          </a:xfrm>
          <a:prstGeom prst="roundRect">
            <a:avLst>
              <a:gd name="adj" fmla="val 50000"/>
            </a:avLst>
          </a:prstGeom>
          <a:solidFill>
            <a:srgbClr val="4C7A94"/>
          </a:solidFill>
          <a:ln/>
        </p:spPr>
      </p:sp>
      <p:sp>
        <p:nvSpPr>
          <p:cNvPr id="66" name="Shape 60"/>
          <p:cNvSpPr/>
          <p:nvPr/>
        </p:nvSpPr>
        <p:spPr>
          <a:xfrm>
            <a:off x="10104120" y="2852928"/>
            <a:ext cx="653796" cy="82296"/>
          </a:xfrm>
          <a:prstGeom prst="roundRect">
            <a:avLst>
              <a:gd name="adj" fmla="val 50000"/>
            </a:avLst>
          </a:prstGeom>
          <a:solidFill>
            <a:srgbClr val="3A6682"/>
          </a:solidFill>
          <a:ln/>
        </p:spPr>
      </p:sp>
      <p:sp>
        <p:nvSpPr>
          <p:cNvPr id="67" name="Shape 61"/>
          <p:cNvSpPr/>
          <p:nvPr/>
        </p:nvSpPr>
        <p:spPr>
          <a:xfrm>
            <a:off x="10104120" y="3017520"/>
            <a:ext cx="109728" cy="109728"/>
          </a:xfrm>
          <a:prstGeom prst="ellipse">
            <a:avLst/>
          </a:prstGeom>
          <a:solidFill>
            <a:srgbClr val="5FA8D3"/>
          </a:solidFill>
          <a:ln/>
        </p:spPr>
      </p:sp>
      <p:pic>
        <p:nvPicPr>
          <p:cNvPr id="6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09960" y="2962656"/>
            <a:ext cx="182880" cy="182880"/>
          </a:xfrm>
          <a:prstGeom prst="rect">
            <a:avLst/>
          </a:prstGeom>
        </p:spPr>
      </p:pic>
      <p:sp>
        <p:nvSpPr>
          <p:cNvPr id="69" name="Shape 62"/>
          <p:cNvSpPr/>
          <p:nvPr/>
        </p:nvSpPr>
        <p:spPr>
          <a:xfrm>
            <a:off x="9985248" y="3337560"/>
            <a:ext cx="1426464" cy="658368"/>
          </a:xfrm>
          <a:prstGeom prst="roundRect">
            <a:avLst>
              <a:gd name="adj" fmla="val 11111"/>
            </a:avLst>
          </a:prstGeom>
          <a:solidFill>
            <a:srgbClr val="134E5E"/>
          </a:solidFill>
          <a:ln/>
        </p:spPr>
      </p:sp>
      <p:sp>
        <p:nvSpPr>
          <p:cNvPr id="70" name="Shape 63"/>
          <p:cNvSpPr/>
          <p:nvPr/>
        </p:nvSpPr>
        <p:spPr>
          <a:xfrm>
            <a:off x="10104120" y="3465576"/>
            <a:ext cx="713232" cy="82296"/>
          </a:xfrm>
          <a:prstGeom prst="roundRect">
            <a:avLst>
              <a:gd name="adj" fmla="val 50000"/>
            </a:avLst>
          </a:prstGeom>
          <a:solidFill>
            <a:srgbClr val="4C7A94"/>
          </a:solidFill>
          <a:ln/>
        </p:spPr>
      </p:sp>
      <p:sp>
        <p:nvSpPr>
          <p:cNvPr id="71" name="Shape 64"/>
          <p:cNvSpPr/>
          <p:nvPr/>
        </p:nvSpPr>
        <p:spPr>
          <a:xfrm>
            <a:off x="10104120" y="3630168"/>
            <a:ext cx="653796" cy="82296"/>
          </a:xfrm>
          <a:prstGeom prst="roundRect">
            <a:avLst>
              <a:gd name="adj" fmla="val 50000"/>
            </a:avLst>
          </a:prstGeom>
          <a:solidFill>
            <a:srgbClr val="3A6682"/>
          </a:solidFill>
          <a:ln/>
        </p:spPr>
      </p:sp>
      <p:sp>
        <p:nvSpPr>
          <p:cNvPr id="72" name="Shape 65"/>
          <p:cNvSpPr/>
          <p:nvPr/>
        </p:nvSpPr>
        <p:spPr>
          <a:xfrm>
            <a:off x="10104120" y="3794760"/>
            <a:ext cx="109728" cy="109728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7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09960" y="3739896"/>
            <a:ext cx="182880" cy="182880"/>
          </a:xfrm>
          <a:prstGeom prst="rect">
            <a:avLst/>
          </a:prstGeom>
        </p:spPr>
      </p:pic>
      <p:sp>
        <p:nvSpPr>
          <p:cNvPr id="74" name="Text 66"/>
          <p:cNvSpPr txBox="1"/>
          <p:nvPr/>
        </p:nvSpPr>
        <p:spPr>
          <a:xfrm>
            <a:off x="6400800" y="502920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6A9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Esquema ilustrativo del flujo del tablero</a:t>
            </a:r>
            <a:endParaRPr lang="en-US" sz="850" dirty="0"/>
          </a:p>
        </p:txBody>
      </p:sp>
      <p:sp>
        <p:nvSpPr>
          <p:cNvPr id="75" name="Shape 67"/>
          <p:cNvSpPr/>
          <p:nvPr/>
        </p:nvSpPr>
        <p:spPr>
          <a:xfrm>
            <a:off x="6400800" y="5394960"/>
            <a:ext cx="5120640" cy="777240"/>
          </a:xfrm>
          <a:prstGeom prst="roundRect">
            <a:avLst>
              <a:gd name="adj" fmla="val 14118"/>
            </a:avLst>
          </a:prstGeom>
          <a:solidFill>
            <a:srgbClr val="2EC4C9"/>
          </a:solidFill>
          <a:ln/>
        </p:spPr>
      </p:sp>
      <p:pic>
        <p:nvPicPr>
          <p:cNvPr id="76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1968" y="5596128"/>
            <a:ext cx="365760" cy="365760"/>
          </a:xfrm>
          <a:prstGeom prst="rect">
            <a:avLst/>
          </a:prstGeom>
        </p:spPr>
      </p:pic>
      <p:sp>
        <p:nvSpPr>
          <p:cNvPr id="77" name="Text 68"/>
          <p:cNvSpPr txBox="1"/>
          <p:nvPr/>
        </p:nvSpPr>
        <p:spPr>
          <a:xfrm>
            <a:off x="7132320" y="53949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1A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Cada historia avanza por el tablero durante el sprint; al cerrarlo, revisamos el incremento y ajustamos el backlog.</a:t>
            </a:r>
            <a:endParaRPr lang="en-US" sz="1100" dirty="0"/>
          </a:p>
        </p:txBody>
      </p:sp>
      <p:sp>
        <p:nvSpPr>
          <p:cNvPr id="78" name="Text 69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7FA7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79" name="Text 70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8EC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880360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CONCLUSIONES Y RECOMENDACIONES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Conclusiones del equipo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931920" cy="4480560"/>
          </a:xfrm>
          <a:prstGeom prst="roundRect">
            <a:avLst>
              <a:gd name="adj" fmla="val 3721"/>
            </a:avLst>
          </a:prstGeom>
          <a:solidFill>
            <a:srgbClr val="071A2C"/>
          </a:solidFill>
          <a:ln/>
          <a:effectLst>
            <a:outerShdw sx="100000" sy="100000" kx="0" ky="0" algn="bl" rotWithShape="0" blurRad="152400" dist="38100" dir="5400000">
              <a:srgbClr val="0B1D2E">
                <a:alpha val="2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606040"/>
            <a:ext cx="3337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Tecnología, gestión gubernamental y participación local: la combinación que puede hacer sostenible la pesca peruana.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440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A8ECE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Propuesta SISEP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645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9A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669280" y="166420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SISEP responde a un problema real del Perú: la sobreexplotación, la pesca ilegal y la falta de monitoreo inmediato de capturas y áreas de faena.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846320" y="2670048"/>
            <a:ext cx="67665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2788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9A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0" y="280720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análisis de cuatro grupos de usuarios nos permitió definir 7 requerimientos funcionales, 4 no funcionales y 3 de dominio, medibles y trazables.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846320" y="3813048"/>
            <a:ext cx="67665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46320" y="3931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9A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0" y="395020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Los modelos —contexto, casos de uso, actividad, E-R, clases y secuencia— son coherentes entre sí: Embarcación, Captura, Especie y Lote atraviesan todo el diseño.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846320" y="4956048"/>
            <a:ext cx="67665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46320" y="5074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9A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5669280" y="509320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Scrum y Jira nos permitieron dividir el trabajo en 2 sprints de 2 semanas y 15 historias de usuario, con incrementos funcionales al cierre de cada uno.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21" name="Text 18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880360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CONCLUSIONES Y RECOMENDACIONES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Lecciones aprendidas y mejoras futuras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4068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74520"/>
            <a:ext cx="603504" cy="603504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801" y="2019361"/>
            <a:ext cx="313822" cy="31382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74520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Lecciones aprendidas</a:t>
            </a:r>
            <a:endParaRPr lang="en-US" sz="17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77977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274320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Modelar antes de programar reduce ambigüedades entre requerimientos y diseño.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60273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34440" y="356616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Usar los mismos nombres en diagramas y base de datos evita inconsistencias.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425696"/>
            <a:ext cx="274320" cy="2743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34440" y="438912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 backlog priorizado por épicas hace que los sprints sean realistas.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248656"/>
            <a:ext cx="274320" cy="27432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234440" y="521208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Jira y GitHub dejan evidencia clara del avance y del aporte de cada integrante.</a:t>
            </a:r>
            <a:endParaRPr lang="en-US" sz="1300" dirty="0"/>
          </a:p>
        </p:txBody>
      </p:sp>
      <p:sp>
        <p:nvSpPr>
          <p:cNvPr id="17" name="Shape 10"/>
          <p:cNvSpPr/>
          <p:nvPr/>
        </p:nvSpPr>
        <p:spPr>
          <a:xfrm>
            <a:off x="6172200" y="1645920"/>
            <a:ext cx="5440680" cy="4480560"/>
          </a:xfrm>
          <a:prstGeom prst="roundRect">
            <a:avLst>
              <a:gd name="adj" fmla="val 2857"/>
            </a:avLst>
          </a:prstGeom>
          <a:solidFill>
            <a:srgbClr val="071A2C"/>
          </a:solidFill>
          <a:ln/>
          <a:effectLst>
            <a:outerShdw sx="100000" sy="100000" kx="0" ky="0" algn="bl" rotWithShape="0" blurRad="152400" dist="38100" dir="5400000">
              <a:srgbClr val="0B1D2E">
                <a:alpha val="20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6446520" y="1874520"/>
            <a:ext cx="603504" cy="603504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1361" y="2019361"/>
            <a:ext cx="313822" cy="31382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223760" y="187452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Recomendaciones de mejora</a:t>
            </a:r>
            <a:endParaRPr lang="en-US" sz="17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2779776"/>
            <a:ext cx="292608" cy="292608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6903720" y="274320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 móvil sin conexión </a:t>
            </a:r>
            <a:pPr indent="0" marL="0">
              <a:buNone/>
            </a:pPr>
            <a:r>
              <a:rPr lang="en-US" sz="1300" dirty="0">
                <a:solidFill>
                  <a:srgbClr val="C9DE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 sincronización por lotes para zonas sin cobertura.</a:t>
            </a:r>
            <a:endParaRPr lang="en-US" sz="13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3602736"/>
            <a:ext cx="292608" cy="292608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6903720" y="35661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Integración AIS y satelital </a:t>
            </a:r>
            <a:pPr indent="0" marL="0">
              <a:buNone/>
            </a:pPr>
            <a:r>
              <a:rPr lang="en-US" sz="1300" dirty="0">
                <a:solidFill>
                  <a:srgbClr val="C9DE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 tiempo real, actor ya previsto en el contexto.</a:t>
            </a:r>
            <a:endParaRPr lang="en-US" sz="130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6520" y="4425696"/>
            <a:ext cx="292608" cy="292608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6903720" y="43891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Analítica predictiva </a:t>
            </a:r>
            <a:pPr indent="0" marL="0">
              <a:buNone/>
            </a:pPr>
            <a:r>
              <a:rPr lang="en-US" sz="1300" dirty="0">
                <a:solidFill>
                  <a:srgbClr val="C9DE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apoyar a IMARPE en vedas y cuotas.</a:t>
            </a:r>
            <a:endParaRPr lang="en-US" sz="130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6520" y="5248656"/>
            <a:ext cx="292608" cy="292608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6903720" y="521208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Piloto y capacitación </a:t>
            </a:r>
            <a:pPr indent="0" marL="0">
              <a:buNone/>
            </a:pPr>
            <a:r>
              <a:rPr lang="en-US" sz="1300" dirty="0">
                <a:solidFill>
                  <a:srgbClr val="C9DE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 una comunidad de pescadores artesanales.</a:t>
            </a:r>
            <a:endParaRPr lang="en-US" sz="1300" dirty="0"/>
          </a:p>
        </p:txBody>
      </p:sp>
      <p:sp>
        <p:nvSpPr>
          <p:cNvPr id="29" name="Text 17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30" name="Text 18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551176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REFERENCIAS BIBLIOGRÁFICAS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Referencias (ISO 690 numérico)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02336" cy="402336"/>
          </a:xfrm>
          <a:prstGeom prst="ellipse">
            <a:avLst/>
          </a:prstGeom>
          <a:solidFill>
            <a:srgbClr val="0B2A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[1]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NACIONES UNIDAS. </a:t>
            </a:r>
            <a:pPr indent="0" marL="0">
              <a:buNone/>
            </a:pPr>
            <a:r>
              <a:rPr lang="en-US" sz="1200" i="1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Objetivo 14: Conservar y utilizar sosteniblemente los océanos, los mares y los recursos marinos</a:t>
            </a:r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[en línea]. Nueva York: ONU [consulta: 29 septiembre 2026]. Disponible en: </a:t>
            </a:r>
            <a:pPr indent="0" marL="0">
              <a:buNone/>
            </a:pPr>
            <a:r>
              <a:rPr lang="en-US" sz="1200" u="sng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https://www.un.org/sustainabledevelopment/es/oceans/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402336" cy="402336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423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[2]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37744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PERÚ. Decreto Ley N.° 25977. </a:t>
            </a:r>
            <a:pPr indent="0" marL="0">
              <a:buNone/>
            </a:pPr>
            <a:r>
              <a:rPr lang="en-US" sz="1200" i="1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Ley General de Pesca</a:t>
            </a:r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Diario Oficial El Peruano. Lima, 1992.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402336" cy="402336"/>
          </a:xfrm>
          <a:prstGeom prst="ellipse">
            <a:avLst/>
          </a:prstGeom>
          <a:solidFill>
            <a:srgbClr val="0B2A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154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[3]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10896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PERÚ. Decreto Supremo N.° 012-2001-PE. </a:t>
            </a:r>
            <a:pPr indent="0" marL="0">
              <a:buNone/>
            </a:pPr>
            <a:r>
              <a:rPr lang="en-US" sz="1200" i="1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Reglamento de la Ley General de Pesca</a:t>
            </a:r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Diario Oficial El Peruano. Lima, 2001.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402336" cy="402336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886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[4]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84048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INSTITUTO DEL MAR DEL PERÚ (IMARPE). </a:t>
            </a:r>
            <a:pPr indent="0" marL="0">
              <a:buNone/>
            </a:pPr>
            <a:r>
              <a:rPr lang="en-US" sz="1200" i="1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Portal institucional</a:t>
            </a:r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[en línea]. Callao: IMARPE [consulta: 29 septiembre 2026]. Disponible en: </a:t>
            </a:r>
            <a:pPr indent="0" marL="0">
              <a:buNone/>
            </a:pPr>
            <a:r>
              <a:rPr lang="en-US" sz="1200" u="sng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https://www.imarpe.gob.pe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402336" cy="402336"/>
          </a:xfrm>
          <a:prstGeom prst="ellipse">
            <a:avLst/>
          </a:prstGeom>
          <a:solidFill>
            <a:srgbClr val="0B2A4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617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[5]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57200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MINISTERIO DE LA PRODUCCIÓN (PRODUCE). </a:t>
            </a:r>
            <a:pPr indent="0" marL="0">
              <a:buNone/>
            </a:pPr>
            <a:r>
              <a:rPr lang="en-US" sz="1200" i="1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Portal institucional</a:t>
            </a:r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[en línea]. Lima: PRODUCE [consulta: 29 septiembre 2026]. Disponible en: </a:t>
            </a:r>
            <a:pPr indent="0" marL="0">
              <a:buNone/>
            </a:pPr>
            <a:r>
              <a:rPr lang="en-US" sz="1200" u="sng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https://www.gob.pe/produce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349240"/>
            <a:ext cx="402336" cy="402336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349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[6]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530352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SCHWABER, Ken y SUTHERLAND, Jeff. </a:t>
            </a:r>
            <a:pPr indent="0" marL="0">
              <a:buNone/>
            </a:pPr>
            <a:r>
              <a:rPr lang="en-US" sz="1200" i="1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Guía Scrum: la guía definitiva de Scrum, las reglas del juego</a:t>
            </a:r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[en línea]. 2020 [consulta: 29 septiembre 2026]. Disponible en: </a:t>
            </a:r>
            <a:pPr indent="0" marL="0">
              <a:buNone/>
            </a:pPr>
            <a:r>
              <a:rPr lang="en-US" sz="1200" u="sng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https://scrumguides.org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05256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ANEXOS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Evidencias del trabajo en equipo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Espacios para las capturas reales de Jira, GitHub y del trabajo del equipo.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566160" cy="2971800"/>
          </a:xfrm>
          <a:prstGeom prst="roundRect">
            <a:avLst>
              <a:gd name="adj" fmla="val 4308"/>
            </a:avLst>
          </a:prstGeom>
          <a:solidFill>
            <a:srgbClr val="F4F9FA"/>
          </a:solidFill>
          <a:ln w="15875">
            <a:solidFill>
              <a:srgbClr val="9CC3CF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965960" y="2880360"/>
            <a:ext cx="731520" cy="731520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525" y="3055925"/>
            <a:ext cx="380390" cy="38039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3749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Insertar captura aquí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166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Tablero y backlog en Jira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5046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Épicas, historias HU01–HU15 y sprints.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97680" y="2011680"/>
            <a:ext cx="3566160" cy="2971800"/>
          </a:xfrm>
          <a:prstGeom prst="roundRect">
            <a:avLst>
              <a:gd name="adj" fmla="val 4308"/>
            </a:avLst>
          </a:prstGeom>
          <a:solidFill>
            <a:srgbClr val="F4F9FA"/>
          </a:solidFill>
          <a:ln w="15875">
            <a:solidFill>
              <a:srgbClr val="9CC3CF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5715000" y="2880360"/>
            <a:ext cx="731520" cy="731520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565" y="3055925"/>
            <a:ext cx="380390" cy="38039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297680" y="3749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Insertar captura aquí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4297680" y="5166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Repositorio en GitHub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297680" y="55046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Carpeta con el nombre del proyecto e historial de commits.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046720" y="2011680"/>
            <a:ext cx="3566160" cy="2971800"/>
          </a:xfrm>
          <a:prstGeom prst="roundRect">
            <a:avLst>
              <a:gd name="adj" fmla="val 4308"/>
            </a:avLst>
          </a:prstGeom>
          <a:solidFill>
            <a:srgbClr val="F4F9FA"/>
          </a:solidFill>
          <a:ln w="15875">
            <a:solidFill>
              <a:srgbClr val="9CC3CF"/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>
            <a:off x="9464040" y="2880360"/>
            <a:ext cx="731520" cy="731520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9605" y="3055925"/>
            <a:ext cx="380390" cy="38039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046720" y="3749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Insertar captura aquí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8046720" y="5166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Trabajo en equipo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8046720" y="55046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Reuniones, reparto de tareas y avances.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25" name="Text 20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785616" cy="274320"/>
          </a:xfrm>
          <a:prstGeom prst="roundRect">
            <a:avLst>
              <a:gd name="adj" fmla="val 50000"/>
            </a:avLst>
          </a:prstGeom>
          <a:solidFill>
            <a:srgbClr val="123E5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A8EC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ANÁLISIS Y DISEÑO DE SOFTWARE · NRC 62152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¡Gracias!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80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¿Preguntas?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6118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EA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Proyecto Vida Submarina · Sistema de Monitoreo Pesquero Sostenible (SISEP)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INTEGRANTES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138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Oroya Molina Luis Fernando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5138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Cardenas Rosales Abigail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5138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Yupanqui Castro Romina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468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Olarte Tuya Shadi Allegra Rashel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5468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Gonzales Zarate Jhosep Rafael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01100" y="2537460"/>
            <a:ext cx="1143000" cy="1143000"/>
          </a:xfrm>
          <a:prstGeom prst="ellipse">
            <a:avLst/>
          </a:prstGeom>
          <a:ln w="19050">
            <a:solidFill>
              <a:srgbClr val="2EC4C9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66760" y="2103120"/>
            <a:ext cx="2011680" cy="2011680"/>
          </a:xfrm>
          <a:prstGeom prst="ellipse">
            <a:avLst/>
          </a:prstGeom>
          <a:ln w="12700">
            <a:solidFill>
              <a:srgbClr val="2EC4C9">
                <a:alpha val="50000"/>
              </a:srgbClr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932420" y="1668780"/>
            <a:ext cx="2880360" cy="2880360"/>
          </a:xfrm>
          <a:prstGeom prst="ellipse">
            <a:avLst/>
          </a:prstGeom>
          <a:ln w="12700">
            <a:solidFill>
              <a:srgbClr val="2EC4C9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0" y="1234440"/>
            <a:ext cx="3749040" cy="3749040"/>
          </a:xfrm>
          <a:prstGeom prst="ellipse">
            <a:avLst/>
          </a:prstGeom>
          <a:ln w="12700">
            <a:solidFill>
              <a:srgbClr val="2EC4C9">
                <a:alpha val="20000"/>
              </a:srgbClr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8988552" y="2724912"/>
            <a:ext cx="768096" cy="768096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228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2895" y="2909255"/>
            <a:ext cx="399410" cy="3994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Vida Submarina — SISEP</dc:title>
  <dc:subject>PptxGenJS Presentation</dc:subject>
  <dc:creator>Equipo Vida Submarina · ADS NRC 62152</dc:creator>
  <cp:lastModifiedBy>Equipo Vida Submarina · ADS NRC 62152</cp:lastModifiedBy>
  <cp:revision>1</cp:revision>
  <dcterms:created xsi:type="dcterms:W3CDTF">2026-09-30T02:27:51Z</dcterms:created>
  <dcterms:modified xsi:type="dcterms:W3CDTF">2026-09-30T02:27:51Z</dcterms:modified>
</cp:coreProperties>
</file>