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Buenos días. Somos el equipo del Proyecto Vida Submarina del curso Análisis y Diseño de Software, NRC 62152. Presentaremos SISEP, un Sistema de Monitoreo Pesquero Sostenible pensado para el Perú y alineado con el ODS 14, siguiendo la estructura de las Unidades I y II del informe.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exposición sigue la plantilla del curso. En la Unidad I presentamos el proyecto, el análisis de requerimientos y los modelos iniciales. En la Unidad II, los modelos de diseño y la metodología Scrum con las herramientas que usamos. Cerramos con conclusiones, referencias y anexos.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Iniciamos la Unidad I: fundamentos y modelado inicial, que abarca los capítulos 1 a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Nuestro proyecto se vincula con el ODS 14, Vida Submarina. SISEP contribuye directamente a la meta 14.4, que busca reglamentar la pesca y poner fin a la pesca ilegal. Además impulsa la sostenibilidad en sus tres dimensiones: económica, ambiental y social.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principal beneficiario es IMARPE, por su rol en la investigación y el seguimiento de los recursos pesqueros. Con SISEP obtendría datos en tiempo real sobre especies, áreas de faena y tallas, lo que le daría mayor precisión para definir vedas y cuotas. La plataforma central sería gestionada junto con PRODUCE.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problema: en el Perú existe sobreexplotación de especies, pesca no regulada e ilegal y no hay un monitoreo inmediato de las capturas ni de las áreas de faena. Esto pone en riesgo la biodiversidad marina, limita la sostenibilidad futura del recurso y perjudica a las comunidades costeras que dependen de la pesca.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Proponemos SISEP, que combina innovación tecnológica, gestión gubernamental y participación local. Las embarcaciones cuentan con GPS y registros digitales que envían datos a una plataforma central gestionada por IMARPE y PRODUCE. Se integran sensores marinos e imágenes satelitales, y un método de trazabilidad con QR certifica la procedencia legal de cada lote. Así se combate la pesca ilegal, se protege el ecosistema y se impulsa a las comunidades costeras.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concreto, SISEP tendrá seis módulos: rastreo GPS cada 15 minutos, alertas por zonas restringidas e irregularidades, bitácora digital con fotos, trazabilidad con QR por lote, monitoreo de clima y sensores, y reportes y dashboards para las autoridades. Cada módulo está respaldado por los requerimientos que presentaremos en el capítulo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actor gana algo: el Estado obtiene datos confiables, alertas y reportes; armadores y empresas simplifican trámites y certifican la legalidad de su pesca; los pescadores artesanales acceden a tecnología asequible y dan valor agregado a su producto; y el mercado y las organizaciones ambientales ganan transparencia y trazabilidad.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el capítulo 2 describimos el problema como una crisis multidimensional: sobreexplotación, pesca ilegal, deficiencia en el monitoreo, pérdida de biodiversidad y vulnerabilidad socioeconómica. El eje común es la falta de datos confiables y en tiempo real, y ahí es donde actúa el sistema.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Identificamos cuatro grupos de usuarios. El Estado necesita datos confiables, fiscalización y alertas tempranas. Armadores y empresas necesitan documentación simple y certificación de legalidad. Los pescadores artesanales necesitan tecnología asequible y participar en la gestión. Y las organizaciones ambientales necesitan transparencia e indicadores de sostenibilidad.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Definimos siete requerimientos funcionales: registro GPS cada 15 minutos, alertas por zonas restringidas, bitácora digital, fotos como evidencia, QR único por lote, monitoreo meteorológico y notificaciones automáticas de irregularidades. Los agrupamos en monitoreo, captura, trazabilidad y control.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requerimientos no funcionales son medibles: respuesta menor a 3 segundos en consultas, autenticación de dos factores para usuarios críticos, 99,5 % de disponibilidad en horario laboral y capacidad para crecer hasta 10 000 embarcaciones.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requerimientos de dominio son reglas del sector: RD01 exige cumplir el Reglamento de la Ley General de Pesca, D.S. 012-2001-PE; RD09 pide procesos simples que no retrasen la operación; y RD17 exige monitorear indicadores de sostenibilidad. Cada uno se refleja luego en el diseño: validación automática, sincronización por lotes y reportes.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diagrama de contexto muestra a SISEP en el centro y sus siete actores externos: IMARPE, PRODUCE, armadores, pescadores artesanales, satélites y sensores, el mercado que verifica la trazabilidad y las organizaciones ambientales. Así delimitamos qué está dentro y qué está fuera del sistema.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los casos de uso hay dos actores principales. IMARPE y PRODUCE generan alertas por zonas restringidas o veda, generan reportes y dashboards y realizan auditoría y fiscalización. El pescador o armador registra su embarcación, envía su posición GPS y registra la captura en la bitácora; ese registro incluye la trazabilidad y el QR por lote.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diagrama de actividad describe el proceso principal: la embarcación inicia la jornada y enciende el GPS, registra su posición cada 15 minutos, registra la captura con fotos y envía los datos. El sistema valida automáticamente áreas, tallas y permisos: si cumple, almacena la captura y genera el QR del lote; si hay una irregularidad, alerta a las autoridades y al usuario. Al final se generan reportes y dashboards.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modelo entidad-relación tiene nueve entidades. Un pescador posee embarcaciones; cada embarcación tiene permisos, que el usuario gestiona y que contienen especies; la embarcación tiene capturas, cada captura pertenece a un lote con su código QR y registra una localización; y los sensores generan registros por embarcación.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Pasamos a la Unidad II: modelos de diseño y metodología ágil, con los capítulos 4 y 5 y las herramientas que usamos.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diagrama de clases inicial tiene seis clases. Embarcación se compone de Captura y de MonitoreoGPS; cada Captura se compone de DetalleCaptura, que se asocia a una Especie para validar tallas y cuotas; y MonitoreoGPS puede generar una Alerta que notifica a los inspectores.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diagrama de secuencia muestra la interacción entre la embarcación, el sistema, la base de datos, IMARPE y PRODUCE. La embarcación envía datos GPS, el sistema los valida contra la base de datos y, si corresponde, envía alertas a IMARPE y PRODUCE. Luego se registran bitácora y fotos, se confirma y se genera el QR; finalmente se envían reportes a ambas instituciones y una notificación a la embarcación.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Trabajamos con Scrum, una metodología ágil basada en sprints cortos que entregan valor de forma incremental. Partimos de un Product Backlog dividido en épicas y tareas, seleccionamos historias para cada Sprint Backlog, trabajamos en sprints de dos semanas y al final de cada uno obtenemos un incremento funcional.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Product Backlog lo organizamos en Jira en cuatro épicas. El Sprint 1 cubre las historias HU01 a HU06: gestión de flota y actividades pesqueras. El Sprint 2 cubre las historias HU07 a HU15: gestión normativa e inteligencia pesquera y medioambiental. Cada épica se vincula con los requerimientos que atiende.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Planificamos dos sprints de dos semanas. El Sprint 1 implementa la gestión de flota y las actividades pesqueras con seis historias; el Sprint 2 desarrolla la gestión normativa y la inteligencia pesquera y medioambiental con nueve historias. En ambos usamos Jira, y cada sprint termina con un incremento: módulos operativos del sistema.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Estas fueron nuestras herramientas: Jira para planificar el backlog, los sprints y las tareas; Draw.io para los diagramas UML; dbdiagram.io para el modelo de datos; GitHub como repositorio del proyecto con control de versiones y commits; y Canva para la portada y esta presentación.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Jira estructuramos el trabajo en cuatro niveles: el proyecto, cuatro épicas, quince historias de usuario y las tareas de cada historia. Durante cada sprint las historias avanzan en el tablero de Por hacer a En curso y a Listo; al cerrar el sprint revisamos el incremento y ajustamos el backlog. Las capturas reales están en los anexos.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conclusiones: SISEP responde a un problema real; el análisis de usuarios nos llevó a requerimientos medibles; los modelos que construimos son coherentes entre sí; y Scrum con Jira nos permitió organizar el trabajo en dos sprints con incrementos. Aquí cada integrante puede añadir su conclusión personal, como pide la plantilla.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Aprendimos que modelar antes de programar reduce ambigüedades, que la consistencia de nombres entre diagramas y base de datos es clave, y que un backlog por épicas hace realistas los sprints. Como mejoras recomendamos una app móvil sin conexión, integrar AIS e imágenes satelitales en tiempo real, analítica predictiva para vedas y cuotas, y un piloto con pescadores artesanales. Cada integrante puede complementar con sus lecciones personales.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Estas son las referencias en formato ISO 690 numérico. Los números entre corchetes aparecen en las diapositivas donde usamos cada fuente.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los anexos mostramos las evidencias: el tablero y backlog en Jira, el repositorio en GitHub con su historial de commits y fotos del trabajo en equipo.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Muchas gracias por su atención. Quedamos atentos a sus preguntas.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jp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jp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image" Target="../media/image-7-11.png"/><Relationship Id="rId12" Type="http://schemas.openxmlformats.org/officeDocument/2006/relationships/image" Target="../media/image-7-11.png"/><Relationship Id="rId13" Type="http://schemas.openxmlformats.org/officeDocument/2006/relationships/image" Target="../media/image-7-11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7-9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jp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3.png"/><Relationship Id="rId5" Type="http://schemas.openxmlformats.org/officeDocument/2006/relationships/image" Target="../media/image-9-3.png"/><Relationship Id="rId6" Type="http://schemas.openxmlformats.org/officeDocument/2006/relationships/image" Target="../media/image-9-6.png"/><Relationship Id="rId7" Type="http://schemas.openxmlformats.org/officeDocument/2006/relationships/image" Target="../media/image-9-3.png"/><Relationship Id="rId8" Type="http://schemas.openxmlformats.org/officeDocument/2006/relationships/image" Target="../media/image-9-3.png"/><Relationship Id="rId9" Type="http://schemas.openxmlformats.org/officeDocument/2006/relationships/image" Target="../media/image-9-3.png"/><Relationship Id="rId10" Type="http://schemas.openxmlformats.org/officeDocument/2006/relationships/image" Target="../media/image-9-10.png"/><Relationship Id="rId11" Type="http://schemas.openxmlformats.org/officeDocument/2006/relationships/image" Target="../media/image-9-3.png"/><Relationship Id="rId12" Type="http://schemas.openxmlformats.org/officeDocument/2006/relationships/image" Target="../media/image-9-3.png"/><Relationship Id="rId13" Type="http://schemas.openxmlformats.org/officeDocument/2006/relationships/image" Target="../media/image-9-3.png"/><Relationship Id="rId14" Type="http://schemas.openxmlformats.org/officeDocument/2006/relationships/image" Target="../media/image-9-14.png"/><Relationship Id="rId15" Type="http://schemas.openxmlformats.org/officeDocument/2006/relationships/image" Target="../media/image-9-3.png"/><Relationship Id="rId16" Type="http://schemas.openxmlformats.org/officeDocument/2006/relationships/image" Target="../media/image-9-3.png"/><Relationship Id="rId17" Type="http://schemas.openxmlformats.org/officeDocument/2006/relationships/image" Target="../media/image-9-3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5-5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3-2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7-5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jp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15-2.png"/><Relationship Id="rId3" Type="http://schemas.openxmlformats.org/officeDocument/2006/relationships/image" Target="../media/image-7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7-10.png"/><Relationship Id="rId7" Type="http://schemas.openxmlformats.org/officeDocument/2006/relationships/image" Target="../media/image-15-7.png"/><Relationship Id="rId8" Type="http://schemas.openxmlformats.org/officeDocument/2006/relationships/image" Target="../media/image-14-4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7-5.png"/><Relationship Id="rId3" Type="http://schemas.openxmlformats.org/officeDocument/2006/relationships/image" Target="../media/image-23-3.png"/><Relationship Id="rId4" Type="http://schemas.openxmlformats.org/officeDocument/2006/relationships/image" Target="../media/image-23-3.png"/><Relationship Id="rId5" Type="http://schemas.openxmlformats.org/officeDocument/2006/relationships/image" Target="../media/image-23-3.png"/><Relationship Id="rId6" Type="http://schemas.openxmlformats.org/officeDocument/2006/relationships/image" Target="../media/image-23-6.png"/><Relationship Id="rId7" Type="http://schemas.openxmlformats.org/officeDocument/2006/relationships/image" Target="../media/image-23-3.png"/><Relationship Id="rId8" Type="http://schemas.openxmlformats.org/officeDocument/2006/relationships/image" Target="../media/image-23-3.png"/><Relationship Id="rId9" Type="http://schemas.openxmlformats.org/officeDocument/2006/relationships/image" Target="../media/image-23-3.png"/><Relationship Id="rId10" Type="http://schemas.openxmlformats.org/officeDocument/2006/relationships/image" Target="../media/image-23-10.png"/><Relationship Id="rId11" Type="http://schemas.openxmlformats.org/officeDocument/2006/relationships/image" Target="../media/image-23-11.png"/><Relationship Id="rId12" Type="http://schemas.openxmlformats.org/officeDocument/2006/relationships/image" Target="../media/image-23-11.png"/><Relationship Id="rId13" Type="http://schemas.openxmlformats.org/officeDocument/2006/relationships/image" Target="../media/image-23-11.png"/><Relationship Id="rId14" Type="http://schemas.openxmlformats.org/officeDocument/2006/relationships/image" Target="../media/image-8-7.png"/><Relationship Id="rId15" Type="http://schemas.openxmlformats.org/officeDocument/2006/relationships/image" Target="../media/image-23-11.png"/><Relationship Id="rId16" Type="http://schemas.openxmlformats.org/officeDocument/2006/relationships/image" Target="../media/image-23-11.png"/><Relationship Id="rId17" Type="http://schemas.openxmlformats.org/officeDocument/2006/relationships/image" Target="../media/image-23-11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jp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9-3.png"/><Relationship Id="rId7" Type="http://schemas.openxmlformats.org/officeDocument/2006/relationships/image" Target="../media/image-9-3.png"/><Relationship Id="rId8" Type="http://schemas.openxmlformats.org/officeDocument/2006/relationships/image" Target="../media/image-19-3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8-2.png"/><Relationship Id="rId3" Type="http://schemas.openxmlformats.org/officeDocument/2006/relationships/image" Target="../media/image-23-11.png"/><Relationship Id="rId4" Type="http://schemas.openxmlformats.org/officeDocument/2006/relationships/image" Target="../media/image-23-11.png"/><Relationship Id="rId5" Type="http://schemas.openxmlformats.org/officeDocument/2006/relationships/image" Target="../media/image-23-11.png"/><Relationship Id="rId6" Type="http://schemas.openxmlformats.org/officeDocument/2006/relationships/image" Target="../media/image-23-11.png"/><Relationship Id="rId7" Type="http://schemas.openxmlformats.org/officeDocument/2006/relationships/image" Target="../media/image-28-7.png"/><Relationship Id="rId8" Type="http://schemas.openxmlformats.org/officeDocument/2006/relationships/image" Target="../media/image-28-8.png"/><Relationship Id="rId9" Type="http://schemas.openxmlformats.org/officeDocument/2006/relationships/image" Target="../media/image-28-9.png"/><Relationship Id="rId10" Type="http://schemas.openxmlformats.org/officeDocument/2006/relationships/image" Target="../media/image-28-10.png"/><Relationship Id="rId11" Type="http://schemas.openxmlformats.org/officeDocument/2006/relationships/image" Target="../media/image-28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un.org/sustainabledevelopment/es/oceans/" TargetMode="External"/><Relationship Id="rId3" Type="http://schemas.openxmlformats.org/officeDocument/2006/relationships/hyperlink" Target="https://www.imarpe.gob.pe" TargetMode="External"/><Relationship Id="rId4" Type="http://schemas.openxmlformats.org/officeDocument/2006/relationships/hyperlink" Target="https://www.gob.pe/produce" TargetMode="External"/><Relationship Id="rId5" Type="http://schemas.openxmlformats.org/officeDocument/2006/relationships/hyperlink" Target="https://scrumguides.org" TargetMode="External"/><Relationship Id="rId1" Type="http://schemas.openxmlformats.org/officeDocument/2006/relationships/image" Target="../media/Slide-4-image-1.jpe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30-2.png"/><Relationship Id="rId3" Type="http://schemas.openxmlformats.org/officeDocument/2006/relationships/image" Target="../media/image-25-5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3785616" cy="274320"/>
          </a:xfrm>
          <a:prstGeom prst="roundRect">
            <a:avLst>
              <a:gd name="adj" fmla="val 50000"/>
            </a:avLst>
          </a:prstGeom>
          <a:solidFill>
            <a:srgbClr val="123E5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3785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A8ECE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ANÁLISIS Y DISEÑO DE SOFTWARE · NRC 62152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6309360" y="502920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9FC0C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“Año de la recuperación y consolidación de la economía peruana”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5544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0" kern="0" dirty="0">
                <a:solidFill>
                  <a:srgbClr val="2EC4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PROYECTO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874520"/>
            <a:ext cx="6675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7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Vida</a:t>
            </a:r>
            <a:endParaRPr lang="en-US" sz="70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7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Submarina</a:t>
            </a:r>
            <a:endParaRPr lang="en-US" sz="7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023360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D6EAF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Sistema de Monitoreo Pesquero Sostenible </a:t>
            </a:r>
            <a:pPr indent="0" marL="0">
              <a:buNone/>
            </a:pPr>
            <a:r>
              <a:rPr lang="en-US" sz="1900" b="1" dirty="0">
                <a:solidFill>
                  <a:srgbClr val="2EC4C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— SISEP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40080" y="4617720"/>
            <a:ext cx="2148840" cy="329184"/>
          </a:xfrm>
          <a:prstGeom prst="roundRect">
            <a:avLst>
              <a:gd name="adj" fmla="val 50000"/>
            </a:avLst>
          </a:prstGeom>
          <a:solidFill>
            <a:srgbClr val="0E3A57"/>
          </a:solidFill>
          <a:ln w="9525">
            <a:solidFill>
              <a:srgbClr val="2A7C9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4617720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8ECE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ODS 14 · Vida submarina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926080" y="461772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0E3A57"/>
          </a:solidFill>
          <a:ln w="9525">
            <a:solidFill>
              <a:srgbClr val="2A7C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26080" y="4617720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8ECE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IMARPE · PRODUCE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846320" y="461772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0E3A57"/>
          </a:solidFill>
          <a:ln w="9525">
            <a:solidFill>
              <a:srgbClr val="2A7C9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4617720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8ECE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Metodología Scrum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53035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rgbClr val="2EC4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INTEGRANTES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55961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Oroya Molina Luis Fernando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55961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Cardenas Rosales Abigail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55961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Yupanqui Castro Romina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9253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Olarte Tuya Shadi Allegra Rashel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3429000" y="59253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Gonzales Zarate Jhosep Rafael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801100" y="2217420"/>
            <a:ext cx="1143000" cy="1143000"/>
          </a:xfrm>
          <a:prstGeom prst="ellipse">
            <a:avLst/>
          </a:prstGeom>
          <a:ln w="19050">
            <a:solidFill>
              <a:srgbClr val="2EC4C9">
                <a:alpha val="6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366760" y="1783080"/>
            <a:ext cx="2011680" cy="2011680"/>
          </a:xfrm>
          <a:prstGeom prst="ellipse">
            <a:avLst/>
          </a:prstGeom>
          <a:ln w="12700">
            <a:solidFill>
              <a:srgbClr val="2EC4C9">
                <a:alpha val="50000"/>
              </a:srgbClr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7932420" y="1348740"/>
            <a:ext cx="2880360" cy="2880360"/>
          </a:xfrm>
          <a:prstGeom prst="ellipse">
            <a:avLst/>
          </a:prstGeom>
          <a:ln w="12700">
            <a:solidFill>
              <a:srgbClr val="2EC4C9">
                <a:alpha val="3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98080" y="914400"/>
            <a:ext cx="3749040" cy="3749040"/>
          </a:xfrm>
          <a:prstGeom prst="ellipse">
            <a:avLst/>
          </a:prstGeom>
          <a:ln w="12700">
            <a:solidFill>
              <a:srgbClr val="2EC4C9">
                <a:alpha val="20000"/>
              </a:srgbClr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988552" y="2404872"/>
            <a:ext cx="768096" cy="768096"/>
          </a:xfrm>
          <a:prstGeom prst="ellipse">
            <a:avLst/>
          </a:prstGeom>
          <a:solidFill>
            <a:srgbClr val="FFFFFF"/>
          </a:solidFill>
          <a:ln/>
          <a:effectLst>
            <a:outerShdw sx="100000" sy="100000" kx="0" ky="0" algn="bl" rotWithShape="0" blurRad="228600" dist="38100" dir="5400000">
              <a:srgbClr val="000000">
                <a:alpha val="35000"/>
              </a:srgbClr>
            </a:outerShdw>
          </a:effectLst>
        </p:spPr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2895" y="2589215"/>
            <a:ext cx="399410" cy="399410"/>
          </a:xfrm>
          <a:prstGeom prst="rect">
            <a:avLst/>
          </a:prstGeom>
        </p:spPr>
      </p:pic>
      <p:sp>
        <p:nvSpPr>
          <p:cNvPr id="26" name="Shape 23"/>
          <p:cNvSpPr/>
          <p:nvPr/>
        </p:nvSpPr>
        <p:spPr>
          <a:xfrm flipV="1">
            <a:off x="8092440" y="3611880"/>
            <a:ext cx="640080" cy="365760"/>
          </a:xfrm>
          <a:prstGeom prst="line">
            <a:avLst/>
          </a:prstGeom>
          <a:noFill/>
          <a:ln w="15875">
            <a:solidFill>
              <a:srgbClr val="A8ECE7">
                <a:alpha val="80000"/>
              </a:srgbClr>
            </a:solidFill>
            <a:prstDash val="dash"/>
          </a:ln>
        </p:spPr>
      </p:sp>
      <p:sp>
        <p:nvSpPr>
          <p:cNvPr id="27" name="Shape 24"/>
          <p:cNvSpPr/>
          <p:nvPr/>
        </p:nvSpPr>
        <p:spPr>
          <a:xfrm flipV="1">
            <a:off x="10241280" y="1417320"/>
            <a:ext cx="502920" cy="685800"/>
          </a:xfrm>
          <a:prstGeom prst="line">
            <a:avLst/>
          </a:prstGeom>
          <a:noFill/>
          <a:ln w="15875">
            <a:solidFill>
              <a:srgbClr val="A8ECE7">
                <a:alpha val="80000"/>
              </a:srgbClr>
            </a:solidFill>
            <a:prstDash val="dash"/>
          </a:ln>
        </p:spPr>
      </p:sp>
      <p:sp>
        <p:nvSpPr>
          <p:cNvPr id="28" name="Shape 25"/>
          <p:cNvSpPr/>
          <p:nvPr/>
        </p:nvSpPr>
        <p:spPr>
          <a:xfrm>
            <a:off x="7973568" y="3858768"/>
            <a:ext cx="237744" cy="237744"/>
          </a:xfrm>
          <a:prstGeom prst="ellipse">
            <a:avLst/>
          </a:prstGeom>
          <a:solidFill>
            <a:srgbClr val="2EC4C9">
              <a:alpha val="35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8037576" y="3922776"/>
            <a:ext cx="109728" cy="109728"/>
          </a:xfrm>
          <a:prstGeom prst="ellipse">
            <a:avLst/>
          </a:prstGeom>
          <a:solidFill>
            <a:srgbClr val="A8ECE7"/>
          </a:solidFill>
          <a:ln/>
        </p:spPr>
      </p:sp>
      <p:sp>
        <p:nvSpPr>
          <p:cNvPr id="30" name="Shape 27"/>
          <p:cNvSpPr/>
          <p:nvPr/>
        </p:nvSpPr>
        <p:spPr>
          <a:xfrm>
            <a:off x="8613648" y="3493008"/>
            <a:ext cx="237744" cy="237744"/>
          </a:xfrm>
          <a:prstGeom prst="ellipse">
            <a:avLst/>
          </a:prstGeom>
          <a:solidFill>
            <a:srgbClr val="2EC4C9">
              <a:alpha val="35000"/>
            </a:srgbClr>
          </a:solidFill>
          <a:ln/>
        </p:spPr>
      </p:sp>
      <p:sp>
        <p:nvSpPr>
          <p:cNvPr id="31" name="Shape 28"/>
          <p:cNvSpPr/>
          <p:nvPr/>
        </p:nvSpPr>
        <p:spPr>
          <a:xfrm>
            <a:off x="8677656" y="3557016"/>
            <a:ext cx="109728" cy="109728"/>
          </a:xfrm>
          <a:prstGeom prst="ellipse">
            <a:avLst/>
          </a:prstGeom>
          <a:solidFill>
            <a:srgbClr val="A8ECE7"/>
          </a:solidFill>
          <a:ln/>
        </p:spPr>
      </p:sp>
      <p:sp>
        <p:nvSpPr>
          <p:cNvPr id="32" name="Shape 29"/>
          <p:cNvSpPr/>
          <p:nvPr/>
        </p:nvSpPr>
        <p:spPr>
          <a:xfrm>
            <a:off x="10122408" y="1984248"/>
            <a:ext cx="237744" cy="237744"/>
          </a:xfrm>
          <a:prstGeom prst="ellipse">
            <a:avLst/>
          </a:prstGeom>
          <a:solidFill>
            <a:srgbClr val="2EC4C9">
              <a:alpha val="35000"/>
            </a:srgbClr>
          </a:solidFill>
          <a:ln/>
        </p:spPr>
      </p:sp>
      <p:sp>
        <p:nvSpPr>
          <p:cNvPr id="33" name="Shape 30"/>
          <p:cNvSpPr/>
          <p:nvPr/>
        </p:nvSpPr>
        <p:spPr>
          <a:xfrm>
            <a:off x="10186416" y="2048256"/>
            <a:ext cx="109728" cy="109728"/>
          </a:xfrm>
          <a:prstGeom prst="ellipse">
            <a:avLst/>
          </a:prstGeom>
          <a:solidFill>
            <a:srgbClr val="A8ECE7"/>
          </a:solidFill>
          <a:ln/>
        </p:spPr>
      </p:sp>
      <p:sp>
        <p:nvSpPr>
          <p:cNvPr id="34" name="Shape 31"/>
          <p:cNvSpPr/>
          <p:nvPr/>
        </p:nvSpPr>
        <p:spPr>
          <a:xfrm>
            <a:off x="10625328" y="1298448"/>
            <a:ext cx="237744" cy="237744"/>
          </a:xfrm>
          <a:prstGeom prst="ellipse">
            <a:avLst/>
          </a:prstGeom>
          <a:solidFill>
            <a:srgbClr val="2EC4C9">
              <a:alpha val="3500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10689336" y="1362456"/>
            <a:ext cx="109728" cy="109728"/>
          </a:xfrm>
          <a:prstGeom prst="ellipse">
            <a:avLst/>
          </a:prstGeom>
          <a:solidFill>
            <a:srgbClr val="A8ECE7"/>
          </a:solidFill>
          <a:ln/>
        </p:spPr>
      </p:sp>
      <p:sp>
        <p:nvSpPr>
          <p:cNvPr id="36" name="Shape 33"/>
          <p:cNvSpPr/>
          <p:nvPr/>
        </p:nvSpPr>
        <p:spPr>
          <a:xfrm>
            <a:off x="10104120" y="3520440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0E3A57">
              <a:alpha val="90000"/>
            </a:srgbClr>
          </a:solidFill>
          <a:ln w="9525">
            <a:solidFill>
              <a:srgbClr val="2A7C93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241280" y="358444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C4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GPS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cada 15 min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7269480" y="1417320"/>
            <a:ext cx="1783080" cy="566928"/>
          </a:xfrm>
          <a:prstGeom prst="roundRect">
            <a:avLst>
              <a:gd name="adj" fmla="val 16129"/>
            </a:avLst>
          </a:prstGeom>
          <a:solidFill>
            <a:srgbClr val="0E3A57">
              <a:alpha val="90000"/>
            </a:srgbClr>
          </a:solidFill>
          <a:ln w="9525">
            <a:solidFill>
              <a:srgbClr val="2A7C93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406640" y="148132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C4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LOTE · QR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Trazabilidad legal</a:t>
            </a:r>
            <a:endParaRPr lang="en-US" sz="1200" dirty="0"/>
          </a:p>
        </p:txBody>
      </p:sp>
      <p:sp>
        <p:nvSpPr>
          <p:cNvPr id="40" name="Text 37"/>
          <p:cNvSpPr txBox="1"/>
          <p:nvPr/>
        </p:nvSpPr>
        <p:spPr>
          <a:xfrm>
            <a:off x="7818120" y="411480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FC0C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12°03′ S · 77°09′ O</a:t>
            </a:r>
            <a:endParaRPr lang="en-US" sz="850" dirty="0"/>
          </a:p>
        </p:txBody>
      </p:sp>
      <p:sp>
        <p:nvSpPr>
          <p:cNvPr id="41" name="Text 38"/>
          <p:cNvSpPr txBox="1"/>
          <p:nvPr/>
        </p:nvSpPr>
        <p:spPr>
          <a:xfrm>
            <a:off x="10424160" y="594360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2025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_dark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0"/>
            <a:ext cx="406908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502920"/>
            <a:ext cx="1152144" cy="274320"/>
          </a:xfrm>
          <a:prstGeom prst="roundRect">
            <a:avLst>
              <a:gd name="adj" fmla="val 50000"/>
            </a:avLst>
          </a:prstGeom>
          <a:solidFill>
            <a:srgbClr val="123E5B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548640" y="502920"/>
            <a:ext cx="1152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A8ECE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CONTENIDO</a:t>
            </a:r>
            <a:endParaRPr lang="en-US" sz="8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96012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Índice</a:t>
            </a:r>
            <a:endParaRPr lang="en-US" sz="4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96596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9DEE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Recorrido de la exposición según la plantilla del informe del curso: Unidad I y Unidad II.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1554480" y="4206240"/>
            <a:ext cx="914400" cy="914400"/>
          </a:xfrm>
          <a:prstGeom prst="ellipse">
            <a:avLst/>
          </a:prstGeom>
          <a:ln w="19050">
            <a:solidFill>
              <a:srgbClr val="2EC4C9">
                <a:alpha val="6500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188720" y="3840480"/>
            <a:ext cx="1645920" cy="1645920"/>
          </a:xfrm>
          <a:prstGeom prst="ellipse">
            <a:avLst/>
          </a:prstGeom>
          <a:ln w="12700">
            <a:solidFill>
              <a:srgbClr val="2EC4C9">
                <a:alpha val="50000"/>
              </a:srgbClr>
            </a:solidFill>
            <a:prstDash val="dash"/>
          </a:ln>
        </p:spPr>
      </p:sp>
      <p:sp>
        <p:nvSpPr>
          <p:cNvPr id="9" name="Shape 6"/>
          <p:cNvSpPr/>
          <p:nvPr/>
        </p:nvSpPr>
        <p:spPr>
          <a:xfrm>
            <a:off x="822960" y="3474720"/>
            <a:ext cx="2377440" cy="2377440"/>
          </a:xfrm>
          <a:prstGeom prst="ellipse">
            <a:avLst/>
          </a:prstGeom>
          <a:ln w="12700">
            <a:solidFill>
              <a:srgbClr val="2EC4C9">
                <a:alpha val="3500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627632" y="4279392"/>
            <a:ext cx="768096" cy="768096"/>
          </a:xfrm>
          <a:prstGeom prst="ellipse">
            <a:avLst/>
          </a:prstGeom>
          <a:solidFill>
            <a:srgbClr val="FFFFFF"/>
          </a:solidFill>
          <a:ln/>
          <a:effectLst>
            <a:outerShdw sx="100000" sy="100000" kx="0" ky="0" algn="bl" rotWithShape="0" blurRad="228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1975" y="4463735"/>
            <a:ext cx="399410" cy="39941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8640" y="63550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6A9B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Análisis y Diseño de Software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4663440" y="502920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UNIDAD I · FUNDAMENTOS Y MODELADO INICIAL · SEMANAS 1–4</a:t>
            </a:r>
            <a:endParaRPr lang="en-US" sz="850" dirty="0"/>
          </a:p>
        </p:txBody>
      </p:sp>
      <p:sp>
        <p:nvSpPr>
          <p:cNvPr id="14" name="Text 10"/>
          <p:cNvSpPr txBox="1"/>
          <p:nvPr/>
        </p:nvSpPr>
        <p:spPr>
          <a:xfrm>
            <a:off x="4663440" y="813816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39A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2300" dirty="0"/>
          </a:p>
        </p:txBody>
      </p:sp>
      <p:sp>
        <p:nvSpPr>
          <p:cNvPr id="15" name="Text 11"/>
          <p:cNvSpPr txBox="1"/>
          <p:nvPr/>
        </p:nvSpPr>
        <p:spPr>
          <a:xfrm>
            <a:off x="5532120" y="813816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Presentación del proyecto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5532120" y="1088136"/>
            <a:ext cx="6035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ODS, institución beneficiaria, problema y solución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532120" y="1389888"/>
            <a:ext cx="6080760" cy="0"/>
          </a:xfrm>
          <a:prstGeom prst="line">
            <a:avLst/>
          </a:prstGeom>
          <a:noFill/>
          <a:ln w="9525">
            <a:solidFill>
              <a:srgbClr val="D5E3E8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663440" y="1453896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39A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2300" dirty="0"/>
          </a:p>
        </p:txBody>
      </p:sp>
      <p:sp>
        <p:nvSpPr>
          <p:cNvPr id="19" name="Text 15"/>
          <p:cNvSpPr txBox="1"/>
          <p:nvPr/>
        </p:nvSpPr>
        <p:spPr>
          <a:xfrm>
            <a:off x="5532120" y="1453896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Análisis de necesidades y requerimientos</a:t>
            </a:r>
            <a:endParaRPr lang="en-US" sz="1400" dirty="0"/>
          </a:p>
        </p:txBody>
      </p:sp>
      <p:sp>
        <p:nvSpPr>
          <p:cNvPr id="20" name="Text 16"/>
          <p:cNvSpPr txBox="1"/>
          <p:nvPr/>
        </p:nvSpPr>
        <p:spPr>
          <a:xfrm>
            <a:off x="5532120" y="1728216"/>
            <a:ext cx="6035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Usuarios, requerimientos funcionales, no funcionales y de dominio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5532120" y="2029968"/>
            <a:ext cx="6080760" cy="0"/>
          </a:xfrm>
          <a:prstGeom prst="line">
            <a:avLst/>
          </a:prstGeom>
          <a:noFill/>
          <a:ln w="9525">
            <a:solidFill>
              <a:srgbClr val="D5E3E8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663440" y="2093976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39A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2300" dirty="0"/>
          </a:p>
        </p:txBody>
      </p:sp>
      <p:sp>
        <p:nvSpPr>
          <p:cNvPr id="23" name="Text 19"/>
          <p:cNvSpPr txBox="1"/>
          <p:nvPr/>
        </p:nvSpPr>
        <p:spPr>
          <a:xfrm>
            <a:off x="5532120" y="2093976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Modelos iniciales del sistema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5532120" y="2368296"/>
            <a:ext cx="6035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Contexto, casos de uso, procesos y modelo entidad-relación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5532120" y="2670048"/>
            <a:ext cx="6080760" cy="0"/>
          </a:xfrm>
          <a:prstGeom prst="line">
            <a:avLst/>
          </a:prstGeom>
          <a:noFill/>
          <a:ln w="9525">
            <a:solidFill>
              <a:srgbClr val="D5E3E8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4663440" y="2825496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UNIDAD II · MODELOS DE DISEÑO Y METODOLOGÍA ÁGIL · SEMANAS 5–7</a:t>
            </a:r>
            <a:endParaRPr lang="en-US" sz="850" dirty="0"/>
          </a:p>
        </p:txBody>
      </p:sp>
      <p:sp>
        <p:nvSpPr>
          <p:cNvPr id="27" name="Text 23"/>
          <p:cNvSpPr txBox="1"/>
          <p:nvPr/>
        </p:nvSpPr>
        <p:spPr>
          <a:xfrm>
            <a:off x="4663440" y="3136392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39A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2300" dirty="0"/>
          </a:p>
        </p:txBody>
      </p:sp>
      <p:sp>
        <p:nvSpPr>
          <p:cNvPr id="28" name="Text 24"/>
          <p:cNvSpPr txBox="1"/>
          <p:nvPr/>
        </p:nvSpPr>
        <p:spPr>
          <a:xfrm>
            <a:off x="5532120" y="3136392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Modelos de diseño</a:t>
            </a:r>
            <a:endParaRPr lang="en-US" sz="1400" dirty="0"/>
          </a:p>
        </p:txBody>
      </p:sp>
      <p:sp>
        <p:nvSpPr>
          <p:cNvPr id="29" name="Text 25"/>
          <p:cNvSpPr txBox="1"/>
          <p:nvPr/>
        </p:nvSpPr>
        <p:spPr>
          <a:xfrm>
            <a:off x="5532120" y="3410712"/>
            <a:ext cx="6035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Diagrama de clases y diagrama de secuencia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5532120" y="3712464"/>
            <a:ext cx="6080760" cy="0"/>
          </a:xfrm>
          <a:prstGeom prst="line">
            <a:avLst/>
          </a:prstGeom>
          <a:noFill/>
          <a:ln w="9525">
            <a:solidFill>
              <a:srgbClr val="D5E3E8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4663440" y="3776472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39A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</a:t>
            </a:r>
            <a:endParaRPr lang="en-US" sz="2300" dirty="0"/>
          </a:p>
        </p:txBody>
      </p:sp>
      <p:sp>
        <p:nvSpPr>
          <p:cNvPr id="32" name="Text 28"/>
          <p:cNvSpPr txBox="1"/>
          <p:nvPr/>
        </p:nvSpPr>
        <p:spPr>
          <a:xfrm>
            <a:off x="5532120" y="3776472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Metodología de trabajo: Scrum</a:t>
            </a:r>
            <a:endParaRPr lang="en-US" sz="1400" dirty="0"/>
          </a:p>
        </p:txBody>
      </p:sp>
      <p:sp>
        <p:nvSpPr>
          <p:cNvPr id="33" name="Text 29"/>
          <p:cNvSpPr txBox="1"/>
          <p:nvPr/>
        </p:nvSpPr>
        <p:spPr>
          <a:xfrm>
            <a:off x="5532120" y="4050792"/>
            <a:ext cx="6035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Backlog, sprints y herramientas (Jira, GitHub, Draw.io…)</a:t>
            </a:r>
            <a:endParaRPr lang="en-US" sz="1100" dirty="0"/>
          </a:p>
        </p:txBody>
      </p:sp>
      <p:sp>
        <p:nvSpPr>
          <p:cNvPr id="34" name="Shape 30"/>
          <p:cNvSpPr/>
          <p:nvPr/>
        </p:nvSpPr>
        <p:spPr>
          <a:xfrm>
            <a:off x="5532120" y="4352544"/>
            <a:ext cx="6080760" cy="0"/>
          </a:xfrm>
          <a:prstGeom prst="line">
            <a:avLst/>
          </a:prstGeom>
          <a:noFill/>
          <a:ln w="9525">
            <a:solidFill>
              <a:srgbClr val="D5E3E8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4663440" y="4507992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CIERRE</a:t>
            </a:r>
            <a:endParaRPr lang="en-US" sz="850" dirty="0"/>
          </a:p>
        </p:txBody>
      </p:sp>
      <p:sp>
        <p:nvSpPr>
          <p:cNvPr id="36" name="Text 32"/>
          <p:cNvSpPr txBox="1"/>
          <p:nvPr/>
        </p:nvSpPr>
        <p:spPr>
          <a:xfrm>
            <a:off x="4663440" y="4818888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39A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06</a:t>
            </a:r>
            <a:endParaRPr lang="en-US" sz="2300" dirty="0"/>
          </a:p>
        </p:txBody>
      </p:sp>
      <p:sp>
        <p:nvSpPr>
          <p:cNvPr id="37" name="Text 33"/>
          <p:cNvSpPr txBox="1"/>
          <p:nvPr/>
        </p:nvSpPr>
        <p:spPr>
          <a:xfrm>
            <a:off x="5532120" y="4818888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Conclusiones y recomendaciones</a:t>
            </a:r>
            <a:endParaRPr lang="en-US" sz="1400" dirty="0"/>
          </a:p>
        </p:txBody>
      </p:sp>
      <p:sp>
        <p:nvSpPr>
          <p:cNvPr id="38" name="Text 34"/>
          <p:cNvSpPr txBox="1"/>
          <p:nvPr/>
        </p:nvSpPr>
        <p:spPr>
          <a:xfrm>
            <a:off x="5532120" y="5093208"/>
            <a:ext cx="6035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Conclusiones, lecciones aprendidas y mejoras futuras</a:t>
            </a:r>
            <a:endParaRPr lang="en-US" sz="1100" dirty="0"/>
          </a:p>
        </p:txBody>
      </p:sp>
      <p:sp>
        <p:nvSpPr>
          <p:cNvPr id="39" name="Shape 35"/>
          <p:cNvSpPr/>
          <p:nvPr/>
        </p:nvSpPr>
        <p:spPr>
          <a:xfrm>
            <a:off x="5532120" y="5394960"/>
            <a:ext cx="6080760" cy="0"/>
          </a:xfrm>
          <a:prstGeom prst="line">
            <a:avLst/>
          </a:prstGeom>
          <a:noFill/>
          <a:ln w="9525">
            <a:solidFill>
              <a:srgbClr val="D5E3E8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4663440" y="5458968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39A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07</a:t>
            </a:r>
            <a:endParaRPr lang="en-US" sz="2300" dirty="0"/>
          </a:p>
        </p:txBody>
      </p:sp>
      <p:sp>
        <p:nvSpPr>
          <p:cNvPr id="41" name="Text 37"/>
          <p:cNvSpPr txBox="1"/>
          <p:nvPr/>
        </p:nvSpPr>
        <p:spPr>
          <a:xfrm>
            <a:off x="5532120" y="5458968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Referencias y anexos</a:t>
            </a:r>
            <a:endParaRPr lang="en-US" sz="1400" dirty="0"/>
          </a:p>
        </p:txBody>
      </p:sp>
      <p:sp>
        <p:nvSpPr>
          <p:cNvPr id="42" name="Text 38"/>
          <p:cNvSpPr txBox="1"/>
          <p:nvPr/>
        </p:nvSpPr>
        <p:spPr>
          <a:xfrm>
            <a:off x="5532120" y="5733288"/>
            <a:ext cx="6035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Fuentes en ISO 690 y evidencias del trabajo en equipo</a:t>
            </a:r>
            <a:endParaRPr lang="en-US" sz="1100" dirty="0"/>
          </a:p>
        </p:txBody>
      </p:sp>
      <p:sp>
        <p:nvSpPr>
          <p:cNvPr id="43" name="Shape 39"/>
          <p:cNvSpPr/>
          <p:nvPr/>
        </p:nvSpPr>
        <p:spPr>
          <a:xfrm>
            <a:off x="5532120" y="6035040"/>
            <a:ext cx="6080760" cy="0"/>
          </a:xfrm>
          <a:prstGeom prst="line">
            <a:avLst/>
          </a:prstGeom>
          <a:noFill/>
          <a:ln w="9525">
            <a:solidFill>
              <a:srgbClr val="D5E3E8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4663440" y="641908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9AAAB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VIDA SUBMARINA · SISEP</a:t>
            </a:r>
            <a:endParaRPr lang="en-US" sz="750" dirty="0"/>
          </a:p>
        </p:txBody>
      </p:sp>
      <p:sp>
        <p:nvSpPr>
          <p:cNvPr id="45" name="Text 41"/>
          <p:cNvSpPr txBox="1"/>
          <p:nvPr/>
        </p:nvSpPr>
        <p:spPr>
          <a:xfrm>
            <a:off x="11091672" y="641908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502920"/>
            <a:ext cx="5943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0" b="1" dirty="0">
                <a:solidFill>
                  <a:srgbClr val="2EC4C9">
                    <a:alpha val="28000"/>
                  </a:srgb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19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3375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2EC4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UNIDAD I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703320"/>
            <a:ext cx="60350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Fundamentos y</a:t>
            </a:r>
            <a:endParaRPr lang="en-US" sz="38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Modelado Inicial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53949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8ECE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Semanas 1–4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086600" y="1760220"/>
            <a:ext cx="4526280" cy="960120"/>
          </a:xfrm>
          <a:prstGeom prst="roundRect">
            <a:avLst>
              <a:gd name="adj" fmla="val 11429"/>
            </a:avLst>
          </a:prstGeom>
          <a:solidFill>
            <a:srgbClr val="0E3453">
              <a:alpha val="85000"/>
            </a:srgbClr>
          </a:solidFill>
          <a:ln w="9525">
            <a:solidFill>
              <a:srgbClr val="24617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0" y="1943100"/>
            <a:ext cx="594360" cy="594360"/>
          </a:xfrm>
          <a:prstGeom prst="ellipse">
            <a:avLst/>
          </a:prstGeom>
          <a:solidFill>
            <a:srgbClr val="2EC4C9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7846" y="2085746"/>
            <a:ext cx="309067" cy="309067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138160" y="194310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2EC4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CAPÍTULO 1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8138160" y="2153412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Presentación del proyecto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7086600" y="2948940"/>
            <a:ext cx="4526280" cy="960120"/>
          </a:xfrm>
          <a:prstGeom prst="roundRect">
            <a:avLst>
              <a:gd name="adj" fmla="val 11429"/>
            </a:avLst>
          </a:prstGeom>
          <a:solidFill>
            <a:srgbClr val="0E3453">
              <a:alpha val="85000"/>
            </a:srgbClr>
          </a:solidFill>
          <a:ln w="9525">
            <a:solidFill>
              <a:srgbClr val="24617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315200" y="3131820"/>
            <a:ext cx="594360" cy="594360"/>
          </a:xfrm>
          <a:prstGeom prst="ellipse">
            <a:avLst/>
          </a:prstGeom>
          <a:solidFill>
            <a:srgbClr val="2EC4C9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7846" y="3274466"/>
            <a:ext cx="309067" cy="309067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8138160" y="313182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2EC4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CAPÍTULO 2</a:t>
            </a:r>
            <a:endParaRPr lang="en-US" sz="850" dirty="0"/>
          </a:p>
        </p:txBody>
      </p:sp>
      <p:sp>
        <p:nvSpPr>
          <p:cNvPr id="15" name="Text 11"/>
          <p:cNvSpPr txBox="1"/>
          <p:nvPr/>
        </p:nvSpPr>
        <p:spPr>
          <a:xfrm>
            <a:off x="8138160" y="3342132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Análisis de necesidades y requerimientos</a:t>
            </a:r>
            <a:endParaRPr lang="en-US" sz="1450" dirty="0"/>
          </a:p>
        </p:txBody>
      </p:sp>
      <p:sp>
        <p:nvSpPr>
          <p:cNvPr id="16" name="Shape 12"/>
          <p:cNvSpPr/>
          <p:nvPr/>
        </p:nvSpPr>
        <p:spPr>
          <a:xfrm>
            <a:off x="7086600" y="4137660"/>
            <a:ext cx="4526280" cy="960120"/>
          </a:xfrm>
          <a:prstGeom prst="roundRect">
            <a:avLst>
              <a:gd name="adj" fmla="val 11429"/>
            </a:avLst>
          </a:prstGeom>
          <a:solidFill>
            <a:srgbClr val="0E3453">
              <a:alpha val="85000"/>
            </a:srgbClr>
          </a:solidFill>
          <a:ln w="9525">
            <a:solidFill>
              <a:srgbClr val="24617E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7315200" y="4320540"/>
            <a:ext cx="594360" cy="594360"/>
          </a:xfrm>
          <a:prstGeom prst="ellipse">
            <a:avLst/>
          </a:prstGeom>
          <a:solidFill>
            <a:srgbClr val="2EC4C9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7846" y="4463186"/>
            <a:ext cx="309067" cy="309067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138160" y="432054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2EC4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CAPÍTULO 3</a:t>
            </a:r>
            <a:endParaRPr lang="en-US" sz="850" dirty="0"/>
          </a:p>
        </p:txBody>
      </p:sp>
      <p:sp>
        <p:nvSpPr>
          <p:cNvPr id="20" name="Text 15"/>
          <p:cNvSpPr txBox="1"/>
          <p:nvPr/>
        </p:nvSpPr>
        <p:spPr>
          <a:xfrm>
            <a:off x="8138160" y="4530852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Modelos iniciales del sistema</a:t>
            </a:r>
            <a:endParaRPr lang="en-US" sz="1450" dirty="0"/>
          </a:p>
        </p:txBody>
      </p:sp>
      <p:sp>
        <p:nvSpPr>
          <p:cNvPr id="21" name="Text 16"/>
          <p:cNvSpPr txBox="1"/>
          <p:nvPr/>
        </p:nvSpPr>
        <p:spPr>
          <a:xfrm>
            <a:off x="548640" y="641908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7FA7B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VIDA SUBMARINA · SISEP</a:t>
            </a:r>
            <a:endParaRPr lang="en-US" sz="750" dirty="0"/>
          </a:p>
        </p:txBody>
      </p:sp>
      <p:sp>
        <p:nvSpPr>
          <p:cNvPr id="22" name="Text 17"/>
          <p:cNvSpPr txBox="1"/>
          <p:nvPr/>
        </p:nvSpPr>
        <p:spPr>
          <a:xfrm>
            <a:off x="11091672" y="641908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A8ECE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3538728" cy="274320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3538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CAPÍTULO 1 · PRESENTACIÓN DEL PROYECTO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ODS vinculado: ODS 14 — Vida submarina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3017520" cy="3017520"/>
          </a:xfrm>
          <a:prstGeom prst="roundRect">
            <a:avLst>
              <a:gd name="adj" fmla="val 4848"/>
            </a:avLst>
          </a:prstGeom>
          <a:solidFill>
            <a:srgbClr val="0A97D9"/>
          </a:solidFill>
          <a:ln/>
          <a:effectLst>
            <a:outerShdw sx="100000" sy="100000" kx="0" ky="0" algn="bl" rotWithShape="0" blurRad="152400" dist="38100" dir="5400000">
              <a:srgbClr val="0B1D2E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7240" y="18745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OBJETIVO DE DESARROLLO SOSTENIBLE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148840"/>
            <a:ext cx="2651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14</a:t>
            </a:r>
            <a:endParaRPr lang="en-US" sz="10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7033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VIDA</a:t>
            </a:r>
            <a:endParaRPr lang="en-US" sz="15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SUBMARINA</a:t>
            </a:r>
            <a:endParaRPr lang="en-US" sz="15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3794760"/>
            <a:ext cx="566928" cy="56692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3931920" y="169164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4C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“Conservar y utilizar sosteniblemente los océanos, los mares y los recursos marinos para el desarrollo sostenible.” [1]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3931920" y="265176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La implementación de SISEP en el Perú se alinea con el ODS 14 e impulsa la sostenibilidad pesquera en sus tres dimensiones, garantizando que las próximas generaciones puedan seguir beneficiándose de los recursos marinos.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3931920" y="3749040"/>
            <a:ext cx="7680960" cy="960120"/>
          </a:xfrm>
          <a:prstGeom prst="roundRect">
            <a:avLst>
              <a:gd name="adj" fmla="val 11429"/>
            </a:avLst>
          </a:prstGeom>
          <a:solidFill>
            <a:srgbClr val="E3F4F6"/>
          </a:solidFill>
          <a:ln/>
        </p:spPr>
      </p:sp>
      <p:sp>
        <p:nvSpPr>
          <p:cNvPr id="13" name="Shape 10"/>
          <p:cNvSpPr/>
          <p:nvPr/>
        </p:nvSpPr>
        <p:spPr>
          <a:xfrm>
            <a:off x="4114800" y="3931920"/>
            <a:ext cx="594360" cy="5943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7446" y="4074566"/>
            <a:ext cx="309067" cy="309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892040" y="3858768"/>
            <a:ext cx="6537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Meta 14.4 </a:t>
            </a:r>
            <a:pPr indent="0" marL="0">
              <a:buNone/>
            </a:pPr>
            <a:r>
              <a:rPr lang="en-US" sz="12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Reglamentar la explotación pesquera y poner fin a la pesca excesiva y a la pesca ilegal, no declarada y no reglamentada: justo lo que SISEP ayuda a controlar. [1]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548640" y="4983480"/>
            <a:ext cx="3566160" cy="114300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77240" y="5257800"/>
            <a:ext cx="594360" cy="594360"/>
          </a:xfrm>
          <a:prstGeom prst="ellipse">
            <a:avLst/>
          </a:prstGeom>
          <a:solidFill>
            <a:srgbClr val="2EC4C9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886" y="5400446"/>
            <a:ext cx="309067" cy="309067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554480" y="516636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DIMENSIÓN ECONÓMICA</a:t>
            </a:r>
            <a:endParaRPr lang="en-US" sz="900" dirty="0"/>
          </a:p>
        </p:txBody>
      </p:sp>
      <p:sp>
        <p:nvSpPr>
          <p:cNvPr id="20" name="Text 15"/>
          <p:cNvSpPr txBox="1"/>
          <p:nvPr/>
        </p:nvSpPr>
        <p:spPr>
          <a:xfrm>
            <a:off x="1554480" y="5413248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Impulsa el desarrollo económico de las comunidades costeras.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4297680" y="4983480"/>
            <a:ext cx="3566160" cy="114300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4526280" y="5257800"/>
            <a:ext cx="594360" cy="594360"/>
          </a:xfrm>
          <a:prstGeom prst="ellipse">
            <a:avLst/>
          </a:prstGeom>
          <a:solidFill>
            <a:srgbClr val="2EC4C9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8926" y="5400446"/>
            <a:ext cx="309067" cy="309067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5303520" y="516636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DIMENSIÓN AMBIENTAL</a:t>
            </a:r>
            <a:endParaRPr lang="en-US" sz="900" dirty="0"/>
          </a:p>
        </p:txBody>
      </p:sp>
      <p:sp>
        <p:nvSpPr>
          <p:cNvPr id="25" name="Text 19"/>
          <p:cNvSpPr txBox="1"/>
          <p:nvPr/>
        </p:nvSpPr>
        <p:spPr>
          <a:xfrm>
            <a:off x="5303520" y="5413248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Protege el ecosistema marino y la biodiversidad nacional.</a:t>
            </a:r>
            <a:endParaRPr lang="en-US" sz="1150" dirty="0"/>
          </a:p>
        </p:txBody>
      </p:sp>
      <p:sp>
        <p:nvSpPr>
          <p:cNvPr id="26" name="Shape 20"/>
          <p:cNvSpPr/>
          <p:nvPr/>
        </p:nvSpPr>
        <p:spPr>
          <a:xfrm>
            <a:off x="8046720" y="4983480"/>
            <a:ext cx="3566160" cy="114300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8275320" y="5257800"/>
            <a:ext cx="594360" cy="594360"/>
          </a:xfrm>
          <a:prstGeom prst="ellipse">
            <a:avLst/>
          </a:prstGeom>
          <a:solidFill>
            <a:srgbClr val="2EC4C9"/>
          </a:solidFill>
          <a:ln/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7966" y="5400446"/>
            <a:ext cx="309067" cy="309067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9052560" y="516636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DIMENSIÓN SOCIAL</a:t>
            </a:r>
            <a:endParaRPr lang="en-US" sz="900" dirty="0"/>
          </a:p>
        </p:txBody>
      </p:sp>
      <p:sp>
        <p:nvSpPr>
          <p:cNvPr id="30" name="Text 23"/>
          <p:cNvSpPr txBox="1"/>
          <p:nvPr/>
        </p:nvSpPr>
        <p:spPr>
          <a:xfrm>
            <a:off x="9052560" y="5413248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Asegura que las próximas generaciones sigan beneficiándose del mar.</a:t>
            </a:r>
            <a:endParaRPr lang="en-US" sz="1150" dirty="0"/>
          </a:p>
        </p:txBody>
      </p:sp>
      <p:sp>
        <p:nvSpPr>
          <p:cNvPr id="31" name="Text 24"/>
          <p:cNvSpPr txBox="1"/>
          <p:nvPr/>
        </p:nvSpPr>
        <p:spPr>
          <a:xfrm>
            <a:off x="548640" y="641908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9AAAB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VIDA SUBMARINA · SISEP</a:t>
            </a:r>
            <a:endParaRPr lang="en-US" sz="750" dirty="0"/>
          </a:p>
        </p:txBody>
      </p:sp>
      <p:sp>
        <p:nvSpPr>
          <p:cNvPr id="32" name="Text 25"/>
          <p:cNvSpPr txBox="1"/>
          <p:nvPr/>
        </p:nvSpPr>
        <p:spPr>
          <a:xfrm>
            <a:off x="11091672" y="641908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_dark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0"/>
            <a:ext cx="448056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411480"/>
            <a:ext cx="3456432" cy="274320"/>
          </a:xfrm>
          <a:prstGeom prst="roundRect">
            <a:avLst>
              <a:gd name="adj" fmla="val 50000"/>
            </a:avLst>
          </a:prstGeom>
          <a:solidFill>
            <a:srgbClr val="123E5B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548640" y="411480"/>
            <a:ext cx="3456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A8ECE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CAPÍTULO 1 · INSTITUCIÓN BENEFICIARIA</a:t>
            </a:r>
            <a:endParaRPr lang="en-US" sz="850" dirty="0"/>
          </a:p>
        </p:txBody>
      </p:sp>
      <p:sp>
        <p:nvSpPr>
          <p:cNvPr id="5" name="Shape 2"/>
          <p:cNvSpPr/>
          <p:nvPr/>
        </p:nvSpPr>
        <p:spPr>
          <a:xfrm>
            <a:off x="548640" y="1188720"/>
            <a:ext cx="822960" cy="822960"/>
          </a:xfrm>
          <a:prstGeom prst="ellipse">
            <a:avLst/>
          </a:prstGeom>
          <a:solidFill>
            <a:srgbClr val="2EC4C9"/>
          </a:solidFill>
          <a:ln/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150" y="1386230"/>
            <a:ext cx="427939" cy="427939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21945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IMARPE</a:t>
            </a:r>
            <a:endParaRPr lang="en-US" sz="4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926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A8ECE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Instituto del Mar del Perú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342900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9DEE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Institución dedicada a la investigación y al seguimiento de los recursos pesqueros del país. [4]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548640" y="4526280"/>
            <a:ext cx="3383280" cy="0"/>
          </a:xfrm>
          <a:prstGeom prst="line">
            <a:avLst/>
          </a:prstGeom>
          <a:noFill/>
          <a:ln w="9525">
            <a:solidFill>
              <a:srgbClr val="24617E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48640" y="47091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2EC4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 ALIANZA CON</a:t>
            </a:r>
            <a:endParaRPr lang="en-US" sz="850" dirty="0"/>
          </a:p>
        </p:txBody>
      </p:sp>
      <p:sp>
        <p:nvSpPr>
          <p:cNvPr id="12" name="Shape 8"/>
          <p:cNvSpPr/>
          <p:nvPr/>
        </p:nvSpPr>
        <p:spPr>
          <a:xfrm>
            <a:off x="548640" y="5074920"/>
            <a:ext cx="502920" cy="502920"/>
          </a:xfrm>
          <a:prstGeom prst="ellipse">
            <a:avLst/>
          </a:prstGeom>
          <a:solidFill>
            <a:srgbClr val="123E5B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341" y="5195621"/>
            <a:ext cx="261518" cy="26151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234440" y="502920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PRODUCE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C9DEE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Ministerio de la Producción: co-gestiona la plataforma central de SISEP. [5]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5029200" y="68580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¿Por qué IMARPE es el principal beneficiario?</a:t>
            </a:r>
            <a:endParaRPr lang="en-US" sz="2600" dirty="0"/>
          </a:p>
        </p:txBody>
      </p:sp>
      <p:sp>
        <p:nvSpPr>
          <p:cNvPr id="16" name="Text 11"/>
          <p:cNvSpPr txBox="1"/>
          <p:nvPr/>
        </p:nvSpPr>
        <p:spPr>
          <a:xfrm>
            <a:off x="5029200" y="1645920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Su rol en la investigación de los recursos pesqueros lo convierte en el usuario que más valor obtiene del sistema.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5029200" y="2331720"/>
            <a:ext cx="658368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5230368" y="2487168"/>
            <a:ext cx="557784" cy="557784"/>
          </a:xfrm>
          <a:prstGeom prst="ellipse">
            <a:avLst/>
          </a:prstGeom>
          <a:solidFill>
            <a:srgbClr val="E3F4F6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64236" y="2621036"/>
            <a:ext cx="290048" cy="290048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5989320" y="2459736"/>
            <a:ext cx="5394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Datos en tiempo real</a:t>
            </a:r>
            <a:endParaRPr lang="en-US" sz="1350" dirty="0"/>
          </a:p>
        </p:txBody>
      </p:sp>
      <p:sp>
        <p:nvSpPr>
          <p:cNvPr id="21" name="Text 15"/>
          <p:cNvSpPr txBox="1"/>
          <p:nvPr/>
        </p:nvSpPr>
        <p:spPr>
          <a:xfrm>
            <a:off x="5989320" y="2770632"/>
            <a:ext cx="5440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Especies capturadas, áreas de faena y tallas permitidas, al instante.</a:t>
            </a:r>
            <a:endParaRPr lang="en-US" sz="1150" dirty="0"/>
          </a:p>
        </p:txBody>
      </p:sp>
      <p:sp>
        <p:nvSpPr>
          <p:cNvPr id="22" name="Shape 16"/>
          <p:cNvSpPr/>
          <p:nvPr/>
        </p:nvSpPr>
        <p:spPr>
          <a:xfrm>
            <a:off x="5029200" y="3319272"/>
            <a:ext cx="658368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5230368" y="3474720"/>
            <a:ext cx="557784" cy="557784"/>
          </a:xfrm>
          <a:prstGeom prst="ellipse">
            <a:avLst/>
          </a:prstGeom>
          <a:solidFill>
            <a:srgbClr val="E3F4F6"/>
          </a:solidFill>
          <a:ln/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4236" y="3608588"/>
            <a:ext cx="290048" cy="290048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5989320" y="3447288"/>
            <a:ext cx="5394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Vedas y cuotas más precisas</a:t>
            </a:r>
            <a:endParaRPr lang="en-US" sz="1350" dirty="0"/>
          </a:p>
        </p:txBody>
      </p:sp>
      <p:sp>
        <p:nvSpPr>
          <p:cNvPr id="26" name="Text 19"/>
          <p:cNvSpPr txBox="1"/>
          <p:nvPr/>
        </p:nvSpPr>
        <p:spPr>
          <a:xfrm>
            <a:off x="5989320" y="3758184"/>
            <a:ext cx="5440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Mejor base para definir periodos de veda y cuotas de extracción.</a:t>
            </a:r>
            <a:endParaRPr lang="en-US" sz="1150" dirty="0"/>
          </a:p>
        </p:txBody>
      </p:sp>
      <p:sp>
        <p:nvSpPr>
          <p:cNvPr id="27" name="Shape 20"/>
          <p:cNvSpPr/>
          <p:nvPr/>
        </p:nvSpPr>
        <p:spPr>
          <a:xfrm>
            <a:off x="5029200" y="4306824"/>
            <a:ext cx="658368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28" name="Shape 21"/>
          <p:cNvSpPr/>
          <p:nvPr/>
        </p:nvSpPr>
        <p:spPr>
          <a:xfrm>
            <a:off x="5230368" y="4462272"/>
            <a:ext cx="557784" cy="557784"/>
          </a:xfrm>
          <a:prstGeom prst="ellipse">
            <a:avLst/>
          </a:prstGeom>
          <a:solidFill>
            <a:srgbClr val="E3F4F6"/>
          </a:solidFill>
          <a:ln/>
        </p:spPr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64236" y="4596140"/>
            <a:ext cx="290048" cy="290048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5989320" y="4434840"/>
            <a:ext cx="5394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Biodiversidad protegida</a:t>
            </a:r>
            <a:endParaRPr lang="en-US" sz="1350" dirty="0"/>
          </a:p>
        </p:txBody>
      </p:sp>
      <p:sp>
        <p:nvSpPr>
          <p:cNvPr id="31" name="Text 23"/>
          <p:cNvSpPr txBox="1"/>
          <p:nvPr/>
        </p:nvSpPr>
        <p:spPr>
          <a:xfrm>
            <a:off x="5989320" y="4745736"/>
            <a:ext cx="5440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Aporta a la protección de la biodiversidad marina nacional.</a:t>
            </a:r>
            <a:endParaRPr lang="en-US" sz="1150" dirty="0"/>
          </a:p>
        </p:txBody>
      </p:sp>
      <p:sp>
        <p:nvSpPr>
          <p:cNvPr id="32" name="Shape 24"/>
          <p:cNvSpPr/>
          <p:nvPr/>
        </p:nvSpPr>
        <p:spPr>
          <a:xfrm>
            <a:off x="5029200" y="5294376"/>
            <a:ext cx="658368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33" name="Shape 25"/>
          <p:cNvSpPr/>
          <p:nvPr/>
        </p:nvSpPr>
        <p:spPr>
          <a:xfrm>
            <a:off x="5230368" y="5449824"/>
            <a:ext cx="557784" cy="557784"/>
          </a:xfrm>
          <a:prstGeom prst="ellipse">
            <a:avLst/>
          </a:prstGeom>
          <a:solidFill>
            <a:srgbClr val="E3F4F6"/>
          </a:solidFill>
          <a:ln/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64236" y="5583692"/>
            <a:ext cx="290048" cy="290048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5989320" y="5422392"/>
            <a:ext cx="5394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Pesca responsable</a:t>
            </a:r>
            <a:endParaRPr lang="en-US" sz="1350" dirty="0"/>
          </a:p>
        </p:txBody>
      </p:sp>
      <p:sp>
        <p:nvSpPr>
          <p:cNvPr id="36" name="Text 27"/>
          <p:cNvSpPr txBox="1"/>
          <p:nvPr/>
        </p:nvSpPr>
        <p:spPr>
          <a:xfrm>
            <a:off x="5989320" y="5733288"/>
            <a:ext cx="5440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Favorece una pesca que beneficia al país y a sus comunidades pesqueras.</a:t>
            </a:r>
            <a:endParaRPr lang="en-US" sz="1150" dirty="0"/>
          </a:p>
        </p:txBody>
      </p:sp>
      <p:sp>
        <p:nvSpPr>
          <p:cNvPr id="37" name="Text 28"/>
          <p:cNvSpPr txBox="1"/>
          <p:nvPr/>
        </p:nvSpPr>
        <p:spPr>
          <a:xfrm>
            <a:off x="5029200" y="641908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9AAAB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VIDA SUBMARINA · SISEP</a:t>
            </a:r>
            <a:endParaRPr lang="en-US" sz="750" dirty="0"/>
          </a:p>
        </p:txBody>
      </p:sp>
      <p:sp>
        <p:nvSpPr>
          <p:cNvPr id="38" name="Text 29"/>
          <p:cNvSpPr txBox="1"/>
          <p:nvPr/>
        </p:nvSpPr>
        <p:spPr>
          <a:xfrm>
            <a:off x="11091672" y="641908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3209544" cy="274320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3209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CAPÍTULO 1 · PROBLEMA IDENTIFICADO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 mar productivo, bajo presión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17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En el Perú, la actividad pesquera presenta serias dificultades que ponen en riesgo el recurso y a quienes viven de él.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03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E8553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CAUSAS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720840" y="2103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F4C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IMPACTOS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2487168"/>
            <a:ext cx="4892040" cy="1005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688336"/>
            <a:ext cx="603504" cy="603504"/>
          </a:xfrm>
          <a:prstGeom prst="ellipse">
            <a:avLst/>
          </a:prstGeom>
          <a:solidFill>
            <a:srgbClr val="FDECE9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2081" y="2833177"/>
            <a:ext cx="313822" cy="31382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600200" y="26517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Sobreexplotación de especies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1600200" y="2990088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Extracción excesiva que agota las poblaciones marinas.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720840" y="2487168"/>
            <a:ext cx="4892040" cy="1005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949440" y="2688336"/>
            <a:ext cx="603504" cy="603504"/>
          </a:xfrm>
          <a:prstGeom prst="ellipse">
            <a:avLst/>
          </a:prstGeom>
          <a:solidFill>
            <a:srgbClr val="E3F4F6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4281" y="2833177"/>
            <a:ext cx="313822" cy="313822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7772400" y="26517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Biodiversidad marina en riesgo</a:t>
            </a:r>
            <a:endParaRPr lang="en-US" sz="1350" dirty="0"/>
          </a:p>
        </p:txBody>
      </p:sp>
      <p:sp>
        <p:nvSpPr>
          <p:cNvPr id="17" name="Text 13"/>
          <p:cNvSpPr txBox="1"/>
          <p:nvPr/>
        </p:nvSpPr>
        <p:spPr>
          <a:xfrm>
            <a:off x="7772400" y="2990088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 debilita el equilibrio de los ecosistemas.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548640" y="3675888"/>
            <a:ext cx="4892040" cy="1005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777240" y="3877056"/>
            <a:ext cx="603504" cy="603504"/>
          </a:xfrm>
          <a:prstGeom prst="ellipse">
            <a:avLst/>
          </a:prstGeom>
          <a:solidFill>
            <a:srgbClr val="FDECE9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081" y="4021897"/>
            <a:ext cx="313822" cy="313822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600200" y="3840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Pesca no regulada e ilegal</a:t>
            </a:r>
            <a:endParaRPr lang="en-US" sz="1350" dirty="0"/>
          </a:p>
        </p:txBody>
      </p:sp>
      <p:sp>
        <p:nvSpPr>
          <p:cNvPr id="22" name="Text 17"/>
          <p:cNvSpPr txBox="1"/>
          <p:nvPr/>
        </p:nvSpPr>
        <p:spPr>
          <a:xfrm>
            <a:off x="1600200" y="4178808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Capturas que escapan al control y a la normativa.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6720840" y="3675888"/>
            <a:ext cx="4892040" cy="1005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949440" y="3877056"/>
            <a:ext cx="603504" cy="603504"/>
          </a:xfrm>
          <a:prstGeom prst="ellipse">
            <a:avLst/>
          </a:prstGeom>
          <a:solidFill>
            <a:srgbClr val="E3F4F6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94281" y="4021897"/>
            <a:ext cx="313822" cy="313822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7772400" y="3840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Sostenibilidad futura limitada</a:t>
            </a:r>
            <a:endParaRPr lang="en-US" sz="1350" dirty="0"/>
          </a:p>
        </p:txBody>
      </p:sp>
      <p:sp>
        <p:nvSpPr>
          <p:cNvPr id="27" name="Text 21"/>
          <p:cNvSpPr txBox="1"/>
          <p:nvPr/>
        </p:nvSpPr>
        <p:spPr>
          <a:xfrm>
            <a:off x="7772400" y="4178808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Menos recursos para las próximas generaciones.</a:t>
            </a:r>
            <a:endParaRPr lang="en-US" sz="1150" dirty="0"/>
          </a:p>
        </p:txBody>
      </p:sp>
      <p:sp>
        <p:nvSpPr>
          <p:cNvPr id="28" name="Shape 22"/>
          <p:cNvSpPr/>
          <p:nvPr/>
        </p:nvSpPr>
        <p:spPr>
          <a:xfrm>
            <a:off x="548640" y="4864608"/>
            <a:ext cx="4892040" cy="1005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777240" y="5065776"/>
            <a:ext cx="603504" cy="603504"/>
          </a:xfrm>
          <a:prstGeom prst="ellipse">
            <a:avLst/>
          </a:prstGeom>
          <a:solidFill>
            <a:srgbClr val="FDECE9"/>
          </a:solidFill>
          <a:ln/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2081" y="5210617"/>
            <a:ext cx="313822" cy="313822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1600200" y="5029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Sin monitoreo inmediato</a:t>
            </a:r>
            <a:endParaRPr lang="en-US" sz="1350" dirty="0"/>
          </a:p>
        </p:txBody>
      </p:sp>
      <p:sp>
        <p:nvSpPr>
          <p:cNvPr id="32" name="Text 25"/>
          <p:cNvSpPr txBox="1"/>
          <p:nvPr/>
        </p:nvSpPr>
        <p:spPr>
          <a:xfrm>
            <a:off x="1600200" y="5367528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No se sabe a tiempo qué se captura ni en qué áreas de faena.</a:t>
            </a:r>
            <a:endParaRPr lang="en-US" sz="1150" dirty="0"/>
          </a:p>
        </p:txBody>
      </p:sp>
      <p:sp>
        <p:nvSpPr>
          <p:cNvPr id="33" name="Shape 26"/>
          <p:cNvSpPr/>
          <p:nvPr/>
        </p:nvSpPr>
        <p:spPr>
          <a:xfrm>
            <a:off x="6720840" y="4864608"/>
            <a:ext cx="4892040" cy="1005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6949440" y="5065776"/>
            <a:ext cx="603504" cy="603504"/>
          </a:xfrm>
          <a:prstGeom prst="ellipse">
            <a:avLst/>
          </a:prstGeom>
          <a:solidFill>
            <a:srgbClr val="E3F4F6"/>
          </a:solidFill>
          <a:ln/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94281" y="5210617"/>
            <a:ext cx="313822" cy="313822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7772400" y="5029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Comunidades costeras afectadas</a:t>
            </a:r>
            <a:endParaRPr lang="en-US" sz="1350" dirty="0"/>
          </a:p>
        </p:txBody>
      </p:sp>
      <p:sp>
        <p:nvSpPr>
          <p:cNvPr id="37" name="Text 29"/>
          <p:cNvSpPr txBox="1"/>
          <p:nvPr/>
        </p:nvSpPr>
        <p:spPr>
          <a:xfrm>
            <a:off x="7772400" y="5367528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Su subsistencia y economía dependen de la pesca.</a:t>
            </a:r>
            <a:endParaRPr lang="en-US" sz="1150" dirty="0"/>
          </a:p>
        </p:txBody>
      </p:sp>
      <p:sp>
        <p:nvSpPr>
          <p:cNvPr id="38" name="Shape 30"/>
          <p:cNvSpPr/>
          <p:nvPr/>
        </p:nvSpPr>
        <p:spPr>
          <a:xfrm>
            <a:off x="5669280" y="3611880"/>
            <a:ext cx="822960" cy="822960"/>
          </a:xfrm>
          <a:prstGeom prst="ellipse">
            <a:avLst/>
          </a:prstGeom>
          <a:solidFill>
            <a:srgbClr val="0B2A45"/>
          </a:solidFill>
          <a:ln/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pic>
        <p:nvPicPr>
          <p:cNvPr id="39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99709" y="3842309"/>
            <a:ext cx="362102" cy="362102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548640" y="641908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9AAAB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VIDA SUBMARINA · SISEP</a:t>
            </a:r>
            <a:endParaRPr lang="en-US" sz="750" dirty="0"/>
          </a:p>
        </p:txBody>
      </p:sp>
      <p:sp>
        <p:nvSpPr>
          <p:cNvPr id="41" name="Text 32"/>
          <p:cNvSpPr txBox="1"/>
          <p:nvPr/>
        </p:nvSpPr>
        <p:spPr>
          <a:xfrm>
            <a:off x="11091672" y="641908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962656" cy="274320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296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CAPÍTULO 1 · SOLUCIÓN PROPUESTA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Solución propuesta: SISEP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481328"/>
            <a:ext cx="2395728" cy="365760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1554480"/>
            <a:ext cx="219456" cy="2194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60120" y="1481328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Innovación tecnológica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081528" y="1481328"/>
            <a:ext cx="2318004" cy="365760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9544" y="1554480"/>
            <a:ext cx="219456" cy="21945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493008" y="1481328"/>
            <a:ext cx="18608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Gestión gubernamental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536692" y="1481328"/>
            <a:ext cx="2162556" cy="365760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4708" y="1554480"/>
            <a:ext cx="219456" cy="21945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948172" y="1481328"/>
            <a:ext cx="17053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Participación local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548640" y="2194560"/>
            <a:ext cx="2834640" cy="219456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777240" y="2395728"/>
            <a:ext cx="640080" cy="640080"/>
          </a:xfrm>
          <a:prstGeom prst="ellipse">
            <a:avLst/>
          </a:prstGeom>
          <a:solidFill>
            <a:srgbClr val="0B2A45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0859" y="2549347"/>
            <a:ext cx="332842" cy="332842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77240" y="312724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Embarcaciones</a:t>
            </a:r>
            <a:endParaRPr lang="en-US" sz="1400" dirty="0"/>
          </a:p>
        </p:txBody>
      </p:sp>
      <p:sp>
        <p:nvSpPr>
          <p:cNvPr id="18" name="Text 12"/>
          <p:cNvSpPr txBox="1"/>
          <p:nvPr/>
        </p:nvSpPr>
        <p:spPr>
          <a:xfrm>
            <a:off x="777240" y="347472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GPS a bordo</a:t>
            </a:r>
            <a:endParaRPr lang="en-US" sz="11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Bitácora y registros digitales</a:t>
            </a:r>
            <a:endParaRPr lang="en-US" sz="11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Fotos de las capturas</a:t>
            </a:r>
            <a:endParaRPr lang="en-US" sz="1150" dirty="0"/>
          </a:p>
        </p:txBody>
      </p:sp>
      <p:sp>
        <p:nvSpPr>
          <p:cNvPr id="19" name="Shape 13"/>
          <p:cNvSpPr/>
          <p:nvPr/>
        </p:nvSpPr>
        <p:spPr>
          <a:xfrm>
            <a:off x="4069080" y="2011680"/>
            <a:ext cx="4069080" cy="2560320"/>
          </a:xfrm>
          <a:prstGeom prst="roundRect">
            <a:avLst>
              <a:gd name="adj" fmla="val 5714"/>
            </a:avLst>
          </a:prstGeom>
          <a:solidFill>
            <a:srgbClr val="071A2C"/>
          </a:solidFill>
          <a:ln/>
          <a:effectLst>
            <a:outerShdw sx="100000" sy="100000" kx="0" ky="0" algn="bl" rotWithShape="0" blurRad="228600" dist="38100" dir="5400000">
              <a:srgbClr val="0B1D2E">
                <a:alpha val="25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4343400" y="221284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2EC4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PLATAFORMA CENTRAL</a:t>
            </a:r>
            <a:endParaRPr lang="en-US" sz="900" dirty="0"/>
          </a:p>
        </p:txBody>
      </p:sp>
      <p:sp>
        <p:nvSpPr>
          <p:cNvPr id="21" name="Text 15"/>
          <p:cNvSpPr txBox="1"/>
          <p:nvPr/>
        </p:nvSpPr>
        <p:spPr>
          <a:xfrm>
            <a:off x="4343400" y="248716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IMARPE · PRODUCE</a:t>
            </a:r>
            <a:endParaRPr lang="en-US" sz="2100" dirty="0"/>
          </a:p>
        </p:txBody>
      </p:sp>
      <p:sp>
        <p:nvSpPr>
          <p:cNvPr id="22" name="Shape 16"/>
          <p:cNvSpPr/>
          <p:nvPr/>
        </p:nvSpPr>
        <p:spPr>
          <a:xfrm>
            <a:off x="4572000" y="3154680"/>
            <a:ext cx="548640" cy="548640"/>
          </a:xfrm>
          <a:prstGeom prst="ellipse">
            <a:avLst/>
          </a:prstGeom>
          <a:solidFill>
            <a:srgbClr val="123E5B"/>
          </a:solidFill>
          <a:ln/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3674" y="3286354"/>
            <a:ext cx="285293" cy="285293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4343400" y="3767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EE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Validación</a:t>
            </a:r>
            <a:endParaRPr lang="en-US" sz="1050" dirty="0"/>
          </a:p>
        </p:txBody>
      </p:sp>
      <p:sp>
        <p:nvSpPr>
          <p:cNvPr id="25" name="Shape 18"/>
          <p:cNvSpPr/>
          <p:nvPr/>
        </p:nvSpPr>
        <p:spPr>
          <a:xfrm>
            <a:off x="5760720" y="3154680"/>
            <a:ext cx="548640" cy="548640"/>
          </a:xfrm>
          <a:prstGeom prst="ellipse">
            <a:avLst/>
          </a:prstGeom>
          <a:solidFill>
            <a:srgbClr val="123E5B"/>
          </a:solidFill>
          <a:ln/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92394" y="3286354"/>
            <a:ext cx="285293" cy="285293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5532120" y="3767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EE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Alertas</a:t>
            </a:r>
            <a:endParaRPr lang="en-US" sz="1050" dirty="0"/>
          </a:p>
        </p:txBody>
      </p:sp>
      <p:sp>
        <p:nvSpPr>
          <p:cNvPr id="28" name="Shape 20"/>
          <p:cNvSpPr/>
          <p:nvPr/>
        </p:nvSpPr>
        <p:spPr>
          <a:xfrm>
            <a:off x="6949440" y="3154680"/>
            <a:ext cx="548640" cy="548640"/>
          </a:xfrm>
          <a:prstGeom prst="ellipse">
            <a:avLst/>
          </a:prstGeom>
          <a:solidFill>
            <a:srgbClr val="123E5B"/>
          </a:solidFill>
          <a:ln/>
        </p:spPr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81114" y="3286354"/>
            <a:ext cx="285293" cy="285293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6720840" y="3767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EE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Reportes</a:t>
            </a:r>
            <a:endParaRPr lang="en-US" sz="1050" dirty="0"/>
          </a:p>
        </p:txBody>
      </p:sp>
      <p:sp>
        <p:nvSpPr>
          <p:cNvPr id="31" name="Shape 22"/>
          <p:cNvSpPr/>
          <p:nvPr/>
        </p:nvSpPr>
        <p:spPr>
          <a:xfrm>
            <a:off x="8823960" y="2194560"/>
            <a:ext cx="2788920" cy="219456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32" name="Shape 23"/>
          <p:cNvSpPr/>
          <p:nvPr/>
        </p:nvSpPr>
        <p:spPr>
          <a:xfrm>
            <a:off x="9052560" y="2395728"/>
            <a:ext cx="640080" cy="640080"/>
          </a:xfrm>
          <a:prstGeom prst="ellipse">
            <a:avLst/>
          </a:prstGeom>
          <a:solidFill>
            <a:srgbClr val="2EC4C9"/>
          </a:solidFill>
          <a:ln/>
        </p:spPr>
      </p:sp>
      <p:pic>
        <p:nvPicPr>
          <p:cNvPr id="33" name="Image 7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06179" y="2549347"/>
            <a:ext cx="332842" cy="332842"/>
          </a:xfrm>
          <a:prstGeom prst="rect">
            <a:avLst/>
          </a:prstGeom>
        </p:spPr>
      </p:pic>
      <p:sp>
        <p:nvSpPr>
          <p:cNvPr id="34" name="Text 24"/>
          <p:cNvSpPr txBox="1"/>
          <p:nvPr/>
        </p:nvSpPr>
        <p:spPr>
          <a:xfrm>
            <a:off x="9052560" y="312724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Trazabilidad</a:t>
            </a:r>
            <a:endParaRPr lang="en-US" sz="1400" dirty="0"/>
          </a:p>
        </p:txBody>
      </p:sp>
      <p:sp>
        <p:nvSpPr>
          <p:cNvPr id="35" name="Text 25"/>
          <p:cNvSpPr txBox="1"/>
          <p:nvPr/>
        </p:nvSpPr>
        <p:spPr>
          <a:xfrm>
            <a:off x="9052560" y="347472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QR único por lote</a:t>
            </a:r>
            <a:endParaRPr lang="en-US" sz="11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Procedencia legal y responsable</a:t>
            </a:r>
            <a:endParaRPr lang="en-US" sz="11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Verificable por el mercado</a:t>
            </a:r>
            <a:endParaRPr lang="en-US" sz="1150" dirty="0"/>
          </a:p>
        </p:txBody>
      </p:sp>
      <p:sp>
        <p:nvSpPr>
          <p:cNvPr id="36" name="Shape 26"/>
          <p:cNvSpPr/>
          <p:nvPr/>
        </p:nvSpPr>
        <p:spPr>
          <a:xfrm rot="5400000">
            <a:off x="3886200" y="3223260"/>
            <a:ext cx="137160" cy="137160"/>
          </a:xfrm>
          <a:prstGeom prst="triangle">
            <a:avLst/>
          </a:prstGeom>
          <a:solidFill>
            <a:srgbClr val="0F4C6B"/>
          </a:solidFill>
          <a:ln/>
        </p:spPr>
      </p:sp>
      <p:sp>
        <p:nvSpPr>
          <p:cNvPr id="37" name="Shape 27"/>
          <p:cNvSpPr/>
          <p:nvPr/>
        </p:nvSpPr>
        <p:spPr>
          <a:xfrm>
            <a:off x="3429000" y="3291840"/>
            <a:ext cx="525780" cy="0"/>
          </a:xfrm>
          <a:prstGeom prst="line">
            <a:avLst/>
          </a:prstGeom>
          <a:noFill/>
          <a:ln w="25400">
            <a:solidFill>
              <a:srgbClr val="0F4C6B"/>
            </a:solidFill>
            <a:prstDash val="solid"/>
          </a:ln>
        </p:spPr>
      </p:sp>
      <p:sp>
        <p:nvSpPr>
          <p:cNvPr id="38" name="Text 28"/>
          <p:cNvSpPr txBox="1"/>
          <p:nvPr/>
        </p:nvSpPr>
        <p:spPr>
          <a:xfrm>
            <a:off x="3401568" y="2999232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datos</a:t>
            </a:r>
            <a:endParaRPr lang="en-US" sz="900" dirty="0"/>
          </a:p>
        </p:txBody>
      </p:sp>
      <p:sp>
        <p:nvSpPr>
          <p:cNvPr id="39" name="Shape 29"/>
          <p:cNvSpPr/>
          <p:nvPr/>
        </p:nvSpPr>
        <p:spPr>
          <a:xfrm rot="5400000">
            <a:off x="8641080" y="3223260"/>
            <a:ext cx="137160" cy="137160"/>
          </a:xfrm>
          <a:prstGeom prst="triangle">
            <a:avLst/>
          </a:prstGeom>
          <a:solidFill>
            <a:srgbClr val="0F4C6B"/>
          </a:solidFill>
          <a:ln/>
        </p:spPr>
      </p:sp>
      <p:sp>
        <p:nvSpPr>
          <p:cNvPr id="40" name="Shape 30"/>
          <p:cNvSpPr/>
          <p:nvPr/>
        </p:nvSpPr>
        <p:spPr>
          <a:xfrm>
            <a:off x="8183880" y="3291840"/>
            <a:ext cx="525780" cy="0"/>
          </a:xfrm>
          <a:prstGeom prst="line">
            <a:avLst/>
          </a:prstGeom>
          <a:noFill/>
          <a:ln w="25400">
            <a:solidFill>
              <a:srgbClr val="0F4C6B"/>
            </a:solidFill>
            <a:prstDash val="solid"/>
          </a:ln>
        </p:spPr>
      </p:sp>
      <p:sp>
        <p:nvSpPr>
          <p:cNvPr id="41" name="Text 31"/>
          <p:cNvSpPr txBox="1"/>
          <p:nvPr/>
        </p:nvSpPr>
        <p:spPr>
          <a:xfrm>
            <a:off x="8138160" y="299923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certifica</a:t>
            </a:r>
            <a:endParaRPr lang="en-US" sz="900" dirty="0"/>
          </a:p>
        </p:txBody>
      </p:sp>
      <p:sp>
        <p:nvSpPr>
          <p:cNvPr id="42" name="Shape 32"/>
          <p:cNvSpPr/>
          <p:nvPr/>
        </p:nvSpPr>
        <p:spPr>
          <a:xfrm>
            <a:off x="4114800" y="4892040"/>
            <a:ext cx="3977640" cy="457200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pic>
        <p:nvPicPr>
          <p:cNvPr id="43" name="Image 8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97680" y="4983480"/>
            <a:ext cx="274320" cy="274320"/>
          </a:xfrm>
          <a:prstGeom prst="rect">
            <a:avLst/>
          </a:prstGeom>
        </p:spPr>
      </p:pic>
      <p:sp>
        <p:nvSpPr>
          <p:cNvPr id="44" name="Text 33"/>
          <p:cNvSpPr txBox="1"/>
          <p:nvPr/>
        </p:nvSpPr>
        <p:spPr>
          <a:xfrm>
            <a:off x="4663440" y="48920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Sensores marinos + imágenes satelitales</a:t>
            </a:r>
            <a:endParaRPr lang="en-US" sz="1100" dirty="0"/>
          </a:p>
        </p:txBody>
      </p:sp>
      <p:sp>
        <p:nvSpPr>
          <p:cNvPr id="45" name="Shape 34"/>
          <p:cNvSpPr/>
          <p:nvPr/>
        </p:nvSpPr>
        <p:spPr>
          <a:xfrm>
            <a:off x="6030468" y="4617720"/>
            <a:ext cx="137160" cy="137160"/>
          </a:xfrm>
          <a:prstGeom prst="triangle">
            <a:avLst/>
          </a:prstGeom>
          <a:solidFill>
            <a:srgbClr val="0E7C86"/>
          </a:solidFill>
          <a:ln/>
        </p:spPr>
      </p:sp>
      <p:sp>
        <p:nvSpPr>
          <p:cNvPr id="46" name="Shape 35"/>
          <p:cNvSpPr/>
          <p:nvPr/>
        </p:nvSpPr>
        <p:spPr>
          <a:xfrm flipV="1">
            <a:off x="6099048" y="4686300"/>
            <a:ext cx="0" cy="187452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</a:ln>
        </p:spPr>
      </p:sp>
      <p:sp>
        <p:nvSpPr>
          <p:cNvPr id="47" name="Shape 36"/>
          <p:cNvSpPr/>
          <p:nvPr/>
        </p:nvSpPr>
        <p:spPr>
          <a:xfrm>
            <a:off x="548640" y="5687568"/>
            <a:ext cx="365760" cy="365760"/>
          </a:xfrm>
          <a:prstGeom prst="ellipse">
            <a:avLst/>
          </a:prstGeom>
          <a:solidFill>
            <a:srgbClr val="2EC4C9"/>
          </a:solidFill>
          <a:ln/>
        </p:spPr>
      </p:sp>
      <p:pic>
        <p:nvPicPr>
          <p:cNvPr id="48" name="Image 9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9107" y="5768035"/>
            <a:ext cx="204826" cy="204826"/>
          </a:xfrm>
          <a:prstGeom prst="rect">
            <a:avLst/>
          </a:prstGeom>
        </p:spPr>
      </p:pic>
      <p:sp>
        <p:nvSpPr>
          <p:cNvPr id="49" name="Text 37"/>
          <p:cNvSpPr txBox="1"/>
          <p:nvPr/>
        </p:nvSpPr>
        <p:spPr>
          <a:xfrm>
            <a:off x="1051560" y="56875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Combate la pesca ilegal</a:t>
            </a:r>
            <a:endParaRPr lang="en-US" sz="1250" dirty="0"/>
          </a:p>
        </p:txBody>
      </p:sp>
      <p:sp>
        <p:nvSpPr>
          <p:cNvPr id="50" name="Shape 38"/>
          <p:cNvSpPr/>
          <p:nvPr/>
        </p:nvSpPr>
        <p:spPr>
          <a:xfrm>
            <a:off x="4297680" y="5687568"/>
            <a:ext cx="365760" cy="365760"/>
          </a:xfrm>
          <a:prstGeom prst="ellipse">
            <a:avLst/>
          </a:prstGeom>
          <a:solidFill>
            <a:srgbClr val="2EC4C9"/>
          </a:solidFill>
          <a:ln/>
        </p:spPr>
      </p:sp>
      <p:pic>
        <p:nvPicPr>
          <p:cNvPr id="51" name="Image 10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78147" y="5768035"/>
            <a:ext cx="204826" cy="204826"/>
          </a:xfrm>
          <a:prstGeom prst="rect">
            <a:avLst/>
          </a:prstGeom>
        </p:spPr>
      </p:pic>
      <p:sp>
        <p:nvSpPr>
          <p:cNvPr id="52" name="Text 39"/>
          <p:cNvSpPr txBox="1"/>
          <p:nvPr/>
        </p:nvSpPr>
        <p:spPr>
          <a:xfrm>
            <a:off x="4800600" y="56875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Protege el ecosistema marino</a:t>
            </a:r>
            <a:endParaRPr lang="en-US" sz="1250" dirty="0"/>
          </a:p>
        </p:txBody>
      </p:sp>
      <p:sp>
        <p:nvSpPr>
          <p:cNvPr id="53" name="Shape 40"/>
          <p:cNvSpPr/>
          <p:nvPr/>
        </p:nvSpPr>
        <p:spPr>
          <a:xfrm>
            <a:off x="8046720" y="5687568"/>
            <a:ext cx="365760" cy="365760"/>
          </a:xfrm>
          <a:prstGeom prst="ellipse">
            <a:avLst/>
          </a:prstGeom>
          <a:solidFill>
            <a:srgbClr val="2EC4C9"/>
          </a:solidFill>
          <a:ln/>
        </p:spPr>
      </p:sp>
      <p:pic>
        <p:nvPicPr>
          <p:cNvPr id="54" name="Image 11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127187" y="5768035"/>
            <a:ext cx="204826" cy="204826"/>
          </a:xfrm>
          <a:prstGeom prst="rect">
            <a:avLst/>
          </a:prstGeom>
        </p:spPr>
      </p:pic>
      <p:sp>
        <p:nvSpPr>
          <p:cNvPr id="55" name="Text 41"/>
          <p:cNvSpPr txBox="1"/>
          <p:nvPr/>
        </p:nvSpPr>
        <p:spPr>
          <a:xfrm>
            <a:off x="8549640" y="56875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Impulsa a las comunidades costeras</a:t>
            </a:r>
            <a:endParaRPr lang="en-US" sz="1250" dirty="0"/>
          </a:p>
        </p:txBody>
      </p:sp>
      <p:sp>
        <p:nvSpPr>
          <p:cNvPr id="56" name="Text 42"/>
          <p:cNvSpPr txBox="1"/>
          <p:nvPr/>
        </p:nvSpPr>
        <p:spPr>
          <a:xfrm>
            <a:off x="548640" y="641908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9AAAB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VIDA SUBMARINA · SISEP</a:t>
            </a:r>
            <a:endParaRPr lang="en-US" sz="750" dirty="0"/>
          </a:p>
        </p:txBody>
      </p:sp>
      <p:sp>
        <p:nvSpPr>
          <p:cNvPr id="57" name="Text 43"/>
          <p:cNvSpPr txBox="1"/>
          <p:nvPr/>
        </p:nvSpPr>
        <p:spPr>
          <a:xfrm>
            <a:off x="11091672" y="641908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3209544" cy="274320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3209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CAPÍTULO 1 · PROPUESTA DEL SISTEMA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3383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4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¿Qué tendrá</a:t>
            </a:r>
            <a:endParaRPr lang="en-US" sz="3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34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SISEP?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8880"/>
            <a:ext cx="3246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Seis módulos que cubren todo el ciclo de la pesca: desde que la embarcación zarpa hasta que el producto llega al mercado con su código QR.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4160520"/>
            <a:ext cx="3246120" cy="1600200"/>
          </a:xfrm>
          <a:prstGeom prst="roundRect">
            <a:avLst>
              <a:gd name="adj" fmla="val 8000"/>
            </a:avLst>
          </a:prstGeom>
          <a:solidFill>
            <a:srgbClr val="071A2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434340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C4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 · 4 · 3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4956048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DEE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requerimientos funcionales, no funcionales y de dominio respaldan cada módulo.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97680" y="685800"/>
            <a:ext cx="2331720" cy="251460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26280" y="941832"/>
            <a:ext cx="603504" cy="603504"/>
          </a:xfrm>
          <a:prstGeom prst="ellipse">
            <a:avLst/>
          </a:prstGeom>
          <a:solidFill>
            <a:srgbClr val="2EC4C9"/>
          </a:solidFill>
          <a:ln/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1121" y="1086673"/>
            <a:ext cx="313822" cy="31382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5760720" y="960120"/>
            <a:ext cx="685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D5E3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4526280" y="16916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Rastreo GPS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4526280" y="2039112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Posición registrada automáticamente cada 15 minutos.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526280" y="277063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526280" y="277063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RF01.1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793992" y="685800"/>
            <a:ext cx="2331720" cy="251460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022592" y="941832"/>
            <a:ext cx="603504" cy="603504"/>
          </a:xfrm>
          <a:prstGeom prst="ellipse">
            <a:avLst/>
          </a:prstGeom>
          <a:solidFill>
            <a:srgbClr val="2EC4C9"/>
          </a:solidFill>
          <a:ln/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7433" y="1086673"/>
            <a:ext cx="313822" cy="313822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8257032" y="960120"/>
            <a:ext cx="685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D5E3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1600" dirty="0"/>
          </a:p>
        </p:txBody>
      </p:sp>
      <p:sp>
        <p:nvSpPr>
          <p:cNvPr id="21" name="Text 17"/>
          <p:cNvSpPr txBox="1"/>
          <p:nvPr/>
        </p:nvSpPr>
        <p:spPr>
          <a:xfrm>
            <a:off x="7022592" y="16916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Alertas inteligentes</a:t>
            </a:r>
            <a:endParaRPr lang="en-US" sz="1350" dirty="0"/>
          </a:p>
        </p:txBody>
      </p:sp>
      <p:sp>
        <p:nvSpPr>
          <p:cNvPr id="22" name="Text 18"/>
          <p:cNvSpPr txBox="1"/>
          <p:nvPr/>
        </p:nvSpPr>
        <p:spPr>
          <a:xfrm>
            <a:off x="7022592" y="2039112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Avisos por ingreso a zonas restringidas e irregularidades.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7022592" y="2770632"/>
            <a:ext cx="1348740" cy="256032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7022592" y="2770632"/>
            <a:ext cx="13487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RF01.2 · RF01.7</a:t>
            </a:r>
            <a:endParaRPr lang="en-US" sz="850" dirty="0"/>
          </a:p>
        </p:txBody>
      </p:sp>
      <p:sp>
        <p:nvSpPr>
          <p:cNvPr id="25" name="Shape 21"/>
          <p:cNvSpPr/>
          <p:nvPr/>
        </p:nvSpPr>
        <p:spPr>
          <a:xfrm>
            <a:off x="9290304" y="685800"/>
            <a:ext cx="2331720" cy="251460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9518904" y="941832"/>
            <a:ext cx="603504" cy="603504"/>
          </a:xfrm>
          <a:prstGeom prst="ellipse">
            <a:avLst/>
          </a:prstGeom>
          <a:solidFill>
            <a:srgbClr val="2EC4C9"/>
          </a:solidFill>
          <a:ln/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63745" y="1086673"/>
            <a:ext cx="313822" cy="313822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10753344" y="960120"/>
            <a:ext cx="685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D5E3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1600" dirty="0"/>
          </a:p>
        </p:txBody>
      </p:sp>
      <p:sp>
        <p:nvSpPr>
          <p:cNvPr id="29" name="Text 24"/>
          <p:cNvSpPr txBox="1"/>
          <p:nvPr/>
        </p:nvSpPr>
        <p:spPr>
          <a:xfrm>
            <a:off x="9518904" y="16916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Bitácora digital</a:t>
            </a:r>
            <a:endParaRPr lang="en-US" sz="1350" dirty="0"/>
          </a:p>
        </p:txBody>
      </p:sp>
      <p:sp>
        <p:nvSpPr>
          <p:cNvPr id="30" name="Text 25"/>
          <p:cNvSpPr txBox="1"/>
          <p:nvPr/>
        </p:nvSpPr>
        <p:spPr>
          <a:xfrm>
            <a:off x="9518904" y="2039112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Registro de capturas con fotos como evidencia.</a:t>
            </a:r>
            <a:endParaRPr lang="en-US" sz="1100" dirty="0"/>
          </a:p>
        </p:txBody>
      </p:sp>
      <p:sp>
        <p:nvSpPr>
          <p:cNvPr id="31" name="Shape 26"/>
          <p:cNvSpPr/>
          <p:nvPr/>
        </p:nvSpPr>
        <p:spPr>
          <a:xfrm>
            <a:off x="9518904" y="2770632"/>
            <a:ext cx="1348740" cy="256032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32" name="Text 27"/>
          <p:cNvSpPr txBox="1"/>
          <p:nvPr/>
        </p:nvSpPr>
        <p:spPr>
          <a:xfrm>
            <a:off x="9518904" y="2770632"/>
            <a:ext cx="13487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RF01.3 · RF01.4</a:t>
            </a:r>
            <a:endParaRPr lang="en-US" sz="850" dirty="0"/>
          </a:p>
        </p:txBody>
      </p:sp>
      <p:sp>
        <p:nvSpPr>
          <p:cNvPr id="33" name="Shape 28"/>
          <p:cNvSpPr/>
          <p:nvPr/>
        </p:nvSpPr>
        <p:spPr>
          <a:xfrm>
            <a:off x="4297680" y="3429000"/>
            <a:ext cx="2331720" cy="251460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34" name="Shape 29"/>
          <p:cNvSpPr/>
          <p:nvPr/>
        </p:nvSpPr>
        <p:spPr>
          <a:xfrm>
            <a:off x="4526280" y="3685032"/>
            <a:ext cx="603504" cy="603504"/>
          </a:xfrm>
          <a:prstGeom prst="ellipse">
            <a:avLst/>
          </a:prstGeom>
          <a:solidFill>
            <a:srgbClr val="2EC4C9"/>
          </a:solidFill>
          <a:ln/>
        </p:spPr>
      </p:sp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1121" y="3829873"/>
            <a:ext cx="313822" cy="313822"/>
          </a:xfrm>
          <a:prstGeom prst="rect">
            <a:avLst/>
          </a:prstGeom>
        </p:spPr>
      </p:pic>
      <p:sp>
        <p:nvSpPr>
          <p:cNvPr id="36" name="Text 30"/>
          <p:cNvSpPr txBox="1"/>
          <p:nvPr/>
        </p:nvSpPr>
        <p:spPr>
          <a:xfrm>
            <a:off x="5760720" y="3703320"/>
            <a:ext cx="685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D5E3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1600" dirty="0"/>
          </a:p>
        </p:txBody>
      </p:sp>
      <p:sp>
        <p:nvSpPr>
          <p:cNvPr id="37" name="Text 31"/>
          <p:cNvSpPr txBox="1"/>
          <p:nvPr/>
        </p:nvSpPr>
        <p:spPr>
          <a:xfrm>
            <a:off x="4526280" y="44348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Trazabilidad QR</a:t>
            </a:r>
            <a:endParaRPr lang="en-US" sz="1350" dirty="0"/>
          </a:p>
        </p:txBody>
      </p:sp>
      <p:sp>
        <p:nvSpPr>
          <p:cNvPr id="38" name="Text 32"/>
          <p:cNvSpPr txBox="1"/>
          <p:nvPr/>
        </p:nvSpPr>
        <p:spPr>
          <a:xfrm>
            <a:off x="4526280" y="4782312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Código QR único por cada lote de captura.</a:t>
            </a:r>
            <a:endParaRPr lang="en-US" sz="1100" dirty="0"/>
          </a:p>
        </p:txBody>
      </p:sp>
      <p:sp>
        <p:nvSpPr>
          <p:cNvPr id="39" name="Shape 33"/>
          <p:cNvSpPr/>
          <p:nvPr/>
        </p:nvSpPr>
        <p:spPr>
          <a:xfrm>
            <a:off x="4526280" y="551383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40" name="Text 34"/>
          <p:cNvSpPr txBox="1"/>
          <p:nvPr/>
        </p:nvSpPr>
        <p:spPr>
          <a:xfrm>
            <a:off x="4526280" y="551383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RF01.5</a:t>
            </a:r>
            <a:endParaRPr lang="en-US" sz="850" dirty="0"/>
          </a:p>
        </p:txBody>
      </p:sp>
      <p:sp>
        <p:nvSpPr>
          <p:cNvPr id="41" name="Shape 35"/>
          <p:cNvSpPr/>
          <p:nvPr/>
        </p:nvSpPr>
        <p:spPr>
          <a:xfrm>
            <a:off x="6793992" y="3429000"/>
            <a:ext cx="2331720" cy="251460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42" name="Shape 36"/>
          <p:cNvSpPr/>
          <p:nvPr/>
        </p:nvSpPr>
        <p:spPr>
          <a:xfrm>
            <a:off x="7022592" y="3685032"/>
            <a:ext cx="603504" cy="603504"/>
          </a:xfrm>
          <a:prstGeom prst="ellipse">
            <a:avLst/>
          </a:prstGeom>
          <a:solidFill>
            <a:srgbClr val="2EC4C9"/>
          </a:solidFill>
          <a:ln/>
        </p:spPr>
      </p:sp>
      <p:pic>
        <p:nvPicPr>
          <p:cNvPr id="43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67433" y="3829873"/>
            <a:ext cx="313822" cy="313822"/>
          </a:xfrm>
          <a:prstGeom prst="rect">
            <a:avLst/>
          </a:prstGeom>
        </p:spPr>
      </p:pic>
      <p:sp>
        <p:nvSpPr>
          <p:cNvPr id="44" name="Text 37"/>
          <p:cNvSpPr txBox="1"/>
          <p:nvPr/>
        </p:nvSpPr>
        <p:spPr>
          <a:xfrm>
            <a:off x="8257032" y="3703320"/>
            <a:ext cx="685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D5E3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</a:t>
            </a:r>
            <a:endParaRPr lang="en-US" sz="1600" dirty="0"/>
          </a:p>
        </p:txBody>
      </p:sp>
      <p:sp>
        <p:nvSpPr>
          <p:cNvPr id="45" name="Text 38"/>
          <p:cNvSpPr txBox="1"/>
          <p:nvPr/>
        </p:nvSpPr>
        <p:spPr>
          <a:xfrm>
            <a:off x="7022592" y="44348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Clima y sensores</a:t>
            </a:r>
            <a:endParaRPr lang="en-US" sz="1350" dirty="0"/>
          </a:p>
        </p:txBody>
      </p:sp>
      <p:sp>
        <p:nvSpPr>
          <p:cNvPr id="46" name="Text 39"/>
          <p:cNvSpPr txBox="1"/>
          <p:nvPr/>
        </p:nvSpPr>
        <p:spPr>
          <a:xfrm>
            <a:off x="7022592" y="4782312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Monitoreo de condiciones meteorológicas y del mar.</a:t>
            </a:r>
            <a:endParaRPr lang="en-US" sz="1100" dirty="0"/>
          </a:p>
        </p:txBody>
      </p:sp>
      <p:sp>
        <p:nvSpPr>
          <p:cNvPr id="47" name="Shape 40"/>
          <p:cNvSpPr/>
          <p:nvPr/>
        </p:nvSpPr>
        <p:spPr>
          <a:xfrm>
            <a:off x="7022592" y="551383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48" name="Text 41"/>
          <p:cNvSpPr txBox="1"/>
          <p:nvPr/>
        </p:nvSpPr>
        <p:spPr>
          <a:xfrm>
            <a:off x="7022592" y="551383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RF01.6</a:t>
            </a:r>
            <a:endParaRPr lang="en-US" sz="850" dirty="0"/>
          </a:p>
        </p:txBody>
      </p:sp>
      <p:sp>
        <p:nvSpPr>
          <p:cNvPr id="49" name="Shape 42"/>
          <p:cNvSpPr/>
          <p:nvPr/>
        </p:nvSpPr>
        <p:spPr>
          <a:xfrm>
            <a:off x="9290304" y="3429000"/>
            <a:ext cx="2331720" cy="251460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50" name="Shape 43"/>
          <p:cNvSpPr/>
          <p:nvPr/>
        </p:nvSpPr>
        <p:spPr>
          <a:xfrm>
            <a:off x="9518904" y="3685032"/>
            <a:ext cx="603504" cy="603504"/>
          </a:xfrm>
          <a:prstGeom prst="ellipse">
            <a:avLst/>
          </a:prstGeom>
          <a:solidFill>
            <a:srgbClr val="2EC4C9"/>
          </a:solidFill>
          <a:ln/>
        </p:spPr>
      </p:sp>
      <p:pic>
        <p:nvPicPr>
          <p:cNvPr id="51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63745" y="3829873"/>
            <a:ext cx="313822" cy="313822"/>
          </a:xfrm>
          <a:prstGeom prst="rect">
            <a:avLst/>
          </a:prstGeom>
        </p:spPr>
      </p:pic>
      <p:sp>
        <p:nvSpPr>
          <p:cNvPr id="52" name="Text 44"/>
          <p:cNvSpPr txBox="1"/>
          <p:nvPr/>
        </p:nvSpPr>
        <p:spPr>
          <a:xfrm>
            <a:off x="10753344" y="3703320"/>
            <a:ext cx="685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D5E3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06</a:t>
            </a:r>
            <a:endParaRPr lang="en-US" sz="1600" dirty="0"/>
          </a:p>
        </p:txBody>
      </p:sp>
      <p:sp>
        <p:nvSpPr>
          <p:cNvPr id="53" name="Text 45"/>
          <p:cNvSpPr txBox="1"/>
          <p:nvPr/>
        </p:nvSpPr>
        <p:spPr>
          <a:xfrm>
            <a:off x="9518904" y="44348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Reportes</a:t>
            </a:r>
            <a:endParaRPr lang="en-US" sz="1350" dirty="0"/>
          </a:p>
        </p:txBody>
      </p:sp>
      <p:sp>
        <p:nvSpPr>
          <p:cNvPr id="54" name="Text 46"/>
          <p:cNvSpPr txBox="1"/>
          <p:nvPr/>
        </p:nvSpPr>
        <p:spPr>
          <a:xfrm>
            <a:off x="9518904" y="4782312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Dashboards con estadísticas y tendencias para IMARPE y PRODUCE.</a:t>
            </a:r>
            <a:endParaRPr lang="en-US" sz="1100" dirty="0"/>
          </a:p>
        </p:txBody>
      </p:sp>
      <p:sp>
        <p:nvSpPr>
          <p:cNvPr id="55" name="Shape 47"/>
          <p:cNvSpPr/>
          <p:nvPr/>
        </p:nvSpPr>
        <p:spPr>
          <a:xfrm>
            <a:off x="9518904" y="5513832"/>
            <a:ext cx="1074420" cy="256032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56" name="Text 48"/>
          <p:cNvSpPr txBox="1"/>
          <p:nvPr/>
        </p:nvSpPr>
        <p:spPr>
          <a:xfrm>
            <a:off x="9518904" y="5513832"/>
            <a:ext cx="10744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Caso de uso</a:t>
            </a:r>
            <a:endParaRPr lang="en-US" sz="850" dirty="0"/>
          </a:p>
        </p:txBody>
      </p:sp>
      <p:sp>
        <p:nvSpPr>
          <p:cNvPr id="57" name="Text 49"/>
          <p:cNvSpPr txBox="1"/>
          <p:nvPr/>
        </p:nvSpPr>
        <p:spPr>
          <a:xfrm>
            <a:off x="548640" y="641908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9AAAB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VIDA SUBMARINA · SISEP</a:t>
            </a:r>
            <a:endParaRPr lang="en-US" sz="750" dirty="0"/>
          </a:p>
        </p:txBody>
      </p:sp>
      <p:sp>
        <p:nvSpPr>
          <p:cNvPr id="58" name="Text 50"/>
          <p:cNvSpPr txBox="1"/>
          <p:nvPr/>
        </p:nvSpPr>
        <p:spPr>
          <a:xfrm>
            <a:off x="11091672" y="641908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962656" cy="274320"/>
          </a:xfrm>
          <a:prstGeom prst="roundRect">
            <a:avLst>
              <a:gd name="adj" fmla="val 50000"/>
            </a:avLst>
          </a:prstGeom>
          <a:solidFill>
            <a:srgbClr val="123E5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296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A8ECE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CAPÍTULO 1 · PROPUESTA DE VALOR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Beneficios para cada actor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17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9DEE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Por qué a cada usuario le conviene participar en SISEP.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2633472" cy="4114800"/>
          </a:xfrm>
          <a:prstGeom prst="roundRect">
            <a:avLst>
              <a:gd name="adj" fmla="val 4861"/>
            </a:avLst>
          </a:prstGeom>
          <a:solidFill>
            <a:srgbClr val="0E3453">
              <a:alpha val="90000"/>
            </a:srgbClr>
          </a:solidFill>
          <a:ln w="9525">
            <a:solidFill>
              <a:srgbClr val="24617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04672" y="2286000"/>
            <a:ext cx="685800" cy="685800"/>
          </a:xfrm>
          <a:prstGeom prst="ellipse">
            <a:avLst/>
          </a:prstGeom>
          <a:solidFill>
            <a:srgbClr val="2EC4C9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" y="2450592"/>
            <a:ext cx="356616" cy="35661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04672" y="310896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2EC4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GOBIERNO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04672" y="33375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IMARPE y PRODUCE</a:t>
            </a:r>
            <a:endParaRPr lang="en-US" sz="14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959352"/>
            <a:ext cx="237744" cy="23774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143000" y="3931920"/>
            <a:ext cx="1874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6EAF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Datos confiables en tiempo real</a:t>
            </a:r>
            <a:endParaRPr lang="en-US" sz="115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4672584"/>
            <a:ext cx="237744" cy="2377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143000" y="4645152"/>
            <a:ext cx="1874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6EAF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Fiscalización eficiente y alertas tempranas</a:t>
            </a:r>
            <a:endParaRPr lang="en-US" sz="115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" y="5385816"/>
            <a:ext cx="237744" cy="23774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143000" y="5358384"/>
            <a:ext cx="1874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6EAF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Reportes automáticos para políticas públicas</a:t>
            </a:r>
            <a:endParaRPr lang="en-US" sz="1150" dirty="0"/>
          </a:p>
        </p:txBody>
      </p:sp>
      <p:sp>
        <p:nvSpPr>
          <p:cNvPr id="17" name="Shape 11"/>
          <p:cNvSpPr/>
          <p:nvPr/>
        </p:nvSpPr>
        <p:spPr>
          <a:xfrm>
            <a:off x="3364992" y="2011680"/>
            <a:ext cx="2633472" cy="4114800"/>
          </a:xfrm>
          <a:prstGeom prst="roundRect">
            <a:avLst>
              <a:gd name="adj" fmla="val 4861"/>
            </a:avLst>
          </a:prstGeom>
          <a:solidFill>
            <a:srgbClr val="0E3453">
              <a:alpha val="90000"/>
            </a:srgbClr>
          </a:solidFill>
          <a:ln w="9525">
            <a:solidFill>
              <a:srgbClr val="24617E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3621024" y="2286000"/>
            <a:ext cx="685800" cy="685800"/>
          </a:xfrm>
          <a:prstGeom prst="ellipse">
            <a:avLst/>
          </a:prstGeom>
          <a:solidFill>
            <a:srgbClr val="2EC4C9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85616" y="2450592"/>
            <a:ext cx="356616" cy="356616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3621024" y="310896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2EC4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SECTOR PESQUERO</a:t>
            </a:r>
            <a:endParaRPr lang="en-US" sz="800" dirty="0"/>
          </a:p>
        </p:txBody>
      </p:sp>
      <p:sp>
        <p:nvSpPr>
          <p:cNvPr id="21" name="Text 14"/>
          <p:cNvSpPr txBox="1"/>
          <p:nvPr/>
        </p:nvSpPr>
        <p:spPr>
          <a:xfrm>
            <a:off x="3621024" y="33375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Armadores y empresas</a:t>
            </a:r>
            <a:endParaRPr lang="en-US" sz="1450" dirty="0"/>
          </a:p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21024" y="3959352"/>
            <a:ext cx="237744" cy="237744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3959352" y="3931920"/>
            <a:ext cx="1874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6EAF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Documentación simplificada</a:t>
            </a:r>
            <a:endParaRPr lang="en-US" sz="1150" dirty="0"/>
          </a:p>
        </p:txBody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21024" y="4672584"/>
            <a:ext cx="237744" cy="237744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3959352" y="4645152"/>
            <a:ext cx="1874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6EAF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Certificación de legalidad para acceder a mercados</a:t>
            </a:r>
            <a:endParaRPr lang="en-US" sz="1150" dirty="0"/>
          </a:p>
        </p:txBody>
      </p:sp>
      <p:pic>
        <p:nvPicPr>
          <p:cNvPr id="26" name="Image 7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21024" y="5385816"/>
            <a:ext cx="237744" cy="237744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3959352" y="5358384"/>
            <a:ext cx="1874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6EAF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Protección frente a la pesca ilegal</a:t>
            </a:r>
            <a:endParaRPr lang="en-US" sz="1150" dirty="0"/>
          </a:p>
        </p:txBody>
      </p:sp>
      <p:sp>
        <p:nvSpPr>
          <p:cNvPr id="28" name="Shape 18"/>
          <p:cNvSpPr/>
          <p:nvPr/>
        </p:nvSpPr>
        <p:spPr>
          <a:xfrm>
            <a:off x="6181344" y="2011680"/>
            <a:ext cx="2633472" cy="4114800"/>
          </a:xfrm>
          <a:prstGeom prst="roundRect">
            <a:avLst>
              <a:gd name="adj" fmla="val 4861"/>
            </a:avLst>
          </a:prstGeom>
          <a:solidFill>
            <a:srgbClr val="0E3453">
              <a:alpha val="90000"/>
            </a:srgbClr>
          </a:solidFill>
          <a:ln w="9525">
            <a:solidFill>
              <a:srgbClr val="24617E"/>
            </a:solidFill>
            <a:prstDash val="solid"/>
          </a:ln>
        </p:spPr>
      </p:sp>
      <p:sp>
        <p:nvSpPr>
          <p:cNvPr id="29" name="Shape 19"/>
          <p:cNvSpPr/>
          <p:nvPr/>
        </p:nvSpPr>
        <p:spPr>
          <a:xfrm>
            <a:off x="6437376" y="2286000"/>
            <a:ext cx="685800" cy="685800"/>
          </a:xfrm>
          <a:prstGeom prst="ellipse">
            <a:avLst/>
          </a:prstGeom>
          <a:solidFill>
            <a:srgbClr val="2EC4C9"/>
          </a:solidFill>
          <a:ln/>
        </p:spPr>
      </p:sp>
      <p:pic>
        <p:nvPicPr>
          <p:cNvPr id="30" name="Image 8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01968" y="2450592"/>
            <a:ext cx="356616" cy="356616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6437376" y="310896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2EC4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COMUNIDADES COSTERAS</a:t>
            </a:r>
            <a:endParaRPr lang="en-US" sz="800" dirty="0"/>
          </a:p>
        </p:txBody>
      </p:sp>
      <p:sp>
        <p:nvSpPr>
          <p:cNvPr id="32" name="Text 21"/>
          <p:cNvSpPr txBox="1"/>
          <p:nvPr/>
        </p:nvSpPr>
        <p:spPr>
          <a:xfrm>
            <a:off x="6437376" y="33375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Pescadores artesanales</a:t>
            </a:r>
            <a:endParaRPr lang="en-US" sz="1450" dirty="0"/>
          </a:p>
        </p:txBody>
      </p:sp>
      <p:pic>
        <p:nvPicPr>
          <p:cNvPr id="33" name="Image 9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37376" y="3959352"/>
            <a:ext cx="237744" cy="237744"/>
          </a:xfrm>
          <a:prstGeom prst="rect">
            <a:avLst/>
          </a:prstGeom>
        </p:spPr>
      </p:pic>
      <p:sp>
        <p:nvSpPr>
          <p:cNvPr id="34" name="Text 22"/>
          <p:cNvSpPr txBox="1"/>
          <p:nvPr/>
        </p:nvSpPr>
        <p:spPr>
          <a:xfrm>
            <a:off x="6775704" y="3931920"/>
            <a:ext cx="1874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6EAF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Tecnología asequible y fácil de usar</a:t>
            </a:r>
            <a:endParaRPr lang="en-US" sz="1150" dirty="0"/>
          </a:p>
        </p:txBody>
      </p:sp>
      <p:pic>
        <p:nvPicPr>
          <p:cNvPr id="35" name="Image 10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37376" y="4672584"/>
            <a:ext cx="237744" cy="237744"/>
          </a:xfrm>
          <a:prstGeom prst="rect">
            <a:avLst/>
          </a:prstGeom>
        </p:spPr>
      </p:pic>
      <p:sp>
        <p:nvSpPr>
          <p:cNvPr id="36" name="Text 23"/>
          <p:cNvSpPr txBox="1"/>
          <p:nvPr/>
        </p:nvSpPr>
        <p:spPr>
          <a:xfrm>
            <a:off x="6775704" y="4645152"/>
            <a:ext cx="1874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6EAF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Valor agregado por certificación</a:t>
            </a:r>
            <a:endParaRPr lang="en-US" sz="1150" dirty="0"/>
          </a:p>
        </p:txBody>
      </p:sp>
      <p:pic>
        <p:nvPicPr>
          <p:cNvPr id="37" name="Image 11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37376" y="5385816"/>
            <a:ext cx="237744" cy="237744"/>
          </a:xfrm>
          <a:prstGeom prst="rect">
            <a:avLst/>
          </a:prstGeom>
        </p:spPr>
      </p:pic>
      <p:sp>
        <p:nvSpPr>
          <p:cNvPr id="38" name="Text 24"/>
          <p:cNvSpPr txBox="1"/>
          <p:nvPr/>
        </p:nvSpPr>
        <p:spPr>
          <a:xfrm>
            <a:off x="6775704" y="5358384"/>
            <a:ext cx="1874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6EAF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Participación en la gestión del recurso</a:t>
            </a:r>
            <a:endParaRPr lang="en-US" sz="1150" dirty="0"/>
          </a:p>
        </p:txBody>
      </p:sp>
      <p:sp>
        <p:nvSpPr>
          <p:cNvPr id="39" name="Shape 25"/>
          <p:cNvSpPr/>
          <p:nvPr/>
        </p:nvSpPr>
        <p:spPr>
          <a:xfrm>
            <a:off x="8997696" y="2011680"/>
            <a:ext cx="2633472" cy="4114800"/>
          </a:xfrm>
          <a:prstGeom prst="roundRect">
            <a:avLst>
              <a:gd name="adj" fmla="val 4861"/>
            </a:avLst>
          </a:prstGeom>
          <a:solidFill>
            <a:srgbClr val="0E3453">
              <a:alpha val="90000"/>
            </a:srgbClr>
          </a:solidFill>
          <a:ln w="9525">
            <a:solidFill>
              <a:srgbClr val="24617E"/>
            </a:solidFill>
            <a:prstDash val="solid"/>
          </a:ln>
        </p:spPr>
      </p:sp>
      <p:sp>
        <p:nvSpPr>
          <p:cNvPr id="40" name="Shape 26"/>
          <p:cNvSpPr/>
          <p:nvPr/>
        </p:nvSpPr>
        <p:spPr>
          <a:xfrm>
            <a:off x="9253728" y="2286000"/>
            <a:ext cx="685800" cy="685800"/>
          </a:xfrm>
          <a:prstGeom prst="ellipse">
            <a:avLst/>
          </a:prstGeom>
          <a:solidFill>
            <a:srgbClr val="2EC4C9"/>
          </a:solidFill>
          <a:ln/>
        </p:spPr>
      </p:sp>
      <p:pic>
        <p:nvPicPr>
          <p:cNvPr id="41" name="Image 12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418320" y="2450592"/>
            <a:ext cx="356616" cy="356616"/>
          </a:xfrm>
          <a:prstGeom prst="rect">
            <a:avLst/>
          </a:prstGeom>
        </p:spPr>
      </p:pic>
      <p:sp>
        <p:nvSpPr>
          <p:cNvPr id="42" name="Text 27"/>
          <p:cNvSpPr txBox="1"/>
          <p:nvPr/>
        </p:nvSpPr>
        <p:spPr>
          <a:xfrm>
            <a:off x="9253728" y="310896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2EC4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CONSUMIDORES E I+D</a:t>
            </a:r>
            <a:endParaRPr lang="en-US" sz="800" dirty="0"/>
          </a:p>
        </p:txBody>
      </p:sp>
      <p:sp>
        <p:nvSpPr>
          <p:cNvPr id="43" name="Text 28"/>
          <p:cNvSpPr txBox="1"/>
          <p:nvPr/>
        </p:nvSpPr>
        <p:spPr>
          <a:xfrm>
            <a:off x="9253728" y="33375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Mercado y ONG</a:t>
            </a:r>
            <a:endParaRPr lang="en-US" sz="1450" dirty="0"/>
          </a:p>
        </p:txBody>
      </p:sp>
      <p:pic>
        <p:nvPicPr>
          <p:cNvPr id="44" name="Image 13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253728" y="3959352"/>
            <a:ext cx="237744" cy="237744"/>
          </a:xfrm>
          <a:prstGeom prst="rect">
            <a:avLst/>
          </a:prstGeom>
        </p:spPr>
      </p:pic>
      <p:sp>
        <p:nvSpPr>
          <p:cNvPr id="45" name="Text 29"/>
          <p:cNvSpPr txBox="1"/>
          <p:nvPr/>
        </p:nvSpPr>
        <p:spPr>
          <a:xfrm>
            <a:off x="9592056" y="3931920"/>
            <a:ext cx="1874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6EAF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Verificación de trazabilidad con QR</a:t>
            </a:r>
            <a:endParaRPr lang="en-US" sz="1150" dirty="0"/>
          </a:p>
        </p:txBody>
      </p:sp>
      <p:pic>
        <p:nvPicPr>
          <p:cNvPr id="46" name="Image 14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253728" y="4672584"/>
            <a:ext cx="237744" cy="237744"/>
          </a:xfrm>
          <a:prstGeom prst="rect">
            <a:avLst/>
          </a:prstGeom>
        </p:spPr>
      </p:pic>
      <p:sp>
        <p:nvSpPr>
          <p:cNvPr id="47" name="Text 30"/>
          <p:cNvSpPr txBox="1"/>
          <p:nvPr/>
        </p:nvSpPr>
        <p:spPr>
          <a:xfrm>
            <a:off x="9592056" y="4645152"/>
            <a:ext cx="1874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6EAF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Transparencia de la información pesquera</a:t>
            </a:r>
            <a:endParaRPr lang="en-US" sz="1150" dirty="0"/>
          </a:p>
        </p:txBody>
      </p:sp>
      <p:pic>
        <p:nvPicPr>
          <p:cNvPr id="48" name="Image 15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253728" y="5385816"/>
            <a:ext cx="237744" cy="237744"/>
          </a:xfrm>
          <a:prstGeom prst="rect">
            <a:avLst/>
          </a:prstGeom>
        </p:spPr>
      </p:pic>
      <p:sp>
        <p:nvSpPr>
          <p:cNvPr id="49" name="Text 31"/>
          <p:cNvSpPr txBox="1"/>
          <p:nvPr/>
        </p:nvSpPr>
        <p:spPr>
          <a:xfrm>
            <a:off x="9592056" y="5358384"/>
            <a:ext cx="1874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6EAF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Indicadores de sostenibilidad</a:t>
            </a:r>
            <a:endParaRPr lang="en-US" sz="1150" dirty="0"/>
          </a:p>
        </p:txBody>
      </p:sp>
      <p:sp>
        <p:nvSpPr>
          <p:cNvPr id="50" name="Text 32"/>
          <p:cNvSpPr txBox="1"/>
          <p:nvPr/>
        </p:nvSpPr>
        <p:spPr>
          <a:xfrm>
            <a:off x="548640" y="641908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7FA7B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VIDA SUBMARINA · SISEP</a:t>
            </a:r>
            <a:endParaRPr lang="en-US" sz="750" dirty="0"/>
          </a:p>
        </p:txBody>
      </p:sp>
      <p:sp>
        <p:nvSpPr>
          <p:cNvPr id="51" name="Text 33"/>
          <p:cNvSpPr txBox="1"/>
          <p:nvPr/>
        </p:nvSpPr>
        <p:spPr>
          <a:xfrm>
            <a:off x="11091672" y="641908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A8ECE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3456432" cy="274320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3456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CAPÍTULO 2 · DESCRIPCIÓN DEL PROBLEMA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Una crisis multidimensional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17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El sector pesquero peruano enfrenta cinco problemas que se refuerzan entre sí.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1600200" y="2697480"/>
            <a:ext cx="8961120" cy="0"/>
          </a:xfrm>
          <a:prstGeom prst="line">
            <a:avLst/>
          </a:prstGeom>
          <a:noFill/>
          <a:ln w="25400">
            <a:solidFill>
              <a:srgbClr val="D5E3E8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1097280" y="2194560"/>
            <a:ext cx="1005840" cy="100584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2EC4C9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2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2423160"/>
            <a:ext cx="548640" cy="5486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801368" y="2103120"/>
            <a:ext cx="347472" cy="347472"/>
          </a:xfrm>
          <a:prstGeom prst="ellipse">
            <a:avLst/>
          </a:prstGeom>
          <a:solidFill>
            <a:srgbClr val="0B2A45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801368" y="21031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76072" y="3401568"/>
            <a:ext cx="2048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Sobreexplotación de recursos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005072"/>
            <a:ext cx="19751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Presión sobre las especies por encima de lo sostenible.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337560" y="2194560"/>
            <a:ext cx="1005840" cy="100584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2EC4C9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2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0" y="2423160"/>
            <a:ext cx="548640" cy="5486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4041648" y="2103120"/>
            <a:ext cx="347472" cy="347472"/>
          </a:xfrm>
          <a:prstGeom prst="ellipse">
            <a:avLst/>
          </a:prstGeom>
          <a:solidFill>
            <a:srgbClr val="0B2A45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4041648" y="21031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2816352" y="3401568"/>
            <a:ext cx="2048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Pesca ilegal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2852928" y="4005072"/>
            <a:ext cx="19751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Capturas no reguladas que escapan a la fiscalización.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5577840" y="2194560"/>
            <a:ext cx="1005840" cy="100584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2EC4C9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2000"/>
              </a:srgbClr>
            </a:outerShdw>
          </a:effectLst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440" y="2423160"/>
            <a:ext cx="548640" cy="548640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6281928" y="2103120"/>
            <a:ext cx="347472" cy="347472"/>
          </a:xfrm>
          <a:prstGeom prst="ellipse">
            <a:avLst/>
          </a:prstGeom>
          <a:solidFill>
            <a:srgbClr val="0B2A45"/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6281928" y="21031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18"/>
          <p:cNvSpPr txBox="1"/>
          <p:nvPr/>
        </p:nvSpPr>
        <p:spPr>
          <a:xfrm>
            <a:off x="5056632" y="3401568"/>
            <a:ext cx="2048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Deficiencia en el monitoreo</a:t>
            </a:r>
            <a:endParaRPr lang="en-US" sz="1300" dirty="0"/>
          </a:p>
        </p:txBody>
      </p:sp>
      <p:sp>
        <p:nvSpPr>
          <p:cNvPr id="24" name="Text 19"/>
          <p:cNvSpPr txBox="1"/>
          <p:nvPr/>
        </p:nvSpPr>
        <p:spPr>
          <a:xfrm>
            <a:off x="5093208" y="4005072"/>
            <a:ext cx="19751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Sin control inmediato de capturas y áreas de faena.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7818120" y="2194560"/>
            <a:ext cx="1005840" cy="100584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2EC4C9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2000"/>
              </a:srgbClr>
            </a:outerShdw>
          </a:effectLst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0" y="2423160"/>
            <a:ext cx="548640" cy="548640"/>
          </a:xfrm>
          <a:prstGeom prst="rect">
            <a:avLst/>
          </a:prstGeom>
        </p:spPr>
      </p:pic>
      <p:sp>
        <p:nvSpPr>
          <p:cNvPr id="27" name="Shape 21"/>
          <p:cNvSpPr/>
          <p:nvPr/>
        </p:nvSpPr>
        <p:spPr>
          <a:xfrm>
            <a:off x="8522208" y="2103120"/>
            <a:ext cx="347472" cy="347472"/>
          </a:xfrm>
          <a:prstGeom prst="ellipse">
            <a:avLst/>
          </a:prstGeom>
          <a:solidFill>
            <a:srgbClr val="0B2A45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8522208" y="21031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3"/>
          <p:cNvSpPr txBox="1"/>
          <p:nvPr/>
        </p:nvSpPr>
        <p:spPr>
          <a:xfrm>
            <a:off x="7296912" y="3401568"/>
            <a:ext cx="2048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Pérdida de biodiversidad marina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7333488" y="4005072"/>
            <a:ext cx="19751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Ecosistemas marinos cada vez más frágiles.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10058400" y="2194560"/>
            <a:ext cx="1005840" cy="100584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2EC4C9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2000"/>
              </a:srgbClr>
            </a:outerShdw>
          </a:effectLst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87000" y="2423160"/>
            <a:ext cx="548640" cy="548640"/>
          </a:xfrm>
          <a:prstGeom prst="rect">
            <a:avLst/>
          </a:prstGeom>
        </p:spPr>
      </p:pic>
      <p:sp>
        <p:nvSpPr>
          <p:cNvPr id="33" name="Shape 26"/>
          <p:cNvSpPr/>
          <p:nvPr/>
        </p:nvSpPr>
        <p:spPr>
          <a:xfrm>
            <a:off x="10762488" y="2103120"/>
            <a:ext cx="347472" cy="347472"/>
          </a:xfrm>
          <a:prstGeom prst="ellipse">
            <a:avLst/>
          </a:prstGeom>
          <a:solidFill>
            <a:srgbClr val="0B2A45"/>
          </a:solidFill>
          <a:ln/>
        </p:spPr>
      </p:sp>
      <p:sp>
        <p:nvSpPr>
          <p:cNvPr id="34" name="Text 27"/>
          <p:cNvSpPr txBox="1"/>
          <p:nvPr/>
        </p:nvSpPr>
        <p:spPr>
          <a:xfrm>
            <a:off x="10762488" y="21031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1000" dirty="0"/>
          </a:p>
        </p:txBody>
      </p:sp>
      <p:sp>
        <p:nvSpPr>
          <p:cNvPr id="35" name="Text 28"/>
          <p:cNvSpPr txBox="1"/>
          <p:nvPr/>
        </p:nvSpPr>
        <p:spPr>
          <a:xfrm>
            <a:off x="9537192" y="3401568"/>
            <a:ext cx="2048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Vulnerabilidad socioeconómica</a:t>
            </a:r>
            <a:endParaRPr lang="en-US" sz="1300" dirty="0"/>
          </a:p>
        </p:txBody>
      </p:sp>
      <p:sp>
        <p:nvSpPr>
          <p:cNvPr id="36" name="Text 29"/>
          <p:cNvSpPr txBox="1"/>
          <p:nvPr/>
        </p:nvSpPr>
        <p:spPr>
          <a:xfrm>
            <a:off x="9573768" y="4005072"/>
            <a:ext cx="19751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Comunidades costeras que dependen de la pesca.</a:t>
            </a:r>
            <a:endParaRPr lang="en-US" sz="1100" dirty="0"/>
          </a:p>
        </p:txBody>
      </p:sp>
      <p:sp>
        <p:nvSpPr>
          <p:cNvPr id="37" name="Shape 30"/>
          <p:cNvSpPr/>
          <p:nvPr/>
        </p:nvSpPr>
        <p:spPr>
          <a:xfrm>
            <a:off x="548640" y="5029200"/>
            <a:ext cx="11064240" cy="1005840"/>
          </a:xfrm>
          <a:prstGeom prst="roundRect">
            <a:avLst>
              <a:gd name="adj" fmla="val 12727"/>
            </a:avLst>
          </a:prstGeom>
          <a:solidFill>
            <a:srgbClr val="071A2C"/>
          </a:solidFill>
          <a:ln/>
        </p:spPr>
      </p:sp>
      <p:sp>
        <p:nvSpPr>
          <p:cNvPr id="38" name="Shape 31"/>
          <p:cNvSpPr/>
          <p:nvPr/>
        </p:nvSpPr>
        <p:spPr>
          <a:xfrm>
            <a:off x="822960" y="5230368"/>
            <a:ext cx="603504" cy="603504"/>
          </a:xfrm>
          <a:prstGeom prst="ellipse">
            <a:avLst/>
          </a:prstGeom>
          <a:solidFill>
            <a:srgbClr val="2EC4C9"/>
          </a:solidFill>
          <a:ln/>
        </p:spPr>
      </p:sp>
      <p:pic>
        <p:nvPicPr>
          <p:cNvPr id="39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7801" y="5375209"/>
            <a:ext cx="313822" cy="313822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1645920" y="5029200"/>
            <a:ext cx="9692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C4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eje común: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 falta de datos confiables y de monitoreo en tiempo real. Ahí actúa SISEP.</a:t>
            </a:r>
            <a:endParaRPr lang="en-US" sz="1500" dirty="0"/>
          </a:p>
        </p:txBody>
      </p:sp>
      <p:sp>
        <p:nvSpPr>
          <p:cNvPr id="41" name="Text 33"/>
          <p:cNvSpPr txBox="1"/>
          <p:nvPr/>
        </p:nvSpPr>
        <p:spPr>
          <a:xfrm>
            <a:off x="548640" y="641908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9AAAB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VIDA SUBMARINA · SISEP</a:t>
            </a:r>
            <a:endParaRPr lang="en-US" sz="750" dirty="0"/>
          </a:p>
        </p:txBody>
      </p:sp>
      <p:sp>
        <p:nvSpPr>
          <p:cNvPr id="42" name="Text 34"/>
          <p:cNvSpPr txBox="1"/>
          <p:nvPr/>
        </p:nvSpPr>
        <p:spPr>
          <a:xfrm>
            <a:off x="11091672" y="641908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3703320" cy="274320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CAPÍTULO 2 · NECESIDADES DE LOS USUARIOS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Cuatro usuarios, necesidades distintas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440680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1828800"/>
            <a:ext cx="566928" cy="566928"/>
          </a:xfrm>
          <a:prstGeom prst="ellipse">
            <a:avLst/>
          </a:prstGeom>
          <a:solidFill>
            <a:srgbClr val="0B2A45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735" y="1964863"/>
            <a:ext cx="294803" cy="294803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182880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IMARPE · PRODUCE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1554480" y="20574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Usuarios gubernamentales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560320"/>
            <a:ext cx="4983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Datos confiables y en tiempo real sobre la actividad pesquera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Herramientas para una fiscalización eficiente y la toma de decisiones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Sistemas de alerta temprana para actividades ilegales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Reportes automáticos para políticas públicas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172200" y="1600200"/>
            <a:ext cx="5440680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1828800"/>
            <a:ext cx="566928" cy="566928"/>
          </a:xfrm>
          <a:prstGeom prst="ellipse">
            <a:avLst/>
          </a:prstGeom>
          <a:solidFill>
            <a:srgbClr val="2EC4C9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4295" y="1964863"/>
            <a:ext cx="294803" cy="294803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178040" y="182880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SECTOR INDUSTRIAL</a:t>
            </a:r>
            <a:endParaRPr lang="en-US" sz="850" dirty="0"/>
          </a:p>
        </p:txBody>
      </p:sp>
      <p:sp>
        <p:nvSpPr>
          <p:cNvPr id="15" name="Text 11"/>
          <p:cNvSpPr txBox="1"/>
          <p:nvPr/>
        </p:nvSpPr>
        <p:spPr>
          <a:xfrm>
            <a:off x="7178040" y="20574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Armadores y empresas pesqueras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6492240" y="2560320"/>
            <a:ext cx="4983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Documentación simplificada que no afecte su operatividad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Certificación de legalidad para acceder a mercados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Menores tiempos administrativos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Protección contra la competencia desleal de la pesca ilegal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548640" y="3931920"/>
            <a:ext cx="5440680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04672" y="4160520"/>
            <a:ext cx="566928" cy="566928"/>
          </a:xfrm>
          <a:prstGeom prst="ellipse">
            <a:avLst/>
          </a:prstGeom>
          <a:solidFill>
            <a:srgbClr val="2EC4C9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735" y="4296583"/>
            <a:ext cx="294803" cy="294803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554480" y="416052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COMUNIDADES COSTERAS</a:t>
            </a:r>
            <a:endParaRPr lang="en-US" sz="850" dirty="0"/>
          </a:p>
        </p:txBody>
      </p:sp>
      <p:sp>
        <p:nvSpPr>
          <p:cNvPr id="21" name="Text 16"/>
          <p:cNvSpPr txBox="1"/>
          <p:nvPr/>
        </p:nvSpPr>
        <p:spPr>
          <a:xfrm>
            <a:off x="1554480" y="438912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Pescadores artesanales y comunidades</a:t>
            </a:r>
            <a:endParaRPr lang="en-US" sz="1400" dirty="0"/>
          </a:p>
        </p:txBody>
      </p:sp>
      <p:sp>
        <p:nvSpPr>
          <p:cNvPr id="22" name="Text 17"/>
          <p:cNvSpPr txBox="1"/>
          <p:nvPr/>
        </p:nvSpPr>
        <p:spPr>
          <a:xfrm>
            <a:off x="868680" y="4892040"/>
            <a:ext cx="4983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Garantía de sostenibilidad del recurso a futuro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Acceso a tecnología asequible y fácil de usar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Valor agregado para sus productos mediante certificación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Participación en la gestión de sus recursos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6172200" y="3931920"/>
            <a:ext cx="5440680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28232" y="4160520"/>
            <a:ext cx="566928" cy="566928"/>
          </a:xfrm>
          <a:prstGeom prst="ellipse">
            <a:avLst/>
          </a:prstGeom>
          <a:solidFill>
            <a:srgbClr val="2EC4C9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64295" y="4296583"/>
            <a:ext cx="294803" cy="294803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7178040" y="416052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ONG · ACADEMIA</a:t>
            </a:r>
            <a:endParaRPr lang="en-US" sz="850" dirty="0"/>
          </a:p>
        </p:txBody>
      </p:sp>
      <p:sp>
        <p:nvSpPr>
          <p:cNvPr id="27" name="Text 21"/>
          <p:cNvSpPr txBox="1"/>
          <p:nvPr/>
        </p:nvSpPr>
        <p:spPr>
          <a:xfrm>
            <a:off x="7178040" y="438912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Organizaciones ambientales y de investigación</a:t>
            </a:r>
            <a:endParaRPr lang="en-US" sz="1300" dirty="0"/>
          </a:p>
        </p:txBody>
      </p:sp>
      <p:sp>
        <p:nvSpPr>
          <p:cNvPr id="28" name="Text 22"/>
          <p:cNvSpPr txBox="1"/>
          <p:nvPr/>
        </p:nvSpPr>
        <p:spPr>
          <a:xfrm>
            <a:off x="6492240" y="4892040"/>
            <a:ext cx="4983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Transparencia en la información pesquera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Indicadores de sostenibilidad y salud de los ecosistemas</a:t>
            </a:r>
            <a:endParaRPr lang="en-US" sz="1150" dirty="0"/>
          </a:p>
        </p:txBody>
      </p:sp>
      <p:sp>
        <p:nvSpPr>
          <p:cNvPr id="29" name="Text 23"/>
          <p:cNvSpPr txBox="1"/>
          <p:nvPr/>
        </p:nvSpPr>
        <p:spPr>
          <a:xfrm>
            <a:off x="548640" y="641908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9AAAB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VIDA SUBMARINA · SISEP</a:t>
            </a:r>
            <a:endParaRPr lang="en-US" sz="750" dirty="0"/>
          </a:p>
        </p:txBody>
      </p:sp>
      <p:sp>
        <p:nvSpPr>
          <p:cNvPr id="30" name="Text 24"/>
          <p:cNvSpPr txBox="1"/>
          <p:nvPr/>
        </p:nvSpPr>
        <p:spPr>
          <a:xfrm>
            <a:off x="11091672" y="641908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3621024" cy="274320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3621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CAPÍTULO 2 · REQUERIMIENTOS FUNCIONALES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 que el sistema debe hacer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68122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73736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73736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RF01.1</a:t>
            </a:r>
            <a:endParaRPr lang="en-US" sz="95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3080" y="1737360"/>
            <a:ext cx="274320" cy="27432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2240280" y="160020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Registro automático de posición GPS cada 15 minutos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2240280"/>
            <a:ext cx="68122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13232" y="23774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13232" y="23774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RF01.2</a:t>
            </a:r>
            <a:endParaRPr lang="en-US" sz="95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3080" y="2377440"/>
            <a:ext cx="274320" cy="27432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2240280" y="224028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Alertas automáticas por ingreso a zonas restringidas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48640" y="2880360"/>
            <a:ext cx="68122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13232" y="301752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713232" y="301752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RF01.3</a:t>
            </a:r>
            <a:endParaRPr lang="en-US" sz="950" dirty="0"/>
          </a:p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3080" y="3017520"/>
            <a:ext cx="274320" cy="27432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2240280" y="288036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Digitalización de bitácoras de pesca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548640" y="3520440"/>
            <a:ext cx="68122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13232" y="365760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713232" y="365760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RF01.4</a:t>
            </a:r>
            <a:endParaRPr lang="en-US" sz="950" dirty="0"/>
          </a:p>
        </p:txBody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83080" y="3657600"/>
            <a:ext cx="274320" cy="27432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2240280" y="352044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Fotos digitales de capturas como evidencia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548640" y="4160520"/>
            <a:ext cx="68122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713232" y="429768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27" name="Text 21"/>
          <p:cNvSpPr txBox="1"/>
          <p:nvPr/>
        </p:nvSpPr>
        <p:spPr>
          <a:xfrm>
            <a:off x="713232" y="429768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RF01.5</a:t>
            </a:r>
            <a:endParaRPr lang="en-US" sz="950" dirty="0"/>
          </a:p>
        </p:txBody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83080" y="4297680"/>
            <a:ext cx="274320" cy="27432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2240280" y="416052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Códigos QR únicos por lote de captura</a:t>
            </a:r>
            <a:endParaRPr lang="en-US" sz="1300" dirty="0"/>
          </a:p>
        </p:txBody>
      </p:sp>
      <p:sp>
        <p:nvSpPr>
          <p:cNvPr id="30" name="Shape 23"/>
          <p:cNvSpPr/>
          <p:nvPr/>
        </p:nvSpPr>
        <p:spPr>
          <a:xfrm>
            <a:off x="548640" y="4800600"/>
            <a:ext cx="68122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713232" y="493776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32" name="Text 25"/>
          <p:cNvSpPr txBox="1"/>
          <p:nvPr/>
        </p:nvSpPr>
        <p:spPr>
          <a:xfrm>
            <a:off x="713232" y="493776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RF01.6</a:t>
            </a:r>
            <a:endParaRPr lang="en-US" sz="950" dirty="0"/>
          </a:p>
        </p:txBody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83080" y="4937760"/>
            <a:ext cx="274320" cy="274320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2240280" y="480060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Monitoreo de condiciones meteorológicas</a:t>
            </a:r>
            <a:endParaRPr lang="en-US" sz="1300" dirty="0"/>
          </a:p>
        </p:txBody>
      </p:sp>
      <p:sp>
        <p:nvSpPr>
          <p:cNvPr id="35" name="Shape 27"/>
          <p:cNvSpPr/>
          <p:nvPr/>
        </p:nvSpPr>
        <p:spPr>
          <a:xfrm>
            <a:off x="548640" y="5440680"/>
            <a:ext cx="68122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36" name="Shape 28"/>
          <p:cNvSpPr/>
          <p:nvPr/>
        </p:nvSpPr>
        <p:spPr>
          <a:xfrm>
            <a:off x="713232" y="55778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37" name="Text 29"/>
          <p:cNvSpPr txBox="1"/>
          <p:nvPr/>
        </p:nvSpPr>
        <p:spPr>
          <a:xfrm>
            <a:off x="713232" y="55778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RF01.7</a:t>
            </a:r>
            <a:endParaRPr lang="en-US" sz="950" dirty="0"/>
          </a:p>
        </p:txBody>
      </p:sp>
      <p:pic>
        <p:nvPicPr>
          <p:cNvPr id="38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783080" y="5577840"/>
            <a:ext cx="274320" cy="274320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2240280" y="544068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Notificaciones automáticas de irregularidades</a:t>
            </a:r>
            <a:endParaRPr lang="en-US" sz="1300" dirty="0"/>
          </a:p>
        </p:txBody>
      </p:sp>
      <p:sp>
        <p:nvSpPr>
          <p:cNvPr id="40" name="Shape 31"/>
          <p:cNvSpPr/>
          <p:nvPr/>
        </p:nvSpPr>
        <p:spPr>
          <a:xfrm>
            <a:off x="7726680" y="1600200"/>
            <a:ext cx="3886200" cy="4389120"/>
          </a:xfrm>
          <a:prstGeom prst="roundRect">
            <a:avLst>
              <a:gd name="adj" fmla="val 3765"/>
            </a:avLst>
          </a:prstGeom>
          <a:solidFill>
            <a:srgbClr val="071A2C"/>
          </a:solidFill>
          <a:ln/>
          <a:effectLst>
            <a:outerShdw sx="100000" sy="100000" kx="0" ky="0" algn="bl" rotWithShape="0" blurRad="152400" dist="38100" dir="5400000">
              <a:srgbClr val="0B1D2E">
                <a:alpha val="20000"/>
              </a:srgbClr>
            </a:outerShdw>
          </a:effectLst>
        </p:spPr>
      </p:sp>
      <p:sp>
        <p:nvSpPr>
          <p:cNvPr id="41" name="Text 32"/>
          <p:cNvSpPr txBox="1"/>
          <p:nvPr/>
        </p:nvSpPr>
        <p:spPr>
          <a:xfrm>
            <a:off x="8001000" y="169164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2EC4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</a:t>
            </a:r>
            <a:endParaRPr lang="en-US" sz="8000" dirty="0"/>
          </a:p>
        </p:txBody>
      </p:sp>
      <p:sp>
        <p:nvSpPr>
          <p:cNvPr id="42" name="Text 33"/>
          <p:cNvSpPr txBox="1"/>
          <p:nvPr/>
        </p:nvSpPr>
        <p:spPr>
          <a:xfrm>
            <a:off x="9189720" y="19659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requerimientos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funcionales</a:t>
            </a:r>
            <a:endParaRPr lang="en-US" sz="1500" dirty="0"/>
          </a:p>
        </p:txBody>
      </p:sp>
      <p:sp>
        <p:nvSpPr>
          <p:cNvPr id="43" name="Shape 34"/>
          <p:cNvSpPr/>
          <p:nvPr/>
        </p:nvSpPr>
        <p:spPr>
          <a:xfrm>
            <a:off x="8001000" y="2971800"/>
            <a:ext cx="3337560" cy="0"/>
          </a:xfrm>
          <a:prstGeom prst="line">
            <a:avLst/>
          </a:prstGeom>
          <a:noFill/>
          <a:ln w="9525">
            <a:solidFill>
              <a:srgbClr val="24617E"/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8001000" y="30632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2EC4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MONITOREO</a:t>
            </a:r>
            <a:endParaRPr lang="en-US" sz="900" dirty="0"/>
          </a:p>
        </p:txBody>
      </p:sp>
      <p:sp>
        <p:nvSpPr>
          <p:cNvPr id="45" name="Text 36"/>
          <p:cNvSpPr txBox="1"/>
          <p:nvPr/>
        </p:nvSpPr>
        <p:spPr>
          <a:xfrm>
            <a:off x="9509760" y="30632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RF01.1 · RF01.2 · RF01.6</a:t>
            </a:r>
            <a:endParaRPr lang="en-US" sz="1150" dirty="0"/>
          </a:p>
        </p:txBody>
      </p:sp>
      <p:sp>
        <p:nvSpPr>
          <p:cNvPr id="46" name="Shape 37"/>
          <p:cNvSpPr/>
          <p:nvPr/>
        </p:nvSpPr>
        <p:spPr>
          <a:xfrm>
            <a:off x="8001000" y="3657600"/>
            <a:ext cx="3337560" cy="0"/>
          </a:xfrm>
          <a:prstGeom prst="line">
            <a:avLst/>
          </a:prstGeom>
          <a:noFill/>
          <a:ln w="9525">
            <a:solidFill>
              <a:srgbClr val="24617E"/>
            </a:solidFill>
            <a:prstDash val="solid"/>
          </a:ln>
        </p:spPr>
      </p:sp>
      <p:sp>
        <p:nvSpPr>
          <p:cNvPr id="47" name="Text 38"/>
          <p:cNvSpPr txBox="1"/>
          <p:nvPr/>
        </p:nvSpPr>
        <p:spPr>
          <a:xfrm>
            <a:off x="8001000" y="37490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2EC4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CAPTURA</a:t>
            </a:r>
            <a:endParaRPr lang="en-US" sz="900" dirty="0"/>
          </a:p>
        </p:txBody>
      </p:sp>
      <p:sp>
        <p:nvSpPr>
          <p:cNvPr id="48" name="Text 39"/>
          <p:cNvSpPr txBox="1"/>
          <p:nvPr/>
        </p:nvSpPr>
        <p:spPr>
          <a:xfrm>
            <a:off x="9509760" y="37490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RF01.3 · RF01.4</a:t>
            </a:r>
            <a:endParaRPr lang="en-US" sz="1150" dirty="0"/>
          </a:p>
        </p:txBody>
      </p:sp>
      <p:sp>
        <p:nvSpPr>
          <p:cNvPr id="49" name="Shape 40"/>
          <p:cNvSpPr/>
          <p:nvPr/>
        </p:nvSpPr>
        <p:spPr>
          <a:xfrm>
            <a:off x="8001000" y="4343400"/>
            <a:ext cx="3337560" cy="0"/>
          </a:xfrm>
          <a:prstGeom prst="line">
            <a:avLst/>
          </a:prstGeom>
          <a:noFill/>
          <a:ln w="9525">
            <a:solidFill>
              <a:srgbClr val="24617E"/>
            </a:solidFill>
            <a:prstDash val="solid"/>
          </a:ln>
        </p:spPr>
      </p:sp>
      <p:sp>
        <p:nvSpPr>
          <p:cNvPr id="50" name="Text 41"/>
          <p:cNvSpPr txBox="1"/>
          <p:nvPr/>
        </p:nvSpPr>
        <p:spPr>
          <a:xfrm>
            <a:off x="8001000" y="44348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2EC4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TRAZABILIDAD</a:t>
            </a:r>
            <a:endParaRPr lang="en-US" sz="900" dirty="0"/>
          </a:p>
        </p:txBody>
      </p:sp>
      <p:sp>
        <p:nvSpPr>
          <p:cNvPr id="51" name="Text 42"/>
          <p:cNvSpPr txBox="1"/>
          <p:nvPr/>
        </p:nvSpPr>
        <p:spPr>
          <a:xfrm>
            <a:off x="9509760" y="44348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RF01.5</a:t>
            </a:r>
            <a:endParaRPr lang="en-US" sz="1150" dirty="0"/>
          </a:p>
        </p:txBody>
      </p:sp>
      <p:sp>
        <p:nvSpPr>
          <p:cNvPr id="52" name="Shape 43"/>
          <p:cNvSpPr/>
          <p:nvPr/>
        </p:nvSpPr>
        <p:spPr>
          <a:xfrm>
            <a:off x="8001000" y="5029200"/>
            <a:ext cx="3337560" cy="0"/>
          </a:xfrm>
          <a:prstGeom prst="line">
            <a:avLst/>
          </a:prstGeom>
          <a:noFill/>
          <a:ln w="9525">
            <a:solidFill>
              <a:srgbClr val="24617E"/>
            </a:solidFill>
            <a:prstDash val="solid"/>
          </a:ln>
        </p:spPr>
      </p:sp>
      <p:sp>
        <p:nvSpPr>
          <p:cNvPr id="53" name="Text 44"/>
          <p:cNvSpPr txBox="1"/>
          <p:nvPr/>
        </p:nvSpPr>
        <p:spPr>
          <a:xfrm>
            <a:off x="8001000" y="51206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2EC4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CONTROL</a:t>
            </a:r>
            <a:endParaRPr lang="en-US" sz="900" dirty="0"/>
          </a:p>
        </p:txBody>
      </p:sp>
      <p:sp>
        <p:nvSpPr>
          <p:cNvPr id="54" name="Text 45"/>
          <p:cNvSpPr txBox="1"/>
          <p:nvPr/>
        </p:nvSpPr>
        <p:spPr>
          <a:xfrm>
            <a:off x="9509760" y="51206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RF01.7</a:t>
            </a:r>
            <a:endParaRPr lang="en-US" sz="1150" dirty="0"/>
          </a:p>
        </p:txBody>
      </p:sp>
      <p:sp>
        <p:nvSpPr>
          <p:cNvPr id="55" name="Text 46"/>
          <p:cNvSpPr txBox="1"/>
          <p:nvPr/>
        </p:nvSpPr>
        <p:spPr>
          <a:xfrm>
            <a:off x="548640" y="641908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9AAAB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VIDA SUBMARINA · SISEP</a:t>
            </a:r>
            <a:endParaRPr lang="en-US" sz="750" dirty="0"/>
          </a:p>
        </p:txBody>
      </p:sp>
      <p:sp>
        <p:nvSpPr>
          <p:cNvPr id="56" name="Text 47"/>
          <p:cNvSpPr txBox="1"/>
          <p:nvPr/>
        </p:nvSpPr>
        <p:spPr>
          <a:xfrm>
            <a:off x="11091672" y="641908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3867912" cy="274320"/>
          </a:xfrm>
          <a:prstGeom prst="roundRect">
            <a:avLst>
              <a:gd name="adj" fmla="val 50000"/>
            </a:avLst>
          </a:prstGeom>
          <a:solidFill>
            <a:srgbClr val="123E5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3867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A8ECE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CAPÍTULO 2 · REQUERIMIENTOS NO FUNCIONALES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Calidad medible desde el diseño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17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9DEE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Cuatro metas concretas que guían la arquitectura, la base de datos y la seguridad.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2148840"/>
            <a:ext cx="2633472" cy="3246120"/>
          </a:xfrm>
          <a:prstGeom prst="roundRect">
            <a:avLst>
              <a:gd name="adj" fmla="val 4861"/>
            </a:avLst>
          </a:prstGeom>
          <a:solidFill>
            <a:srgbClr val="0E3453">
              <a:alpha val="90000"/>
            </a:srgbClr>
          </a:solidFill>
          <a:ln w="9525">
            <a:solidFill>
              <a:srgbClr val="24617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04672" y="2423160"/>
            <a:ext cx="566928" cy="566928"/>
          </a:xfrm>
          <a:prstGeom prst="ellipse">
            <a:avLst/>
          </a:prstGeom>
          <a:solidFill>
            <a:srgbClr val="2EC4C9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735" y="2559223"/>
            <a:ext cx="294803" cy="294803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508760" y="244144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EC4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RNF 01.1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508760" y="267919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C9DE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RENDIMIENTO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804672" y="338328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&lt; 3 s</a:t>
            </a:r>
            <a:endParaRPr lang="en-US" sz="4200" dirty="0"/>
          </a:p>
        </p:txBody>
      </p:sp>
      <p:sp>
        <p:nvSpPr>
          <p:cNvPr id="12" name="Text 9"/>
          <p:cNvSpPr txBox="1"/>
          <p:nvPr/>
        </p:nvSpPr>
        <p:spPr>
          <a:xfrm>
            <a:off x="804672" y="44805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7DCE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Tiempo de respuesta para consultas.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64992" y="2148840"/>
            <a:ext cx="2633472" cy="3246120"/>
          </a:xfrm>
          <a:prstGeom prst="roundRect">
            <a:avLst>
              <a:gd name="adj" fmla="val 4861"/>
            </a:avLst>
          </a:prstGeom>
          <a:solidFill>
            <a:srgbClr val="0E3453">
              <a:alpha val="90000"/>
            </a:srgbClr>
          </a:solidFill>
          <a:ln w="9525">
            <a:solidFill>
              <a:srgbClr val="24617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621024" y="2423160"/>
            <a:ext cx="566928" cy="566928"/>
          </a:xfrm>
          <a:prstGeom prst="ellipse">
            <a:avLst/>
          </a:prstGeom>
          <a:solidFill>
            <a:srgbClr val="2EC4C9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7087" y="2559223"/>
            <a:ext cx="294803" cy="294803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325112" y="244144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EC4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RNF 01.2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4325112" y="267919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C9DE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SEGURIDAD</a:t>
            </a:r>
            <a:endParaRPr lang="en-US" sz="900" dirty="0"/>
          </a:p>
        </p:txBody>
      </p:sp>
      <p:sp>
        <p:nvSpPr>
          <p:cNvPr id="18" name="Text 14"/>
          <p:cNvSpPr txBox="1"/>
          <p:nvPr/>
        </p:nvSpPr>
        <p:spPr>
          <a:xfrm>
            <a:off x="3621024" y="338328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2FA</a:t>
            </a:r>
            <a:endParaRPr lang="en-US" sz="4200" dirty="0"/>
          </a:p>
        </p:txBody>
      </p:sp>
      <p:sp>
        <p:nvSpPr>
          <p:cNvPr id="19" name="Text 15"/>
          <p:cNvSpPr txBox="1"/>
          <p:nvPr/>
        </p:nvSpPr>
        <p:spPr>
          <a:xfrm>
            <a:off x="3621024" y="44805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7DCE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Autenticación de dos factores para usuarios críticos.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6181344" y="2148840"/>
            <a:ext cx="2633472" cy="3246120"/>
          </a:xfrm>
          <a:prstGeom prst="roundRect">
            <a:avLst>
              <a:gd name="adj" fmla="val 4861"/>
            </a:avLst>
          </a:prstGeom>
          <a:solidFill>
            <a:srgbClr val="0E3453">
              <a:alpha val="90000"/>
            </a:srgbClr>
          </a:solidFill>
          <a:ln w="9525">
            <a:solidFill>
              <a:srgbClr val="24617E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437376" y="2423160"/>
            <a:ext cx="566928" cy="566928"/>
          </a:xfrm>
          <a:prstGeom prst="ellipse">
            <a:avLst/>
          </a:prstGeom>
          <a:solidFill>
            <a:srgbClr val="2EC4C9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3439" y="2559223"/>
            <a:ext cx="294803" cy="294803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7141464" y="244144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EC4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RNF 01.3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7141464" y="267919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C9DE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DISPONIBILIDAD</a:t>
            </a:r>
            <a:endParaRPr lang="en-US" sz="900" dirty="0"/>
          </a:p>
        </p:txBody>
      </p:sp>
      <p:sp>
        <p:nvSpPr>
          <p:cNvPr id="25" name="Text 20"/>
          <p:cNvSpPr txBox="1"/>
          <p:nvPr/>
        </p:nvSpPr>
        <p:spPr>
          <a:xfrm>
            <a:off x="6437376" y="338328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99,5 %</a:t>
            </a:r>
            <a:endParaRPr lang="en-US" sz="4200" dirty="0"/>
          </a:p>
        </p:txBody>
      </p:sp>
      <p:sp>
        <p:nvSpPr>
          <p:cNvPr id="26" name="Text 21"/>
          <p:cNvSpPr txBox="1"/>
          <p:nvPr/>
        </p:nvSpPr>
        <p:spPr>
          <a:xfrm>
            <a:off x="6437376" y="44805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7DCE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Disponibilidad del sistema en horario laboral.</a:t>
            </a:r>
            <a:endParaRPr lang="en-US" sz="1250" dirty="0"/>
          </a:p>
        </p:txBody>
      </p:sp>
      <p:sp>
        <p:nvSpPr>
          <p:cNvPr id="27" name="Shape 22"/>
          <p:cNvSpPr/>
          <p:nvPr/>
        </p:nvSpPr>
        <p:spPr>
          <a:xfrm>
            <a:off x="8997696" y="2148840"/>
            <a:ext cx="2633472" cy="3246120"/>
          </a:xfrm>
          <a:prstGeom prst="roundRect">
            <a:avLst>
              <a:gd name="adj" fmla="val 4861"/>
            </a:avLst>
          </a:prstGeom>
          <a:solidFill>
            <a:srgbClr val="0E3453">
              <a:alpha val="90000"/>
            </a:srgbClr>
          </a:solidFill>
          <a:ln w="9525">
            <a:solidFill>
              <a:srgbClr val="24617E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9253728" y="2423160"/>
            <a:ext cx="566928" cy="566928"/>
          </a:xfrm>
          <a:prstGeom prst="ellipse">
            <a:avLst/>
          </a:prstGeom>
          <a:solidFill>
            <a:srgbClr val="2EC4C9"/>
          </a:solidFill>
          <a:ln/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89791" y="2559223"/>
            <a:ext cx="294803" cy="294803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9957816" y="244144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EC4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RNF 01.4</a:t>
            </a:r>
            <a:endParaRPr lang="en-US" sz="900" dirty="0"/>
          </a:p>
        </p:txBody>
      </p:sp>
      <p:sp>
        <p:nvSpPr>
          <p:cNvPr id="31" name="Text 25"/>
          <p:cNvSpPr txBox="1"/>
          <p:nvPr/>
        </p:nvSpPr>
        <p:spPr>
          <a:xfrm>
            <a:off x="9957816" y="267919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C9DE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ESCALABILIDAD</a:t>
            </a:r>
            <a:endParaRPr lang="en-US" sz="900" dirty="0"/>
          </a:p>
        </p:txBody>
      </p:sp>
      <p:sp>
        <p:nvSpPr>
          <p:cNvPr id="32" name="Text 26"/>
          <p:cNvSpPr txBox="1"/>
          <p:nvPr/>
        </p:nvSpPr>
        <p:spPr>
          <a:xfrm>
            <a:off x="9253728" y="338328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10 000</a:t>
            </a:r>
            <a:endParaRPr lang="en-US" sz="4200" dirty="0"/>
          </a:p>
        </p:txBody>
      </p:sp>
      <p:sp>
        <p:nvSpPr>
          <p:cNvPr id="33" name="Text 27"/>
          <p:cNvSpPr txBox="1"/>
          <p:nvPr/>
        </p:nvSpPr>
        <p:spPr>
          <a:xfrm>
            <a:off x="9253728" y="44805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7DCE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Embarcaciones: capacidad de crecimiento del sistema.</a:t>
            </a:r>
            <a:endParaRPr lang="en-US" sz="1250" dirty="0"/>
          </a:p>
        </p:txBody>
      </p:sp>
      <p:sp>
        <p:nvSpPr>
          <p:cNvPr id="34" name="Text 28"/>
          <p:cNvSpPr txBox="1"/>
          <p:nvPr/>
        </p:nvSpPr>
        <p:spPr>
          <a:xfrm>
            <a:off x="548640" y="641908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7FA7B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VIDA SUBMARINA · SISEP</a:t>
            </a:r>
            <a:endParaRPr lang="en-US" sz="750" dirty="0"/>
          </a:p>
        </p:txBody>
      </p:sp>
      <p:sp>
        <p:nvSpPr>
          <p:cNvPr id="35" name="Text 29"/>
          <p:cNvSpPr txBox="1"/>
          <p:nvPr/>
        </p:nvSpPr>
        <p:spPr>
          <a:xfrm>
            <a:off x="11091672" y="641908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A8ECE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3538728" cy="274320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3538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CAPÍTULO 2 · REQUERIMIENTOS DE DOMINIO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Las reglas del sector pesquero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17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Condiciones propias del dominio pesquero que SISEP debe respetar.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3566160" cy="265176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2960" y="2267712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RD01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3291840" y="2286000"/>
            <a:ext cx="566928" cy="566928"/>
          </a:xfrm>
          <a:prstGeom prst="ellipse">
            <a:avLst/>
          </a:prstGeom>
          <a:solidFill>
            <a:srgbClr val="E3F4F6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7903" y="2422063"/>
            <a:ext cx="294803" cy="294803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22960" y="299923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80" kern="0" dirty="0">
                <a:solidFill>
                  <a:srgbClr val="5A6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NORMATIVA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3291840"/>
            <a:ext cx="3063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Cumplimiento del Reglamento de la Ley General de Pesca (D.S. N.° 012-2001-PE) y sus modificatorias. [2] [3]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297680" y="2011680"/>
            <a:ext cx="3566160" cy="265176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4572000" y="2267712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RD09</a:t>
            </a:r>
            <a:endParaRPr lang="en-US" sz="3600" dirty="0"/>
          </a:p>
        </p:txBody>
      </p:sp>
      <p:sp>
        <p:nvSpPr>
          <p:cNvPr id="14" name="Shape 11"/>
          <p:cNvSpPr/>
          <p:nvPr/>
        </p:nvSpPr>
        <p:spPr>
          <a:xfrm>
            <a:off x="7040880" y="2286000"/>
            <a:ext cx="566928" cy="566928"/>
          </a:xfrm>
          <a:prstGeom prst="ellipse">
            <a:avLst/>
          </a:prstGeom>
          <a:solidFill>
            <a:srgbClr val="E3F4F6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6943" y="2422063"/>
            <a:ext cx="294803" cy="294803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572000" y="299923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80" kern="0" dirty="0">
                <a:solidFill>
                  <a:srgbClr val="5A6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OPERATIVIDAD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4572000" y="3291840"/>
            <a:ext cx="3063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Procesos simplificados que no retrasen las operaciones pesqueras.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8046720" y="2011680"/>
            <a:ext cx="3566160" cy="265176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8321040" y="2267712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RD17</a:t>
            </a:r>
            <a:endParaRPr lang="en-US" sz="3600" dirty="0"/>
          </a:p>
        </p:txBody>
      </p:sp>
      <p:sp>
        <p:nvSpPr>
          <p:cNvPr id="20" name="Shape 16"/>
          <p:cNvSpPr/>
          <p:nvPr/>
        </p:nvSpPr>
        <p:spPr>
          <a:xfrm>
            <a:off x="10789920" y="2286000"/>
            <a:ext cx="566928" cy="566928"/>
          </a:xfrm>
          <a:prstGeom prst="ellipse">
            <a:avLst/>
          </a:prstGeom>
          <a:solidFill>
            <a:srgbClr val="E3F4F6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25983" y="2422063"/>
            <a:ext cx="294803" cy="294803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321040" y="299923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80" kern="0" dirty="0">
                <a:solidFill>
                  <a:srgbClr val="5A6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SOSTENIBILIDAD</a:t>
            </a:r>
            <a:endParaRPr lang="en-US" sz="900" dirty="0"/>
          </a:p>
        </p:txBody>
      </p:sp>
      <p:sp>
        <p:nvSpPr>
          <p:cNvPr id="23" name="Text 18"/>
          <p:cNvSpPr txBox="1"/>
          <p:nvPr/>
        </p:nvSpPr>
        <p:spPr>
          <a:xfrm>
            <a:off x="8321040" y="3291840"/>
            <a:ext cx="3063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Monitoreo de indicadores de sostenibilidad pesquera.</a:t>
            </a:r>
            <a:endParaRPr lang="en-US" sz="1400" dirty="0"/>
          </a:p>
        </p:txBody>
      </p:sp>
      <p:sp>
        <p:nvSpPr>
          <p:cNvPr id="24" name="Shape 19"/>
          <p:cNvSpPr/>
          <p:nvPr/>
        </p:nvSpPr>
        <p:spPr>
          <a:xfrm>
            <a:off x="548640" y="502920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E3F4F6"/>
          </a:solidFill>
          <a:ln/>
        </p:spPr>
      </p:sp>
      <p:sp>
        <p:nvSpPr>
          <p:cNvPr id="25" name="Shape 20"/>
          <p:cNvSpPr/>
          <p:nvPr/>
        </p:nvSpPr>
        <p:spPr>
          <a:xfrm>
            <a:off x="777240" y="5230368"/>
            <a:ext cx="603504" cy="60350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2081" y="5375209"/>
            <a:ext cx="313822" cy="313822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1600200" y="5029200"/>
            <a:ext cx="9829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¿Cómo se aplican?  </a:t>
            </a:r>
            <a:pPr indent="0" marL="0">
              <a:buNone/>
            </a:pPr>
            <a:r>
              <a:rPr lang="en-US" sz="125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RD01 → validación automática de áreas, tallas y permisos  ·  RD09 → sincronización inmediata o por lotes  ·  RD17 → reportes y dashboards de sostenibilidad.</a:t>
            </a:r>
            <a:endParaRPr lang="en-US" sz="1250" dirty="0"/>
          </a:p>
        </p:txBody>
      </p:sp>
      <p:sp>
        <p:nvSpPr>
          <p:cNvPr id="28" name="Text 22"/>
          <p:cNvSpPr txBox="1"/>
          <p:nvPr/>
        </p:nvSpPr>
        <p:spPr>
          <a:xfrm>
            <a:off x="548640" y="641908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9AAAB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VIDA SUBMARINA · SISEP</a:t>
            </a:r>
            <a:endParaRPr lang="en-US" sz="750" dirty="0"/>
          </a:p>
        </p:txBody>
      </p:sp>
      <p:sp>
        <p:nvSpPr>
          <p:cNvPr id="29" name="Text 23"/>
          <p:cNvSpPr txBox="1"/>
          <p:nvPr/>
        </p:nvSpPr>
        <p:spPr>
          <a:xfrm>
            <a:off x="11091672" y="641908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798064" cy="274320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2798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CAPÍTULO 3 · MODELO FUNCIONAL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Diagrama de contexto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17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Límites del sistema, entradas y salidas de información y organismos relacionados.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636008" y="2924251"/>
            <a:ext cx="2926080" cy="2926080"/>
          </a:xfrm>
          <a:prstGeom prst="ellipse">
            <a:avLst/>
          </a:prstGeom>
          <a:ln w="12700">
            <a:solidFill>
              <a:srgbClr val="2EC4C9">
                <a:alpha val="45000"/>
              </a:srgbClr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4133088" y="2562149"/>
            <a:ext cx="3931920" cy="3931920"/>
          </a:xfrm>
          <a:prstGeom prst="ellipse">
            <a:avLst/>
          </a:prstGeom>
          <a:ln w="12700">
            <a:solidFill>
              <a:srgbClr val="2EC4C9">
                <a:alpha val="30000"/>
              </a:srgbClr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 rot="7925771">
            <a:off x="4696066" y="3465925"/>
            <a:ext cx="120015" cy="120015"/>
          </a:xfrm>
          <a:prstGeom prst="triangle">
            <a:avLst/>
          </a:prstGeom>
          <a:solidFill>
            <a:srgbClr val="0F4C6B"/>
          </a:solidFill>
          <a:ln/>
        </p:spPr>
      </p:sp>
      <p:sp>
        <p:nvSpPr>
          <p:cNvPr id="9" name="Shape 7"/>
          <p:cNvSpPr/>
          <p:nvPr/>
        </p:nvSpPr>
        <p:spPr>
          <a:xfrm>
            <a:off x="3474720" y="2368296"/>
            <a:ext cx="1281353" cy="1157636"/>
          </a:xfrm>
          <a:prstGeom prst="line">
            <a:avLst/>
          </a:prstGeom>
          <a:noFill/>
          <a:ln w="15875">
            <a:solidFill>
              <a:srgbClr val="0F4C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6562680">
            <a:off x="4683984" y="3760562"/>
            <a:ext cx="120015" cy="120015"/>
          </a:xfrm>
          <a:prstGeom prst="triangle">
            <a:avLst/>
          </a:prstGeom>
          <a:solidFill>
            <a:srgbClr val="0F4C6B"/>
          </a:solidFill>
          <a:ln/>
        </p:spPr>
      </p:sp>
      <p:sp>
        <p:nvSpPr>
          <p:cNvPr id="11" name="Shape 9"/>
          <p:cNvSpPr/>
          <p:nvPr/>
        </p:nvSpPr>
        <p:spPr>
          <a:xfrm>
            <a:off x="3474720" y="3374136"/>
            <a:ext cx="1269272" cy="446434"/>
          </a:xfrm>
          <a:prstGeom prst="line">
            <a:avLst/>
          </a:prstGeom>
          <a:noFill/>
          <a:ln w="15875">
            <a:solidFill>
              <a:srgbClr val="0F4C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4721404">
            <a:off x="4681750" y="4066561"/>
            <a:ext cx="120015" cy="120015"/>
          </a:xfrm>
          <a:prstGeom prst="triangle">
            <a:avLst/>
          </a:prstGeom>
          <a:solidFill>
            <a:srgbClr val="0F4C6B"/>
          </a:solidFill>
          <a:ln/>
        </p:spPr>
      </p:sp>
      <p:sp>
        <p:nvSpPr>
          <p:cNvPr id="13" name="Shape 11"/>
          <p:cNvSpPr/>
          <p:nvPr/>
        </p:nvSpPr>
        <p:spPr>
          <a:xfrm flipV="1">
            <a:off x="3474720" y="4126568"/>
            <a:ext cx="1267038" cy="253408"/>
          </a:xfrm>
          <a:prstGeom prst="line">
            <a:avLst/>
          </a:prstGeom>
          <a:noFill/>
          <a:ln w="15875">
            <a:solidFill>
              <a:srgbClr val="0F4C6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3184016">
            <a:off x="4692626" y="4365170"/>
            <a:ext cx="120015" cy="120015"/>
          </a:xfrm>
          <a:prstGeom prst="triangle">
            <a:avLst/>
          </a:prstGeom>
          <a:solidFill>
            <a:srgbClr val="0F4C6B"/>
          </a:solidFill>
          <a:ln/>
        </p:spPr>
      </p:sp>
      <p:sp>
        <p:nvSpPr>
          <p:cNvPr id="15" name="Shape 13"/>
          <p:cNvSpPr/>
          <p:nvPr/>
        </p:nvSpPr>
        <p:spPr>
          <a:xfrm flipV="1">
            <a:off x="3474720" y="4425177"/>
            <a:ext cx="1277914" cy="960639"/>
          </a:xfrm>
          <a:prstGeom prst="line">
            <a:avLst/>
          </a:prstGeom>
          <a:noFill/>
          <a:ln w="15875">
            <a:solidFill>
              <a:srgbClr val="0F4C6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14133661">
            <a:off x="7396122" y="3563657"/>
            <a:ext cx="120015" cy="120015"/>
          </a:xfrm>
          <a:prstGeom prst="triangle">
            <a:avLst/>
          </a:prstGeom>
          <a:solidFill>
            <a:srgbClr val="0F4C6B"/>
          </a:solidFill>
          <a:ln/>
        </p:spPr>
      </p:sp>
      <p:sp>
        <p:nvSpPr>
          <p:cNvPr id="17" name="Shape 15"/>
          <p:cNvSpPr/>
          <p:nvPr/>
        </p:nvSpPr>
        <p:spPr>
          <a:xfrm flipH="1">
            <a:off x="7456130" y="2779776"/>
            <a:ext cx="1230670" cy="843888"/>
          </a:xfrm>
          <a:prstGeom prst="line">
            <a:avLst/>
          </a:prstGeom>
          <a:noFill/>
          <a:ln w="15875">
            <a:solidFill>
              <a:srgbClr val="0F4C6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16175445">
            <a:off x="7406638" y="3917204"/>
            <a:ext cx="120015" cy="120015"/>
          </a:xfrm>
          <a:prstGeom prst="triangle">
            <a:avLst/>
          </a:prstGeom>
          <a:solidFill>
            <a:srgbClr val="0F4C6B"/>
          </a:solidFill>
          <a:ln/>
        </p:spPr>
      </p:sp>
      <p:sp>
        <p:nvSpPr>
          <p:cNvPr id="19" name="Shape 17"/>
          <p:cNvSpPr/>
          <p:nvPr/>
        </p:nvSpPr>
        <p:spPr>
          <a:xfrm flipH="1">
            <a:off x="7466646" y="3968496"/>
            <a:ext cx="1220154" cy="8715"/>
          </a:xfrm>
          <a:prstGeom prst="line">
            <a:avLst/>
          </a:prstGeom>
          <a:noFill/>
          <a:ln w="15875">
            <a:solidFill>
              <a:srgbClr val="0F4C6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-3367288">
            <a:off x="7396452" y="4271123"/>
            <a:ext cx="120015" cy="120015"/>
          </a:xfrm>
          <a:prstGeom prst="triangle">
            <a:avLst/>
          </a:prstGeom>
          <a:solidFill>
            <a:srgbClr val="0F4C6B"/>
          </a:solidFill>
          <a:ln/>
        </p:spPr>
      </p:sp>
      <p:sp>
        <p:nvSpPr>
          <p:cNvPr id="21" name="Shape 19"/>
          <p:cNvSpPr/>
          <p:nvPr/>
        </p:nvSpPr>
        <p:spPr>
          <a:xfrm flipH="1" flipV="1">
            <a:off x="7456459" y="4331130"/>
            <a:ext cx="1230341" cy="826086"/>
          </a:xfrm>
          <a:prstGeom prst="line">
            <a:avLst/>
          </a:prstGeom>
          <a:noFill/>
          <a:ln w="15875">
            <a:solidFill>
              <a:srgbClr val="0F4C6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011680"/>
            <a:ext cx="2926080" cy="7132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76656" y="2121408"/>
            <a:ext cx="493776" cy="493776"/>
          </a:xfrm>
          <a:prstGeom prst="ellipse">
            <a:avLst/>
          </a:prstGeom>
          <a:solidFill>
            <a:srgbClr val="E3F4F6"/>
          </a:solidFill>
          <a:ln/>
        </p:spPr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62" y="2239914"/>
            <a:ext cx="256764" cy="256764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1280160" y="211226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IMARPE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1280160" y="2386584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Investigación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548640" y="3017520"/>
            <a:ext cx="2926080" cy="7132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676656" y="3127248"/>
            <a:ext cx="493776" cy="493776"/>
          </a:xfrm>
          <a:prstGeom prst="ellipse">
            <a:avLst/>
          </a:prstGeom>
          <a:solidFill>
            <a:srgbClr val="E3F4F6"/>
          </a:solidFill>
          <a:ln/>
        </p:spPr>
      </p:sp>
      <p:pic>
        <p:nvPicPr>
          <p:cNvPr id="29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162" y="3245754"/>
            <a:ext cx="256764" cy="256764"/>
          </a:xfrm>
          <a:prstGeom prst="rect">
            <a:avLst/>
          </a:prstGeom>
        </p:spPr>
      </p:pic>
      <p:sp>
        <p:nvSpPr>
          <p:cNvPr id="30" name="Text 26"/>
          <p:cNvSpPr txBox="1"/>
          <p:nvPr/>
        </p:nvSpPr>
        <p:spPr>
          <a:xfrm>
            <a:off x="1280160" y="311810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PRODUCE</a:t>
            </a:r>
            <a:endParaRPr lang="en-US" sz="1150" dirty="0"/>
          </a:p>
        </p:txBody>
      </p:sp>
      <p:sp>
        <p:nvSpPr>
          <p:cNvPr id="31" name="Text 27"/>
          <p:cNvSpPr txBox="1"/>
          <p:nvPr/>
        </p:nvSpPr>
        <p:spPr>
          <a:xfrm>
            <a:off x="1280160" y="3392424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Regulación</a:t>
            </a:r>
            <a:endParaRPr lang="en-US" sz="950" dirty="0"/>
          </a:p>
        </p:txBody>
      </p:sp>
      <p:sp>
        <p:nvSpPr>
          <p:cNvPr id="32" name="Shape 28"/>
          <p:cNvSpPr/>
          <p:nvPr/>
        </p:nvSpPr>
        <p:spPr>
          <a:xfrm>
            <a:off x="548640" y="4023360"/>
            <a:ext cx="2926080" cy="7132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33" name="Shape 29"/>
          <p:cNvSpPr/>
          <p:nvPr/>
        </p:nvSpPr>
        <p:spPr>
          <a:xfrm>
            <a:off x="676656" y="4133088"/>
            <a:ext cx="493776" cy="493776"/>
          </a:xfrm>
          <a:prstGeom prst="ellipse">
            <a:avLst/>
          </a:prstGeom>
          <a:solidFill>
            <a:srgbClr val="E3F4F6"/>
          </a:solidFill>
          <a:ln/>
        </p:spPr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162" y="4251594"/>
            <a:ext cx="256764" cy="256764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1280160" y="412394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Armadores / Empresas</a:t>
            </a:r>
            <a:endParaRPr lang="en-US" sz="1150" dirty="0"/>
          </a:p>
        </p:txBody>
      </p:sp>
      <p:sp>
        <p:nvSpPr>
          <p:cNvPr id="36" name="Text 31"/>
          <p:cNvSpPr txBox="1"/>
          <p:nvPr/>
        </p:nvSpPr>
        <p:spPr>
          <a:xfrm>
            <a:off x="1280160" y="4398264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Pesqueras</a:t>
            </a:r>
            <a:endParaRPr lang="en-US" sz="950" dirty="0"/>
          </a:p>
        </p:txBody>
      </p:sp>
      <p:sp>
        <p:nvSpPr>
          <p:cNvPr id="37" name="Shape 32"/>
          <p:cNvSpPr/>
          <p:nvPr/>
        </p:nvSpPr>
        <p:spPr>
          <a:xfrm>
            <a:off x="548640" y="5029200"/>
            <a:ext cx="2926080" cy="7132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38" name="Shape 33"/>
          <p:cNvSpPr/>
          <p:nvPr/>
        </p:nvSpPr>
        <p:spPr>
          <a:xfrm>
            <a:off x="676656" y="5138928"/>
            <a:ext cx="493776" cy="493776"/>
          </a:xfrm>
          <a:prstGeom prst="ellipse">
            <a:avLst/>
          </a:prstGeom>
          <a:solidFill>
            <a:srgbClr val="E3F4F6"/>
          </a:solidFill>
          <a:ln/>
        </p:spPr>
      </p:sp>
      <p:pic>
        <p:nvPicPr>
          <p:cNvPr id="39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162" y="5257434"/>
            <a:ext cx="256764" cy="256764"/>
          </a:xfrm>
          <a:prstGeom prst="rect">
            <a:avLst/>
          </a:prstGeom>
        </p:spPr>
      </p:pic>
      <p:sp>
        <p:nvSpPr>
          <p:cNvPr id="40" name="Text 34"/>
          <p:cNvSpPr txBox="1"/>
          <p:nvPr/>
        </p:nvSpPr>
        <p:spPr>
          <a:xfrm>
            <a:off x="1280160" y="512978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Pescadores artesanales</a:t>
            </a:r>
            <a:endParaRPr lang="en-US" sz="1150" dirty="0"/>
          </a:p>
        </p:txBody>
      </p:sp>
      <p:sp>
        <p:nvSpPr>
          <p:cNvPr id="41" name="Text 35"/>
          <p:cNvSpPr txBox="1"/>
          <p:nvPr/>
        </p:nvSpPr>
        <p:spPr>
          <a:xfrm>
            <a:off x="1280160" y="5404104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Comunidades</a:t>
            </a:r>
            <a:endParaRPr lang="en-US" sz="950" dirty="0"/>
          </a:p>
        </p:txBody>
      </p:sp>
      <p:sp>
        <p:nvSpPr>
          <p:cNvPr id="42" name="Shape 36"/>
          <p:cNvSpPr/>
          <p:nvPr/>
        </p:nvSpPr>
        <p:spPr>
          <a:xfrm>
            <a:off x="8686800" y="2423160"/>
            <a:ext cx="2926080" cy="7132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43" name="Shape 37"/>
          <p:cNvSpPr/>
          <p:nvPr/>
        </p:nvSpPr>
        <p:spPr>
          <a:xfrm>
            <a:off x="8814816" y="2532888"/>
            <a:ext cx="493776" cy="493776"/>
          </a:xfrm>
          <a:prstGeom prst="ellipse">
            <a:avLst/>
          </a:prstGeom>
          <a:solidFill>
            <a:srgbClr val="E3F4F6"/>
          </a:solidFill>
          <a:ln/>
        </p:spPr>
      </p:sp>
      <p:pic>
        <p:nvPicPr>
          <p:cNvPr id="44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33322" y="2651394"/>
            <a:ext cx="256764" cy="256764"/>
          </a:xfrm>
          <a:prstGeom prst="rect">
            <a:avLst/>
          </a:prstGeom>
        </p:spPr>
      </p:pic>
      <p:sp>
        <p:nvSpPr>
          <p:cNvPr id="45" name="Text 38"/>
          <p:cNvSpPr txBox="1"/>
          <p:nvPr/>
        </p:nvSpPr>
        <p:spPr>
          <a:xfrm>
            <a:off x="9418320" y="252374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Satélites / Sensores</a:t>
            </a:r>
            <a:endParaRPr lang="en-US" sz="1150" dirty="0"/>
          </a:p>
        </p:txBody>
      </p:sp>
      <p:sp>
        <p:nvSpPr>
          <p:cNvPr id="46" name="Text 39"/>
          <p:cNvSpPr txBox="1"/>
          <p:nvPr/>
        </p:nvSpPr>
        <p:spPr>
          <a:xfrm>
            <a:off x="9418320" y="2798064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Imágenes, AIS</a:t>
            </a:r>
            <a:endParaRPr lang="en-US" sz="950" dirty="0"/>
          </a:p>
        </p:txBody>
      </p:sp>
      <p:sp>
        <p:nvSpPr>
          <p:cNvPr id="47" name="Shape 40"/>
          <p:cNvSpPr/>
          <p:nvPr/>
        </p:nvSpPr>
        <p:spPr>
          <a:xfrm>
            <a:off x="8686800" y="3611880"/>
            <a:ext cx="2926080" cy="7132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48" name="Shape 41"/>
          <p:cNvSpPr/>
          <p:nvPr/>
        </p:nvSpPr>
        <p:spPr>
          <a:xfrm>
            <a:off x="8814816" y="3721608"/>
            <a:ext cx="493776" cy="493776"/>
          </a:xfrm>
          <a:prstGeom prst="ellipse">
            <a:avLst/>
          </a:prstGeom>
          <a:solidFill>
            <a:srgbClr val="E3F4F6"/>
          </a:solidFill>
          <a:ln/>
        </p:spPr>
      </p:sp>
      <p:pic>
        <p:nvPicPr>
          <p:cNvPr id="49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33322" y="3840114"/>
            <a:ext cx="256764" cy="256764"/>
          </a:xfrm>
          <a:prstGeom prst="rect">
            <a:avLst/>
          </a:prstGeom>
        </p:spPr>
      </p:pic>
      <p:sp>
        <p:nvSpPr>
          <p:cNvPr id="50" name="Text 42"/>
          <p:cNvSpPr txBox="1"/>
          <p:nvPr/>
        </p:nvSpPr>
        <p:spPr>
          <a:xfrm>
            <a:off x="9418320" y="371246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Mercado / Consumidores</a:t>
            </a:r>
            <a:endParaRPr lang="en-US" sz="1150" dirty="0"/>
          </a:p>
        </p:txBody>
      </p:sp>
      <p:sp>
        <p:nvSpPr>
          <p:cNvPr id="51" name="Text 43"/>
          <p:cNvSpPr txBox="1"/>
          <p:nvPr/>
        </p:nvSpPr>
        <p:spPr>
          <a:xfrm>
            <a:off x="9418320" y="3986784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Verificación de trazabilidad</a:t>
            </a:r>
            <a:endParaRPr lang="en-US" sz="950" dirty="0"/>
          </a:p>
        </p:txBody>
      </p:sp>
      <p:sp>
        <p:nvSpPr>
          <p:cNvPr id="52" name="Shape 44"/>
          <p:cNvSpPr/>
          <p:nvPr/>
        </p:nvSpPr>
        <p:spPr>
          <a:xfrm>
            <a:off x="8686800" y="4800600"/>
            <a:ext cx="2926080" cy="7132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53" name="Shape 45"/>
          <p:cNvSpPr/>
          <p:nvPr/>
        </p:nvSpPr>
        <p:spPr>
          <a:xfrm>
            <a:off x="8814816" y="4910328"/>
            <a:ext cx="493776" cy="493776"/>
          </a:xfrm>
          <a:prstGeom prst="ellipse">
            <a:avLst/>
          </a:prstGeom>
          <a:solidFill>
            <a:srgbClr val="E3F4F6"/>
          </a:solidFill>
          <a:ln/>
        </p:spPr>
      </p:sp>
      <p:pic>
        <p:nvPicPr>
          <p:cNvPr id="54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33322" y="5028834"/>
            <a:ext cx="256764" cy="256764"/>
          </a:xfrm>
          <a:prstGeom prst="rect">
            <a:avLst/>
          </a:prstGeom>
        </p:spPr>
      </p:pic>
      <p:sp>
        <p:nvSpPr>
          <p:cNvPr id="55" name="Text 46"/>
          <p:cNvSpPr txBox="1"/>
          <p:nvPr/>
        </p:nvSpPr>
        <p:spPr>
          <a:xfrm>
            <a:off x="9418320" y="490118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Org. ambientales / I+D</a:t>
            </a:r>
            <a:endParaRPr lang="en-US" sz="1150" dirty="0"/>
          </a:p>
        </p:txBody>
      </p:sp>
      <p:sp>
        <p:nvSpPr>
          <p:cNvPr id="56" name="Text 47"/>
          <p:cNvSpPr txBox="1"/>
          <p:nvPr/>
        </p:nvSpPr>
        <p:spPr>
          <a:xfrm>
            <a:off x="9418320" y="5175504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Organizaciones ambientales</a:t>
            </a:r>
            <a:endParaRPr lang="en-US" sz="950" dirty="0"/>
          </a:p>
        </p:txBody>
      </p:sp>
      <p:sp>
        <p:nvSpPr>
          <p:cNvPr id="57" name="Shape 48"/>
          <p:cNvSpPr/>
          <p:nvPr/>
        </p:nvSpPr>
        <p:spPr>
          <a:xfrm>
            <a:off x="4800600" y="3383280"/>
            <a:ext cx="2606040" cy="1188720"/>
          </a:xfrm>
          <a:prstGeom prst="roundRect">
            <a:avLst>
              <a:gd name="adj" fmla="val 12308"/>
            </a:avLst>
          </a:prstGeom>
          <a:solidFill>
            <a:srgbClr val="071A2C"/>
          </a:solidFill>
          <a:ln/>
          <a:effectLst>
            <a:outerShdw sx="100000" sy="100000" kx="0" ky="0" algn="bl" rotWithShape="0" blurRad="254000" dist="38100" dir="5400000">
              <a:srgbClr val="0B1D2E">
                <a:alpha val="30000"/>
              </a:srgbClr>
            </a:outerShdw>
          </a:effectLst>
        </p:spPr>
      </p:sp>
      <p:sp>
        <p:nvSpPr>
          <p:cNvPr id="58" name="Shape 49"/>
          <p:cNvSpPr/>
          <p:nvPr/>
        </p:nvSpPr>
        <p:spPr>
          <a:xfrm rot="5400000">
            <a:off x="931545" y="5929313"/>
            <a:ext cx="120015" cy="120015"/>
          </a:xfrm>
          <a:prstGeom prst="triangle">
            <a:avLst/>
          </a:prstGeom>
          <a:solidFill>
            <a:srgbClr val="0F4C6B"/>
          </a:solidFill>
          <a:ln/>
        </p:spPr>
      </p:sp>
      <p:sp>
        <p:nvSpPr>
          <p:cNvPr id="59" name="Shape 50"/>
          <p:cNvSpPr/>
          <p:nvPr/>
        </p:nvSpPr>
        <p:spPr>
          <a:xfrm>
            <a:off x="548640" y="5989320"/>
            <a:ext cx="442912" cy="0"/>
          </a:xfrm>
          <a:prstGeom prst="line">
            <a:avLst/>
          </a:prstGeom>
          <a:noFill/>
          <a:ln w="15875">
            <a:solidFill>
              <a:srgbClr val="0F4C6B"/>
            </a:solidFill>
            <a:prstDash val="solid"/>
          </a:ln>
        </p:spPr>
      </p:sp>
      <p:sp>
        <p:nvSpPr>
          <p:cNvPr id="60" name="Text 51"/>
          <p:cNvSpPr txBox="1"/>
          <p:nvPr/>
        </p:nvSpPr>
        <p:spPr>
          <a:xfrm>
            <a:off x="1188720" y="587044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Flujo de información entre cada actor externo y el sistema</a:t>
            </a:r>
            <a:endParaRPr lang="en-US" sz="1000" dirty="0"/>
          </a:p>
        </p:txBody>
      </p:sp>
      <p:sp>
        <p:nvSpPr>
          <p:cNvPr id="61" name="Text 52"/>
          <p:cNvSpPr txBox="1"/>
          <p:nvPr/>
        </p:nvSpPr>
        <p:spPr>
          <a:xfrm>
            <a:off x="4800600" y="3547872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SISEP</a:t>
            </a:r>
            <a:endParaRPr lang="en-US" sz="2400" dirty="0"/>
          </a:p>
        </p:txBody>
      </p:sp>
      <p:sp>
        <p:nvSpPr>
          <p:cNvPr id="62" name="Text 53"/>
          <p:cNvSpPr txBox="1"/>
          <p:nvPr/>
        </p:nvSpPr>
        <p:spPr>
          <a:xfrm>
            <a:off x="4800600" y="4041648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8ECE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Sistema de Monitoreo Pesquero</a:t>
            </a:r>
            <a:endParaRPr lang="en-US" sz="1050" dirty="0"/>
          </a:p>
        </p:txBody>
      </p:sp>
      <p:sp>
        <p:nvSpPr>
          <p:cNvPr id="63" name="Text 54"/>
          <p:cNvSpPr txBox="1"/>
          <p:nvPr/>
        </p:nvSpPr>
        <p:spPr>
          <a:xfrm>
            <a:off x="548640" y="641908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9AAAB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VIDA SUBMARINA · SISEP</a:t>
            </a:r>
            <a:endParaRPr lang="en-US" sz="750" dirty="0"/>
          </a:p>
        </p:txBody>
      </p:sp>
      <p:sp>
        <p:nvSpPr>
          <p:cNvPr id="64" name="Text 55"/>
          <p:cNvSpPr txBox="1"/>
          <p:nvPr/>
        </p:nvSpPr>
        <p:spPr>
          <a:xfrm>
            <a:off x="11091672" y="641908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798064" cy="274320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2798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CAPÍTULO 3 · MODELO FUNCIONAL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Casos de uso generales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2331720" y="1554480"/>
            <a:ext cx="7543800" cy="4617720"/>
          </a:xfrm>
          <a:prstGeom prst="roundRect">
            <a:avLst>
              <a:gd name="adj" fmla="val 3564"/>
            </a:avLst>
          </a:prstGeom>
          <a:solidFill>
            <a:srgbClr val="F4F9FA"/>
          </a:solidFill>
          <a:ln w="15875">
            <a:solidFill>
              <a:srgbClr val="9CC3CF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2560320" y="16642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SISEP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 flipV="1">
            <a:off x="1481328" y="2468880"/>
            <a:ext cx="1216152" cy="1143000"/>
          </a:xfrm>
          <a:prstGeom prst="line">
            <a:avLst/>
          </a:prstGeom>
          <a:noFill/>
          <a:ln w="15875">
            <a:solidFill>
              <a:srgbClr val="5A6B7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481328" y="3611880"/>
            <a:ext cx="1216152" cy="0"/>
          </a:xfrm>
          <a:prstGeom prst="line">
            <a:avLst/>
          </a:prstGeom>
          <a:noFill/>
          <a:ln w="15875">
            <a:solidFill>
              <a:srgbClr val="5A6B7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81328" y="3611880"/>
            <a:ext cx="1216152" cy="1143000"/>
          </a:xfrm>
          <a:prstGeom prst="line">
            <a:avLst/>
          </a:prstGeom>
          <a:noFill/>
          <a:ln w="15875">
            <a:solidFill>
              <a:srgbClr val="5A6B7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 flipV="1">
            <a:off x="9555480" y="2331720"/>
            <a:ext cx="1170432" cy="1280160"/>
          </a:xfrm>
          <a:prstGeom prst="line">
            <a:avLst/>
          </a:prstGeom>
          <a:noFill/>
          <a:ln w="15875">
            <a:solidFill>
              <a:srgbClr val="5A6B7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 flipV="1">
            <a:off x="9555480" y="3291840"/>
            <a:ext cx="1170432" cy="320040"/>
          </a:xfrm>
          <a:prstGeom prst="line">
            <a:avLst/>
          </a:prstGeom>
          <a:noFill/>
          <a:ln w="15875">
            <a:solidFill>
              <a:srgbClr val="5A6B7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H="1">
            <a:off x="9555480" y="3611880"/>
            <a:ext cx="1170432" cy="640080"/>
          </a:xfrm>
          <a:prstGeom prst="line">
            <a:avLst/>
          </a:prstGeom>
          <a:noFill/>
          <a:ln w="15875">
            <a:solidFill>
              <a:srgbClr val="5A6B7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H="1">
            <a:off x="9555480" y="3611880"/>
            <a:ext cx="1170432" cy="2011680"/>
          </a:xfrm>
          <a:prstGeom prst="line">
            <a:avLst/>
          </a:prstGeom>
          <a:noFill/>
          <a:ln w="15875">
            <a:solidFill>
              <a:srgbClr val="5A6B7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97480" y="2103120"/>
            <a:ext cx="315468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F4C6B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2880360" y="210312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Generar alertas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(zonas restringidas, veda)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697480" y="3246120"/>
            <a:ext cx="315468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F4C6B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2880360" y="324612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Generar reportes / dashboards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697480" y="4389120"/>
            <a:ext cx="315468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F4C6B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2880360" y="438912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Auditoría / fiscalización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0" y="1965960"/>
            <a:ext cx="315468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F4C6B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583680" y="196596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Registrar embarcación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0" y="2926080"/>
            <a:ext cx="315468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F4C6B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8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6583680" y="292608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Enviar posición GPS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0" y="3886200"/>
            <a:ext cx="315468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F4C6B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6583680" y="388620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Registrar captura (bitácora)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00800" y="5257800"/>
            <a:ext cx="3154680" cy="731520"/>
          </a:xfrm>
          <a:prstGeom prst="ellipse">
            <a:avLst/>
          </a:prstGeom>
          <a:solidFill>
            <a:srgbClr val="E3F4F6"/>
          </a:solidFill>
          <a:ln w="19050">
            <a:solidFill>
              <a:srgbClr val="0E7C86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6583680" y="525780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Trazabilidad y QR por lote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 rot="10800000">
            <a:off x="7915275" y="5132070"/>
            <a:ext cx="125730" cy="125730"/>
          </a:xfrm>
          <a:prstGeom prst="triangle">
            <a:avLst/>
          </a:prstGeom>
          <a:solidFill>
            <a:srgbClr val="0E7C86"/>
          </a:solidFill>
          <a:ln/>
        </p:spPr>
      </p:sp>
      <p:sp>
        <p:nvSpPr>
          <p:cNvPr id="29" name="Shape 27"/>
          <p:cNvSpPr/>
          <p:nvPr/>
        </p:nvSpPr>
        <p:spPr>
          <a:xfrm>
            <a:off x="7978140" y="4617720"/>
            <a:ext cx="0" cy="577215"/>
          </a:xfrm>
          <a:prstGeom prst="line">
            <a:avLst/>
          </a:prstGeom>
          <a:noFill/>
          <a:ln w="19050">
            <a:solidFill>
              <a:srgbClr val="0E7C86"/>
            </a:solidFill>
            <a:prstDash val="dash"/>
          </a:ln>
        </p:spPr>
      </p:sp>
      <p:sp>
        <p:nvSpPr>
          <p:cNvPr id="30" name="Text 28"/>
          <p:cNvSpPr txBox="1"/>
          <p:nvPr/>
        </p:nvSpPr>
        <p:spPr>
          <a:xfrm>
            <a:off x="8087868" y="47548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«include»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280160" y="2953512"/>
            <a:ext cx="402336" cy="4023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A4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481328" y="3355848"/>
            <a:ext cx="0" cy="694944"/>
          </a:xfrm>
          <a:prstGeom prst="line">
            <a:avLst/>
          </a:prstGeom>
          <a:noFill/>
          <a:ln w="25400">
            <a:solidFill>
              <a:srgbClr val="0B2A4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97280" y="3611880"/>
            <a:ext cx="768096" cy="0"/>
          </a:xfrm>
          <a:prstGeom prst="line">
            <a:avLst/>
          </a:prstGeom>
          <a:noFill/>
          <a:ln w="25400">
            <a:solidFill>
              <a:srgbClr val="0B2A4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>
            <a:off x="1179576" y="4050792"/>
            <a:ext cx="301752" cy="475488"/>
          </a:xfrm>
          <a:prstGeom prst="line">
            <a:avLst/>
          </a:prstGeom>
          <a:noFill/>
          <a:ln w="25400">
            <a:solidFill>
              <a:srgbClr val="0B2A4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481328" y="4050792"/>
            <a:ext cx="301752" cy="475488"/>
          </a:xfrm>
          <a:prstGeom prst="line">
            <a:avLst/>
          </a:prstGeom>
          <a:noFill/>
          <a:ln w="25400">
            <a:solidFill>
              <a:srgbClr val="0B2A45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66928" y="23865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IMARPE / PRODUCE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566928" y="2642616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Institución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10524744" y="2953512"/>
            <a:ext cx="402336" cy="4023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A4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0725912" y="3355848"/>
            <a:ext cx="0" cy="694944"/>
          </a:xfrm>
          <a:prstGeom prst="line">
            <a:avLst/>
          </a:prstGeom>
          <a:noFill/>
          <a:ln w="25400">
            <a:solidFill>
              <a:srgbClr val="0B2A4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341864" y="3611880"/>
            <a:ext cx="768096" cy="0"/>
          </a:xfrm>
          <a:prstGeom prst="line">
            <a:avLst/>
          </a:prstGeom>
          <a:noFill/>
          <a:ln w="25400">
            <a:solidFill>
              <a:srgbClr val="0B2A4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H="1">
            <a:off x="10424160" y="4050792"/>
            <a:ext cx="301752" cy="475488"/>
          </a:xfrm>
          <a:prstGeom prst="line">
            <a:avLst/>
          </a:prstGeom>
          <a:noFill/>
          <a:ln w="25400">
            <a:solidFill>
              <a:srgbClr val="0B2A4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0725912" y="4050792"/>
            <a:ext cx="301752" cy="475488"/>
          </a:xfrm>
          <a:prstGeom prst="line">
            <a:avLst/>
          </a:prstGeom>
          <a:noFill/>
          <a:ln w="25400">
            <a:solidFill>
              <a:srgbClr val="0B2A45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9811512" y="23865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Pescador / Armador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9811512" y="2642616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Usuario de campo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641908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9AAAB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VIDA SUBMARINA · SISEP</a:t>
            </a:r>
            <a:endParaRPr lang="en-US" sz="750" dirty="0"/>
          </a:p>
        </p:txBody>
      </p:sp>
      <p:sp>
        <p:nvSpPr>
          <p:cNvPr id="46" name="Text 44"/>
          <p:cNvSpPr txBox="1"/>
          <p:nvPr/>
        </p:nvSpPr>
        <p:spPr>
          <a:xfrm>
            <a:off x="11091672" y="641908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962656" cy="274320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296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CAPÍTULO 3 · MODELO DE PROCESOS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Diagrama de actividad (UML)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17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Flujo principal desde el inicio de la jornada de pesca hasta la generación de reportes.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2331720"/>
            <a:ext cx="365760" cy="365760"/>
          </a:xfrm>
          <a:prstGeom prst="ellipse">
            <a:avLst/>
          </a:prstGeom>
          <a:solidFill>
            <a:srgbClr val="0B1D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65760" y="277063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Inicio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 rot="5400000">
            <a:off x="1108710" y="2451735"/>
            <a:ext cx="125730" cy="125730"/>
          </a:xfrm>
          <a:prstGeom prst="triangle">
            <a:avLst/>
          </a:prstGeom>
          <a:solidFill>
            <a:srgbClr val="0F4C6B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2514600"/>
            <a:ext cx="257175" cy="0"/>
          </a:xfrm>
          <a:prstGeom prst="line">
            <a:avLst/>
          </a:prstGeom>
          <a:noFill/>
          <a:ln w="19050">
            <a:solidFill>
              <a:srgbClr val="0F4C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34440" y="2057400"/>
            <a:ext cx="22860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0F4C6B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1417320" y="2057400"/>
            <a:ext cx="1965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La embarcación inicia la jornada y enciende el GPS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24712" y="1929384"/>
            <a:ext cx="310896" cy="310896"/>
          </a:xfrm>
          <a:prstGeom prst="ellipse">
            <a:avLst/>
          </a:prstGeom>
          <a:solidFill>
            <a:srgbClr val="2EC4C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124712" y="19293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 rot="5400000">
            <a:off x="3714750" y="2451735"/>
            <a:ext cx="125730" cy="125730"/>
          </a:xfrm>
          <a:prstGeom prst="triangle">
            <a:avLst/>
          </a:prstGeom>
          <a:solidFill>
            <a:srgbClr val="0F4C6B"/>
          </a:solidFill>
          <a:ln/>
        </p:spPr>
      </p:sp>
      <p:sp>
        <p:nvSpPr>
          <p:cNvPr id="15" name="Shape 13"/>
          <p:cNvSpPr/>
          <p:nvPr/>
        </p:nvSpPr>
        <p:spPr>
          <a:xfrm>
            <a:off x="3520440" y="2514600"/>
            <a:ext cx="257175" cy="0"/>
          </a:xfrm>
          <a:prstGeom prst="line">
            <a:avLst/>
          </a:prstGeom>
          <a:noFill/>
          <a:ln w="19050">
            <a:solidFill>
              <a:srgbClr val="0F4C6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40480" y="2057400"/>
            <a:ext cx="22860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0F4C6B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4023360" y="2057400"/>
            <a:ext cx="1965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Registro periódico de GPS (cada 15 min) y sensores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730752" y="1929384"/>
            <a:ext cx="310896" cy="310896"/>
          </a:xfrm>
          <a:prstGeom prst="ellipse">
            <a:avLst/>
          </a:prstGeom>
          <a:solidFill>
            <a:srgbClr val="2EC4C9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730752" y="19293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 rot="5400000">
            <a:off x="6320790" y="2451735"/>
            <a:ext cx="125730" cy="125730"/>
          </a:xfrm>
          <a:prstGeom prst="triangle">
            <a:avLst/>
          </a:prstGeom>
          <a:solidFill>
            <a:srgbClr val="0F4C6B"/>
          </a:solidFill>
          <a:ln/>
        </p:spPr>
      </p:sp>
      <p:sp>
        <p:nvSpPr>
          <p:cNvPr id="21" name="Shape 19"/>
          <p:cNvSpPr/>
          <p:nvPr/>
        </p:nvSpPr>
        <p:spPr>
          <a:xfrm>
            <a:off x="6126480" y="2514600"/>
            <a:ext cx="257175" cy="0"/>
          </a:xfrm>
          <a:prstGeom prst="line">
            <a:avLst/>
          </a:prstGeom>
          <a:noFill/>
          <a:ln w="19050">
            <a:solidFill>
              <a:srgbClr val="0F4C6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46520" y="2057400"/>
            <a:ext cx="22860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0F4C6B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6629400" y="2057400"/>
            <a:ext cx="1965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Registro de captura en bitácora digital + fotos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336792" y="1929384"/>
            <a:ext cx="310896" cy="310896"/>
          </a:xfrm>
          <a:prstGeom prst="ellipse">
            <a:avLst/>
          </a:prstGeom>
          <a:solidFill>
            <a:srgbClr val="2EC4C9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336792" y="19293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 rot="5400000">
            <a:off x="8926830" y="2451735"/>
            <a:ext cx="125730" cy="125730"/>
          </a:xfrm>
          <a:prstGeom prst="triangle">
            <a:avLst/>
          </a:prstGeom>
          <a:solidFill>
            <a:srgbClr val="0F4C6B"/>
          </a:solidFill>
          <a:ln/>
        </p:spPr>
      </p:sp>
      <p:sp>
        <p:nvSpPr>
          <p:cNvPr id="27" name="Shape 25"/>
          <p:cNvSpPr/>
          <p:nvPr/>
        </p:nvSpPr>
        <p:spPr>
          <a:xfrm>
            <a:off x="8732520" y="2514600"/>
            <a:ext cx="257175" cy="0"/>
          </a:xfrm>
          <a:prstGeom prst="line">
            <a:avLst/>
          </a:prstGeom>
          <a:noFill/>
          <a:ln w="19050">
            <a:solidFill>
              <a:srgbClr val="0F4C6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052560" y="2057400"/>
            <a:ext cx="22860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0F4C6B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9235440" y="2057400"/>
            <a:ext cx="1965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Envío de datos a la plataforma (sync inmediata o por lotes)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942832" y="1929384"/>
            <a:ext cx="310896" cy="310896"/>
          </a:xfrm>
          <a:prstGeom prst="ellipse">
            <a:avLst/>
          </a:prstGeom>
          <a:solidFill>
            <a:srgbClr val="2EC4C9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942832" y="19293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rot="10800000">
            <a:off x="10132695" y="3417570"/>
            <a:ext cx="125730" cy="125730"/>
          </a:xfrm>
          <a:prstGeom prst="triangle">
            <a:avLst/>
          </a:prstGeom>
          <a:solidFill>
            <a:srgbClr val="0F4C6B"/>
          </a:solidFill>
          <a:ln/>
        </p:spPr>
      </p:sp>
      <p:sp>
        <p:nvSpPr>
          <p:cNvPr id="33" name="Shape 31"/>
          <p:cNvSpPr/>
          <p:nvPr/>
        </p:nvSpPr>
        <p:spPr>
          <a:xfrm>
            <a:off x="10195560" y="2971800"/>
            <a:ext cx="0" cy="508635"/>
          </a:xfrm>
          <a:prstGeom prst="line">
            <a:avLst/>
          </a:prstGeom>
          <a:noFill/>
          <a:ln w="19050">
            <a:solidFill>
              <a:srgbClr val="0F4C6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121140" y="3543300"/>
            <a:ext cx="2148840" cy="1325880"/>
          </a:xfrm>
          <a:prstGeom prst="diamond">
            <a:avLst/>
          </a:prstGeom>
          <a:solidFill>
            <a:srgbClr val="E3F4F6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395460" y="384048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Validación automática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(áreas, tallas, permisos)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257800" y="3291840"/>
            <a:ext cx="2743200" cy="777240"/>
          </a:xfrm>
          <a:prstGeom prst="roundRect">
            <a:avLst>
              <a:gd name="adj" fmla="val 16471"/>
            </a:avLst>
          </a:prstGeom>
          <a:solidFill>
            <a:srgbClr val="E6F6F4"/>
          </a:solidFill>
          <a:ln w="15875">
            <a:solidFill>
              <a:srgbClr val="0E7C86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5440680" y="329184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Almacenar captura, generar QR y registrar lote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257800" y="4846320"/>
            <a:ext cx="2743200" cy="777240"/>
          </a:xfrm>
          <a:prstGeom prst="roundRect">
            <a:avLst>
              <a:gd name="adj" fmla="val 16471"/>
            </a:avLst>
          </a:prstGeom>
          <a:solidFill>
            <a:srgbClr val="FDECE9"/>
          </a:solidFill>
          <a:ln w="15875">
            <a:solidFill>
              <a:srgbClr val="E8553F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5440680" y="48463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Generar alerta y notificar a autoridades y usuario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 rot="-3891313">
            <a:off x="7995043" y="3644307"/>
            <a:ext cx="125730" cy="125730"/>
          </a:xfrm>
          <a:prstGeom prst="triangle">
            <a:avLst/>
          </a:prstGeom>
          <a:solidFill>
            <a:srgbClr val="0E7C86"/>
          </a:solidFill>
          <a:ln/>
        </p:spPr>
      </p:sp>
      <p:sp>
        <p:nvSpPr>
          <p:cNvPr id="41" name="Shape 39"/>
          <p:cNvSpPr/>
          <p:nvPr/>
        </p:nvSpPr>
        <p:spPr>
          <a:xfrm flipH="1" flipV="1">
            <a:off x="8057908" y="3707172"/>
            <a:ext cx="1063232" cy="499068"/>
          </a:xfrm>
          <a:prstGeom prst="line">
            <a:avLst/>
          </a:prstGeom>
          <a:noFill/>
          <a:ln w="19050">
            <a:solidFill>
              <a:srgbClr val="0E7C8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rot="13646199">
            <a:off x="7984437" y="5129553"/>
            <a:ext cx="125730" cy="125730"/>
          </a:xfrm>
          <a:prstGeom prst="triangle">
            <a:avLst/>
          </a:prstGeom>
          <a:solidFill>
            <a:srgbClr val="E8553F"/>
          </a:solidFill>
          <a:ln/>
        </p:spPr>
      </p:sp>
      <p:sp>
        <p:nvSpPr>
          <p:cNvPr id="43" name="Shape 41"/>
          <p:cNvSpPr/>
          <p:nvPr/>
        </p:nvSpPr>
        <p:spPr>
          <a:xfrm flipH="1">
            <a:off x="8047302" y="4206240"/>
            <a:ext cx="1073838" cy="986178"/>
          </a:xfrm>
          <a:prstGeom prst="line">
            <a:avLst/>
          </a:prstGeom>
          <a:noFill/>
          <a:ln w="19050">
            <a:solidFill>
              <a:srgbClr val="E8553F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973568" y="338328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[cumple reglas]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8092440" y="534924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8553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[irregularidad]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2103120" y="3749040"/>
            <a:ext cx="242316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0F4C6B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47" name="Text 45"/>
          <p:cNvSpPr txBox="1"/>
          <p:nvPr/>
        </p:nvSpPr>
        <p:spPr>
          <a:xfrm>
            <a:off x="2286000" y="3749040"/>
            <a:ext cx="2057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Generar reportes y dashboards (estadísticas, tendencias)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 rot="14057599">
            <a:off x="4514462" y="4106685"/>
            <a:ext cx="125730" cy="125730"/>
          </a:xfrm>
          <a:prstGeom prst="triangle">
            <a:avLst/>
          </a:prstGeom>
          <a:solidFill>
            <a:srgbClr val="0F4C6B"/>
          </a:solidFill>
          <a:ln/>
        </p:spPr>
      </p:sp>
      <p:sp>
        <p:nvSpPr>
          <p:cNvPr id="49" name="Shape 47"/>
          <p:cNvSpPr/>
          <p:nvPr/>
        </p:nvSpPr>
        <p:spPr>
          <a:xfrm flipH="1">
            <a:off x="4577327" y="3680460"/>
            <a:ext cx="680473" cy="489090"/>
          </a:xfrm>
          <a:prstGeom prst="line">
            <a:avLst/>
          </a:prstGeom>
          <a:noFill/>
          <a:ln w="19050">
            <a:solidFill>
              <a:srgbClr val="0F4C6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-2125023">
            <a:off x="4499847" y="4194607"/>
            <a:ext cx="125730" cy="125730"/>
          </a:xfrm>
          <a:prstGeom prst="triangle">
            <a:avLst/>
          </a:prstGeom>
          <a:solidFill>
            <a:srgbClr val="0F4C6B"/>
          </a:solidFill>
          <a:ln/>
        </p:spPr>
      </p:sp>
      <p:sp>
        <p:nvSpPr>
          <p:cNvPr id="51" name="Shape 49"/>
          <p:cNvSpPr/>
          <p:nvPr/>
        </p:nvSpPr>
        <p:spPr>
          <a:xfrm flipH="1" flipV="1">
            <a:off x="4562712" y="4257472"/>
            <a:ext cx="695088" cy="977468"/>
          </a:xfrm>
          <a:prstGeom prst="line">
            <a:avLst/>
          </a:prstGeom>
          <a:noFill/>
          <a:ln w="19050">
            <a:solidFill>
              <a:srgbClr val="0F4C6B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rot="16200000">
            <a:off x="1417320" y="4143375"/>
            <a:ext cx="125730" cy="125730"/>
          </a:xfrm>
          <a:prstGeom prst="triangle">
            <a:avLst/>
          </a:prstGeom>
          <a:solidFill>
            <a:srgbClr val="0F4C6B"/>
          </a:solidFill>
          <a:ln/>
        </p:spPr>
      </p:sp>
      <p:sp>
        <p:nvSpPr>
          <p:cNvPr id="53" name="Shape 51"/>
          <p:cNvSpPr/>
          <p:nvPr/>
        </p:nvSpPr>
        <p:spPr>
          <a:xfrm flipH="1">
            <a:off x="1480185" y="4206240"/>
            <a:ext cx="622935" cy="0"/>
          </a:xfrm>
          <a:prstGeom prst="line">
            <a:avLst/>
          </a:prstGeom>
          <a:noFill/>
          <a:ln w="19050">
            <a:solidFill>
              <a:srgbClr val="0F4C6B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960120" y="3977640"/>
            <a:ext cx="457200" cy="45720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0B1D2E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051560" y="4069080"/>
            <a:ext cx="274320" cy="274320"/>
          </a:xfrm>
          <a:prstGeom prst="ellipse">
            <a:avLst/>
          </a:prstGeom>
          <a:solidFill>
            <a:srgbClr val="0B1D2E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822960" y="449884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Fin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48640" y="5760720"/>
            <a:ext cx="11064240" cy="475488"/>
          </a:xfrm>
          <a:prstGeom prst="roundRect">
            <a:avLst>
              <a:gd name="adj" fmla="val 19231"/>
            </a:avLst>
          </a:prstGeom>
          <a:solidFill>
            <a:srgbClr val="E3F4F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777240" y="5760720"/>
            <a:ext cx="10698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Clave: </a:t>
            </a:r>
            <a:pPr indent="0" marL="0">
              <a:buNone/>
            </a:pPr>
            <a:r>
              <a:rPr lang="en-US" sz="115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la validación aplica las reglas de dominio (RD01); lo que cumple se certifica con QR y lo irregular dispara una alerta.</a:t>
            </a:r>
            <a:endParaRPr lang="en-US" sz="1150" dirty="0"/>
          </a:p>
        </p:txBody>
      </p:sp>
      <p:sp>
        <p:nvSpPr>
          <p:cNvPr id="59" name="Text 57"/>
          <p:cNvSpPr txBox="1"/>
          <p:nvPr/>
        </p:nvSpPr>
        <p:spPr>
          <a:xfrm>
            <a:off x="548640" y="641908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9AAAB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VIDA SUBMARINA · SISEP</a:t>
            </a:r>
            <a:endParaRPr lang="en-US" sz="750" dirty="0"/>
          </a:p>
        </p:txBody>
      </p:sp>
      <p:sp>
        <p:nvSpPr>
          <p:cNvPr id="60" name="Text 58"/>
          <p:cNvSpPr txBox="1"/>
          <p:nvPr/>
        </p:nvSpPr>
        <p:spPr>
          <a:xfrm>
            <a:off x="11091672" y="641908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715768" cy="274320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2715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CAPÍTULO 3 · MODELO DE DATOS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Modelo entidad-relación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2651760" y="3771900"/>
            <a:ext cx="822960" cy="0"/>
          </a:xfrm>
          <a:prstGeom prst="line">
            <a:avLst/>
          </a:prstGeom>
          <a:noFill/>
          <a:ln w="15875">
            <a:solidFill>
              <a:srgbClr val="0F4C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651760" y="35250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posee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2651760" y="380847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0..*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577840" y="2171700"/>
            <a:ext cx="822960" cy="0"/>
          </a:xfrm>
          <a:prstGeom prst="line">
            <a:avLst/>
          </a:prstGeom>
          <a:noFill/>
          <a:ln w="15875">
            <a:solidFill>
              <a:srgbClr val="0F4C6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577840" y="19248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gestiona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5577840" y="220827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1..*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8503920" y="2171700"/>
            <a:ext cx="822960" cy="0"/>
          </a:xfrm>
          <a:prstGeom prst="line">
            <a:avLst/>
          </a:prstGeom>
          <a:noFill/>
          <a:ln w="15875">
            <a:solidFill>
              <a:srgbClr val="0F4C6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03920" y="19248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contiene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8503920" y="220827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N..*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5577840" y="3771900"/>
            <a:ext cx="822960" cy="0"/>
          </a:xfrm>
          <a:prstGeom prst="line">
            <a:avLst/>
          </a:prstGeom>
          <a:noFill/>
          <a:ln w="15875">
            <a:solidFill>
              <a:srgbClr val="0F4C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577840" y="35250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tiene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5577840" y="380847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1..*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8503920" y="3771900"/>
            <a:ext cx="822960" cy="0"/>
          </a:xfrm>
          <a:prstGeom prst="line">
            <a:avLst/>
          </a:prstGeom>
          <a:noFill/>
          <a:ln w="15875">
            <a:solidFill>
              <a:srgbClr val="0F4C6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03920" y="35250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pertenece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8503920" y="380847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N..1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 flipV="1">
            <a:off x="4526280" y="4343400"/>
            <a:ext cx="0" cy="457200"/>
          </a:xfrm>
          <a:prstGeom prst="line">
            <a:avLst/>
          </a:prstGeom>
          <a:noFill/>
          <a:ln w="15875">
            <a:solidFill>
              <a:srgbClr val="0F4C6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17720" y="436168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N..*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7452360" y="4343400"/>
            <a:ext cx="0" cy="457200"/>
          </a:xfrm>
          <a:prstGeom prst="line">
            <a:avLst/>
          </a:prstGeom>
          <a:noFill/>
          <a:ln w="15875">
            <a:solidFill>
              <a:srgbClr val="0F4C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43800" y="436168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registra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 flipV="1">
            <a:off x="5257800" y="2743200"/>
            <a:ext cx="1463040" cy="457200"/>
          </a:xfrm>
          <a:prstGeom prst="line">
            <a:avLst/>
          </a:prstGeom>
          <a:noFill/>
          <a:ln w="15875">
            <a:solidFill>
              <a:srgbClr val="0F4C6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559552" y="280720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tiene </a:t>
            </a:r>
            <a:pPr algn="l" indent="0" marL="0">
              <a:buNone/>
            </a:pPr>
            <a:r>
              <a:rPr lang="en-US" sz="850" b="1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1..*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474720" y="1600200"/>
            <a:ext cx="21031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8D2DB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474720" y="1600200"/>
            <a:ext cx="2103120" cy="329184"/>
          </a:xfrm>
          <a:prstGeom prst="roundRect">
            <a:avLst>
              <a:gd name="adj" fmla="val 27778"/>
            </a:avLst>
          </a:prstGeom>
          <a:solidFill>
            <a:srgbClr val="0B2A45"/>
          </a:solidFill>
          <a:ln/>
        </p:spPr>
      </p:sp>
      <p:sp>
        <p:nvSpPr>
          <p:cNvPr id="28" name="Shape 26"/>
          <p:cNvSpPr/>
          <p:nvPr/>
        </p:nvSpPr>
        <p:spPr>
          <a:xfrm>
            <a:off x="3474720" y="1783080"/>
            <a:ext cx="2103120" cy="146304"/>
          </a:xfrm>
          <a:prstGeom prst="rect">
            <a:avLst/>
          </a:prstGeom>
          <a:solidFill>
            <a:srgbClr val="0B2A45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611880" y="1600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Usuario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3611880" y="2002536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PK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id_usr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nombre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A9AA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 · 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rol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email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A9AA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 · 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auth_2fa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400800" y="1600200"/>
            <a:ext cx="21031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8D2DB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400800" y="1600200"/>
            <a:ext cx="2103120" cy="329184"/>
          </a:xfrm>
          <a:prstGeom prst="roundRect">
            <a:avLst>
              <a:gd name="adj" fmla="val 27778"/>
            </a:avLst>
          </a:prstGeom>
          <a:solidFill>
            <a:srgbClr val="0B2A45"/>
          </a:solidFill>
          <a:ln/>
        </p:spPr>
      </p:sp>
      <p:sp>
        <p:nvSpPr>
          <p:cNvPr id="33" name="Shape 31"/>
          <p:cNvSpPr/>
          <p:nvPr/>
        </p:nvSpPr>
        <p:spPr>
          <a:xfrm>
            <a:off x="6400800" y="1783080"/>
            <a:ext cx="2103120" cy="146304"/>
          </a:xfrm>
          <a:prstGeom prst="rect">
            <a:avLst/>
          </a:prstGeom>
          <a:solidFill>
            <a:srgbClr val="0B2A45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37960" y="1600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Permiso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6537960" y="2002536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PK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id_perm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A9AA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 ·  </a:t>
            </a:r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E8553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FK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id_emb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tipo_permiso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fecha_inicio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A9AA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 · 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fecha_fin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9326880" y="1600200"/>
            <a:ext cx="21031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8D2DB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9326880" y="1600200"/>
            <a:ext cx="2103120" cy="329184"/>
          </a:xfrm>
          <a:prstGeom prst="roundRect">
            <a:avLst>
              <a:gd name="adj" fmla="val 27778"/>
            </a:avLst>
          </a:prstGeom>
          <a:solidFill>
            <a:srgbClr val="0B2A45"/>
          </a:solidFill>
          <a:ln/>
        </p:spPr>
      </p:sp>
      <p:sp>
        <p:nvSpPr>
          <p:cNvPr id="38" name="Shape 36"/>
          <p:cNvSpPr/>
          <p:nvPr/>
        </p:nvSpPr>
        <p:spPr>
          <a:xfrm>
            <a:off x="9326880" y="1783080"/>
            <a:ext cx="2103120" cy="146304"/>
          </a:xfrm>
          <a:prstGeom prst="rect">
            <a:avLst/>
          </a:prstGeom>
          <a:solidFill>
            <a:srgbClr val="0B2A45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9464040" y="1600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Especie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9464040" y="2002536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PK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id_esp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nombre_cientifico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nombre_comun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A9AA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 · 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talla_minima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48640" y="3200400"/>
            <a:ext cx="21031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8D2DB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548640" y="3200400"/>
            <a:ext cx="2103120" cy="329184"/>
          </a:xfrm>
          <a:prstGeom prst="roundRect">
            <a:avLst>
              <a:gd name="adj" fmla="val 27778"/>
            </a:avLst>
          </a:prstGeom>
          <a:solidFill>
            <a:srgbClr val="0B2A45"/>
          </a:solidFill>
          <a:ln/>
        </p:spPr>
      </p:sp>
      <p:sp>
        <p:nvSpPr>
          <p:cNvPr id="43" name="Shape 41"/>
          <p:cNvSpPr/>
          <p:nvPr/>
        </p:nvSpPr>
        <p:spPr>
          <a:xfrm>
            <a:off x="548640" y="3383280"/>
            <a:ext cx="2103120" cy="146304"/>
          </a:xfrm>
          <a:prstGeom prst="rect">
            <a:avLst/>
          </a:prstGeom>
          <a:solidFill>
            <a:srgbClr val="0B2A45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685800" y="32004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Pescador</a:t>
            </a:r>
            <a:endParaRPr lang="en-US" sz="1050" dirty="0"/>
          </a:p>
        </p:txBody>
      </p:sp>
      <p:sp>
        <p:nvSpPr>
          <p:cNvPr id="45" name="Text 43"/>
          <p:cNvSpPr txBox="1"/>
          <p:nvPr/>
        </p:nvSpPr>
        <p:spPr>
          <a:xfrm>
            <a:off x="685800" y="3602736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PK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id_pesc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nombre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A9AA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 · 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documento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comunidad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A9AA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 · 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contacto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74720" y="3200400"/>
            <a:ext cx="21031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8D2DB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3474720" y="3200400"/>
            <a:ext cx="2103120" cy="329184"/>
          </a:xfrm>
          <a:prstGeom prst="roundRect">
            <a:avLst>
              <a:gd name="adj" fmla="val 27778"/>
            </a:avLst>
          </a:prstGeom>
          <a:solidFill>
            <a:srgbClr val="0B2A45"/>
          </a:solidFill>
          <a:ln/>
        </p:spPr>
      </p:sp>
      <p:sp>
        <p:nvSpPr>
          <p:cNvPr id="48" name="Shape 46"/>
          <p:cNvSpPr/>
          <p:nvPr/>
        </p:nvSpPr>
        <p:spPr>
          <a:xfrm>
            <a:off x="3474720" y="3383280"/>
            <a:ext cx="2103120" cy="146304"/>
          </a:xfrm>
          <a:prstGeom prst="rect">
            <a:avLst/>
          </a:prstGeom>
          <a:solidFill>
            <a:srgbClr val="0B2A45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611880" y="32004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Embarcación</a:t>
            </a:r>
            <a:endParaRPr lang="en-US" sz="1050" dirty="0"/>
          </a:p>
        </p:txBody>
      </p:sp>
      <p:sp>
        <p:nvSpPr>
          <p:cNvPr id="50" name="Text 48"/>
          <p:cNvSpPr txBox="1"/>
          <p:nvPr/>
        </p:nvSpPr>
        <p:spPr>
          <a:xfrm>
            <a:off x="3611880" y="3602736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PK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id_emb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A9AA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 · 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nombre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tipo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A9AA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 · 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eslora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A9AA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 · 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matricula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E8553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FK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owner_id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400800" y="3200400"/>
            <a:ext cx="21031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8D2DB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6400800" y="3200400"/>
            <a:ext cx="2103120" cy="329184"/>
          </a:xfrm>
          <a:prstGeom prst="roundRect">
            <a:avLst>
              <a:gd name="adj" fmla="val 27778"/>
            </a:avLst>
          </a:prstGeom>
          <a:solidFill>
            <a:srgbClr val="0B2A45"/>
          </a:solidFill>
          <a:ln/>
        </p:spPr>
      </p:sp>
      <p:sp>
        <p:nvSpPr>
          <p:cNvPr id="53" name="Shape 51"/>
          <p:cNvSpPr/>
          <p:nvPr/>
        </p:nvSpPr>
        <p:spPr>
          <a:xfrm>
            <a:off x="6400800" y="3383280"/>
            <a:ext cx="2103120" cy="146304"/>
          </a:xfrm>
          <a:prstGeom prst="rect">
            <a:avLst/>
          </a:prstGeom>
          <a:solidFill>
            <a:srgbClr val="0B2A45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6537960" y="32004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Captura</a:t>
            </a:r>
            <a:endParaRPr lang="en-US" sz="1050" dirty="0"/>
          </a:p>
        </p:txBody>
      </p:sp>
      <p:sp>
        <p:nvSpPr>
          <p:cNvPr id="55" name="Text 53"/>
          <p:cNvSpPr txBox="1"/>
          <p:nvPr/>
        </p:nvSpPr>
        <p:spPr>
          <a:xfrm>
            <a:off x="6537960" y="3602736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PK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id_capt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A9AA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 · 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fecha_hora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total_kg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A9AA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 ·  </a:t>
            </a:r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E8553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FK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id_emb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E8553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FK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id_lote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A9AA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 ·  </a:t>
            </a:r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E8553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FK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lugar_id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9326880" y="3200400"/>
            <a:ext cx="21031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8D2DB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9326880" y="3200400"/>
            <a:ext cx="2103120" cy="329184"/>
          </a:xfrm>
          <a:prstGeom prst="roundRect">
            <a:avLst>
              <a:gd name="adj" fmla="val 27778"/>
            </a:avLst>
          </a:prstGeom>
          <a:solidFill>
            <a:srgbClr val="0B2A45"/>
          </a:solidFill>
          <a:ln/>
        </p:spPr>
      </p:sp>
      <p:sp>
        <p:nvSpPr>
          <p:cNvPr id="58" name="Shape 56"/>
          <p:cNvSpPr/>
          <p:nvPr/>
        </p:nvSpPr>
        <p:spPr>
          <a:xfrm>
            <a:off x="9326880" y="3383280"/>
            <a:ext cx="2103120" cy="146304"/>
          </a:xfrm>
          <a:prstGeom prst="rect">
            <a:avLst/>
          </a:prstGeom>
          <a:solidFill>
            <a:srgbClr val="0B2A45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9464040" y="32004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Lote</a:t>
            </a:r>
            <a:endParaRPr lang="en-US" sz="1050" dirty="0"/>
          </a:p>
        </p:txBody>
      </p:sp>
      <p:sp>
        <p:nvSpPr>
          <p:cNvPr id="60" name="Text 58"/>
          <p:cNvSpPr txBox="1"/>
          <p:nvPr/>
        </p:nvSpPr>
        <p:spPr>
          <a:xfrm>
            <a:off x="9464040" y="3602736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PK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id_lote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A9AA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 · 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codigo_qr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fecha_creacion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estado_trazabilidad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3474720" y="4800600"/>
            <a:ext cx="21031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8D2DB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3474720" y="4800600"/>
            <a:ext cx="2103120" cy="329184"/>
          </a:xfrm>
          <a:prstGeom prst="roundRect">
            <a:avLst>
              <a:gd name="adj" fmla="val 27778"/>
            </a:avLst>
          </a:prstGeom>
          <a:solidFill>
            <a:srgbClr val="0B2A45"/>
          </a:solidFill>
          <a:ln/>
        </p:spPr>
      </p:sp>
      <p:sp>
        <p:nvSpPr>
          <p:cNvPr id="63" name="Shape 61"/>
          <p:cNvSpPr/>
          <p:nvPr/>
        </p:nvSpPr>
        <p:spPr>
          <a:xfrm>
            <a:off x="3474720" y="4983480"/>
            <a:ext cx="2103120" cy="146304"/>
          </a:xfrm>
          <a:prstGeom prst="rect">
            <a:avLst/>
          </a:prstGeom>
          <a:solidFill>
            <a:srgbClr val="0B2A45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611880" y="48006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SensorRegistro</a:t>
            </a:r>
            <a:endParaRPr lang="en-US" sz="1050" dirty="0"/>
          </a:p>
        </p:txBody>
      </p:sp>
      <p:sp>
        <p:nvSpPr>
          <p:cNvPr id="65" name="Text 63"/>
          <p:cNvSpPr txBox="1"/>
          <p:nvPr/>
        </p:nvSpPr>
        <p:spPr>
          <a:xfrm>
            <a:off x="3611880" y="5202936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PK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id_reg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A9AA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 ·  </a:t>
            </a:r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E8553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FK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id_emb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A9AA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 · 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ts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lat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A9AA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 · 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lon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A9AA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 · 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tipo_sensor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valor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400800" y="4800600"/>
            <a:ext cx="21031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8D2DB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67" name="Shape 65"/>
          <p:cNvSpPr/>
          <p:nvPr/>
        </p:nvSpPr>
        <p:spPr>
          <a:xfrm>
            <a:off x="6400800" y="4800600"/>
            <a:ext cx="2103120" cy="329184"/>
          </a:xfrm>
          <a:prstGeom prst="roundRect">
            <a:avLst>
              <a:gd name="adj" fmla="val 27778"/>
            </a:avLst>
          </a:prstGeom>
          <a:solidFill>
            <a:srgbClr val="0B2A45"/>
          </a:solidFill>
          <a:ln/>
        </p:spPr>
      </p:sp>
      <p:sp>
        <p:nvSpPr>
          <p:cNvPr id="68" name="Shape 66"/>
          <p:cNvSpPr/>
          <p:nvPr/>
        </p:nvSpPr>
        <p:spPr>
          <a:xfrm>
            <a:off x="6400800" y="4983480"/>
            <a:ext cx="2103120" cy="146304"/>
          </a:xfrm>
          <a:prstGeom prst="rect">
            <a:avLst/>
          </a:prstGeom>
          <a:solidFill>
            <a:srgbClr val="0B2A45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6537960" y="48006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Localización</a:t>
            </a:r>
            <a:endParaRPr lang="en-US" sz="1050" dirty="0"/>
          </a:p>
        </p:txBody>
      </p:sp>
      <p:sp>
        <p:nvSpPr>
          <p:cNvPr id="70" name="Text 68"/>
          <p:cNvSpPr txBox="1"/>
          <p:nvPr/>
        </p:nvSpPr>
        <p:spPr>
          <a:xfrm>
            <a:off x="6537960" y="5202936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PK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id_loc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latitud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A9AA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 · 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longitud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zona</a:t>
            </a:r>
            <a:endParaRPr lang="en-US" sz="900" dirty="0"/>
          </a:p>
        </p:txBody>
      </p:sp>
      <p:sp>
        <p:nvSpPr>
          <p:cNvPr id="71" name="Text 69"/>
          <p:cNvSpPr txBox="1"/>
          <p:nvPr/>
        </p:nvSpPr>
        <p:spPr>
          <a:xfrm>
            <a:off x="548640" y="1645920"/>
            <a:ext cx="2514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Organiza la base de datos que soportará las operaciones de SISEP: flota, permisos, capturas, lotes y registros de sensores.</a:t>
            </a:r>
            <a:endParaRPr lang="en-US" sz="1150" dirty="0"/>
          </a:p>
        </p:txBody>
      </p:sp>
      <p:sp>
        <p:nvSpPr>
          <p:cNvPr id="72" name="Shape 70"/>
          <p:cNvSpPr/>
          <p:nvPr/>
        </p:nvSpPr>
        <p:spPr>
          <a:xfrm>
            <a:off x="548640" y="4800600"/>
            <a:ext cx="2514600" cy="1143000"/>
          </a:xfrm>
          <a:prstGeom prst="roundRect">
            <a:avLst>
              <a:gd name="adj" fmla="val 9600"/>
            </a:avLst>
          </a:prstGeom>
          <a:solidFill>
            <a:srgbClr val="E3F4F6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777240" y="484632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PK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clave primaria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E8553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FK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clave foránea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1..*  N..1 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cardinalidad</a:t>
            </a:r>
            <a:endParaRPr lang="en-US" sz="1050" dirty="0"/>
          </a:p>
        </p:txBody>
      </p:sp>
      <p:sp>
        <p:nvSpPr>
          <p:cNvPr id="74" name="Shape 72"/>
          <p:cNvSpPr/>
          <p:nvPr/>
        </p:nvSpPr>
        <p:spPr>
          <a:xfrm>
            <a:off x="9326880" y="4800600"/>
            <a:ext cx="2286000" cy="1143000"/>
          </a:xfrm>
          <a:prstGeom prst="roundRect">
            <a:avLst>
              <a:gd name="adj" fmla="val 9600"/>
            </a:avLst>
          </a:prstGeom>
          <a:solidFill>
            <a:srgbClr val="071A2C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9509760" y="4846320"/>
            <a:ext cx="731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EC4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</a:t>
            </a:r>
            <a:endParaRPr lang="en-US" sz="4400" dirty="0"/>
          </a:p>
        </p:txBody>
      </p:sp>
      <p:sp>
        <p:nvSpPr>
          <p:cNvPr id="76" name="Text 74"/>
          <p:cNvSpPr txBox="1"/>
          <p:nvPr/>
        </p:nvSpPr>
        <p:spPr>
          <a:xfrm>
            <a:off x="10241280" y="4846320"/>
            <a:ext cx="1280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entidades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9DE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 relaciones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548640" y="641908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9AAAB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VIDA SUBMARINA · SISEP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11091672" y="641908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502920"/>
            <a:ext cx="5943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0" b="1" dirty="0">
                <a:solidFill>
                  <a:srgbClr val="2EC4C9">
                    <a:alpha val="28000"/>
                  </a:srgb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19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3375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2EC4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UNIDAD II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703320"/>
            <a:ext cx="60350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Modelos de Diseño y</a:t>
            </a:r>
            <a:endParaRPr lang="en-US" sz="38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Metodología Ágil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53949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8ECE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Semanas 5–7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086600" y="1760220"/>
            <a:ext cx="4526280" cy="960120"/>
          </a:xfrm>
          <a:prstGeom prst="roundRect">
            <a:avLst>
              <a:gd name="adj" fmla="val 11429"/>
            </a:avLst>
          </a:prstGeom>
          <a:solidFill>
            <a:srgbClr val="0E3453">
              <a:alpha val="85000"/>
            </a:srgbClr>
          </a:solidFill>
          <a:ln w="9525">
            <a:solidFill>
              <a:srgbClr val="24617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0" y="1943100"/>
            <a:ext cx="594360" cy="594360"/>
          </a:xfrm>
          <a:prstGeom prst="ellipse">
            <a:avLst/>
          </a:prstGeom>
          <a:solidFill>
            <a:srgbClr val="2EC4C9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7846" y="2085746"/>
            <a:ext cx="309067" cy="309067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138160" y="194310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2EC4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CAPÍTULO 4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8138160" y="2153412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Modelos de diseño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7086600" y="2948940"/>
            <a:ext cx="4526280" cy="960120"/>
          </a:xfrm>
          <a:prstGeom prst="roundRect">
            <a:avLst>
              <a:gd name="adj" fmla="val 11429"/>
            </a:avLst>
          </a:prstGeom>
          <a:solidFill>
            <a:srgbClr val="0E3453">
              <a:alpha val="85000"/>
            </a:srgbClr>
          </a:solidFill>
          <a:ln w="9525">
            <a:solidFill>
              <a:srgbClr val="24617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315200" y="3131820"/>
            <a:ext cx="594360" cy="594360"/>
          </a:xfrm>
          <a:prstGeom prst="ellipse">
            <a:avLst/>
          </a:prstGeom>
          <a:solidFill>
            <a:srgbClr val="2EC4C9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7846" y="3274466"/>
            <a:ext cx="309067" cy="309067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8138160" y="313182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2EC4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CAPÍTULO 5</a:t>
            </a:r>
            <a:endParaRPr lang="en-US" sz="850" dirty="0"/>
          </a:p>
        </p:txBody>
      </p:sp>
      <p:sp>
        <p:nvSpPr>
          <p:cNvPr id="15" name="Text 11"/>
          <p:cNvSpPr txBox="1"/>
          <p:nvPr/>
        </p:nvSpPr>
        <p:spPr>
          <a:xfrm>
            <a:off x="8138160" y="3342132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Metodología de trabajo: Scrum</a:t>
            </a:r>
            <a:endParaRPr lang="en-US" sz="1450" dirty="0"/>
          </a:p>
        </p:txBody>
      </p:sp>
      <p:sp>
        <p:nvSpPr>
          <p:cNvPr id="16" name="Shape 12"/>
          <p:cNvSpPr/>
          <p:nvPr/>
        </p:nvSpPr>
        <p:spPr>
          <a:xfrm>
            <a:off x="7086600" y="4137660"/>
            <a:ext cx="4526280" cy="960120"/>
          </a:xfrm>
          <a:prstGeom prst="roundRect">
            <a:avLst>
              <a:gd name="adj" fmla="val 11429"/>
            </a:avLst>
          </a:prstGeom>
          <a:solidFill>
            <a:srgbClr val="0E3453">
              <a:alpha val="85000"/>
            </a:srgbClr>
          </a:solidFill>
          <a:ln w="9525">
            <a:solidFill>
              <a:srgbClr val="24617E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7315200" y="4320540"/>
            <a:ext cx="594360" cy="594360"/>
          </a:xfrm>
          <a:prstGeom prst="ellipse">
            <a:avLst/>
          </a:prstGeom>
          <a:solidFill>
            <a:srgbClr val="2EC4C9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7846" y="4463186"/>
            <a:ext cx="309067" cy="309067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138160" y="432054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2EC4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HERRAMIENTAS</a:t>
            </a:r>
            <a:endParaRPr lang="en-US" sz="850" dirty="0"/>
          </a:p>
        </p:txBody>
      </p:sp>
      <p:sp>
        <p:nvSpPr>
          <p:cNvPr id="20" name="Text 15"/>
          <p:cNvSpPr txBox="1"/>
          <p:nvPr/>
        </p:nvSpPr>
        <p:spPr>
          <a:xfrm>
            <a:off x="8138160" y="4530852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Jira, Draw.io, dbdiagram.io, GitHub</a:t>
            </a:r>
            <a:endParaRPr lang="en-US" sz="1450" dirty="0"/>
          </a:p>
        </p:txBody>
      </p:sp>
      <p:sp>
        <p:nvSpPr>
          <p:cNvPr id="21" name="Text 16"/>
          <p:cNvSpPr txBox="1"/>
          <p:nvPr/>
        </p:nvSpPr>
        <p:spPr>
          <a:xfrm>
            <a:off x="548640" y="641908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7FA7B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VIDA SUBMARINA · SISEP</a:t>
            </a:r>
            <a:endParaRPr lang="en-US" sz="750" dirty="0"/>
          </a:p>
        </p:txBody>
      </p:sp>
      <p:sp>
        <p:nvSpPr>
          <p:cNvPr id="22" name="Text 17"/>
          <p:cNvSpPr txBox="1"/>
          <p:nvPr/>
        </p:nvSpPr>
        <p:spPr>
          <a:xfrm>
            <a:off x="11091672" y="641908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A8ECE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962656" cy="274320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296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CAPÍTULO 4 · MODELO ESTRUCTURAL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Diagrama de clases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85800" y="1828800"/>
            <a:ext cx="3017520" cy="1956816"/>
          </a:xfrm>
          <a:prstGeom prst="rect">
            <a:avLst/>
          </a:prstGeom>
          <a:solidFill>
            <a:srgbClr val="FFFFFF"/>
          </a:solidFill>
          <a:ln w="12700">
            <a:solidFill>
              <a:srgbClr val="0F4C6B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85800" y="1828800"/>
            <a:ext cx="3017520" cy="347472"/>
          </a:xfrm>
          <a:prstGeom prst="rect">
            <a:avLst/>
          </a:prstGeom>
          <a:solidFill>
            <a:srgbClr val="0B2A45"/>
          </a:solidFill>
          <a:ln w="12700">
            <a:solidFill>
              <a:srgbClr val="0F4C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82880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Embarcacion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240280"/>
            <a:ext cx="2788920" cy="88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matricula : string</a:t>
            </a:r>
            <a:endParaRPr lang="en-US" sz="900" dirty="0"/>
          </a:p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nombre : string</a:t>
            </a:r>
            <a:endParaRPr lang="en-US" sz="900" dirty="0"/>
          </a:p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tipoEmbarcacion : string</a:t>
            </a:r>
            <a:endParaRPr lang="en-US" sz="900" dirty="0"/>
          </a:p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capacidadBodega : string</a:t>
            </a:r>
            <a:endParaRPr lang="en-US" sz="900" dirty="0"/>
          </a:p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estado : string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85800" y="3150108"/>
            <a:ext cx="3017520" cy="0"/>
          </a:xfrm>
          <a:prstGeom prst="line">
            <a:avLst/>
          </a:prstGeom>
          <a:noFill/>
          <a:ln w="12700">
            <a:solidFill>
              <a:srgbClr val="0F4C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214116"/>
            <a:ext cx="2788920" cy="544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registrarCaptura()</a:t>
            </a:r>
            <a:endParaRPr lang="en-US" sz="900" dirty="0"/>
          </a:p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enviarPosicionGPS()</a:t>
            </a:r>
            <a:endParaRPr lang="en-US" sz="900" dirty="0"/>
          </a:p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consultarEstado()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90288" y="1828800"/>
            <a:ext cx="3017520" cy="1787652"/>
          </a:xfrm>
          <a:prstGeom prst="rect">
            <a:avLst/>
          </a:prstGeom>
          <a:solidFill>
            <a:srgbClr val="FFFFFF"/>
          </a:solidFill>
          <a:ln w="12700">
            <a:solidFill>
              <a:srgbClr val="0F4C6B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90288" y="1828800"/>
            <a:ext cx="3017520" cy="347472"/>
          </a:xfrm>
          <a:prstGeom prst="rect">
            <a:avLst/>
          </a:prstGeom>
          <a:solidFill>
            <a:srgbClr val="0B2A45"/>
          </a:solidFill>
          <a:ln w="12700">
            <a:solidFill>
              <a:srgbClr val="0F4C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90288" y="182880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DetalleCaptura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727448" y="2240280"/>
            <a:ext cx="2788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cantidadKg : string</a:t>
            </a:r>
            <a:endParaRPr lang="en-US" sz="900" dirty="0"/>
          </a:p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cantidadUnidades : string</a:t>
            </a:r>
            <a:endParaRPr lang="en-US" sz="900" dirty="0"/>
          </a:p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tallaPromedioCm : string</a:t>
            </a:r>
            <a:endParaRPr lang="en-US" sz="900" dirty="0"/>
          </a:p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cumpleTallaMinima : string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90288" y="2980944"/>
            <a:ext cx="3017520" cy="0"/>
          </a:xfrm>
          <a:prstGeom prst="line">
            <a:avLst/>
          </a:prstGeom>
          <a:noFill/>
          <a:ln w="12700">
            <a:solidFill>
              <a:srgbClr val="0F4C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727448" y="3044952"/>
            <a:ext cx="2788920" cy="544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validarTalla()</a:t>
            </a:r>
            <a:endParaRPr lang="en-US" sz="900" dirty="0"/>
          </a:p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calcularTotal()</a:t>
            </a:r>
            <a:endParaRPr lang="en-US" sz="900" dirty="0"/>
          </a:p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verificarCuota()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8485632" y="1828800"/>
            <a:ext cx="3017520" cy="1618488"/>
          </a:xfrm>
          <a:prstGeom prst="rect">
            <a:avLst/>
          </a:prstGeom>
          <a:solidFill>
            <a:srgbClr val="FFFFFF"/>
          </a:solidFill>
          <a:ln w="12700">
            <a:solidFill>
              <a:srgbClr val="0F4C6B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485632" y="1828800"/>
            <a:ext cx="3017520" cy="347472"/>
          </a:xfrm>
          <a:prstGeom prst="rect">
            <a:avLst/>
          </a:prstGeom>
          <a:solidFill>
            <a:srgbClr val="0B2A45"/>
          </a:solidFill>
          <a:ln w="12700">
            <a:solidFill>
              <a:srgbClr val="0F4C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485632" y="182880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MonitoreoGPS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622792" y="2240280"/>
            <a:ext cx="2788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fechaHora : string</a:t>
            </a:r>
            <a:endParaRPr lang="en-US" sz="900" dirty="0"/>
          </a:p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latitud : string</a:t>
            </a:r>
            <a:endParaRPr lang="en-US" sz="900" dirty="0"/>
          </a:p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longitud : string</a:t>
            </a:r>
            <a:endParaRPr lang="en-US" sz="900" dirty="0"/>
          </a:p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enZonaPermitida : string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8485632" y="2980944"/>
            <a:ext cx="3017520" cy="0"/>
          </a:xfrm>
          <a:prstGeom prst="line">
            <a:avLst/>
          </a:prstGeom>
          <a:noFill/>
          <a:ln w="12700">
            <a:solidFill>
              <a:srgbClr val="0F4C6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622792" y="3044952"/>
            <a:ext cx="278892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capturarPosicion()</a:t>
            </a:r>
            <a:endParaRPr lang="en-US" sz="900" dirty="0"/>
          </a:p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validarZona()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85800" y="4206240"/>
            <a:ext cx="3017520" cy="1956816"/>
          </a:xfrm>
          <a:prstGeom prst="rect">
            <a:avLst/>
          </a:prstGeom>
          <a:solidFill>
            <a:srgbClr val="FFFFFF"/>
          </a:solidFill>
          <a:ln w="12700">
            <a:solidFill>
              <a:srgbClr val="0F4C6B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85800" y="4206240"/>
            <a:ext cx="3017520" cy="347472"/>
          </a:xfrm>
          <a:prstGeom prst="rect">
            <a:avLst/>
          </a:prstGeom>
          <a:solidFill>
            <a:srgbClr val="0B2A45"/>
          </a:solidFill>
          <a:ln w="12700">
            <a:solidFill>
              <a:srgbClr val="0F4C6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85800" y="420624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Captura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" y="4617720"/>
            <a:ext cx="2788920" cy="88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fechaHora : string</a:t>
            </a:r>
            <a:endParaRPr lang="en-US" sz="900" dirty="0"/>
          </a:p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longitud : string</a:t>
            </a:r>
            <a:endParaRPr lang="en-US" sz="900" dirty="0"/>
          </a:p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zonaPesca : string</a:t>
            </a:r>
            <a:endParaRPr lang="en-US" sz="900" dirty="0"/>
          </a:p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temperaturaAgua : string</a:t>
            </a:r>
            <a:endParaRPr lang="en-US" sz="900" dirty="0"/>
          </a:p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codigoQR : string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85800" y="5527548"/>
            <a:ext cx="3017520" cy="0"/>
          </a:xfrm>
          <a:prstGeom prst="line">
            <a:avLst/>
          </a:prstGeom>
          <a:noFill/>
          <a:ln w="12700">
            <a:solidFill>
              <a:srgbClr val="0F4C6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2960" y="5591556"/>
            <a:ext cx="2788920" cy="544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registrarDatos()</a:t>
            </a:r>
            <a:endParaRPr lang="en-US" sz="900" dirty="0"/>
          </a:p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generarCodigoQR()</a:t>
            </a:r>
            <a:endParaRPr lang="en-US" sz="900" dirty="0"/>
          </a:p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validarCumplimiento()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90288" y="4206240"/>
            <a:ext cx="3017520" cy="1787652"/>
          </a:xfrm>
          <a:prstGeom prst="rect">
            <a:avLst/>
          </a:prstGeom>
          <a:solidFill>
            <a:srgbClr val="FFFFFF"/>
          </a:solidFill>
          <a:ln w="12700">
            <a:solidFill>
              <a:srgbClr val="0F4C6B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590288" y="4206240"/>
            <a:ext cx="3017520" cy="347472"/>
          </a:xfrm>
          <a:prstGeom prst="rect">
            <a:avLst/>
          </a:prstGeom>
          <a:solidFill>
            <a:srgbClr val="0B2A45"/>
          </a:solidFill>
          <a:ln w="12700">
            <a:solidFill>
              <a:srgbClr val="0F4C6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590288" y="420624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Especie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727448" y="4617720"/>
            <a:ext cx="2788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nombreComun : string</a:t>
            </a:r>
            <a:endParaRPr lang="en-US" sz="900" dirty="0"/>
          </a:p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nombreCientifico : string</a:t>
            </a:r>
            <a:endParaRPr lang="en-US" sz="900" dirty="0"/>
          </a:p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tallaMinimaCm : string</a:t>
            </a:r>
            <a:endParaRPr lang="en-US" sz="900" dirty="0"/>
          </a:p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cuotaAnualTn : string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590288" y="5358384"/>
            <a:ext cx="3017520" cy="0"/>
          </a:xfrm>
          <a:prstGeom prst="line">
            <a:avLst/>
          </a:prstGeom>
          <a:noFill/>
          <a:ln w="12700">
            <a:solidFill>
              <a:srgbClr val="0F4C6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727448" y="5422392"/>
            <a:ext cx="2788920" cy="544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verificarVeda()</a:t>
            </a:r>
            <a:endParaRPr lang="en-US" sz="900" dirty="0"/>
          </a:p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consultarCuota()</a:t>
            </a:r>
            <a:endParaRPr lang="en-US" sz="900" dirty="0"/>
          </a:p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obtenerTallaMinima()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8485632" y="4206240"/>
            <a:ext cx="3017520" cy="1787652"/>
          </a:xfrm>
          <a:prstGeom prst="rect">
            <a:avLst/>
          </a:prstGeom>
          <a:solidFill>
            <a:srgbClr val="FFFFFF"/>
          </a:solidFill>
          <a:ln w="12700">
            <a:solidFill>
              <a:srgbClr val="0F4C6B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8485632" y="4206240"/>
            <a:ext cx="3017520" cy="347472"/>
          </a:xfrm>
          <a:prstGeom prst="rect">
            <a:avLst/>
          </a:prstGeom>
          <a:solidFill>
            <a:srgbClr val="0B2A45"/>
          </a:solidFill>
          <a:ln w="12700">
            <a:solidFill>
              <a:srgbClr val="0F4C6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485632" y="420624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Alerta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8622792" y="4617720"/>
            <a:ext cx="2788920" cy="88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tipoAlerta : string</a:t>
            </a:r>
            <a:endParaRPr lang="en-US" sz="900" dirty="0"/>
          </a:p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descripcion : string</a:t>
            </a:r>
            <a:endParaRPr lang="en-US" sz="900" dirty="0"/>
          </a:p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fechaHora : string</a:t>
            </a:r>
            <a:endParaRPr lang="en-US" sz="900" dirty="0"/>
          </a:p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nivelGravedad : string</a:t>
            </a:r>
            <a:endParaRPr lang="en-US" sz="900" dirty="0"/>
          </a:p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estadoAtencion : string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8485632" y="5527548"/>
            <a:ext cx="3017520" cy="0"/>
          </a:xfrm>
          <a:prstGeom prst="line">
            <a:avLst/>
          </a:prstGeom>
          <a:noFill/>
          <a:ln w="12700">
            <a:solidFill>
              <a:srgbClr val="0F4C6B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622792" y="5591556"/>
            <a:ext cx="278892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generarAlerta()</a:t>
            </a:r>
            <a:endParaRPr lang="en-US" sz="900" dirty="0"/>
          </a:p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notificarInspectores()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194560" y="3913632"/>
            <a:ext cx="0" cy="292608"/>
          </a:xfrm>
          <a:prstGeom prst="line">
            <a:avLst/>
          </a:prstGeom>
          <a:noFill/>
          <a:ln w="15875">
            <a:solidFill>
              <a:srgbClr val="0B2A4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112264" y="3785616"/>
            <a:ext cx="164592" cy="256032"/>
          </a:xfrm>
          <a:prstGeom prst="diamond">
            <a:avLst/>
          </a:prstGeom>
          <a:solidFill>
            <a:srgbClr val="0B2A45"/>
          </a:solidFill>
          <a:ln w="9525">
            <a:solidFill>
              <a:srgbClr val="0B2A45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2286000" y="383133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2286000" y="397764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+captura  1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099048" y="3744468"/>
            <a:ext cx="0" cy="461772"/>
          </a:xfrm>
          <a:prstGeom prst="line">
            <a:avLst/>
          </a:prstGeom>
          <a:noFill/>
          <a:ln w="15875">
            <a:solidFill>
              <a:srgbClr val="0B2A45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016752" y="3616452"/>
            <a:ext cx="164592" cy="256032"/>
          </a:xfrm>
          <a:prstGeom prst="diamond">
            <a:avLst/>
          </a:prstGeom>
          <a:solidFill>
            <a:srgbClr val="0B2A45"/>
          </a:solidFill>
          <a:ln w="9525">
            <a:solidFill>
              <a:srgbClr val="0B2A45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190488" y="366217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</a:t>
            </a:r>
            <a:endParaRPr lang="en-US" sz="850" dirty="0"/>
          </a:p>
        </p:txBody>
      </p:sp>
      <p:sp>
        <p:nvSpPr>
          <p:cNvPr id="48" name="Text 46"/>
          <p:cNvSpPr txBox="1"/>
          <p:nvPr/>
        </p:nvSpPr>
        <p:spPr>
          <a:xfrm>
            <a:off x="6190488" y="397764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+especie  0..1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9994392" y="3575304"/>
            <a:ext cx="0" cy="630936"/>
          </a:xfrm>
          <a:prstGeom prst="line">
            <a:avLst/>
          </a:prstGeom>
          <a:noFill/>
          <a:ln w="15875">
            <a:solidFill>
              <a:srgbClr val="0B2A45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912096" y="3447288"/>
            <a:ext cx="164592" cy="256032"/>
          </a:xfrm>
          <a:prstGeom prst="diamond">
            <a:avLst/>
          </a:prstGeom>
          <a:solidFill>
            <a:srgbClr val="0B2A45"/>
          </a:solidFill>
          <a:ln w="9525">
            <a:solidFill>
              <a:srgbClr val="0B2A45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10085832" y="3493008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</a:t>
            </a:r>
            <a:endParaRPr lang="en-US" sz="850" dirty="0"/>
          </a:p>
        </p:txBody>
      </p:sp>
      <p:sp>
        <p:nvSpPr>
          <p:cNvPr id="52" name="Text 50"/>
          <p:cNvSpPr txBox="1"/>
          <p:nvPr/>
        </p:nvSpPr>
        <p:spPr>
          <a:xfrm>
            <a:off x="10085832" y="397764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+alerta  0..1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3831336" y="5029200"/>
            <a:ext cx="329184" cy="0"/>
          </a:xfrm>
          <a:prstGeom prst="line">
            <a:avLst/>
          </a:prstGeom>
          <a:noFill/>
          <a:ln w="15875">
            <a:solidFill>
              <a:srgbClr val="0B2A45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703320" y="4946904"/>
            <a:ext cx="256032" cy="164592"/>
          </a:xfrm>
          <a:prstGeom prst="diamond">
            <a:avLst/>
          </a:prstGeom>
          <a:solidFill>
            <a:srgbClr val="0B2A45"/>
          </a:solidFill>
          <a:ln w="9525">
            <a:solidFill>
              <a:srgbClr val="0B2A45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4160520" y="2697480"/>
            <a:ext cx="0" cy="2331720"/>
          </a:xfrm>
          <a:prstGeom prst="line">
            <a:avLst/>
          </a:prstGeom>
          <a:noFill/>
          <a:ln w="15875">
            <a:solidFill>
              <a:srgbClr val="0B2A45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160520" y="2697480"/>
            <a:ext cx="429768" cy="0"/>
          </a:xfrm>
          <a:prstGeom prst="line">
            <a:avLst/>
          </a:prstGeom>
          <a:noFill/>
          <a:ln w="15875">
            <a:solidFill>
              <a:srgbClr val="0B2A45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3904488" y="480060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*</a:t>
            </a:r>
            <a:endParaRPr lang="en-US" sz="850" dirty="0"/>
          </a:p>
        </p:txBody>
      </p:sp>
      <p:sp>
        <p:nvSpPr>
          <p:cNvPr id="58" name="Text 56"/>
          <p:cNvSpPr txBox="1"/>
          <p:nvPr/>
        </p:nvSpPr>
        <p:spPr>
          <a:xfrm>
            <a:off x="4178808" y="246888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0..1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 flipV="1">
            <a:off x="1325880" y="1572768"/>
            <a:ext cx="0" cy="128016"/>
          </a:xfrm>
          <a:prstGeom prst="line">
            <a:avLst/>
          </a:prstGeom>
          <a:noFill/>
          <a:ln w="15875">
            <a:solidFill>
              <a:srgbClr val="0B2A45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1243584" y="1572768"/>
            <a:ext cx="164592" cy="256032"/>
          </a:xfrm>
          <a:prstGeom prst="diamond">
            <a:avLst/>
          </a:prstGeom>
          <a:solidFill>
            <a:srgbClr val="0B2A45"/>
          </a:solidFill>
          <a:ln w="9525">
            <a:solidFill>
              <a:srgbClr val="0B2A45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325880" y="1572768"/>
            <a:ext cx="8668512" cy="0"/>
          </a:xfrm>
          <a:prstGeom prst="line">
            <a:avLst/>
          </a:prstGeom>
          <a:noFill/>
          <a:ln w="15875">
            <a:solidFill>
              <a:srgbClr val="0B2A45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9994392" y="1572768"/>
            <a:ext cx="0" cy="256032"/>
          </a:xfrm>
          <a:prstGeom prst="line">
            <a:avLst/>
          </a:prstGeom>
          <a:noFill/>
          <a:ln w="15875">
            <a:solidFill>
              <a:srgbClr val="0B2A45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8211312" y="1353312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+monitoreoGPS  0..1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4590288" y="6089904"/>
            <a:ext cx="128016" cy="182880"/>
          </a:xfrm>
          <a:prstGeom prst="diamond">
            <a:avLst/>
          </a:prstGeom>
          <a:solidFill>
            <a:srgbClr val="0B2A45"/>
          </a:solidFill>
          <a:ln w="6350">
            <a:solidFill>
              <a:srgbClr val="0B2A45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4800600" y="605332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Composición: el todo (◆) contiene a la parte</a:t>
            </a:r>
            <a:endParaRPr lang="en-US" sz="950" dirty="0"/>
          </a:p>
        </p:txBody>
      </p:sp>
      <p:sp>
        <p:nvSpPr>
          <p:cNvPr id="66" name="Text 64"/>
          <p:cNvSpPr txBox="1"/>
          <p:nvPr/>
        </p:nvSpPr>
        <p:spPr>
          <a:xfrm>
            <a:off x="548640" y="641908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9AAAB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VIDA SUBMARINA · SISEP</a:t>
            </a:r>
            <a:endParaRPr lang="en-US" sz="750" dirty="0"/>
          </a:p>
        </p:txBody>
      </p:sp>
      <p:sp>
        <p:nvSpPr>
          <p:cNvPr id="67" name="Text 65"/>
          <p:cNvSpPr txBox="1"/>
          <p:nvPr/>
        </p:nvSpPr>
        <p:spPr>
          <a:xfrm>
            <a:off x="11091672" y="641908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3209544" cy="274320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3209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CAPÍTULO 4 · MODELO DE INTERACCIÓN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Diagrama de secuencia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17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Intercambio de mensajes entre la embarcación, el sistema, la base de datos, IMARPE y PRODUCE.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1417320" y="2468880"/>
            <a:ext cx="0" cy="3520440"/>
          </a:xfrm>
          <a:prstGeom prst="line">
            <a:avLst/>
          </a:prstGeom>
          <a:noFill/>
          <a:ln w="12700">
            <a:solidFill>
              <a:srgbClr val="9AAAB6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3749040" y="2468880"/>
            <a:ext cx="0" cy="3520440"/>
          </a:xfrm>
          <a:prstGeom prst="line">
            <a:avLst/>
          </a:prstGeom>
          <a:noFill/>
          <a:ln w="12700">
            <a:solidFill>
              <a:srgbClr val="9AAAB6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6080760" y="2468880"/>
            <a:ext cx="0" cy="3520440"/>
          </a:xfrm>
          <a:prstGeom prst="line">
            <a:avLst/>
          </a:prstGeom>
          <a:noFill/>
          <a:ln w="12700">
            <a:solidFill>
              <a:srgbClr val="9AAAB6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8412480" y="2468880"/>
            <a:ext cx="0" cy="3520440"/>
          </a:xfrm>
          <a:prstGeom prst="line">
            <a:avLst/>
          </a:prstGeom>
          <a:noFill/>
          <a:ln w="12700">
            <a:solidFill>
              <a:srgbClr val="9AAAB6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10744200" y="2468880"/>
            <a:ext cx="0" cy="3520440"/>
          </a:xfrm>
          <a:prstGeom prst="line">
            <a:avLst/>
          </a:prstGeom>
          <a:noFill/>
          <a:ln w="12700">
            <a:solidFill>
              <a:srgbClr val="9AAAB6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3675888" y="2560320"/>
            <a:ext cx="146304" cy="3383280"/>
          </a:xfrm>
          <a:prstGeom prst="rect">
            <a:avLst/>
          </a:prstGeom>
          <a:solidFill>
            <a:srgbClr val="E3F4F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1920240"/>
            <a:ext cx="1737360" cy="548640"/>
          </a:xfrm>
          <a:prstGeom prst="roundRect">
            <a:avLst>
              <a:gd name="adj" fmla="val 16667"/>
            </a:avLst>
          </a:prstGeom>
          <a:solidFill>
            <a:srgbClr val="0B2A45"/>
          </a:solidFill>
          <a:ln/>
          <a:effectLst>
            <a:outerShdw sx="100000" sy="100000" kx="0" ky="0" algn="bl" rotWithShape="0" blurRad="152400" dist="38100" dir="5400000">
              <a:srgbClr val="0B1D2E">
                <a:alpha val="15000"/>
              </a:srgbClr>
            </a:outerShdw>
          </a:effectLst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075688"/>
            <a:ext cx="237744" cy="237744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950976" y="19202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Embarcación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2880360" y="1920240"/>
            <a:ext cx="1737360" cy="548640"/>
          </a:xfrm>
          <a:prstGeom prst="roundRect">
            <a:avLst>
              <a:gd name="adj" fmla="val 16667"/>
            </a:avLst>
          </a:prstGeom>
          <a:solidFill>
            <a:srgbClr val="0B2A45"/>
          </a:solidFill>
          <a:ln/>
          <a:effectLst>
            <a:outerShdw sx="100000" sy="100000" kx="0" ky="0" algn="bl" rotWithShape="0" blurRad="152400" dist="38100" dir="5400000">
              <a:srgbClr val="0B1D2E">
                <a:alpha val="15000"/>
              </a:srgbClr>
            </a:outerShdw>
          </a:effectLst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0088" y="2075688"/>
            <a:ext cx="237744" cy="237744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3282696" y="19202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SistemaMonitoreo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5212080" y="1920240"/>
            <a:ext cx="1737360" cy="548640"/>
          </a:xfrm>
          <a:prstGeom prst="roundRect">
            <a:avLst>
              <a:gd name="adj" fmla="val 16667"/>
            </a:avLst>
          </a:prstGeom>
          <a:solidFill>
            <a:srgbClr val="0B2A45"/>
          </a:solidFill>
          <a:ln/>
          <a:effectLst>
            <a:outerShdw sx="100000" sy="100000" kx="0" ky="0" algn="bl" rotWithShape="0" blurRad="152400" dist="38100" dir="5400000">
              <a:srgbClr val="0B1D2E">
                <a:alpha val="15000"/>
              </a:srgbClr>
            </a:outerShd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1808" y="2075688"/>
            <a:ext cx="237744" cy="23774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5614416" y="19202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BD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7543800" y="1920240"/>
            <a:ext cx="1737360" cy="548640"/>
          </a:xfrm>
          <a:prstGeom prst="roundRect">
            <a:avLst>
              <a:gd name="adj" fmla="val 16667"/>
            </a:avLst>
          </a:prstGeom>
          <a:solidFill>
            <a:srgbClr val="0B2A45"/>
          </a:solidFill>
          <a:ln/>
          <a:effectLst>
            <a:outerShdw sx="100000" sy="100000" kx="0" ky="0" algn="bl" rotWithShape="0" blurRad="152400" dist="38100" dir="5400000">
              <a:srgbClr val="0B1D2E">
                <a:alpha val="15000"/>
              </a:srgbClr>
            </a:outerShdw>
          </a:effectLst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53528" y="2075688"/>
            <a:ext cx="237744" cy="237744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946136" y="19202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IMARPE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9875520" y="1920240"/>
            <a:ext cx="1737360" cy="548640"/>
          </a:xfrm>
          <a:prstGeom prst="roundRect">
            <a:avLst>
              <a:gd name="adj" fmla="val 16667"/>
            </a:avLst>
          </a:prstGeom>
          <a:solidFill>
            <a:srgbClr val="0B2A45"/>
          </a:solidFill>
          <a:ln/>
          <a:effectLst>
            <a:outerShdw sx="100000" sy="100000" kx="0" ky="0" algn="bl" rotWithShape="0" blurRad="152400" dist="38100" dir="5400000">
              <a:srgbClr val="0B1D2E">
                <a:alpha val="15000"/>
              </a:srgbClr>
            </a:outerShdw>
          </a:effectLst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85248" y="2075688"/>
            <a:ext cx="237744" cy="237744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0277856" y="19202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PRODUCE</a:t>
            </a:r>
            <a:endParaRPr lang="en-US" sz="1000" dirty="0"/>
          </a:p>
        </p:txBody>
      </p:sp>
      <p:sp>
        <p:nvSpPr>
          <p:cNvPr id="27" name="Shape 20"/>
          <p:cNvSpPr/>
          <p:nvPr/>
        </p:nvSpPr>
        <p:spPr>
          <a:xfrm rot="5400000">
            <a:off x="3550158" y="2726055"/>
            <a:ext cx="125730" cy="125730"/>
          </a:xfrm>
          <a:prstGeom prst="triangle">
            <a:avLst/>
          </a:prstGeom>
          <a:solidFill>
            <a:srgbClr val="0B2A45"/>
          </a:solidFill>
          <a:ln/>
        </p:spPr>
      </p:sp>
      <p:sp>
        <p:nvSpPr>
          <p:cNvPr id="28" name="Shape 21"/>
          <p:cNvSpPr/>
          <p:nvPr/>
        </p:nvSpPr>
        <p:spPr>
          <a:xfrm>
            <a:off x="1417320" y="2788920"/>
            <a:ext cx="2195703" cy="0"/>
          </a:xfrm>
          <a:prstGeom prst="line">
            <a:avLst/>
          </a:prstGeom>
          <a:noFill/>
          <a:ln w="19050">
            <a:solidFill>
              <a:srgbClr val="0B2A45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1618488" y="2569464"/>
            <a:ext cx="950976" cy="19202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25400" rIns="254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B2A4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1. GPS datos</a:t>
            </a:r>
            <a:endParaRPr lang="en-US" sz="900" dirty="0"/>
          </a:p>
        </p:txBody>
      </p:sp>
      <p:sp>
        <p:nvSpPr>
          <p:cNvPr id="30" name="Shape 23"/>
          <p:cNvSpPr/>
          <p:nvPr/>
        </p:nvSpPr>
        <p:spPr>
          <a:xfrm rot="5400000">
            <a:off x="5955030" y="3027807"/>
            <a:ext cx="125730" cy="125730"/>
          </a:xfrm>
          <a:prstGeom prst="triangle">
            <a:avLst/>
          </a:prstGeom>
          <a:solidFill>
            <a:srgbClr val="0B2A45"/>
          </a:solidFill>
          <a:ln/>
        </p:spPr>
      </p:sp>
      <p:sp>
        <p:nvSpPr>
          <p:cNvPr id="31" name="Shape 24"/>
          <p:cNvSpPr/>
          <p:nvPr/>
        </p:nvSpPr>
        <p:spPr>
          <a:xfrm>
            <a:off x="3822192" y="3090672"/>
            <a:ext cx="2195703" cy="0"/>
          </a:xfrm>
          <a:prstGeom prst="line">
            <a:avLst/>
          </a:prstGeom>
          <a:noFill/>
          <a:ln w="19050">
            <a:solidFill>
              <a:srgbClr val="0B2A45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4023360" y="2871216"/>
            <a:ext cx="822960" cy="19202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25400" rIns="254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B2A4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2. Validar</a:t>
            </a:r>
            <a:endParaRPr lang="en-US" sz="900" dirty="0"/>
          </a:p>
        </p:txBody>
      </p:sp>
      <p:sp>
        <p:nvSpPr>
          <p:cNvPr id="33" name="Shape 26"/>
          <p:cNvSpPr/>
          <p:nvPr/>
        </p:nvSpPr>
        <p:spPr>
          <a:xfrm rot="16200000">
            <a:off x="3822192" y="3329559"/>
            <a:ext cx="125730" cy="125730"/>
          </a:xfrm>
          <a:prstGeom prst="triangle">
            <a:avLst/>
          </a:prstGeom>
          <a:solidFill>
            <a:srgbClr val="5A6B7B"/>
          </a:solidFill>
          <a:ln/>
        </p:spPr>
      </p:sp>
      <p:sp>
        <p:nvSpPr>
          <p:cNvPr id="34" name="Shape 27"/>
          <p:cNvSpPr/>
          <p:nvPr/>
        </p:nvSpPr>
        <p:spPr>
          <a:xfrm flipH="1">
            <a:off x="3885057" y="3392424"/>
            <a:ext cx="2195703" cy="0"/>
          </a:xfrm>
          <a:prstGeom prst="line">
            <a:avLst/>
          </a:prstGeom>
          <a:noFill/>
          <a:ln w="19050">
            <a:solidFill>
              <a:srgbClr val="5A6B7B"/>
            </a:solidFill>
            <a:prstDash val="dash"/>
          </a:ln>
        </p:spPr>
      </p:sp>
      <p:sp>
        <p:nvSpPr>
          <p:cNvPr id="35" name="Text 28"/>
          <p:cNvSpPr txBox="1"/>
          <p:nvPr/>
        </p:nvSpPr>
        <p:spPr>
          <a:xfrm>
            <a:off x="4023360" y="3172968"/>
            <a:ext cx="950976" cy="19202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25400" rIns="254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3. Respuesta</a:t>
            </a:r>
            <a:endParaRPr lang="en-US" sz="900" dirty="0"/>
          </a:p>
        </p:txBody>
      </p:sp>
      <p:sp>
        <p:nvSpPr>
          <p:cNvPr id="36" name="Shape 29"/>
          <p:cNvSpPr/>
          <p:nvPr/>
        </p:nvSpPr>
        <p:spPr>
          <a:xfrm rot="5400000">
            <a:off x="8286750" y="3631311"/>
            <a:ext cx="125730" cy="125730"/>
          </a:xfrm>
          <a:prstGeom prst="triangle">
            <a:avLst/>
          </a:prstGeom>
          <a:solidFill>
            <a:srgbClr val="E8553F"/>
          </a:solidFill>
          <a:ln/>
        </p:spPr>
      </p:sp>
      <p:sp>
        <p:nvSpPr>
          <p:cNvPr id="37" name="Shape 30"/>
          <p:cNvSpPr/>
          <p:nvPr/>
        </p:nvSpPr>
        <p:spPr>
          <a:xfrm>
            <a:off x="3822192" y="3694176"/>
            <a:ext cx="4527423" cy="0"/>
          </a:xfrm>
          <a:prstGeom prst="line">
            <a:avLst/>
          </a:prstGeom>
          <a:noFill/>
          <a:ln w="19050">
            <a:solidFill>
              <a:srgbClr val="E8553F"/>
            </a:solidFill>
            <a:prstDash val="solid"/>
          </a:ln>
        </p:spPr>
      </p:sp>
      <p:sp>
        <p:nvSpPr>
          <p:cNvPr id="38" name="Text 31"/>
          <p:cNvSpPr txBox="1"/>
          <p:nvPr/>
        </p:nvSpPr>
        <p:spPr>
          <a:xfrm>
            <a:off x="4023360" y="3474720"/>
            <a:ext cx="758952" cy="19202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25400" rIns="254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553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4. Alerta</a:t>
            </a:r>
            <a:endParaRPr lang="en-US" sz="900" dirty="0"/>
          </a:p>
        </p:txBody>
      </p:sp>
      <p:sp>
        <p:nvSpPr>
          <p:cNvPr id="39" name="Shape 32"/>
          <p:cNvSpPr/>
          <p:nvPr/>
        </p:nvSpPr>
        <p:spPr>
          <a:xfrm rot="5400000">
            <a:off x="10618470" y="3933063"/>
            <a:ext cx="125730" cy="125730"/>
          </a:xfrm>
          <a:prstGeom prst="triangle">
            <a:avLst/>
          </a:prstGeom>
          <a:solidFill>
            <a:srgbClr val="E8553F"/>
          </a:solidFill>
          <a:ln/>
        </p:spPr>
      </p:sp>
      <p:sp>
        <p:nvSpPr>
          <p:cNvPr id="40" name="Shape 33"/>
          <p:cNvSpPr/>
          <p:nvPr/>
        </p:nvSpPr>
        <p:spPr>
          <a:xfrm>
            <a:off x="3822192" y="3995928"/>
            <a:ext cx="6859143" cy="0"/>
          </a:xfrm>
          <a:prstGeom prst="line">
            <a:avLst/>
          </a:prstGeom>
          <a:noFill/>
          <a:ln w="19050">
            <a:solidFill>
              <a:srgbClr val="E8553F"/>
            </a:solidFill>
            <a:prstDash val="solid"/>
          </a:ln>
        </p:spPr>
      </p:sp>
      <p:sp>
        <p:nvSpPr>
          <p:cNvPr id="41" name="Text 34"/>
          <p:cNvSpPr txBox="1"/>
          <p:nvPr/>
        </p:nvSpPr>
        <p:spPr>
          <a:xfrm>
            <a:off x="4023360" y="3776472"/>
            <a:ext cx="758952" cy="19202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25400" rIns="254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553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5. Alerta</a:t>
            </a:r>
            <a:endParaRPr lang="en-US" sz="900" dirty="0"/>
          </a:p>
        </p:txBody>
      </p:sp>
      <p:sp>
        <p:nvSpPr>
          <p:cNvPr id="42" name="Shape 35"/>
          <p:cNvSpPr/>
          <p:nvPr/>
        </p:nvSpPr>
        <p:spPr>
          <a:xfrm rot="5400000">
            <a:off x="3550158" y="4234815"/>
            <a:ext cx="125730" cy="125730"/>
          </a:xfrm>
          <a:prstGeom prst="triangle">
            <a:avLst/>
          </a:prstGeom>
          <a:solidFill>
            <a:srgbClr val="0B2A45"/>
          </a:solidFill>
          <a:ln/>
        </p:spPr>
      </p:sp>
      <p:sp>
        <p:nvSpPr>
          <p:cNvPr id="43" name="Shape 36"/>
          <p:cNvSpPr/>
          <p:nvPr/>
        </p:nvSpPr>
        <p:spPr>
          <a:xfrm>
            <a:off x="1417320" y="4297680"/>
            <a:ext cx="2195703" cy="0"/>
          </a:xfrm>
          <a:prstGeom prst="line">
            <a:avLst/>
          </a:prstGeom>
          <a:noFill/>
          <a:ln w="19050">
            <a:solidFill>
              <a:srgbClr val="0B2A45"/>
            </a:solidFill>
            <a:prstDash val="solid"/>
          </a:ln>
        </p:spPr>
      </p:sp>
      <p:sp>
        <p:nvSpPr>
          <p:cNvPr id="44" name="Text 37"/>
          <p:cNvSpPr txBox="1"/>
          <p:nvPr/>
        </p:nvSpPr>
        <p:spPr>
          <a:xfrm>
            <a:off x="1618488" y="4078224"/>
            <a:ext cx="1335024" cy="19202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25400" rIns="254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B2A4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6. Bitácora, fotos</a:t>
            </a:r>
            <a:endParaRPr lang="en-US" sz="900" dirty="0"/>
          </a:p>
        </p:txBody>
      </p:sp>
      <p:sp>
        <p:nvSpPr>
          <p:cNvPr id="45" name="Shape 38"/>
          <p:cNvSpPr/>
          <p:nvPr/>
        </p:nvSpPr>
        <p:spPr>
          <a:xfrm rot="16200000">
            <a:off x="3822192" y="4536567"/>
            <a:ext cx="125730" cy="125730"/>
          </a:xfrm>
          <a:prstGeom prst="triangle">
            <a:avLst/>
          </a:prstGeom>
          <a:solidFill>
            <a:srgbClr val="5A6B7B"/>
          </a:solidFill>
          <a:ln/>
        </p:spPr>
      </p:sp>
      <p:sp>
        <p:nvSpPr>
          <p:cNvPr id="46" name="Shape 39"/>
          <p:cNvSpPr/>
          <p:nvPr/>
        </p:nvSpPr>
        <p:spPr>
          <a:xfrm flipH="1">
            <a:off x="3885057" y="4599432"/>
            <a:ext cx="2195703" cy="0"/>
          </a:xfrm>
          <a:prstGeom prst="line">
            <a:avLst/>
          </a:prstGeom>
          <a:noFill/>
          <a:ln w="19050">
            <a:solidFill>
              <a:srgbClr val="5A6B7B"/>
            </a:solidFill>
            <a:prstDash val="dash"/>
          </a:ln>
        </p:spPr>
      </p:sp>
      <p:sp>
        <p:nvSpPr>
          <p:cNvPr id="47" name="Text 40"/>
          <p:cNvSpPr txBox="1"/>
          <p:nvPr/>
        </p:nvSpPr>
        <p:spPr>
          <a:xfrm>
            <a:off x="4023360" y="4379976"/>
            <a:ext cx="1143000" cy="19202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25400" rIns="254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7. Confirmación</a:t>
            </a:r>
            <a:endParaRPr lang="en-US" sz="900" dirty="0"/>
          </a:p>
        </p:txBody>
      </p:sp>
      <p:sp>
        <p:nvSpPr>
          <p:cNvPr id="48" name="Shape 41"/>
          <p:cNvSpPr/>
          <p:nvPr/>
        </p:nvSpPr>
        <p:spPr>
          <a:xfrm rot="5400000">
            <a:off x="5955030" y="4838319"/>
            <a:ext cx="125730" cy="125730"/>
          </a:xfrm>
          <a:prstGeom prst="triangle">
            <a:avLst/>
          </a:prstGeom>
          <a:solidFill>
            <a:srgbClr val="0B2A45"/>
          </a:solidFill>
          <a:ln/>
        </p:spPr>
      </p:sp>
      <p:sp>
        <p:nvSpPr>
          <p:cNvPr id="49" name="Shape 42"/>
          <p:cNvSpPr/>
          <p:nvPr/>
        </p:nvSpPr>
        <p:spPr>
          <a:xfrm>
            <a:off x="3822192" y="4901184"/>
            <a:ext cx="2195703" cy="0"/>
          </a:xfrm>
          <a:prstGeom prst="line">
            <a:avLst/>
          </a:prstGeom>
          <a:noFill/>
          <a:ln w="19050">
            <a:solidFill>
              <a:srgbClr val="0B2A45"/>
            </a:solidFill>
            <a:prstDash val="solid"/>
          </a:ln>
        </p:spPr>
      </p:sp>
      <p:sp>
        <p:nvSpPr>
          <p:cNvPr id="50" name="Text 43"/>
          <p:cNvSpPr txBox="1"/>
          <p:nvPr/>
        </p:nvSpPr>
        <p:spPr>
          <a:xfrm>
            <a:off x="4023360" y="4681728"/>
            <a:ext cx="1078992" cy="19202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25400" rIns="254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B2A4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8. QR generado</a:t>
            </a:r>
            <a:endParaRPr lang="en-US" sz="900" dirty="0"/>
          </a:p>
        </p:txBody>
      </p:sp>
      <p:sp>
        <p:nvSpPr>
          <p:cNvPr id="51" name="Shape 44"/>
          <p:cNvSpPr/>
          <p:nvPr/>
        </p:nvSpPr>
        <p:spPr>
          <a:xfrm rot="5400000">
            <a:off x="8286750" y="5140071"/>
            <a:ext cx="125730" cy="125730"/>
          </a:xfrm>
          <a:prstGeom prst="triangle">
            <a:avLst/>
          </a:prstGeom>
          <a:solidFill>
            <a:srgbClr val="0E7C86"/>
          </a:solidFill>
          <a:ln/>
        </p:spPr>
      </p:sp>
      <p:sp>
        <p:nvSpPr>
          <p:cNvPr id="52" name="Shape 45"/>
          <p:cNvSpPr/>
          <p:nvPr/>
        </p:nvSpPr>
        <p:spPr>
          <a:xfrm>
            <a:off x="3822192" y="5202936"/>
            <a:ext cx="4527423" cy="0"/>
          </a:xfrm>
          <a:prstGeom prst="line">
            <a:avLst/>
          </a:prstGeom>
          <a:noFill/>
          <a:ln w="19050">
            <a:solidFill>
              <a:srgbClr val="0E7C86"/>
            </a:solidFill>
            <a:prstDash val="solid"/>
          </a:ln>
        </p:spPr>
      </p:sp>
      <p:sp>
        <p:nvSpPr>
          <p:cNvPr id="53" name="Text 46"/>
          <p:cNvSpPr txBox="1"/>
          <p:nvPr/>
        </p:nvSpPr>
        <p:spPr>
          <a:xfrm>
            <a:off x="4023360" y="4983480"/>
            <a:ext cx="822960" cy="19202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25400" rIns="254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9. Reporte</a:t>
            </a:r>
            <a:endParaRPr lang="en-US" sz="900" dirty="0"/>
          </a:p>
        </p:txBody>
      </p:sp>
      <p:sp>
        <p:nvSpPr>
          <p:cNvPr id="54" name="Shape 47"/>
          <p:cNvSpPr/>
          <p:nvPr/>
        </p:nvSpPr>
        <p:spPr>
          <a:xfrm rot="5400000">
            <a:off x="10618470" y="5441823"/>
            <a:ext cx="125730" cy="125730"/>
          </a:xfrm>
          <a:prstGeom prst="triangle">
            <a:avLst/>
          </a:prstGeom>
          <a:solidFill>
            <a:srgbClr val="0E7C86"/>
          </a:solidFill>
          <a:ln/>
        </p:spPr>
      </p:sp>
      <p:sp>
        <p:nvSpPr>
          <p:cNvPr id="55" name="Shape 48"/>
          <p:cNvSpPr/>
          <p:nvPr/>
        </p:nvSpPr>
        <p:spPr>
          <a:xfrm>
            <a:off x="3822192" y="5504688"/>
            <a:ext cx="6859143" cy="0"/>
          </a:xfrm>
          <a:prstGeom prst="line">
            <a:avLst/>
          </a:prstGeom>
          <a:noFill/>
          <a:ln w="19050">
            <a:solidFill>
              <a:srgbClr val="0E7C86"/>
            </a:solidFill>
            <a:prstDash val="solid"/>
          </a:ln>
        </p:spPr>
      </p:sp>
      <p:sp>
        <p:nvSpPr>
          <p:cNvPr id="56" name="Text 49"/>
          <p:cNvSpPr txBox="1"/>
          <p:nvPr/>
        </p:nvSpPr>
        <p:spPr>
          <a:xfrm>
            <a:off x="4023360" y="5285232"/>
            <a:ext cx="886968" cy="19202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25400" rIns="254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10. Reporte</a:t>
            </a:r>
            <a:endParaRPr lang="en-US" sz="900" dirty="0"/>
          </a:p>
        </p:txBody>
      </p:sp>
      <p:sp>
        <p:nvSpPr>
          <p:cNvPr id="57" name="Shape 50"/>
          <p:cNvSpPr/>
          <p:nvPr/>
        </p:nvSpPr>
        <p:spPr>
          <a:xfrm rot="16200000">
            <a:off x="1417320" y="5743575"/>
            <a:ext cx="125730" cy="125730"/>
          </a:xfrm>
          <a:prstGeom prst="triangle">
            <a:avLst/>
          </a:prstGeom>
          <a:solidFill>
            <a:srgbClr val="0B2A45"/>
          </a:solidFill>
          <a:ln/>
        </p:spPr>
      </p:sp>
      <p:sp>
        <p:nvSpPr>
          <p:cNvPr id="58" name="Shape 51"/>
          <p:cNvSpPr/>
          <p:nvPr/>
        </p:nvSpPr>
        <p:spPr>
          <a:xfrm flipH="1">
            <a:off x="1480185" y="5806440"/>
            <a:ext cx="2195703" cy="0"/>
          </a:xfrm>
          <a:prstGeom prst="line">
            <a:avLst/>
          </a:prstGeom>
          <a:noFill/>
          <a:ln w="19050">
            <a:solidFill>
              <a:srgbClr val="0B2A45"/>
            </a:solidFill>
            <a:prstDash val="solid"/>
          </a:ln>
        </p:spPr>
      </p:sp>
      <p:sp>
        <p:nvSpPr>
          <p:cNvPr id="59" name="Text 52"/>
          <p:cNvSpPr txBox="1"/>
          <p:nvPr/>
        </p:nvSpPr>
        <p:spPr>
          <a:xfrm>
            <a:off x="1618488" y="5586984"/>
            <a:ext cx="1207008" cy="19202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25400" rIns="254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B2A4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11. Notificación</a:t>
            </a:r>
            <a:endParaRPr lang="en-US" sz="900" dirty="0"/>
          </a:p>
        </p:txBody>
      </p:sp>
      <p:sp>
        <p:nvSpPr>
          <p:cNvPr id="60" name="Shape 53"/>
          <p:cNvSpPr/>
          <p:nvPr/>
        </p:nvSpPr>
        <p:spPr>
          <a:xfrm>
            <a:off x="5852160" y="6217920"/>
            <a:ext cx="365760" cy="0"/>
          </a:xfrm>
          <a:prstGeom prst="line">
            <a:avLst/>
          </a:prstGeom>
          <a:noFill/>
          <a:ln w="19050">
            <a:solidFill>
              <a:srgbClr val="0B2A45"/>
            </a:solidFill>
            <a:prstDash val="solid"/>
          </a:ln>
        </p:spPr>
      </p:sp>
      <p:sp>
        <p:nvSpPr>
          <p:cNvPr id="61" name="Text 54"/>
          <p:cNvSpPr txBox="1"/>
          <p:nvPr/>
        </p:nvSpPr>
        <p:spPr>
          <a:xfrm>
            <a:off x="6291072" y="610819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Llamada</a:t>
            </a:r>
            <a:endParaRPr lang="en-US" sz="900" dirty="0"/>
          </a:p>
        </p:txBody>
      </p:sp>
      <p:sp>
        <p:nvSpPr>
          <p:cNvPr id="62" name="Shape 55"/>
          <p:cNvSpPr/>
          <p:nvPr/>
        </p:nvSpPr>
        <p:spPr>
          <a:xfrm>
            <a:off x="7269480" y="6217920"/>
            <a:ext cx="365760" cy="0"/>
          </a:xfrm>
          <a:prstGeom prst="line">
            <a:avLst/>
          </a:prstGeom>
          <a:noFill/>
          <a:ln w="19050">
            <a:solidFill>
              <a:srgbClr val="5A6B7B"/>
            </a:solidFill>
            <a:prstDash val="dash"/>
          </a:ln>
        </p:spPr>
      </p:sp>
      <p:sp>
        <p:nvSpPr>
          <p:cNvPr id="63" name="Text 56"/>
          <p:cNvSpPr txBox="1"/>
          <p:nvPr/>
        </p:nvSpPr>
        <p:spPr>
          <a:xfrm>
            <a:off x="7708392" y="610819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Respuesta</a:t>
            </a:r>
            <a:endParaRPr lang="en-US" sz="900" dirty="0"/>
          </a:p>
        </p:txBody>
      </p:sp>
      <p:sp>
        <p:nvSpPr>
          <p:cNvPr id="64" name="Shape 57"/>
          <p:cNvSpPr/>
          <p:nvPr/>
        </p:nvSpPr>
        <p:spPr>
          <a:xfrm>
            <a:off x="8686800" y="6217920"/>
            <a:ext cx="365760" cy="0"/>
          </a:xfrm>
          <a:prstGeom prst="line">
            <a:avLst/>
          </a:prstGeom>
          <a:noFill/>
          <a:ln w="19050">
            <a:solidFill>
              <a:srgbClr val="E8553F"/>
            </a:solidFill>
            <a:prstDash val="solid"/>
          </a:ln>
        </p:spPr>
      </p:sp>
      <p:sp>
        <p:nvSpPr>
          <p:cNvPr id="65" name="Text 58"/>
          <p:cNvSpPr txBox="1"/>
          <p:nvPr/>
        </p:nvSpPr>
        <p:spPr>
          <a:xfrm>
            <a:off x="9125712" y="610819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Alerta</a:t>
            </a:r>
            <a:endParaRPr lang="en-US" sz="900" dirty="0"/>
          </a:p>
        </p:txBody>
      </p:sp>
      <p:sp>
        <p:nvSpPr>
          <p:cNvPr id="66" name="Shape 59"/>
          <p:cNvSpPr/>
          <p:nvPr/>
        </p:nvSpPr>
        <p:spPr>
          <a:xfrm>
            <a:off x="10104120" y="6217920"/>
            <a:ext cx="365760" cy="0"/>
          </a:xfrm>
          <a:prstGeom prst="line">
            <a:avLst/>
          </a:prstGeom>
          <a:noFill/>
          <a:ln w="19050">
            <a:solidFill>
              <a:srgbClr val="0E7C86"/>
            </a:solidFill>
            <a:prstDash val="solid"/>
          </a:ln>
        </p:spPr>
      </p:sp>
      <p:sp>
        <p:nvSpPr>
          <p:cNvPr id="67" name="Text 60"/>
          <p:cNvSpPr txBox="1"/>
          <p:nvPr/>
        </p:nvSpPr>
        <p:spPr>
          <a:xfrm>
            <a:off x="10543032" y="610819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Reporte</a:t>
            </a:r>
            <a:endParaRPr lang="en-US" sz="900" dirty="0"/>
          </a:p>
        </p:txBody>
      </p:sp>
      <p:sp>
        <p:nvSpPr>
          <p:cNvPr id="68" name="Text 61"/>
          <p:cNvSpPr txBox="1"/>
          <p:nvPr/>
        </p:nvSpPr>
        <p:spPr>
          <a:xfrm>
            <a:off x="548640" y="641908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9AAAB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VIDA SUBMARINA · SISEP</a:t>
            </a:r>
            <a:endParaRPr lang="en-US" sz="750" dirty="0"/>
          </a:p>
        </p:txBody>
      </p:sp>
      <p:sp>
        <p:nvSpPr>
          <p:cNvPr id="69" name="Text 62"/>
          <p:cNvSpPr txBox="1"/>
          <p:nvPr/>
        </p:nvSpPr>
        <p:spPr>
          <a:xfrm>
            <a:off x="11091672" y="641908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3291840" cy="274320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CAPÍTULO 5 · METODOLOGÍA DE TRABAJO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Scrum: entregas cortas, valor continuo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00200"/>
            <a:ext cx="5486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Scrum es una metodología ágil para organizar y desarrollar proyectos complejos, especialmente útil cuando los requisitos pueden cambiar o evolucionar. Se basa en ciclos cortos de trabajo —los sprints— que entregan valor de forma incremental y continua. [6]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355080" y="1600200"/>
            <a:ext cx="1645920" cy="1325880"/>
          </a:xfrm>
          <a:prstGeom prst="roundRect">
            <a:avLst>
              <a:gd name="adj" fmla="val 9655"/>
            </a:avLst>
          </a:prstGeom>
          <a:solidFill>
            <a:srgbClr val="E3F4F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355080" y="1664208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3800" dirty="0"/>
          </a:p>
        </p:txBody>
      </p:sp>
      <p:sp>
        <p:nvSpPr>
          <p:cNvPr id="8" name="Text 6"/>
          <p:cNvSpPr txBox="1"/>
          <p:nvPr/>
        </p:nvSpPr>
        <p:spPr>
          <a:xfrm>
            <a:off x="6446520" y="2377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sprints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8138160" y="1600200"/>
            <a:ext cx="1645920" cy="1325880"/>
          </a:xfrm>
          <a:prstGeom prst="roundRect">
            <a:avLst>
              <a:gd name="adj" fmla="val 9655"/>
            </a:avLst>
          </a:prstGeom>
          <a:solidFill>
            <a:srgbClr val="071A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138160" y="1664208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EC4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38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2377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semanas por sprint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9921240" y="1600200"/>
            <a:ext cx="1645920" cy="1325880"/>
          </a:xfrm>
          <a:prstGeom prst="roundRect">
            <a:avLst>
              <a:gd name="adj" fmla="val 9655"/>
            </a:avLst>
          </a:prstGeom>
          <a:solidFill>
            <a:srgbClr val="E3F4F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921240" y="1664208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</a:t>
            </a:r>
            <a:endParaRPr lang="en-US" sz="3800" dirty="0"/>
          </a:p>
        </p:txBody>
      </p:sp>
      <p:sp>
        <p:nvSpPr>
          <p:cNvPr id="14" name="Text 12"/>
          <p:cNvSpPr txBox="1"/>
          <p:nvPr/>
        </p:nvSpPr>
        <p:spPr>
          <a:xfrm>
            <a:off x="10012680" y="2377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historias de usuario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1453896" y="3337560"/>
            <a:ext cx="822960" cy="822960"/>
          </a:xfrm>
          <a:prstGeom prst="ellipse">
            <a:avLst/>
          </a:prstGeom>
          <a:solidFill>
            <a:srgbClr val="0B2A45"/>
          </a:solidFill>
          <a:ln/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1406" y="3535070"/>
            <a:ext cx="427939" cy="427939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585216" y="427939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Product Backlog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76656" y="46177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Lista priorizada de funcionalidades, dividida en épicas y tareas.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 rot="5400000">
            <a:off x="3995928" y="3680460"/>
            <a:ext cx="137160" cy="137160"/>
          </a:xfrm>
          <a:prstGeom prst="triangle">
            <a:avLst/>
          </a:prstGeom>
          <a:solidFill>
            <a:srgbClr val="0F4C6B"/>
          </a:solidFill>
          <a:ln/>
        </p:spPr>
      </p:sp>
      <p:sp>
        <p:nvSpPr>
          <p:cNvPr id="20" name="Shape 17"/>
          <p:cNvSpPr/>
          <p:nvPr/>
        </p:nvSpPr>
        <p:spPr>
          <a:xfrm>
            <a:off x="2414016" y="3749040"/>
            <a:ext cx="1650492" cy="0"/>
          </a:xfrm>
          <a:prstGeom prst="line">
            <a:avLst/>
          </a:prstGeom>
          <a:noFill/>
          <a:ln w="25400">
            <a:solidFill>
              <a:srgbClr val="0F4C6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270248" y="3337560"/>
            <a:ext cx="822960" cy="822960"/>
          </a:xfrm>
          <a:prstGeom prst="ellipse">
            <a:avLst/>
          </a:prstGeom>
          <a:solidFill>
            <a:srgbClr val="0B2A45"/>
          </a:solidFill>
          <a:ln/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7758" y="3535070"/>
            <a:ext cx="427939" cy="427939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3401568" y="427939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Sprint Backlog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3493008" y="46177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Historias de usuario seleccionadas para cada sprint.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 rot="5400000">
            <a:off x="6812280" y="3680460"/>
            <a:ext cx="137160" cy="137160"/>
          </a:xfrm>
          <a:prstGeom prst="triangle">
            <a:avLst/>
          </a:prstGeom>
          <a:solidFill>
            <a:srgbClr val="0F4C6B"/>
          </a:solidFill>
          <a:ln/>
        </p:spPr>
      </p:sp>
      <p:sp>
        <p:nvSpPr>
          <p:cNvPr id="26" name="Shape 22"/>
          <p:cNvSpPr/>
          <p:nvPr/>
        </p:nvSpPr>
        <p:spPr>
          <a:xfrm>
            <a:off x="5230368" y="3749040"/>
            <a:ext cx="1650492" cy="0"/>
          </a:xfrm>
          <a:prstGeom prst="line">
            <a:avLst/>
          </a:prstGeom>
          <a:noFill/>
          <a:ln w="25400">
            <a:solidFill>
              <a:srgbClr val="0F4C6B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7086600" y="3337560"/>
            <a:ext cx="822960" cy="822960"/>
          </a:xfrm>
          <a:prstGeom prst="ellipse">
            <a:avLst/>
          </a:prstGeom>
          <a:solidFill>
            <a:srgbClr val="2EC4C9"/>
          </a:solidFill>
          <a:ln/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4110" y="3535070"/>
            <a:ext cx="427939" cy="427939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6217920" y="427939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Sprint · 2 semanas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6309360" y="46177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Ciclo corto de trabajo gestionado en Jira.</a:t>
            </a:r>
            <a:endParaRPr lang="en-US" sz="1100" dirty="0"/>
          </a:p>
        </p:txBody>
      </p:sp>
      <p:sp>
        <p:nvSpPr>
          <p:cNvPr id="31" name="Shape 26"/>
          <p:cNvSpPr/>
          <p:nvPr/>
        </p:nvSpPr>
        <p:spPr>
          <a:xfrm rot="5400000">
            <a:off x="9628632" y="3680460"/>
            <a:ext cx="137160" cy="137160"/>
          </a:xfrm>
          <a:prstGeom prst="triangle">
            <a:avLst/>
          </a:prstGeom>
          <a:solidFill>
            <a:srgbClr val="0F4C6B"/>
          </a:solidFill>
          <a:ln/>
        </p:spPr>
      </p:sp>
      <p:sp>
        <p:nvSpPr>
          <p:cNvPr id="32" name="Shape 27"/>
          <p:cNvSpPr/>
          <p:nvPr/>
        </p:nvSpPr>
        <p:spPr>
          <a:xfrm>
            <a:off x="8046720" y="3749040"/>
            <a:ext cx="1650492" cy="0"/>
          </a:xfrm>
          <a:prstGeom prst="line">
            <a:avLst/>
          </a:prstGeom>
          <a:noFill/>
          <a:ln w="25400">
            <a:solidFill>
              <a:srgbClr val="0F4C6B"/>
            </a:solidFill>
            <a:prstDash val="solid"/>
          </a:ln>
        </p:spPr>
      </p:sp>
      <p:sp>
        <p:nvSpPr>
          <p:cNvPr id="33" name="Shape 28"/>
          <p:cNvSpPr/>
          <p:nvPr/>
        </p:nvSpPr>
        <p:spPr>
          <a:xfrm>
            <a:off x="9902952" y="3337560"/>
            <a:ext cx="822960" cy="822960"/>
          </a:xfrm>
          <a:prstGeom prst="ellipse">
            <a:avLst/>
          </a:prstGeom>
          <a:solidFill>
            <a:srgbClr val="0B2A45"/>
          </a:solidFill>
          <a:ln/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pic>
        <p:nvPicPr>
          <p:cNvPr id="34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00462" y="3535070"/>
            <a:ext cx="427939" cy="427939"/>
          </a:xfrm>
          <a:prstGeom prst="rect">
            <a:avLst/>
          </a:prstGeom>
        </p:spPr>
      </p:pic>
      <p:sp>
        <p:nvSpPr>
          <p:cNvPr id="35" name="Text 29"/>
          <p:cNvSpPr txBox="1"/>
          <p:nvPr/>
        </p:nvSpPr>
        <p:spPr>
          <a:xfrm>
            <a:off x="9034272" y="427939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Incremento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9125712" y="46177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Entregable funcional: módulos del sistema operativos.</a:t>
            </a:r>
            <a:endParaRPr lang="en-US" sz="1100" dirty="0"/>
          </a:p>
        </p:txBody>
      </p:sp>
      <p:sp>
        <p:nvSpPr>
          <p:cNvPr id="37" name="Shape 31"/>
          <p:cNvSpPr/>
          <p:nvPr/>
        </p:nvSpPr>
        <p:spPr>
          <a:xfrm>
            <a:off x="10314432" y="5349240"/>
            <a:ext cx="0" cy="411480"/>
          </a:xfrm>
          <a:prstGeom prst="line">
            <a:avLst/>
          </a:prstGeom>
          <a:noFill/>
          <a:ln w="19050">
            <a:solidFill>
              <a:srgbClr val="0E7C86"/>
            </a:solidFill>
            <a:prstDash val="solid"/>
          </a:ln>
        </p:spPr>
      </p:sp>
      <p:sp>
        <p:nvSpPr>
          <p:cNvPr id="38" name="Shape 32"/>
          <p:cNvSpPr/>
          <p:nvPr/>
        </p:nvSpPr>
        <p:spPr>
          <a:xfrm flipH="1">
            <a:off x="1865376" y="5760720"/>
            <a:ext cx="8449056" cy="0"/>
          </a:xfrm>
          <a:prstGeom prst="line">
            <a:avLst/>
          </a:prstGeom>
          <a:noFill/>
          <a:ln w="19050">
            <a:solidFill>
              <a:srgbClr val="0E7C86"/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>
            <a:off x="1802511" y="5349240"/>
            <a:ext cx="125730" cy="125730"/>
          </a:xfrm>
          <a:prstGeom prst="triangle">
            <a:avLst/>
          </a:prstGeom>
          <a:solidFill>
            <a:srgbClr val="0E7C86"/>
          </a:solidFill>
          <a:ln/>
        </p:spPr>
      </p:sp>
      <p:sp>
        <p:nvSpPr>
          <p:cNvPr id="40" name="Shape 34"/>
          <p:cNvSpPr/>
          <p:nvPr/>
        </p:nvSpPr>
        <p:spPr>
          <a:xfrm flipV="1">
            <a:off x="1865376" y="5412105"/>
            <a:ext cx="0" cy="348615"/>
          </a:xfrm>
          <a:prstGeom prst="line">
            <a:avLst/>
          </a:prstGeom>
          <a:noFill/>
          <a:ln w="19050">
            <a:solidFill>
              <a:srgbClr val="0E7C86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3657600" y="5641848"/>
            <a:ext cx="4892040" cy="23774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i="1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retroalimentación: se revisa el incremento y se ajusta el backlog</a:t>
            </a:r>
            <a:endParaRPr lang="en-US" sz="1000" dirty="0"/>
          </a:p>
        </p:txBody>
      </p:sp>
      <p:sp>
        <p:nvSpPr>
          <p:cNvPr id="42" name="Text 36"/>
          <p:cNvSpPr txBox="1"/>
          <p:nvPr/>
        </p:nvSpPr>
        <p:spPr>
          <a:xfrm>
            <a:off x="548640" y="641908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9AAAB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VIDA SUBMARINA · SISEP</a:t>
            </a:r>
            <a:endParaRPr lang="en-US" sz="750" dirty="0"/>
          </a:p>
        </p:txBody>
      </p:sp>
      <p:sp>
        <p:nvSpPr>
          <p:cNvPr id="43" name="Text 37"/>
          <p:cNvSpPr txBox="1"/>
          <p:nvPr/>
        </p:nvSpPr>
        <p:spPr>
          <a:xfrm>
            <a:off x="11091672" y="641908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3127248" cy="274320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3127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CAPÍTULO 5 · BACKLOG DEL PRODUCTO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Épicas e historias de usuario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17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Product Backlog organizado en Jira:  Épica  →  Historia de usuario (HU)  →  Tarea.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1143000" cy="310896"/>
          </a:xfrm>
          <a:prstGeom prst="roundRect">
            <a:avLst>
              <a:gd name="adj" fmla="val 50000"/>
            </a:avLst>
          </a:prstGeom>
          <a:solidFill>
            <a:srgbClr val="0F4C6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965960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SPRINT 1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1828800" y="196596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4C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HU01 – HU06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468880"/>
            <a:ext cx="2633472" cy="3611880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7240" y="2697480"/>
            <a:ext cx="566928" cy="566928"/>
          </a:xfrm>
          <a:prstGeom prst="ellipse">
            <a:avLst/>
          </a:prstGeom>
          <a:solidFill>
            <a:srgbClr val="0F4C6B"/>
          </a:solidFill>
          <a:ln/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303" y="2833543"/>
            <a:ext cx="294803" cy="294803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481328" y="274320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0F4C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ÉPICA 1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3383280"/>
            <a:ext cx="22219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Gestión de flota pesquera</a:t>
            </a:r>
            <a:endParaRPr lang="en-US" sz="135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069080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069848" y="4041648"/>
            <a:ext cx="19019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Registrar embarcación</a:t>
            </a:r>
            <a:endParaRPr lang="en-US" sz="105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544568"/>
            <a:ext cx="201168" cy="20116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069848" y="4517136"/>
            <a:ext cx="19019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Posición GPS cada 15 min</a:t>
            </a:r>
            <a:endParaRPr lang="en-US" sz="105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5020056"/>
            <a:ext cx="201168" cy="20116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069848" y="4992624"/>
            <a:ext cx="19019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Alertas por zonas restringidas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777240" y="5623560"/>
            <a:ext cx="685800" cy="256032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21" name="Text 15"/>
          <p:cNvSpPr txBox="1"/>
          <p:nvPr/>
        </p:nvSpPr>
        <p:spPr>
          <a:xfrm>
            <a:off x="777240" y="5623560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RF01.1</a:t>
            </a:r>
            <a:endParaRPr lang="en-US" sz="850" dirty="0"/>
          </a:p>
        </p:txBody>
      </p:sp>
      <p:sp>
        <p:nvSpPr>
          <p:cNvPr id="22" name="Shape 16"/>
          <p:cNvSpPr/>
          <p:nvPr/>
        </p:nvSpPr>
        <p:spPr>
          <a:xfrm>
            <a:off x="1536192" y="5623560"/>
            <a:ext cx="685800" cy="256032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23" name="Text 17"/>
          <p:cNvSpPr txBox="1"/>
          <p:nvPr/>
        </p:nvSpPr>
        <p:spPr>
          <a:xfrm>
            <a:off x="1536192" y="5623560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RF01.2</a:t>
            </a:r>
            <a:endParaRPr lang="en-US" sz="850" dirty="0"/>
          </a:p>
        </p:txBody>
      </p:sp>
      <p:sp>
        <p:nvSpPr>
          <p:cNvPr id="24" name="Shape 18"/>
          <p:cNvSpPr/>
          <p:nvPr/>
        </p:nvSpPr>
        <p:spPr>
          <a:xfrm>
            <a:off x="3319272" y="2468880"/>
            <a:ext cx="2633472" cy="3611880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3547872" y="2697480"/>
            <a:ext cx="566928" cy="566928"/>
          </a:xfrm>
          <a:prstGeom prst="ellipse">
            <a:avLst/>
          </a:prstGeom>
          <a:solidFill>
            <a:srgbClr val="0F4C6B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83935" y="2833543"/>
            <a:ext cx="294803" cy="29480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4251960" y="274320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0F4C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ÉPICA 2</a:t>
            </a:r>
            <a:endParaRPr lang="en-US" sz="900" dirty="0"/>
          </a:p>
        </p:txBody>
      </p:sp>
      <p:sp>
        <p:nvSpPr>
          <p:cNvPr id="28" name="Text 21"/>
          <p:cNvSpPr txBox="1"/>
          <p:nvPr/>
        </p:nvSpPr>
        <p:spPr>
          <a:xfrm>
            <a:off x="3547872" y="3383280"/>
            <a:ext cx="22219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Actividades pesqueras</a:t>
            </a:r>
            <a:endParaRPr lang="en-US" sz="1350" dirty="0"/>
          </a:p>
        </p:txBody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47872" y="4069080"/>
            <a:ext cx="201168" cy="201168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3840480" y="4041648"/>
            <a:ext cx="19019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Bitácora digital de pesca</a:t>
            </a:r>
            <a:endParaRPr lang="en-US" sz="1050" dirty="0"/>
          </a:p>
        </p:txBody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47872" y="4544568"/>
            <a:ext cx="201168" cy="201168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3840480" y="4517136"/>
            <a:ext cx="19019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Fotos de capturas como evidencia</a:t>
            </a:r>
            <a:endParaRPr lang="en-US" sz="1050" dirty="0"/>
          </a:p>
        </p:txBody>
      </p:sp>
      <p:pic>
        <p:nvPicPr>
          <p:cNvPr id="33" name="Image 7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47872" y="5020056"/>
            <a:ext cx="201168" cy="201168"/>
          </a:xfrm>
          <a:prstGeom prst="rect">
            <a:avLst/>
          </a:prstGeom>
        </p:spPr>
      </p:pic>
      <p:sp>
        <p:nvSpPr>
          <p:cNvPr id="34" name="Text 24"/>
          <p:cNvSpPr txBox="1"/>
          <p:nvPr/>
        </p:nvSpPr>
        <p:spPr>
          <a:xfrm>
            <a:off x="3840480" y="4992624"/>
            <a:ext cx="19019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QR único por lote</a:t>
            </a:r>
            <a:endParaRPr lang="en-US" sz="1050" dirty="0"/>
          </a:p>
        </p:txBody>
      </p:sp>
      <p:sp>
        <p:nvSpPr>
          <p:cNvPr id="35" name="Shape 25"/>
          <p:cNvSpPr/>
          <p:nvPr/>
        </p:nvSpPr>
        <p:spPr>
          <a:xfrm>
            <a:off x="3547872" y="5623560"/>
            <a:ext cx="685800" cy="256032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36" name="Text 26"/>
          <p:cNvSpPr txBox="1"/>
          <p:nvPr/>
        </p:nvSpPr>
        <p:spPr>
          <a:xfrm>
            <a:off x="3547872" y="5623560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RF01.3</a:t>
            </a:r>
            <a:endParaRPr lang="en-US" sz="850" dirty="0"/>
          </a:p>
        </p:txBody>
      </p:sp>
      <p:sp>
        <p:nvSpPr>
          <p:cNvPr id="37" name="Shape 27"/>
          <p:cNvSpPr/>
          <p:nvPr/>
        </p:nvSpPr>
        <p:spPr>
          <a:xfrm>
            <a:off x="4306824" y="5623560"/>
            <a:ext cx="685800" cy="256032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38" name="Text 28"/>
          <p:cNvSpPr txBox="1"/>
          <p:nvPr/>
        </p:nvSpPr>
        <p:spPr>
          <a:xfrm>
            <a:off x="4306824" y="5623560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RF01.4</a:t>
            </a:r>
            <a:endParaRPr lang="en-US" sz="850" dirty="0"/>
          </a:p>
        </p:txBody>
      </p:sp>
      <p:sp>
        <p:nvSpPr>
          <p:cNvPr id="39" name="Shape 29"/>
          <p:cNvSpPr/>
          <p:nvPr/>
        </p:nvSpPr>
        <p:spPr>
          <a:xfrm>
            <a:off x="5065776" y="5623560"/>
            <a:ext cx="685800" cy="256032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40" name="Text 30"/>
          <p:cNvSpPr txBox="1"/>
          <p:nvPr/>
        </p:nvSpPr>
        <p:spPr>
          <a:xfrm>
            <a:off x="5065776" y="5623560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RF01.5</a:t>
            </a:r>
            <a:endParaRPr lang="en-US" sz="850" dirty="0"/>
          </a:p>
        </p:txBody>
      </p:sp>
      <p:sp>
        <p:nvSpPr>
          <p:cNvPr id="41" name="Shape 31"/>
          <p:cNvSpPr/>
          <p:nvPr/>
        </p:nvSpPr>
        <p:spPr>
          <a:xfrm>
            <a:off x="6172200" y="1965960"/>
            <a:ext cx="1143000" cy="310896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/>
        </p:spPr>
      </p:sp>
      <p:sp>
        <p:nvSpPr>
          <p:cNvPr id="42" name="Text 32"/>
          <p:cNvSpPr txBox="1"/>
          <p:nvPr/>
        </p:nvSpPr>
        <p:spPr>
          <a:xfrm>
            <a:off x="6172200" y="1965960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SPRINT 2</a:t>
            </a:r>
            <a:endParaRPr lang="en-US" sz="950" dirty="0"/>
          </a:p>
        </p:txBody>
      </p:sp>
      <p:sp>
        <p:nvSpPr>
          <p:cNvPr id="43" name="Text 33"/>
          <p:cNvSpPr txBox="1"/>
          <p:nvPr/>
        </p:nvSpPr>
        <p:spPr>
          <a:xfrm>
            <a:off x="7452360" y="196596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HU07 – HU15</a:t>
            </a:r>
            <a:endParaRPr lang="en-US" sz="1300" dirty="0"/>
          </a:p>
        </p:txBody>
      </p:sp>
      <p:sp>
        <p:nvSpPr>
          <p:cNvPr id="44" name="Shape 34"/>
          <p:cNvSpPr/>
          <p:nvPr/>
        </p:nvSpPr>
        <p:spPr>
          <a:xfrm>
            <a:off x="6172200" y="2468880"/>
            <a:ext cx="2633472" cy="3611880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45" name="Shape 35"/>
          <p:cNvSpPr/>
          <p:nvPr/>
        </p:nvSpPr>
        <p:spPr>
          <a:xfrm>
            <a:off x="6400800" y="2697480"/>
            <a:ext cx="566928" cy="566928"/>
          </a:xfrm>
          <a:prstGeom prst="ellipse">
            <a:avLst/>
          </a:prstGeom>
          <a:solidFill>
            <a:srgbClr val="0E7C86"/>
          </a:solidFill>
          <a:ln/>
        </p:spPr>
      </p:sp>
      <p:pic>
        <p:nvPicPr>
          <p:cNvPr id="46" name="Image 8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36863" y="2833543"/>
            <a:ext cx="294803" cy="294803"/>
          </a:xfrm>
          <a:prstGeom prst="rect">
            <a:avLst/>
          </a:prstGeom>
        </p:spPr>
      </p:pic>
      <p:sp>
        <p:nvSpPr>
          <p:cNvPr id="47" name="Text 36"/>
          <p:cNvSpPr txBox="1"/>
          <p:nvPr/>
        </p:nvSpPr>
        <p:spPr>
          <a:xfrm>
            <a:off x="7104888" y="274320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ÉPICA 3</a:t>
            </a:r>
            <a:endParaRPr lang="en-US" sz="900" dirty="0"/>
          </a:p>
        </p:txBody>
      </p:sp>
      <p:sp>
        <p:nvSpPr>
          <p:cNvPr id="48" name="Text 37"/>
          <p:cNvSpPr txBox="1"/>
          <p:nvPr/>
        </p:nvSpPr>
        <p:spPr>
          <a:xfrm>
            <a:off x="6400800" y="3383280"/>
            <a:ext cx="22219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Gestión normativa</a:t>
            </a:r>
            <a:endParaRPr lang="en-US" sz="1350" dirty="0"/>
          </a:p>
        </p:txBody>
      </p:sp>
      <p:pic>
        <p:nvPicPr>
          <p:cNvPr id="49" name="Image 9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00800" y="4069080"/>
            <a:ext cx="201168" cy="201168"/>
          </a:xfrm>
          <a:prstGeom prst="rect">
            <a:avLst/>
          </a:prstGeom>
        </p:spPr>
      </p:pic>
      <p:sp>
        <p:nvSpPr>
          <p:cNvPr id="50" name="Text 38"/>
          <p:cNvSpPr txBox="1"/>
          <p:nvPr/>
        </p:nvSpPr>
        <p:spPr>
          <a:xfrm>
            <a:off x="6693408" y="4041648"/>
            <a:ext cx="19019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Validación de áreas, tallas y permisos</a:t>
            </a:r>
            <a:endParaRPr lang="en-US" sz="1050" dirty="0"/>
          </a:p>
        </p:txBody>
      </p:sp>
      <p:pic>
        <p:nvPicPr>
          <p:cNvPr id="51" name="Image 10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00800" y="4544568"/>
            <a:ext cx="201168" cy="201168"/>
          </a:xfrm>
          <a:prstGeom prst="rect">
            <a:avLst/>
          </a:prstGeom>
        </p:spPr>
      </p:pic>
      <p:sp>
        <p:nvSpPr>
          <p:cNvPr id="52" name="Text 39"/>
          <p:cNvSpPr txBox="1"/>
          <p:nvPr/>
        </p:nvSpPr>
        <p:spPr>
          <a:xfrm>
            <a:off x="6693408" y="4517136"/>
            <a:ext cx="19019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Notificación de irregularidades</a:t>
            </a:r>
            <a:endParaRPr lang="en-US" sz="1050" dirty="0"/>
          </a:p>
        </p:txBody>
      </p:sp>
      <p:pic>
        <p:nvPicPr>
          <p:cNvPr id="53" name="Image 11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00800" y="5020056"/>
            <a:ext cx="201168" cy="201168"/>
          </a:xfrm>
          <a:prstGeom prst="rect">
            <a:avLst/>
          </a:prstGeom>
        </p:spPr>
      </p:pic>
      <p:sp>
        <p:nvSpPr>
          <p:cNvPr id="54" name="Text 40"/>
          <p:cNvSpPr txBox="1"/>
          <p:nvPr/>
        </p:nvSpPr>
        <p:spPr>
          <a:xfrm>
            <a:off x="6693408" y="4992624"/>
            <a:ext cx="19019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Cumplimiento del D.S. 012-2001-PE</a:t>
            </a:r>
            <a:endParaRPr lang="en-US" sz="1050" dirty="0"/>
          </a:p>
        </p:txBody>
      </p:sp>
      <p:sp>
        <p:nvSpPr>
          <p:cNvPr id="55" name="Shape 41"/>
          <p:cNvSpPr/>
          <p:nvPr/>
        </p:nvSpPr>
        <p:spPr>
          <a:xfrm>
            <a:off x="6400800" y="5623560"/>
            <a:ext cx="685800" cy="256032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56" name="Text 42"/>
          <p:cNvSpPr txBox="1"/>
          <p:nvPr/>
        </p:nvSpPr>
        <p:spPr>
          <a:xfrm>
            <a:off x="6400800" y="5623560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RF01.7</a:t>
            </a:r>
            <a:endParaRPr lang="en-US" sz="850" dirty="0"/>
          </a:p>
        </p:txBody>
      </p:sp>
      <p:sp>
        <p:nvSpPr>
          <p:cNvPr id="57" name="Shape 43"/>
          <p:cNvSpPr/>
          <p:nvPr/>
        </p:nvSpPr>
        <p:spPr>
          <a:xfrm>
            <a:off x="7159752" y="5623560"/>
            <a:ext cx="548640" cy="256032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58" name="Text 44"/>
          <p:cNvSpPr txBox="1"/>
          <p:nvPr/>
        </p:nvSpPr>
        <p:spPr>
          <a:xfrm>
            <a:off x="7159752" y="562356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RD01</a:t>
            </a:r>
            <a:endParaRPr lang="en-US" sz="850" dirty="0"/>
          </a:p>
        </p:txBody>
      </p:sp>
      <p:sp>
        <p:nvSpPr>
          <p:cNvPr id="59" name="Shape 45"/>
          <p:cNvSpPr/>
          <p:nvPr/>
        </p:nvSpPr>
        <p:spPr>
          <a:xfrm>
            <a:off x="7781544" y="5623560"/>
            <a:ext cx="548640" cy="256032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60" name="Text 46"/>
          <p:cNvSpPr txBox="1"/>
          <p:nvPr/>
        </p:nvSpPr>
        <p:spPr>
          <a:xfrm>
            <a:off x="7781544" y="562356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RD09</a:t>
            </a:r>
            <a:endParaRPr lang="en-US" sz="850" dirty="0"/>
          </a:p>
        </p:txBody>
      </p:sp>
      <p:sp>
        <p:nvSpPr>
          <p:cNvPr id="61" name="Shape 47"/>
          <p:cNvSpPr/>
          <p:nvPr/>
        </p:nvSpPr>
        <p:spPr>
          <a:xfrm>
            <a:off x="8942832" y="2468880"/>
            <a:ext cx="2633472" cy="3611880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62" name="Shape 48"/>
          <p:cNvSpPr/>
          <p:nvPr/>
        </p:nvSpPr>
        <p:spPr>
          <a:xfrm>
            <a:off x="9171432" y="2697480"/>
            <a:ext cx="566928" cy="566928"/>
          </a:xfrm>
          <a:prstGeom prst="ellipse">
            <a:avLst/>
          </a:prstGeom>
          <a:solidFill>
            <a:srgbClr val="0E7C86"/>
          </a:solidFill>
          <a:ln/>
        </p:spPr>
      </p:sp>
      <p:pic>
        <p:nvPicPr>
          <p:cNvPr id="63" name="Image 12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307495" y="2833543"/>
            <a:ext cx="294803" cy="294803"/>
          </a:xfrm>
          <a:prstGeom prst="rect">
            <a:avLst/>
          </a:prstGeom>
        </p:spPr>
      </p:pic>
      <p:sp>
        <p:nvSpPr>
          <p:cNvPr id="64" name="Text 49"/>
          <p:cNvSpPr txBox="1"/>
          <p:nvPr/>
        </p:nvSpPr>
        <p:spPr>
          <a:xfrm>
            <a:off x="9875520" y="274320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ÉPICA 4</a:t>
            </a:r>
            <a:endParaRPr lang="en-US" sz="900" dirty="0"/>
          </a:p>
        </p:txBody>
      </p:sp>
      <p:sp>
        <p:nvSpPr>
          <p:cNvPr id="65" name="Text 50"/>
          <p:cNvSpPr txBox="1"/>
          <p:nvPr/>
        </p:nvSpPr>
        <p:spPr>
          <a:xfrm>
            <a:off x="9171432" y="3383280"/>
            <a:ext cx="22219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Inteligencia pesquera y medioambiental</a:t>
            </a:r>
            <a:endParaRPr lang="en-US" sz="1350" dirty="0"/>
          </a:p>
        </p:txBody>
      </p:sp>
      <p:pic>
        <p:nvPicPr>
          <p:cNvPr id="66" name="Image 13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71432" y="4069080"/>
            <a:ext cx="201168" cy="201168"/>
          </a:xfrm>
          <a:prstGeom prst="rect">
            <a:avLst/>
          </a:prstGeom>
        </p:spPr>
      </p:pic>
      <p:sp>
        <p:nvSpPr>
          <p:cNvPr id="67" name="Text 51"/>
          <p:cNvSpPr txBox="1"/>
          <p:nvPr/>
        </p:nvSpPr>
        <p:spPr>
          <a:xfrm>
            <a:off x="9464040" y="4041648"/>
            <a:ext cx="19019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Condiciones meteorológicas</a:t>
            </a:r>
            <a:endParaRPr lang="en-US" sz="1050" dirty="0"/>
          </a:p>
        </p:txBody>
      </p:sp>
      <p:pic>
        <p:nvPicPr>
          <p:cNvPr id="68" name="Image 14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171432" y="4544568"/>
            <a:ext cx="201168" cy="201168"/>
          </a:xfrm>
          <a:prstGeom prst="rect">
            <a:avLst/>
          </a:prstGeom>
        </p:spPr>
      </p:pic>
      <p:sp>
        <p:nvSpPr>
          <p:cNvPr id="69" name="Text 52"/>
          <p:cNvSpPr txBox="1"/>
          <p:nvPr/>
        </p:nvSpPr>
        <p:spPr>
          <a:xfrm>
            <a:off x="9464040" y="4517136"/>
            <a:ext cx="19019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Indicadores de sostenibilidad</a:t>
            </a:r>
            <a:endParaRPr lang="en-US" sz="1050" dirty="0"/>
          </a:p>
        </p:txBody>
      </p:sp>
      <p:pic>
        <p:nvPicPr>
          <p:cNvPr id="70" name="Image 15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171432" y="5020056"/>
            <a:ext cx="201168" cy="201168"/>
          </a:xfrm>
          <a:prstGeom prst="rect">
            <a:avLst/>
          </a:prstGeom>
        </p:spPr>
      </p:pic>
      <p:sp>
        <p:nvSpPr>
          <p:cNvPr id="71" name="Text 53"/>
          <p:cNvSpPr txBox="1"/>
          <p:nvPr/>
        </p:nvSpPr>
        <p:spPr>
          <a:xfrm>
            <a:off x="9464040" y="4992624"/>
            <a:ext cx="19019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Reportes y dashboards</a:t>
            </a:r>
            <a:endParaRPr lang="en-US" sz="1050" dirty="0"/>
          </a:p>
        </p:txBody>
      </p:sp>
      <p:sp>
        <p:nvSpPr>
          <p:cNvPr id="72" name="Shape 54"/>
          <p:cNvSpPr/>
          <p:nvPr/>
        </p:nvSpPr>
        <p:spPr>
          <a:xfrm>
            <a:off x="9171432" y="5623560"/>
            <a:ext cx="685800" cy="256032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73" name="Text 55"/>
          <p:cNvSpPr txBox="1"/>
          <p:nvPr/>
        </p:nvSpPr>
        <p:spPr>
          <a:xfrm>
            <a:off x="9171432" y="5623560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RF01.6</a:t>
            </a:r>
            <a:endParaRPr lang="en-US" sz="850" dirty="0"/>
          </a:p>
        </p:txBody>
      </p:sp>
      <p:sp>
        <p:nvSpPr>
          <p:cNvPr id="74" name="Shape 56"/>
          <p:cNvSpPr/>
          <p:nvPr/>
        </p:nvSpPr>
        <p:spPr>
          <a:xfrm>
            <a:off x="9930384" y="5623560"/>
            <a:ext cx="548640" cy="256032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75" name="Text 57"/>
          <p:cNvSpPr txBox="1"/>
          <p:nvPr/>
        </p:nvSpPr>
        <p:spPr>
          <a:xfrm>
            <a:off x="9930384" y="562356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RD17</a:t>
            </a:r>
            <a:endParaRPr lang="en-US" sz="850" dirty="0"/>
          </a:p>
        </p:txBody>
      </p:sp>
      <p:sp>
        <p:nvSpPr>
          <p:cNvPr id="76" name="Text 58"/>
          <p:cNvSpPr txBox="1"/>
          <p:nvPr/>
        </p:nvSpPr>
        <p:spPr>
          <a:xfrm>
            <a:off x="548640" y="641908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9AAAB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VIDA SUBMARINA · SISEP</a:t>
            </a:r>
            <a:endParaRPr lang="en-US" sz="750" dirty="0"/>
          </a:p>
        </p:txBody>
      </p:sp>
      <p:sp>
        <p:nvSpPr>
          <p:cNvPr id="77" name="Text 59"/>
          <p:cNvSpPr txBox="1"/>
          <p:nvPr/>
        </p:nvSpPr>
        <p:spPr>
          <a:xfrm>
            <a:off x="11091672" y="641908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3456432" cy="274320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3456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CAPÍTULO 5 · PLANIFICACIÓN DE SPRINTS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Dos sprints, dos incrementos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11064240" cy="475488"/>
          </a:xfrm>
          <a:prstGeom prst="roundRect">
            <a:avLst>
              <a:gd name="adj" fmla="val 50000"/>
            </a:avLst>
          </a:prstGeom>
          <a:solidFill>
            <a:srgbClr val="EEF6F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45920"/>
            <a:ext cx="5486400" cy="475488"/>
          </a:xfrm>
          <a:prstGeom prst="roundRect">
            <a:avLst>
              <a:gd name="adj" fmla="val 50000"/>
            </a:avLst>
          </a:prstGeom>
          <a:solidFill>
            <a:srgbClr val="0F4C6B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0" y="1645920"/>
            <a:ext cx="5486400" cy="475488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64592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SPRINT 1  ·  2 SEMANAS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126480" y="164592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SPRINT 2  ·  2 SEMANAS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377440"/>
            <a:ext cx="5486400" cy="3749040"/>
          </a:xfrm>
          <a:prstGeom prst="roundRect">
            <a:avLst>
              <a:gd name="adj" fmla="val 3415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25603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Sprint 1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25603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F4C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 HU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822960" y="3145536"/>
            <a:ext cx="4937760" cy="0"/>
          </a:xfrm>
          <a:prstGeom prst="line">
            <a:avLst/>
          </a:prstGeom>
          <a:noFill/>
          <a:ln w="9525">
            <a:solidFill>
              <a:srgbClr val="D5E3E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20040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0F4C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OBJETIVO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2194560" y="32004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Implementar la gestión de flota pesquera y las actividades pesqueras.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22960" y="3712464"/>
            <a:ext cx="4937760" cy="0"/>
          </a:xfrm>
          <a:prstGeom prst="line">
            <a:avLst/>
          </a:prstGeom>
          <a:noFill/>
          <a:ln w="9525">
            <a:solidFill>
              <a:srgbClr val="D5E3E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3767328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0F4C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HISTORIAS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2194560" y="376732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HU01 a HU06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22960" y="4279392"/>
            <a:ext cx="4937760" cy="0"/>
          </a:xfrm>
          <a:prstGeom prst="line">
            <a:avLst/>
          </a:prstGeom>
          <a:noFill/>
          <a:ln w="9525">
            <a:solidFill>
              <a:srgbClr val="D5E3E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" y="4334256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0F4C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ÉPICAS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2194560" y="4334256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Gestión de flota pesquera · Actividades pesqueras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22960" y="4846320"/>
            <a:ext cx="4937760" cy="0"/>
          </a:xfrm>
          <a:prstGeom prst="line">
            <a:avLst/>
          </a:prstGeom>
          <a:noFill/>
          <a:ln w="9525">
            <a:solidFill>
              <a:srgbClr val="D5E3E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2960" y="4901184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0F4C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HERRAMIENTA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2194560" y="4901184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Jira para la gestión de tareas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22960" y="5413248"/>
            <a:ext cx="4937760" cy="0"/>
          </a:xfrm>
          <a:prstGeom prst="line">
            <a:avLst/>
          </a:prstGeom>
          <a:noFill/>
          <a:ln w="9525">
            <a:solidFill>
              <a:srgbClr val="D5E3E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22960" y="5468112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0F4C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INCREMENTO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2194560" y="5468112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Módulos de flota y de actividades pesqueras operativos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126480" y="2377440"/>
            <a:ext cx="5486400" cy="3749040"/>
          </a:xfrm>
          <a:prstGeom prst="roundRect">
            <a:avLst>
              <a:gd name="adj" fmla="val 3415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6400800" y="25603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Sprint 2</a:t>
            </a:r>
            <a:endParaRPr lang="en-US" sz="2000" dirty="0"/>
          </a:p>
        </p:txBody>
      </p:sp>
      <p:sp>
        <p:nvSpPr>
          <p:cNvPr id="30" name="Text 28"/>
          <p:cNvSpPr txBox="1"/>
          <p:nvPr/>
        </p:nvSpPr>
        <p:spPr>
          <a:xfrm>
            <a:off x="9966960" y="25603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 HU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6400800" y="3145536"/>
            <a:ext cx="4937760" cy="0"/>
          </a:xfrm>
          <a:prstGeom prst="line">
            <a:avLst/>
          </a:prstGeom>
          <a:noFill/>
          <a:ln w="9525">
            <a:solidFill>
              <a:srgbClr val="D5E3E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400800" y="320040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 txBox="1"/>
          <p:nvPr/>
        </p:nvSpPr>
        <p:spPr>
          <a:xfrm>
            <a:off x="7772400" y="32004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Desarrollar la gestión normativa, la inteligencia pesquera y medioambiental.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400800" y="3712464"/>
            <a:ext cx="4937760" cy="0"/>
          </a:xfrm>
          <a:prstGeom prst="line">
            <a:avLst/>
          </a:prstGeom>
          <a:noFill/>
          <a:ln w="9525">
            <a:solidFill>
              <a:srgbClr val="D5E3E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400800" y="3767328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HISTORIAS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7772400" y="376732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HU07 a HU15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400800" y="4279392"/>
            <a:ext cx="4937760" cy="0"/>
          </a:xfrm>
          <a:prstGeom prst="line">
            <a:avLst/>
          </a:prstGeom>
          <a:noFill/>
          <a:ln w="9525">
            <a:solidFill>
              <a:srgbClr val="D5E3E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400800" y="4334256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ÉPICAS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7772400" y="4334256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Gestión normativa · Inteligencia pesquera y medioambiental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6400800" y="4846320"/>
            <a:ext cx="4937760" cy="0"/>
          </a:xfrm>
          <a:prstGeom prst="line">
            <a:avLst/>
          </a:prstGeom>
          <a:noFill/>
          <a:ln w="9525">
            <a:solidFill>
              <a:srgbClr val="D5E3E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400800" y="4901184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HERRAMIENTA</a:t>
            </a:r>
            <a:endParaRPr lang="en-US" sz="850" dirty="0"/>
          </a:p>
        </p:txBody>
      </p:sp>
      <p:sp>
        <p:nvSpPr>
          <p:cNvPr id="42" name="Text 40"/>
          <p:cNvSpPr txBox="1"/>
          <p:nvPr/>
        </p:nvSpPr>
        <p:spPr>
          <a:xfrm>
            <a:off x="7772400" y="4901184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Jira para la gestión de tareas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6400800" y="5413248"/>
            <a:ext cx="4937760" cy="0"/>
          </a:xfrm>
          <a:prstGeom prst="line">
            <a:avLst/>
          </a:prstGeom>
          <a:noFill/>
          <a:ln w="9525">
            <a:solidFill>
              <a:srgbClr val="D5E3E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400800" y="5468112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INCREMENTO</a:t>
            </a:r>
            <a:endParaRPr lang="en-US" sz="850" dirty="0"/>
          </a:p>
        </p:txBody>
      </p:sp>
      <p:sp>
        <p:nvSpPr>
          <p:cNvPr id="45" name="Text 43"/>
          <p:cNvSpPr txBox="1"/>
          <p:nvPr/>
        </p:nvSpPr>
        <p:spPr>
          <a:xfrm>
            <a:off x="7772400" y="5468112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Módulos normativo y de inteligencia pesquera operativos</a:t>
            </a:r>
            <a:endParaRPr lang="en-US" sz="1150" dirty="0"/>
          </a:p>
        </p:txBody>
      </p:sp>
      <p:sp>
        <p:nvSpPr>
          <p:cNvPr id="46" name="Text 44"/>
          <p:cNvSpPr txBox="1"/>
          <p:nvPr/>
        </p:nvSpPr>
        <p:spPr>
          <a:xfrm>
            <a:off x="548640" y="641908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9AAAB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VIDA SUBMARINA · SISEP</a:t>
            </a:r>
            <a:endParaRPr lang="en-US" sz="750" dirty="0"/>
          </a:p>
        </p:txBody>
      </p:sp>
      <p:sp>
        <p:nvSpPr>
          <p:cNvPr id="47" name="Text 45"/>
          <p:cNvSpPr txBox="1"/>
          <p:nvPr/>
        </p:nvSpPr>
        <p:spPr>
          <a:xfrm>
            <a:off x="11091672" y="641908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3374136" cy="274320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3374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CAPÍTULO 5 · HERRAMIENTAS UTILIZADAS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Nuestras herramientas de trabajo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572768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0B2A4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157276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· PLANIFICAR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788920" y="1572768"/>
            <a:ext cx="4343400" cy="310896"/>
          </a:xfrm>
          <a:prstGeom prst="roundRect">
            <a:avLst>
              <a:gd name="adj" fmla="val 50000"/>
            </a:avLst>
          </a:prstGeom>
          <a:solidFill>
            <a:srgbClr val="0B2A4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788920" y="1572768"/>
            <a:ext cx="4343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· MODELAR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269480" y="1572768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0B2A4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269480" y="157276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· VERSIONAR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509760" y="1572768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0B2A4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509760" y="157276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· PRESENTAR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48640" y="2103120"/>
            <a:ext cx="2103120" cy="342900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77240" y="2377440"/>
            <a:ext cx="731520" cy="731520"/>
          </a:xfrm>
          <a:prstGeom prst="ellipse">
            <a:avLst/>
          </a:prstGeom>
          <a:solidFill>
            <a:srgbClr val="2EC4C9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805" y="2553005"/>
            <a:ext cx="380390" cy="38039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777240" y="3291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Jira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777240" y="373075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GESTIÓN ÁGIL</a:t>
            </a:r>
            <a:endParaRPr lang="en-US" sz="800" dirty="0"/>
          </a:p>
        </p:txBody>
      </p:sp>
      <p:sp>
        <p:nvSpPr>
          <p:cNvPr id="18" name="Text 15"/>
          <p:cNvSpPr txBox="1"/>
          <p:nvPr/>
        </p:nvSpPr>
        <p:spPr>
          <a:xfrm>
            <a:off x="777240" y="4041648"/>
            <a:ext cx="1691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Product Backlog con épicas e historias HU01–HU15, planificación de los sprints y seguimiento de tareas.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777240" y="5074920"/>
            <a:ext cx="735178" cy="256032"/>
          </a:xfrm>
          <a:prstGeom prst="roundRect">
            <a:avLst>
              <a:gd name="adj" fmla="val 50000"/>
            </a:avLst>
          </a:prstGeom>
          <a:solidFill>
            <a:srgbClr val="EEF6F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77240" y="5074920"/>
            <a:ext cx="73517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4C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Backlog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1585570" y="5074920"/>
            <a:ext cx="735178" cy="256032"/>
          </a:xfrm>
          <a:prstGeom prst="roundRect">
            <a:avLst>
              <a:gd name="adj" fmla="val 50000"/>
            </a:avLst>
          </a:prstGeom>
          <a:solidFill>
            <a:srgbClr val="EEF6F8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1585570" y="5074920"/>
            <a:ext cx="73517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4C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Sprints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2788920" y="2103120"/>
            <a:ext cx="2103120" cy="342900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3017520" y="2377440"/>
            <a:ext cx="731520" cy="731520"/>
          </a:xfrm>
          <a:prstGeom prst="ellipse">
            <a:avLst/>
          </a:prstGeom>
          <a:solidFill>
            <a:srgbClr val="E3F4F6"/>
          </a:solidFill>
          <a:ln/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3085" y="2553005"/>
            <a:ext cx="380390" cy="380390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3017520" y="3291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Draw.io</a:t>
            </a:r>
            <a:endParaRPr lang="en-US" sz="1700" dirty="0"/>
          </a:p>
        </p:txBody>
      </p:sp>
      <p:sp>
        <p:nvSpPr>
          <p:cNvPr id="27" name="Text 23"/>
          <p:cNvSpPr txBox="1"/>
          <p:nvPr/>
        </p:nvSpPr>
        <p:spPr>
          <a:xfrm>
            <a:off x="3017520" y="373075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MODELADO UML</a:t>
            </a:r>
            <a:endParaRPr lang="en-US" sz="800" dirty="0"/>
          </a:p>
        </p:txBody>
      </p:sp>
      <p:sp>
        <p:nvSpPr>
          <p:cNvPr id="28" name="Text 24"/>
          <p:cNvSpPr txBox="1"/>
          <p:nvPr/>
        </p:nvSpPr>
        <p:spPr>
          <a:xfrm>
            <a:off x="3017520" y="4041648"/>
            <a:ext cx="1691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Diagramas de contexto, casos de uso, actividad, clases y secuencia del sistema.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3017520" y="5074920"/>
            <a:ext cx="471830" cy="256032"/>
          </a:xfrm>
          <a:prstGeom prst="roundRect">
            <a:avLst>
              <a:gd name="adj" fmla="val 50000"/>
            </a:avLst>
          </a:prstGeom>
          <a:solidFill>
            <a:srgbClr val="EEF6F8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3017520" y="5074920"/>
            <a:ext cx="4718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4C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UML</a:t>
            </a:r>
            <a:endParaRPr lang="en-US" sz="800" dirty="0"/>
          </a:p>
        </p:txBody>
      </p:sp>
      <p:sp>
        <p:nvSpPr>
          <p:cNvPr id="31" name="Shape 27"/>
          <p:cNvSpPr/>
          <p:nvPr/>
        </p:nvSpPr>
        <p:spPr>
          <a:xfrm>
            <a:off x="3562502" y="5074920"/>
            <a:ext cx="866851" cy="256032"/>
          </a:xfrm>
          <a:prstGeom prst="roundRect">
            <a:avLst>
              <a:gd name="adj" fmla="val 50000"/>
            </a:avLst>
          </a:prstGeom>
          <a:solidFill>
            <a:srgbClr val="EEF6F8"/>
          </a:solidFill>
          <a:ln/>
        </p:spPr>
      </p:sp>
      <p:sp>
        <p:nvSpPr>
          <p:cNvPr id="32" name="Text 28"/>
          <p:cNvSpPr txBox="1"/>
          <p:nvPr/>
        </p:nvSpPr>
        <p:spPr>
          <a:xfrm>
            <a:off x="3562502" y="5074920"/>
            <a:ext cx="86685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4C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Diagramas</a:t>
            </a:r>
            <a:endParaRPr lang="en-US" sz="800" dirty="0"/>
          </a:p>
        </p:txBody>
      </p:sp>
      <p:sp>
        <p:nvSpPr>
          <p:cNvPr id="33" name="Shape 29"/>
          <p:cNvSpPr/>
          <p:nvPr/>
        </p:nvSpPr>
        <p:spPr>
          <a:xfrm>
            <a:off x="5029200" y="2103120"/>
            <a:ext cx="2103120" cy="342900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34" name="Shape 30"/>
          <p:cNvSpPr/>
          <p:nvPr/>
        </p:nvSpPr>
        <p:spPr>
          <a:xfrm>
            <a:off x="5257800" y="2377440"/>
            <a:ext cx="731520" cy="731520"/>
          </a:xfrm>
          <a:prstGeom prst="ellipse">
            <a:avLst/>
          </a:prstGeom>
          <a:solidFill>
            <a:srgbClr val="E3F4F6"/>
          </a:solidFill>
          <a:ln/>
        </p:spPr>
      </p:sp>
      <p:pic>
        <p:nvPicPr>
          <p:cNvPr id="3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33365" y="2553005"/>
            <a:ext cx="380390" cy="380390"/>
          </a:xfrm>
          <a:prstGeom prst="rect">
            <a:avLst/>
          </a:prstGeom>
        </p:spPr>
      </p:pic>
      <p:sp>
        <p:nvSpPr>
          <p:cNvPr id="36" name="Text 31"/>
          <p:cNvSpPr txBox="1"/>
          <p:nvPr/>
        </p:nvSpPr>
        <p:spPr>
          <a:xfrm>
            <a:off x="5257800" y="3291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dbdiagram.io</a:t>
            </a:r>
            <a:endParaRPr lang="en-US" sz="1700" dirty="0"/>
          </a:p>
        </p:txBody>
      </p:sp>
      <p:sp>
        <p:nvSpPr>
          <p:cNvPr id="37" name="Text 32"/>
          <p:cNvSpPr txBox="1"/>
          <p:nvPr/>
        </p:nvSpPr>
        <p:spPr>
          <a:xfrm>
            <a:off x="5257800" y="373075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MODELO DE DATOS</a:t>
            </a:r>
            <a:endParaRPr lang="en-US" sz="800" dirty="0"/>
          </a:p>
        </p:txBody>
      </p:sp>
      <p:sp>
        <p:nvSpPr>
          <p:cNvPr id="38" name="Text 33"/>
          <p:cNvSpPr txBox="1"/>
          <p:nvPr/>
        </p:nvSpPr>
        <p:spPr>
          <a:xfrm>
            <a:off x="5257800" y="4041648"/>
            <a:ext cx="1691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Entidades, atributos, claves PK/FK y relaciones de la base de datos.</a:t>
            </a:r>
            <a:endParaRPr lang="en-US" sz="1100" dirty="0"/>
          </a:p>
        </p:txBody>
      </p:sp>
      <p:sp>
        <p:nvSpPr>
          <p:cNvPr id="39" name="Shape 34"/>
          <p:cNvSpPr/>
          <p:nvPr/>
        </p:nvSpPr>
        <p:spPr>
          <a:xfrm>
            <a:off x="5257800" y="5074920"/>
            <a:ext cx="471830" cy="256032"/>
          </a:xfrm>
          <a:prstGeom prst="roundRect">
            <a:avLst>
              <a:gd name="adj" fmla="val 50000"/>
            </a:avLst>
          </a:prstGeom>
          <a:solidFill>
            <a:srgbClr val="EEF6F8"/>
          </a:solidFill>
          <a:ln/>
        </p:spPr>
      </p:sp>
      <p:sp>
        <p:nvSpPr>
          <p:cNvPr id="40" name="Text 35"/>
          <p:cNvSpPr txBox="1"/>
          <p:nvPr/>
        </p:nvSpPr>
        <p:spPr>
          <a:xfrm>
            <a:off x="5257800" y="5074920"/>
            <a:ext cx="4718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4C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E-R</a:t>
            </a:r>
            <a:endParaRPr lang="en-US" sz="800" dirty="0"/>
          </a:p>
        </p:txBody>
      </p:sp>
      <p:sp>
        <p:nvSpPr>
          <p:cNvPr id="41" name="Shape 36"/>
          <p:cNvSpPr/>
          <p:nvPr/>
        </p:nvSpPr>
        <p:spPr>
          <a:xfrm>
            <a:off x="5802782" y="5074920"/>
            <a:ext cx="735178" cy="256032"/>
          </a:xfrm>
          <a:prstGeom prst="roundRect">
            <a:avLst>
              <a:gd name="adj" fmla="val 50000"/>
            </a:avLst>
          </a:prstGeom>
          <a:solidFill>
            <a:srgbClr val="EEF6F8"/>
          </a:solidFill>
          <a:ln/>
        </p:spPr>
      </p:sp>
      <p:sp>
        <p:nvSpPr>
          <p:cNvPr id="42" name="Text 37"/>
          <p:cNvSpPr txBox="1"/>
          <p:nvPr/>
        </p:nvSpPr>
        <p:spPr>
          <a:xfrm>
            <a:off x="5802782" y="5074920"/>
            <a:ext cx="73517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4C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PK / FK</a:t>
            </a:r>
            <a:endParaRPr lang="en-US" sz="800" dirty="0"/>
          </a:p>
        </p:txBody>
      </p:sp>
      <p:sp>
        <p:nvSpPr>
          <p:cNvPr id="43" name="Shape 38"/>
          <p:cNvSpPr/>
          <p:nvPr/>
        </p:nvSpPr>
        <p:spPr>
          <a:xfrm>
            <a:off x="7269480" y="2103120"/>
            <a:ext cx="2103120" cy="342900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44" name="Shape 39"/>
          <p:cNvSpPr/>
          <p:nvPr/>
        </p:nvSpPr>
        <p:spPr>
          <a:xfrm>
            <a:off x="7498080" y="2377440"/>
            <a:ext cx="731520" cy="731520"/>
          </a:xfrm>
          <a:prstGeom prst="ellipse">
            <a:avLst/>
          </a:prstGeom>
          <a:solidFill>
            <a:srgbClr val="E3F4F6"/>
          </a:solidFill>
          <a:ln/>
        </p:spPr>
      </p:sp>
      <p:pic>
        <p:nvPicPr>
          <p:cNvPr id="45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73645" y="2553005"/>
            <a:ext cx="380390" cy="380390"/>
          </a:xfrm>
          <a:prstGeom prst="rect">
            <a:avLst/>
          </a:prstGeom>
        </p:spPr>
      </p:pic>
      <p:sp>
        <p:nvSpPr>
          <p:cNvPr id="46" name="Text 40"/>
          <p:cNvSpPr txBox="1"/>
          <p:nvPr/>
        </p:nvSpPr>
        <p:spPr>
          <a:xfrm>
            <a:off x="7498080" y="3291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GitHub</a:t>
            </a:r>
            <a:endParaRPr lang="en-US" sz="1700" dirty="0"/>
          </a:p>
        </p:txBody>
      </p:sp>
      <p:sp>
        <p:nvSpPr>
          <p:cNvPr id="47" name="Text 41"/>
          <p:cNvSpPr txBox="1"/>
          <p:nvPr/>
        </p:nvSpPr>
        <p:spPr>
          <a:xfrm>
            <a:off x="7498080" y="373075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CONTROL DE VERSIONES</a:t>
            </a:r>
            <a:endParaRPr lang="en-US" sz="800" dirty="0"/>
          </a:p>
        </p:txBody>
      </p:sp>
      <p:sp>
        <p:nvSpPr>
          <p:cNvPr id="48" name="Text 42"/>
          <p:cNvSpPr txBox="1"/>
          <p:nvPr/>
        </p:nvSpPr>
        <p:spPr>
          <a:xfrm>
            <a:off x="7498080" y="4041648"/>
            <a:ext cx="1691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Repositorio con el nombre del proyecto: versiones, commits y trabajo colaborativo.</a:t>
            </a:r>
            <a:endParaRPr lang="en-US" sz="1100" dirty="0"/>
          </a:p>
        </p:txBody>
      </p:sp>
      <p:sp>
        <p:nvSpPr>
          <p:cNvPr id="49" name="Shape 43"/>
          <p:cNvSpPr/>
          <p:nvPr/>
        </p:nvSpPr>
        <p:spPr>
          <a:xfrm>
            <a:off x="7498080" y="5074920"/>
            <a:ext cx="998525" cy="256032"/>
          </a:xfrm>
          <a:prstGeom prst="roundRect">
            <a:avLst>
              <a:gd name="adj" fmla="val 50000"/>
            </a:avLst>
          </a:prstGeom>
          <a:solidFill>
            <a:srgbClr val="EEF6F8"/>
          </a:solidFill>
          <a:ln/>
        </p:spPr>
      </p:sp>
      <p:sp>
        <p:nvSpPr>
          <p:cNvPr id="50" name="Text 44"/>
          <p:cNvSpPr txBox="1"/>
          <p:nvPr/>
        </p:nvSpPr>
        <p:spPr>
          <a:xfrm>
            <a:off x="7498080" y="5074920"/>
            <a:ext cx="99852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4C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Repositorio</a:t>
            </a:r>
            <a:endParaRPr lang="en-US" sz="800" dirty="0"/>
          </a:p>
        </p:txBody>
      </p:sp>
      <p:sp>
        <p:nvSpPr>
          <p:cNvPr id="51" name="Shape 45"/>
          <p:cNvSpPr/>
          <p:nvPr/>
        </p:nvSpPr>
        <p:spPr>
          <a:xfrm>
            <a:off x="8569757" y="5074920"/>
            <a:ext cx="735178" cy="256032"/>
          </a:xfrm>
          <a:prstGeom prst="roundRect">
            <a:avLst>
              <a:gd name="adj" fmla="val 50000"/>
            </a:avLst>
          </a:prstGeom>
          <a:solidFill>
            <a:srgbClr val="EEF6F8"/>
          </a:solidFill>
          <a:ln/>
        </p:spPr>
      </p:sp>
      <p:sp>
        <p:nvSpPr>
          <p:cNvPr id="52" name="Text 46"/>
          <p:cNvSpPr txBox="1"/>
          <p:nvPr/>
        </p:nvSpPr>
        <p:spPr>
          <a:xfrm>
            <a:off x="8569757" y="5074920"/>
            <a:ext cx="73517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4C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Commits</a:t>
            </a:r>
            <a:endParaRPr lang="en-US" sz="800" dirty="0"/>
          </a:p>
        </p:txBody>
      </p:sp>
      <p:sp>
        <p:nvSpPr>
          <p:cNvPr id="53" name="Shape 47"/>
          <p:cNvSpPr/>
          <p:nvPr/>
        </p:nvSpPr>
        <p:spPr>
          <a:xfrm>
            <a:off x="9509760" y="2103120"/>
            <a:ext cx="2103120" cy="342900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54" name="Shape 48"/>
          <p:cNvSpPr/>
          <p:nvPr/>
        </p:nvSpPr>
        <p:spPr>
          <a:xfrm>
            <a:off x="9738360" y="2377440"/>
            <a:ext cx="731520" cy="731520"/>
          </a:xfrm>
          <a:prstGeom prst="ellipse">
            <a:avLst/>
          </a:prstGeom>
          <a:solidFill>
            <a:srgbClr val="E3F4F6"/>
          </a:solidFill>
          <a:ln/>
        </p:spPr>
      </p:sp>
      <p:pic>
        <p:nvPicPr>
          <p:cNvPr id="55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13925" y="2553005"/>
            <a:ext cx="380390" cy="380390"/>
          </a:xfrm>
          <a:prstGeom prst="rect">
            <a:avLst/>
          </a:prstGeom>
        </p:spPr>
      </p:pic>
      <p:sp>
        <p:nvSpPr>
          <p:cNvPr id="56" name="Text 49"/>
          <p:cNvSpPr txBox="1"/>
          <p:nvPr/>
        </p:nvSpPr>
        <p:spPr>
          <a:xfrm>
            <a:off x="9738360" y="3291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Canva</a:t>
            </a:r>
            <a:endParaRPr lang="en-US" sz="1700" dirty="0"/>
          </a:p>
        </p:txBody>
      </p:sp>
      <p:sp>
        <p:nvSpPr>
          <p:cNvPr id="57" name="Text 50"/>
          <p:cNvSpPr txBox="1"/>
          <p:nvPr/>
        </p:nvSpPr>
        <p:spPr>
          <a:xfrm>
            <a:off x="9738360" y="373075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DISEÑO</a:t>
            </a:r>
            <a:endParaRPr lang="en-US" sz="800" dirty="0"/>
          </a:p>
        </p:txBody>
      </p:sp>
      <p:sp>
        <p:nvSpPr>
          <p:cNvPr id="58" name="Text 51"/>
          <p:cNvSpPr txBox="1"/>
          <p:nvPr/>
        </p:nvSpPr>
        <p:spPr>
          <a:xfrm>
            <a:off x="9738360" y="4041648"/>
            <a:ext cx="1691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Portada del informe y presentación final del proyecto.</a:t>
            </a:r>
            <a:endParaRPr lang="en-US" sz="1100" dirty="0"/>
          </a:p>
        </p:txBody>
      </p:sp>
      <p:sp>
        <p:nvSpPr>
          <p:cNvPr id="59" name="Shape 52"/>
          <p:cNvSpPr/>
          <p:nvPr/>
        </p:nvSpPr>
        <p:spPr>
          <a:xfrm>
            <a:off x="9738360" y="5074920"/>
            <a:ext cx="735178" cy="256032"/>
          </a:xfrm>
          <a:prstGeom prst="roundRect">
            <a:avLst>
              <a:gd name="adj" fmla="val 50000"/>
            </a:avLst>
          </a:prstGeom>
          <a:solidFill>
            <a:srgbClr val="EEF6F8"/>
          </a:solidFill>
          <a:ln/>
        </p:spPr>
      </p:sp>
      <p:sp>
        <p:nvSpPr>
          <p:cNvPr id="60" name="Text 53"/>
          <p:cNvSpPr txBox="1"/>
          <p:nvPr/>
        </p:nvSpPr>
        <p:spPr>
          <a:xfrm>
            <a:off x="9738360" y="5074920"/>
            <a:ext cx="73517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4C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Portada</a:t>
            </a:r>
            <a:endParaRPr lang="en-US" sz="800" dirty="0"/>
          </a:p>
        </p:txBody>
      </p:sp>
      <p:sp>
        <p:nvSpPr>
          <p:cNvPr id="61" name="Shape 54"/>
          <p:cNvSpPr/>
          <p:nvPr/>
        </p:nvSpPr>
        <p:spPr>
          <a:xfrm>
            <a:off x="10546690" y="5074920"/>
            <a:ext cx="932688" cy="256032"/>
          </a:xfrm>
          <a:prstGeom prst="roundRect">
            <a:avLst>
              <a:gd name="adj" fmla="val 50000"/>
            </a:avLst>
          </a:prstGeom>
          <a:solidFill>
            <a:srgbClr val="EEF6F8"/>
          </a:solidFill>
          <a:ln/>
        </p:spPr>
      </p:sp>
      <p:sp>
        <p:nvSpPr>
          <p:cNvPr id="62" name="Text 55"/>
          <p:cNvSpPr txBox="1"/>
          <p:nvPr/>
        </p:nvSpPr>
        <p:spPr>
          <a:xfrm>
            <a:off x="10546690" y="5074920"/>
            <a:ext cx="932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4C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Exposición</a:t>
            </a:r>
            <a:endParaRPr lang="en-US" sz="800" dirty="0"/>
          </a:p>
        </p:txBody>
      </p:sp>
      <p:sp>
        <p:nvSpPr>
          <p:cNvPr id="63" name="Shape 56"/>
          <p:cNvSpPr/>
          <p:nvPr/>
        </p:nvSpPr>
        <p:spPr>
          <a:xfrm>
            <a:off x="548640" y="5715000"/>
            <a:ext cx="11064240" cy="457200"/>
          </a:xfrm>
          <a:prstGeom prst="roundRect">
            <a:avLst>
              <a:gd name="adj" fmla="val 20000"/>
            </a:avLst>
          </a:prstGeom>
          <a:solidFill>
            <a:srgbClr val="E3F4F6"/>
          </a:solidFill>
          <a:ln/>
        </p:spPr>
      </p:sp>
      <p:sp>
        <p:nvSpPr>
          <p:cNvPr id="64" name="Text 57"/>
          <p:cNvSpPr txBox="1"/>
          <p:nvPr/>
        </p:nvSpPr>
        <p:spPr>
          <a:xfrm>
            <a:off x="777240" y="57150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Flujo de trabajo: </a:t>
            </a:r>
            <a:pPr indent="0" marL="0">
              <a:buNone/>
            </a:pPr>
            <a:r>
              <a:rPr lang="en-US" sz="12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planificamos en Jira → modelamos en Draw.io y dbdiagram.io → versionamos en GitHub → presentamos en Canva.</a:t>
            </a:r>
            <a:endParaRPr lang="en-US" sz="1200" dirty="0"/>
          </a:p>
        </p:txBody>
      </p:sp>
      <p:sp>
        <p:nvSpPr>
          <p:cNvPr id="65" name="Text 58"/>
          <p:cNvSpPr txBox="1"/>
          <p:nvPr/>
        </p:nvSpPr>
        <p:spPr>
          <a:xfrm>
            <a:off x="548640" y="641908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9AAAB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VIDA SUBMARINA · SISEP</a:t>
            </a:r>
            <a:endParaRPr lang="en-US" sz="750" dirty="0"/>
          </a:p>
        </p:txBody>
      </p:sp>
      <p:sp>
        <p:nvSpPr>
          <p:cNvPr id="66" name="Text 59"/>
          <p:cNvSpPr txBox="1"/>
          <p:nvPr/>
        </p:nvSpPr>
        <p:spPr>
          <a:xfrm>
            <a:off x="11091672" y="641908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3785616" cy="274320"/>
          </a:xfrm>
          <a:prstGeom prst="roundRect">
            <a:avLst>
              <a:gd name="adj" fmla="val 50000"/>
            </a:avLst>
          </a:prstGeom>
          <a:solidFill>
            <a:srgbClr val="123E5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3785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A8ECE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CAPÍTULO 5 · GESTIÓN DEL PROYECTO EN JIRA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Así organizamos el trabajo en Jira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394960" cy="822960"/>
          </a:xfrm>
          <a:prstGeom prst="roundRect">
            <a:avLst>
              <a:gd name="adj" fmla="val 13333"/>
            </a:avLst>
          </a:prstGeom>
          <a:solidFill>
            <a:srgbClr val="0E3453">
              <a:alpha val="95000"/>
            </a:srgbClr>
          </a:solidFill>
          <a:ln w="9525">
            <a:solidFill>
              <a:srgbClr val="24617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13232" y="1847088"/>
            <a:ext cx="512064" cy="512064"/>
          </a:xfrm>
          <a:prstGeom prst="ellipse">
            <a:avLst/>
          </a:prstGeom>
          <a:solidFill>
            <a:srgbClr val="164867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127" y="1969983"/>
            <a:ext cx="266273" cy="266273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71600" y="1801368"/>
            <a:ext cx="3657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Proyecto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1371600" y="21122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DEE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Vida Submarina · SISEP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5074920" y="1691640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2EC4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969264" y="2514600"/>
            <a:ext cx="0" cy="667512"/>
          </a:xfrm>
          <a:prstGeom prst="line">
            <a:avLst/>
          </a:prstGeom>
          <a:noFill/>
          <a:ln w="15875">
            <a:solidFill>
              <a:srgbClr val="2EC4C9">
                <a:alpha val="7000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69264" y="3182112"/>
            <a:ext cx="36576" cy="0"/>
          </a:xfrm>
          <a:prstGeom prst="line">
            <a:avLst/>
          </a:prstGeom>
          <a:noFill/>
          <a:ln w="15875">
            <a:solidFill>
              <a:srgbClr val="2EC4C9">
                <a:alpha val="70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005840" y="2770632"/>
            <a:ext cx="4937760" cy="822960"/>
          </a:xfrm>
          <a:prstGeom prst="roundRect">
            <a:avLst>
              <a:gd name="adj" fmla="val 13333"/>
            </a:avLst>
          </a:prstGeom>
          <a:solidFill>
            <a:srgbClr val="0E3453">
              <a:alpha val="95000"/>
            </a:srgbClr>
          </a:solidFill>
          <a:ln w="9525">
            <a:solidFill>
              <a:srgbClr val="24617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170432" y="2926080"/>
            <a:ext cx="512064" cy="512064"/>
          </a:xfrm>
          <a:prstGeom prst="ellipse">
            <a:avLst/>
          </a:prstGeom>
          <a:solidFill>
            <a:srgbClr val="164867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3327" y="3048975"/>
            <a:ext cx="266273" cy="266273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828800" y="2880360"/>
            <a:ext cx="3200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Épicas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1828800" y="319125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DEE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Flota · Actividades · Normativa · Inteligencia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5074920" y="2770632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2EC4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2400" dirty="0"/>
          </a:p>
        </p:txBody>
      </p:sp>
      <p:sp>
        <p:nvSpPr>
          <p:cNvPr id="19" name="Shape 15"/>
          <p:cNvSpPr/>
          <p:nvPr/>
        </p:nvSpPr>
        <p:spPr>
          <a:xfrm>
            <a:off x="1426464" y="3593592"/>
            <a:ext cx="0" cy="667512"/>
          </a:xfrm>
          <a:prstGeom prst="line">
            <a:avLst/>
          </a:prstGeom>
          <a:noFill/>
          <a:ln w="15875">
            <a:solidFill>
              <a:srgbClr val="2EC4C9">
                <a:alpha val="70000"/>
              </a:srgbClr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1426464" y="4261104"/>
            <a:ext cx="36576" cy="0"/>
          </a:xfrm>
          <a:prstGeom prst="line">
            <a:avLst/>
          </a:prstGeom>
          <a:noFill/>
          <a:ln w="15875">
            <a:solidFill>
              <a:srgbClr val="2EC4C9">
                <a:alpha val="70000"/>
              </a:srgbClr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1463040" y="3849624"/>
            <a:ext cx="4480560" cy="822960"/>
          </a:xfrm>
          <a:prstGeom prst="roundRect">
            <a:avLst>
              <a:gd name="adj" fmla="val 13333"/>
            </a:avLst>
          </a:prstGeom>
          <a:solidFill>
            <a:srgbClr val="0E3453">
              <a:alpha val="95000"/>
            </a:srgbClr>
          </a:solidFill>
          <a:ln w="9525">
            <a:solidFill>
              <a:srgbClr val="24617E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1627632" y="4005072"/>
            <a:ext cx="512064" cy="512064"/>
          </a:xfrm>
          <a:prstGeom prst="ellipse">
            <a:avLst/>
          </a:prstGeom>
          <a:solidFill>
            <a:srgbClr val="2EC4C9"/>
          </a:solidFill>
          <a:ln/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0527" y="4127967"/>
            <a:ext cx="266273" cy="266273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2286000" y="3959352"/>
            <a:ext cx="27432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Historias de usuario</a:t>
            </a:r>
            <a:endParaRPr lang="en-US" sz="1300" dirty="0"/>
          </a:p>
        </p:txBody>
      </p:sp>
      <p:sp>
        <p:nvSpPr>
          <p:cNvPr id="25" name="Text 20"/>
          <p:cNvSpPr txBox="1"/>
          <p:nvPr/>
        </p:nvSpPr>
        <p:spPr>
          <a:xfrm>
            <a:off x="2286000" y="42702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DEE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HU01 – HU15, repartidas en 2 sprints</a:t>
            </a:r>
            <a:endParaRPr lang="en-US" sz="1050" dirty="0"/>
          </a:p>
        </p:txBody>
      </p:sp>
      <p:sp>
        <p:nvSpPr>
          <p:cNvPr id="26" name="Text 21"/>
          <p:cNvSpPr txBox="1"/>
          <p:nvPr/>
        </p:nvSpPr>
        <p:spPr>
          <a:xfrm>
            <a:off x="5074920" y="3849624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2EC4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</a:t>
            </a:r>
            <a:endParaRPr lang="en-US" sz="2400" dirty="0"/>
          </a:p>
        </p:txBody>
      </p:sp>
      <p:sp>
        <p:nvSpPr>
          <p:cNvPr id="27" name="Shape 22"/>
          <p:cNvSpPr/>
          <p:nvPr/>
        </p:nvSpPr>
        <p:spPr>
          <a:xfrm>
            <a:off x="1883664" y="4672584"/>
            <a:ext cx="0" cy="667512"/>
          </a:xfrm>
          <a:prstGeom prst="line">
            <a:avLst/>
          </a:prstGeom>
          <a:noFill/>
          <a:ln w="15875">
            <a:solidFill>
              <a:srgbClr val="2EC4C9">
                <a:alpha val="70000"/>
              </a:srgbClr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1883664" y="5340096"/>
            <a:ext cx="36576" cy="0"/>
          </a:xfrm>
          <a:prstGeom prst="line">
            <a:avLst/>
          </a:prstGeom>
          <a:noFill/>
          <a:ln w="15875">
            <a:solidFill>
              <a:srgbClr val="2EC4C9">
                <a:alpha val="70000"/>
              </a:srgbClr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1920240" y="4928616"/>
            <a:ext cx="4023360" cy="822960"/>
          </a:xfrm>
          <a:prstGeom prst="roundRect">
            <a:avLst>
              <a:gd name="adj" fmla="val 13333"/>
            </a:avLst>
          </a:prstGeom>
          <a:solidFill>
            <a:srgbClr val="0E3453">
              <a:alpha val="95000"/>
            </a:srgbClr>
          </a:solidFill>
          <a:ln w="9525">
            <a:solidFill>
              <a:srgbClr val="24617E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2084832" y="5084064"/>
            <a:ext cx="512064" cy="512064"/>
          </a:xfrm>
          <a:prstGeom prst="ellipse">
            <a:avLst/>
          </a:prstGeom>
          <a:solidFill>
            <a:srgbClr val="164867"/>
          </a:solidFill>
          <a:ln/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07727" y="5206959"/>
            <a:ext cx="266273" cy="266273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2743200" y="5038344"/>
            <a:ext cx="2286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Tareas</a:t>
            </a:r>
            <a:endParaRPr lang="en-US" sz="1300" dirty="0"/>
          </a:p>
        </p:txBody>
      </p:sp>
      <p:sp>
        <p:nvSpPr>
          <p:cNvPr id="33" name="Text 27"/>
          <p:cNvSpPr txBox="1"/>
          <p:nvPr/>
        </p:nvSpPr>
        <p:spPr>
          <a:xfrm>
            <a:off x="2743200" y="53492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DEE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Trabajo concreto para completar cada historia</a:t>
            </a:r>
            <a:endParaRPr lang="en-US" sz="1050" dirty="0"/>
          </a:p>
        </p:txBody>
      </p:sp>
      <p:sp>
        <p:nvSpPr>
          <p:cNvPr id="34" name="Text 28"/>
          <p:cNvSpPr txBox="1"/>
          <p:nvPr/>
        </p:nvSpPr>
        <p:spPr>
          <a:xfrm>
            <a:off x="5074920" y="4928616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2EC4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2400" dirty="0"/>
          </a:p>
        </p:txBody>
      </p:sp>
      <p:sp>
        <p:nvSpPr>
          <p:cNvPr id="35" name="Text 29"/>
          <p:cNvSpPr txBox="1"/>
          <p:nvPr/>
        </p:nvSpPr>
        <p:spPr>
          <a:xfrm>
            <a:off x="6400800" y="1691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2EC4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TABLERO DEL SPRINT</a:t>
            </a:r>
            <a:endParaRPr lang="en-US" sz="900" dirty="0"/>
          </a:p>
        </p:txBody>
      </p:sp>
      <p:sp>
        <p:nvSpPr>
          <p:cNvPr id="36" name="Shape 30"/>
          <p:cNvSpPr/>
          <p:nvPr/>
        </p:nvSpPr>
        <p:spPr>
          <a:xfrm>
            <a:off x="6400800" y="2057400"/>
            <a:ext cx="1645920" cy="2926080"/>
          </a:xfrm>
          <a:prstGeom prst="roundRect">
            <a:avLst>
              <a:gd name="adj" fmla="val 6667"/>
            </a:avLst>
          </a:prstGeom>
          <a:solidFill>
            <a:srgbClr val="0A2640"/>
          </a:solidFill>
          <a:ln w="9525">
            <a:solidFill>
              <a:srgbClr val="24617E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6537960" y="213055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 hacer</a:t>
            </a:r>
            <a:endParaRPr lang="en-US" sz="1050" dirty="0"/>
          </a:p>
        </p:txBody>
      </p:sp>
      <p:sp>
        <p:nvSpPr>
          <p:cNvPr id="38" name="Shape 32"/>
          <p:cNvSpPr/>
          <p:nvPr/>
        </p:nvSpPr>
        <p:spPr>
          <a:xfrm>
            <a:off x="6510528" y="2560320"/>
            <a:ext cx="1426464" cy="658368"/>
          </a:xfrm>
          <a:prstGeom prst="roundRect">
            <a:avLst>
              <a:gd name="adj" fmla="val 11111"/>
            </a:avLst>
          </a:prstGeom>
          <a:solidFill>
            <a:srgbClr val="123A5A"/>
          </a:solidFill>
          <a:ln/>
        </p:spPr>
      </p:sp>
      <p:sp>
        <p:nvSpPr>
          <p:cNvPr id="39" name="Shape 33"/>
          <p:cNvSpPr/>
          <p:nvPr/>
        </p:nvSpPr>
        <p:spPr>
          <a:xfrm>
            <a:off x="6629400" y="2688336"/>
            <a:ext cx="1010412" cy="82296"/>
          </a:xfrm>
          <a:prstGeom prst="roundRect">
            <a:avLst>
              <a:gd name="adj" fmla="val 50000"/>
            </a:avLst>
          </a:prstGeom>
          <a:solidFill>
            <a:srgbClr val="4C7A94"/>
          </a:solidFill>
          <a:ln/>
        </p:spPr>
      </p:sp>
      <p:sp>
        <p:nvSpPr>
          <p:cNvPr id="40" name="Shape 34"/>
          <p:cNvSpPr/>
          <p:nvPr/>
        </p:nvSpPr>
        <p:spPr>
          <a:xfrm>
            <a:off x="6629400" y="2852928"/>
            <a:ext cx="653796" cy="82296"/>
          </a:xfrm>
          <a:prstGeom prst="roundRect">
            <a:avLst>
              <a:gd name="adj" fmla="val 50000"/>
            </a:avLst>
          </a:prstGeom>
          <a:solidFill>
            <a:srgbClr val="3A6682"/>
          </a:solidFill>
          <a:ln/>
        </p:spPr>
      </p:sp>
      <p:sp>
        <p:nvSpPr>
          <p:cNvPr id="41" name="Shape 35"/>
          <p:cNvSpPr/>
          <p:nvPr/>
        </p:nvSpPr>
        <p:spPr>
          <a:xfrm>
            <a:off x="6629400" y="3017520"/>
            <a:ext cx="109728" cy="109728"/>
          </a:xfrm>
          <a:prstGeom prst="ellipse">
            <a:avLst/>
          </a:prstGeom>
          <a:solidFill>
            <a:srgbClr val="2EC4C9"/>
          </a:solidFill>
          <a:ln/>
        </p:spPr>
      </p:sp>
      <p:sp>
        <p:nvSpPr>
          <p:cNvPr id="42" name="Shape 36"/>
          <p:cNvSpPr/>
          <p:nvPr/>
        </p:nvSpPr>
        <p:spPr>
          <a:xfrm>
            <a:off x="6510528" y="3337560"/>
            <a:ext cx="1426464" cy="658368"/>
          </a:xfrm>
          <a:prstGeom prst="roundRect">
            <a:avLst>
              <a:gd name="adj" fmla="val 11111"/>
            </a:avLst>
          </a:prstGeom>
          <a:solidFill>
            <a:srgbClr val="123A5A"/>
          </a:solidFill>
          <a:ln/>
        </p:spPr>
      </p:sp>
      <p:sp>
        <p:nvSpPr>
          <p:cNvPr id="43" name="Shape 37"/>
          <p:cNvSpPr/>
          <p:nvPr/>
        </p:nvSpPr>
        <p:spPr>
          <a:xfrm>
            <a:off x="6629400" y="3465576"/>
            <a:ext cx="713232" cy="82296"/>
          </a:xfrm>
          <a:prstGeom prst="roundRect">
            <a:avLst>
              <a:gd name="adj" fmla="val 50000"/>
            </a:avLst>
          </a:prstGeom>
          <a:solidFill>
            <a:srgbClr val="4C7A94"/>
          </a:solidFill>
          <a:ln/>
        </p:spPr>
      </p:sp>
      <p:sp>
        <p:nvSpPr>
          <p:cNvPr id="44" name="Shape 38"/>
          <p:cNvSpPr/>
          <p:nvPr/>
        </p:nvSpPr>
        <p:spPr>
          <a:xfrm>
            <a:off x="6629400" y="3630168"/>
            <a:ext cx="653796" cy="82296"/>
          </a:xfrm>
          <a:prstGeom prst="roundRect">
            <a:avLst>
              <a:gd name="adj" fmla="val 50000"/>
            </a:avLst>
          </a:prstGeom>
          <a:solidFill>
            <a:srgbClr val="3A6682"/>
          </a:solidFill>
          <a:ln/>
        </p:spPr>
      </p:sp>
      <p:sp>
        <p:nvSpPr>
          <p:cNvPr id="45" name="Shape 39"/>
          <p:cNvSpPr/>
          <p:nvPr/>
        </p:nvSpPr>
        <p:spPr>
          <a:xfrm>
            <a:off x="6629400" y="3794760"/>
            <a:ext cx="109728" cy="109728"/>
          </a:xfrm>
          <a:prstGeom prst="ellipse">
            <a:avLst/>
          </a:prstGeom>
          <a:solidFill>
            <a:srgbClr val="A8ECE7"/>
          </a:solidFill>
          <a:ln/>
        </p:spPr>
      </p:sp>
      <p:sp>
        <p:nvSpPr>
          <p:cNvPr id="46" name="Shape 40"/>
          <p:cNvSpPr/>
          <p:nvPr/>
        </p:nvSpPr>
        <p:spPr>
          <a:xfrm>
            <a:off x="6510528" y="4114800"/>
            <a:ext cx="1426464" cy="658368"/>
          </a:xfrm>
          <a:prstGeom prst="roundRect">
            <a:avLst>
              <a:gd name="adj" fmla="val 11111"/>
            </a:avLst>
          </a:prstGeom>
          <a:solidFill>
            <a:srgbClr val="123A5A"/>
          </a:solidFill>
          <a:ln/>
        </p:spPr>
      </p:sp>
      <p:sp>
        <p:nvSpPr>
          <p:cNvPr id="47" name="Shape 41"/>
          <p:cNvSpPr/>
          <p:nvPr/>
        </p:nvSpPr>
        <p:spPr>
          <a:xfrm>
            <a:off x="6629400" y="4242816"/>
            <a:ext cx="1010412" cy="82296"/>
          </a:xfrm>
          <a:prstGeom prst="roundRect">
            <a:avLst>
              <a:gd name="adj" fmla="val 50000"/>
            </a:avLst>
          </a:prstGeom>
          <a:solidFill>
            <a:srgbClr val="4C7A94"/>
          </a:solidFill>
          <a:ln/>
        </p:spPr>
      </p:sp>
      <p:sp>
        <p:nvSpPr>
          <p:cNvPr id="48" name="Shape 42"/>
          <p:cNvSpPr/>
          <p:nvPr/>
        </p:nvSpPr>
        <p:spPr>
          <a:xfrm>
            <a:off x="6629400" y="4407408"/>
            <a:ext cx="653796" cy="82296"/>
          </a:xfrm>
          <a:prstGeom prst="roundRect">
            <a:avLst>
              <a:gd name="adj" fmla="val 50000"/>
            </a:avLst>
          </a:prstGeom>
          <a:solidFill>
            <a:srgbClr val="3A6682"/>
          </a:solidFill>
          <a:ln/>
        </p:spPr>
      </p:sp>
      <p:sp>
        <p:nvSpPr>
          <p:cNvPr id="49" name="Shape 43"/>
          <p:cNvSpPr/>
          <p:nvPr/>
        </p:nvSpPr>
        <p:spPr>
          <a:xfrm>
            <a:off x="6629400" y="4572000"/>
            <a:ext cx="109728" cy="109728"/>
          </a:xfrm>
          <a:prstGeom prst="ellipse">
            <a:avLst/>
          </a:prstGeom>
          <a:solidFill>
            <a:srgbClr val="5FA8D3"/>
          </a:solidFill>
          <a:ln/>
        </p:spPr>
      </p:sp>
      <p:sp>
        <p:nvSpPr>
          <p:cNvPr id="50" name="Shape 44"/>
          <p:cNvSpPr/>
          <p:nvPr/>
        </p:nvSpPr>
        <p:spPr>
          <a:xfrm>
            <a:off x="8051292" y="2286000"/>
            <a:ext cx="82296" cy="0"/>
          </a:xfrm>
          <a:prstGeom prst="line">
            <a:avLst/>
          </a:prstGeom>
          <a:noFill/>
          <a:ln w="12700">
            <a:solidFill>
              <a:srgbClr val="2EC4C9"/>
            </a:solidFill>
            <a:prstDash val="solid"/>
          </a:ln>
        </p:spPr>
      </p:sp>
      <p:sp>
        <p:nvSpPr>
          <p:cNvPr id="51" name="Shape 45"/>
          <p:cNvSpPr/>
          <p:nvPr/>
        </p:nvSpPr>
        <p:spPr>
          <a:xfrm>
            <a:off x="8138160" y="2057400"/>
            <a:ext cx="1645920" cy="2926080"/>
          </a:xfrm>
          <a:prstGeom prst="roundRect">
            <a:avLst>
              <a:gd name="adj" fmla="val 6667"/>
            </a:avLst>
          </a:prstGeom>
          <a:solidFill>
            <a:srgbClr val="0A2640"/>
          </a:solidFill>
          <a:ln w="9525">
            <a:solidFill>
              <a:srgbClr val="24617E"/>
            </a:solidFill>
            <a:prstDash val="solid"/>
          </a:ln>
        </p:spPr>
      </p:sp>
      <p:sp>
        <p:nvSpPr>
          <p:cNvPr id="52" name="Text 46"/>
          <p:cNvSpPr txBox="1"/>
          <p:nvPr/>
        </p:nvSpPr>
        <p:spPr>
          <a:xfrm>
            <a:off x="8275320" y="213055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 curso</a:t>
            </a:r>
            <a:endParaRPr lang="en-US" sz="1050" dirty="0"/>
          </a:p>
        </p:txBody>
      </p:sp>
      <p:sp>
        <p:nvSpPr>
          <p:cNvPr id="53" name="Shape 47"/>
          <p:cNvSpPr/>
          <p:nvPr/>
        </p:nvSpPr>
        <p:spPr>
          <a:xfrm>
            <a:off x="8247888" y="2560320"/>
            <a:ext cx="1426464" cy="658368"/>
          </a:xfrm>
          <a:prstGeom prst="roundRect">
            <a:avLst>
              <a:gd name="adj" fmla="val 11111"/>
            </a:avLst>
          </a:prstGeom>
          <a:solidFill>
            <a:srgbClr val="123A5A"/>
          </a:solidFill>
          <a:ln/>
        </p:spPr>
      </p:sp>
      <p:sp>
        <p:nvSpPr>
          <p:cNvPr id="54" name="Shape 48"/>
          <p:cNvSpPr/>
          <p:nvPr/>
        </p:nvSpPr>
        <p:spPr>
          <a:xfrm>
            <a:off x="8366760" y="2688336"/>
            <a:ext cx="1010412" cy="82296"/>
          </a:xfrm>
          <a:prstGeom prst="roundRect">
            <a:avLst>
              <a:gd name="adj" fmla="val 50000"/>
            </a:avLst>
          </a:prstGeom>
          <a:solidFill>
            <a:srgbClr val="4C7A94"/>
          </a:solidFill>
          <a:ln/>
        </p:spPr>
      </p:sp>
      <p:sp>
        <p:nvSpPr>
          <p:cNvPr id="55" name="Shape 49"/>
          <p:cNvSpPr/>
          <p:nvPr/>
        </p:nvSpPr>
        <p:spPr>
          <a:xfrm>
            <a:off x="8366760" y="2852928"/>
            <a:ext cx="653796" cy="82296"/>
          </a:xfrm>
          <a:prstGeom prst="roundRect">
            <a:avLst>
              <a:gd name="adj" fmla="val 50000"/>
            </a:avLst>
          </a:prstGeom>
          <a:solidFill>
            <a:srgbClr val="3A6682"/>
          </a:solidFill>
          <a:ln/>
        </p:spPr>
      </p:sp>
      <p:sp>
        <p:nvSpPr>
          <p:cNvPr id="56" name="Shape 50"/>
          <p:cNvSpPr/>
          <p:nvPr/>
        </p:nvSpPr>
        <p:spPr>
          <a:xfrm>
            <a:off x="8366760" y="3017520"/>
            <a:ext cx="109728" cy="109728"/>
          </a:xfrm>
          <a:prstGeom prst="ellipse">
            <a:avLst/>
          </a:prstGeom>
          <a:solidFill>
            <a:srgbClr val="A8ECE7"/>
          </a:solidFill>
          <a:ln/>
        </p:spPr>
      </p:sp>
      <p:sp>
        <p:nvSpPr>
          <p:cNvPr id="57" name="Shape 51"/>
          <p:cNvSpPr/>
          <p:nvPr/>
        </p:nvSpPr>
        <p:spPr>
          <a:xfrm>
            <a:off x="8247888" y="3337560"/>
            <a:ext cx="1426464" cy="658368"/>
          </a:xfrm>
          <a:prstGeom prst="roundRect">
            <a:avLst>
              <a:gd name="adj" fmla="val 11111"/>
            </a:avLst>
          </a:prstGeom>
          <a:solidFill>
            <a:srgbClr val="123A5A"/>
          </a:solidFill>
          <a:ln/>
        </p:spPr>
      </p:sp>
      <p:sp>
        <p:nvSpPr>
          <p:cNvPr id="58" name="Shape 52"/>
          <p:cNvSpPr/>
          <p:nvPr/>
        </p:nvSpPr>
        <p:spPr>
          <a:xfrm>
            <a:off x="8366760" y="3465576"/>
            <a:ext cx="713232" cy="82296"/>
          </a:xfrm>
          <a:prstGeom prst="roundRect">
            <a:avLst>
              <a:gd name="adj" fmla="val 50000"/>
            </a:avLst>
          </a:prstGeom>
          <a:solidFill>
            <a:srgbClr val="4C7A94"/>
          </a:solidFill>
          <a:ln/>
        </p:spPr>
      </p:sp>
      <p:sp>
        <p:nvSpPr>
          <p:cNvPr id="59" name="Shape 53"/>
          <p:cNvSpPr/>
          <p:nvPr/>
        </p:nvSpPr>
        <p:spPr>
          <a:xfrm>
            <a:off x="8366760" y="3630168"/>
            <a:ext cx="653796" cy="82296"/>
          </a:xfrm>
          <a:prstGeom prst="roundRect">
            <a:avLst>
              <a:gd name="adj" fmla="val 50000"/>
            </a:avLst>
          </a:prstGeom>
          <a:solidFill>
            <a:srgbClr val="3A6682"/>
          </a:solidFill>
          <a:ln/>
        </p:spPr>
      </p:sp>
      <p:sp>
        <p:nvSpPr>
          <p:cNvPr id="60" name="Shape 54"/>
          <p:cNvSpPr/>
          <p:nvPr/>
        </p:nvSpPr>
        <p:spPr>
          <a:xfrm>
            <a:off x="8366760" y="3794760"/>
            <a:ext cx="109728" cy="109728"/>
          </a:xfrm>
          <a:prstGeom prst="ellipse">
            <a:avLst/>
          </a:prstGeom>
          <a:solidFill>
            <a:srgbClr val="5FA8D3"/>
          </a:solidFill>
          <a:ln/>
        </p:spPr>
      </p:sp>
      <p:sp>
        <p:nvSpPr>
          <p:cNvPr id="61" name="Shape 55"/>
          <p:cNvSpPr/>
          <p:nvPr/>
        </p:nvSpPr>
        <p:spPr>
          <a:xfrm>
            <a:off x="9788652" y="2286000"/>
            <a:ext cx="82296" cy="0"/>
          </a:xfrm>
          <a:prstGeom prst="line">
            <a:avLst/>
          </a:prstGeom>
          <a:noFill/>
          <a:ln w="12700">
            <a:solidFill>
              <a:srgbClr val="2EC4C9"/>
            </a:solidFill>
            <a:prstDash val="solid"/>
          </a:ln>
        </p:spPr>
      </p:sp>
      <p:sp>
        <p:nvSpPr>
          <p:cNvPr id="62" name="Shape 56"/>
          <p:cNvSpPr/>
          <p:nvPr/>
        </p:nvSpPr>
        <p:spPr>
          <a:xfrm>
            <a:off x="9875520" y="2057400"/>
            <a:ext cx="1645920" cy="2926080"/>
          </a:xfrm>
          <a:prstGeom prst="roundRect">
            <a:avLst>
              <a:gd name="adj" fmla="val 6667"/>
            </a:avLst>
          </a:prstGeom>
          <a:solidFill>
            <a:srgbClr val="0A2640"/>
          </a:solidFill>
          <a:ln w="9525">
            <a:solidFill>
              <a:srgbClr val="24617E"/>
            </a:solidFill>
            <a:prstDash val="solid"/>
          </a:ln>
        </p:spPr>
      </p:sp>
      <p:sp>
        <p:nvSpPr>
          <p:cNvPr id="63" name="Text 57"/>
          <p:cNvSpPr txBox="1"/>
          <p:nvPr/>
        </p:nvSpPr>
        <p:spPr>
          <a:xfrm>
            <a:off x="10012680" y="213055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Listo</a:t>
            </a:r>
            <a:endParaRPr lang="en-US" sz="1050" dirty="0"/>
          </a:p>
        </p:txBody>
      </p:sp>
      <p:sp>
        <p:nvSpPr>
          <p:cNvPr id="64" name="Shape 58"/>
          <p:cNvSpPr/>
          <p:nvPr/>
        </p:nvSpPr>
        <p:spPr>
          <a:xfrm>
            <a:off x="9985248" y="2560320"/>
            <a:ext cx="1426464" cy="658368"/>
          </a:xfrm>
          <a:prstGeom prst="roundRect">
            <a:avLst>
              <a:gd name="adj" fmla="val 11111"/>
            </a:avLst>
          </a:prstGeom>
          <a:solidFill>
            <a:srgbClr val="134E5E"/>
          </a:solidFill>
          <a:ln/>
        </p:spPr>
      </p:sp>
      <p:sp>
        <p:nvSpPr>
          <p:cNvPr id="65" name="Shape 59"/>
          <p:cNvSpPr/>
          <p:nvPr/>
        </p:nvSpPr>
        <p:spPr>
          <a:xfrm>
            <a:off x="10104120" y="2688336"/>
            <a:ext cx="1010412" cy="82296"/>
          </a:xfrm>
          <a:prstGeom prst="roundRect">
            <a:avLst>
              <a:gd name="adj" fmla="val 50000"/>
            </a:avLst>
          </a:prstGeom>
          <a:solidFill>
            <a:srgbClr val="4C7A94"/>
          </a:solidFill>
          <a:ln/>
        </p:spPr>
      </p:sp>
      <p:sp>
        <p:nvSpPr>
          <p:cNvPr id="66" name="Shape 60"/>
          <p:cNvSpPr/>
          <p:nvPr/>
        </p:nvSpPr>
        <p:spPr>
          <a:xfrm>
            <a:off x="10104120" y="2852928"/>
            <a:ext cx="653796" cy="82296"/>
          </a:xfrm>
          <a:prstGeom prst="roundRect">
            <a:avLst>
              <a:gd name="adj" fmla="val 50000"/>
            </a:avLst>
          </a:prstGeom>
          <a:solidFill>
            <a:srgbClr val="3A6682"/>
          </a:solidFill>
          <a:ln/>
        </p:spPr>
      </p:sp>
      <p:sp>
        <p:nvSpPr>
          <p:cNvPr id="67" name="Shape 61"/>
          <p:cNvSpPr/>
          <p:nvPr/>
        </p:nvSpPr>
        <p:spPr>
          <a:xfrm>
            <a:off x="10104120" y="3017520"/>
            <a:ext cx="109728" cy="109728"/>
          </a:xfrm>
          <a:prstGeom prst="ellipse">
            <a:avLst/>
          </a:prstGeom>
          <a:solidFill>
            <a:srgbClr val="5FA8D3"/>
          </a:solidFill>
          <a:ln/>
        </p:spPr>
      </p:sp>
      <p:pic>
        <p:nvPicPr>
          <p:cNvPr id="68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09960" y="2962656"/>
            <a:ext cx="182880" cy="182880"/>
          </a:xfrm>
          <a:prstGeom prst="rect">
            <a:avLst/>
          </a:prstGeom>
        </p:spPr>
      </p:pic>
      <p:sp>
        <p:nvSpPr>
          <p:cNvPr id="69" name="Shape 62"/>
          <p:cNvSpPr/>
          <p:nvPr/>
        </p:nvSpPr>
        <p:spPr>
          <a:xfrm>
            <a:off x="9985248" y="3337560"/>
            <a:ext cx="1426464" cy="658368"/>
          </a:xfrm>
          <a:prstGeom prst="roundRect">
            <a:avLst>
              <a:gd name="adj" fmla="val 11111"/>
            </a:avLst>
          </a:prstGeom>
          <a:solidFill>
            <a:srgbClr val="134E5E"/>
          </a:solidFill>
          <a:ln/>
        </p:spPr>
      </p:sp>
      <p:sp>
        <p:nvSpPr>
          <p:cNvPr id="70" name="Shape 63"/>
          <p:cNvSpPr/>
          <p:nvPr/>
        </p:nvSpPr>
        <p:spPr>
          <a:xfrm>
            <a:off x="10104120" y="3465576"/>
            <a:ext cx="713232" cy="82296"/>
          </a:xfrm>
          <a:prstGeom prst="roundRect">
            <a:avLst>
              <a:gd name="adj" fmla="val 50000"/>
            </a:avLst>
          </a:prstGeom>
          <a:solidFill>
            <a:srgbClr val="4C7A94"/>
          </a:solidFill>
          <a:ln/>
        </p:spPr>
      </p:sp>
      <p:sp>
        <p:nvSpPr>
          <p:cNvPr id="71" name="Shape 64"/>
          <p:cNvSpPr/>
          <p:nvPr/>
        </p:nvSpPr>
        <p:spPr>
          <a:xfrm>
            <a:off x="10104120" y="3630168"/>
            <a:ext cx="653796" cy="82296"/>
          </a:xfrm>
          <a:prstGeom prst="roundRect">
            <a:avLst>
              <a:gd name="adj" fmla="val 50000"/>
            </a:avLst>
          </a:prstGeom>
          <a:solidFill>
            <a:srgbClr val="3A6682"/>
          </a:solidFill>
          <a:ln/>
        </p:spPr>
      </p:sp>
      <p:sp>
        <p:nvSpPr>
          <p:cNvPr id="72" name="Shape 65"/>
          <p:cNvSpPr/>
          <p:nvPr/>
        </p:nvSpPr>
        <p:spPr>
          <a:xfrm>
            <a:off x="10104120" y="3794760"/>
            <a:ext cx="109728" cy="109728"/>
          </a:xfrm>
          <a:prstGeom prst="ellipse">
            <a:avLst/>
          </a:prstGeom>
          <a:solidFill>
            <a:srgbClr val="2EC4C9"/>
          </a:solidFill>
          <a:ln/>
        </p:spPr>
      </p:sp>
      <p:pic>
        <p:nvPicPr>
          <p:cNvPr id="73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09960" y="3739896"/>
            <a:ext cx="182880" cy="182880"/>
          </a:xfrm>
          <a:prstGeom prst="rect">
            <a:avLst/>
          </a:prstGeom>
        </p:spPr>
      </p:pic>
      <p:sp>
        <p:nvSpPr>
          <p:cNvPr id="74" name="Text 66"/>
          <p:cNvSpPr txBox="1"/>
          <p:nvPr/>
        </p:nvSpPr>
        <p:spPr>
          <a:xfrm>
            <a:off x="6400800" y="502920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86A9B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Esquema ilustrativo del flujo del tablero</a:t>
            </a:r>
            <a:endParaRPr lang="en-US" sz="850" dirty="0"/>
          </a:p>
        </p:txBody>
      </p:sp>
      <p:sp>
        <p:nvSpPr>
          <p:cNvPr id="75" name="Shape 67"/>
          <p:cNvSpPr/>
          <p:nvPr/>
        </p:nvSpPr>
        <p:spPr>
          <a:xfrm>
            <a:off x="6400800" y="5394960"/>
            <a:ext cx="5120640" cy="777240"/>
          </a:xfrm>
          <a:prstGeom prst="roundRect">
            <a:avLst>
              <a:gd name="adj" fmla="val 14118"/>
            </a:avLst>
          </a:prstGeom>
          <a:solidFill>
            <a:srgbClr val="2EC4C9"/>
          </a:solidFill>
          <a:ln/>
        </p:spPr>
      </p:sp>
      <p:pic>
        <p:nvPicPr>
          <p:cNvPr id="76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01968" y="5596128"/>
            <a:ext cx="365760" cy="365760"/>
          </a:xfrm>
          <a:prstGeom prst="rect">
            <a:avLst/>
          </a:prstGeom>
        </p:spPr>
      </p:pic>
      <p:sp>
        <p:nvSpPr>
          <p:cNvPr id="77" name="Text 68"/>
          <p:cNvSpPr txBox="1"/>
          <p:nvPr/>
        </p:nvSpPr>
        <p:spPr>
          <a:xfrm>
            <a:off x="7132320" y="5394960"/>
            <a:ext cx="4251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1A2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Cada historia avanza por el tablero durante el sprint; al cerrarlo, revisamos el incremento y ajustamos el backlog.</a:t>
            </a:r>
            <a:endParaRPr lang="en-US" sz="1100" dirty="0"/>
          </a:p>
        </p:txBody>
      </p:sp>
      <p:sp>
        <p:nvSpPr>
          <p:cNvPr id="78" name="Text 69"/>
          <p:cNvSpPr txBox="1"/>
          <p:nvPr/>
        </p:nvSpPr>
        <p:spPr>
          <a:xfrm>
            <a:off x="548640" y="641908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7FA7B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VIDA SUBMARINA · SISEP</a:t>
            </a:r>
            <a:endParaRPr lang="en-US" sz="750" dirty="0"/>
          </a:p>
        </p:txBody>
      </p:sp>
      <p:sp>
        <p:nvSpPr>
          <p:cNvPr id="79" name="Text 70"/>
          <p:cNvSpPr txBox="1"/>
          <p:nvPr/>
        </p:nvSpPr>
        <p:spPr>
          <a:xfrm>
            <a:off x="11091672" y="641908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A8ECE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880360" cy="274320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CONCLUSIONES Y RECOMENDACIONES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Conclusiones del equipo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3931920" cy="4480560"/>
          </a:xfrm>
          <a:prstGeom prst="roundRect">
            <a:avLst>
              <a:gd name="adj" fmla="val 3721"/>
            </a:avLst>
          </a:prstGeom>
          <a:solidFill>
            <a:srgbClr val="071A2C"/>
          </a:solidFill>
          <a:ln/>
          <a:effectLst>
            <a:outerShdw sx="100000" sy="100000" kx="0" ky="0" algn="bl" rotWithShape="0" blurRad="152400" dist="38100" dir="5400000">
              <a:srgbClr val="0B1D2E">
                <a:alpha val="20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20240"/>
            <a:ext cx="548640" cy="5486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68680" y="2606040"/>
            <a:ext cx="3337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Tecnología, gestión gubernamental y participación local: la combinación que puede hacer sostenible la pesca peruana.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54406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A8ECE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— Propuesta SISEP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846320" y="164592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39A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5669280" y="1664208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SISEP responde a un problema real del Perú: la sobreexplotación, la pesca ilegal y la falta de monitoreo inmediato de capturas y áreas de faena.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4846320" y="2670048"/>
            <a:ext cx="6766560" cy="0"/>
          </a:xfrm>
          <a:prstGeom prst="line">
            <a:avLst/>
          </a:prstGeom>
          <a:noFill/>
          <a:ln w="9525">
            <a:solidFill>
              <a:srgbClr val="D5E3E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846320" y="278892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39A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5669280" y="2807208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El análisis de cuatro grupos de usuarios nos permitió definir 7 requerimientos funcionales, 4 no funcionales y 3 de dominio, medibles y trazables.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4846320" y="3813048"/>
            <a:ext cx="6766560" cy="0"/>
          </a:xfrm>
          <a:prstGeom prst="line">
            <a:avLst/>
          </a:prstGeom>
          <a:noFill/>
          <a:ln w="9525">
            <a:solidFill>
              <a:srgbClr val="D5E3E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846320" y="393192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39A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5669280" y="3950208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Los modelos —contexto, casos de uso, actividad, E-R, clases y secuencia— son coherentes entre sí: Embarcación, Captura, Especie y Lote atraviesan todo el diseño.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4846320" y="4956048"/>
            <a:ext cx="6766560" cy="0"/>
          </a:xfrm>
          <a:prstGeom prst="line">
            <a:avLst/>
          </a:prstGeom>
          <a:noFill/>
          <a:ln w="9525">
            <a:solidFill>
              <a:srgbClr val="D5E3E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846320" y="507492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39A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2400" dirty="0"/>
          </a:p>
        </p:txBody>
      </p:sp>
      <p:sp>
        <p:nvSpPr>
          <p:cNvPr id="19" name="Text 16"/>
          <p:cNvSpPr txBox="1"/>
          <p:nvPr/>
        </p:nvSpPr>
        <p:spPr>
          <a:xfrm>
            <a:off x="5669280" y="5093208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Scrum y Jira nos permitieron dividir el trabajo en 2 sprints de 2 semanas y 15 historias de usuario, con incrementos funcionales al cierre de cada uno.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1908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9AAAB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VIDA SUBMARINA · SISEP</a:t>
            </a:r>
            <a:endParaRPr lang="en-US" sz="750" dirty="0"/>
          </a:p>
        </p:txBody>
      </p:sp>
      <p:sp>
        <p:nvSpPr>
          <p:cNvPr id="21" name="Text 18"/>
          <p:cNvSpPr txBox="1"/>
          <p:nvPr/>
        </p:nvSpPr>
        <p:spPr>
          <a:xfrm>
            <a:off x="11091672" y="641908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880360" cy="274320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CONCLUSIONES Y RECOMENDACIONES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Lecciones aprendidas y mejoras futuras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5440680" cy="44805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1874520"/>
            <a:ext cx="603504" cy="603504"/>
          </a:xfrm>
          <a:prstGeom prst="ellipse">
            <a:avLst/>
          </a:prstGeom>
          <a:solidFill>
            <a:srgbClr val="2EC4C9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801" y="2019361"/>
            <a:ext cx="313822" cy="31382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00200" y="1874520"/>
            <a:ext cx="4114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Lecciones aprendidas</a:t>
            </a:r>
            <a:endParaRPr lang="en-US" sz="17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77977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34440" y="2743200"/>
            <a:ext cx="4526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Modelar antes de programar reduce ambigüedades entre requerimientos y diseño.</a:t>
            </a:r>
            <a:endParaRPr lang="en-US" sz="13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360273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34440" y="3566160"/>
            <a:ext cx="4526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Usar los mismos nombres en diagramas y base de datos evita inconsistencias.</a:t>
            </a:r>
            <a:endParaRPr lang="en-US" sz="13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4425696"/>
            <a:ext cx="274320" cy="2743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234440" y="4389120"/>
            <a:ext cx="4526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Un backlog priorizado por épicas hace que los sprints sean realistas.</a:t>
            </a:r>
            <a:endParaRPr lang="en-US" sz="1300" dirty="0"/>
          </a:p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" y="5248656"/>
            <a:ext cx="274320" cy="27432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234440" y="5212080"/>
            <a:ext cx="4526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Jira y GitHub dejan evidencia clara del avance y del aporte de cada integrante.</a:t>
            </a:r>
            <a:endParaRPr lang="en-US" sz="1300" dirty="0"/>
          </a:p>
        </p:txBody>
      </p:sp>
      <p:sp>
        <p:nvSpPr>
          <p:cNvPr id="17" name="Shape 10"/>
          <p:cNvSpPr/>
          <p:nvPr/>
        </p:nvSpPr>
        <p:spPr>
          <a:xfrm>
            <a:off x="6172200" y="1645920"/>
            <a:ext cx="5440680" cy="4480560"/>
          </a:xfrm>
          <a:prstGeom prst="roundRect">
            <a:avLst>
              <a:gd name="adj" fmla="val 2857"/>
            </a:avLst>
          </a:prstGeom>
          <a:solidFill>
            <a:srgbClr val="071A2C"/>
          </a:solidFill>
          <a:ln/>
          <a:effectLst>
            <a:outerShdw sx="100000" sy="100000" kx="0" ky="0" algn="bl" rotWithShape="0" blurRad="152400" dist="38100" dir="5400000">
              <a:srgbClr val="0B1D2E">
                <a:alpha val="20000"/>
              </a:srgbClr>
            </a:outerShdw>
          </a:effectLst>
        </p:spPr>
      </p:sp>
      <p:sp>
        <p:nvSpPr>
          <p:cNvPr id="18" name="Shape 11"/>
          <p:cNvSpPr/>
          <p:nvPr/>
        </p:nvSpPr>
        <p:spPr>
          <a:xfrm>
            <a:off x="6446520" y="1874520"/>
            <a:ext cx="603504" cy="603504"/>
          </a:xfrm>
          <a:prstGeom prst="ellipse">
            <a:avLst/>
          </a:prstGeom>
          <a:solidFill>
            <a:srgbClr val="2EC4C9"/>
          </a:solidFill>
          <a:ln/>
        </p:spPr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91361" y="2019361"/>
            <a:ext cx="313822" cy="313822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7223760" y="1874520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Recomendaciones de mejora</a:t>
            </a:r>
            <a:endParaRPr lang="en-US" sz="1700" dirty="0"/>
          </a:p>
        </p:txBody>
      </p:sp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46520" y="2779776"/>
            <a:ext cx="292608" cy="292608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6903720" y="274320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App móvil sin conexión </a:t>
            </a:r>
            <a:pPr indent="0" marL="0">
              <a:buNone/>
            </a:pPr>
            <a:r>
              <a:rPr lang="en-US" sz="1300" dirty="0">
                <a:solidFill>
                  <a:srgbClr val="C9DEE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 sincronización por lotes para zonas sin cobertura.</a:t>
            </a:r>
            <a:endParaRPr lang="en-US" sz="1300" dirty="0"/>
          </a:p>
        </p:txBody>
      </p:sp>
      <p:pic>
        <p:nvPicPr>
          <p:cNvPr id="23" name="Image 7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46520" y="3602736"/>
            <a:ext cx="292608" cy="292608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6903720" y="356616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Integración AIS y satelital </a:t>
            </a:r>
            <a:pPr indent="0" marL="0">
              <a:buNone/>
            </a:pPr>
            <a:r>
              <a:rPr lang="en-US" sz="1300" dirty="0">
                <a:solidFill>
                  <a:srgbClr val="C9DEE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en tiempo real, actor ya previsto en el contexto.</a:t>
            </a:r>
            <a:endParaRPr lang="en-US" sz="1300" dirty="0"/>
          </a:p>
        </p:txBody>
      </p:sp>
      <p:pic>
        <p:nvPicPr>
          <p:cNvPr id="25" name="Image 8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46520" y="4425696"/>
            <a:ext cx="292608" cy="292608"/>
          </a:xfrm>
          <a:prstGeom prst="rect">
            <a:avLst/>
          </a:prstGeom>
        </p:spPr>
      </p:pic>
      <p:sp>
        <p:nvSpPr>
          <p:cNvPr id="26" name="Text 15"/>
          <p:cNvSpPr txBox="1"/>
          <p:nvPr/>
        </p:nvSpPr>
        <p:spPr>
          <a:xfrm>
            <a:off x="6903720" y="438912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Analítica predictiva </a:t>
            </a:r>
            <a:pPr indent="0" marL="0">
              <a:buNone/>
            </a:pPr>
            <a:r>
              <a:rPr lang="en-US" sz="1300" dirty="0">
                <a:solidFill>
                  <a:srgbClr val="C9DEE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para apoyar a IMARPE en vedas y cuotas.</a:t>
            </a:r>
            <a:endParaRPr lang="en-US" sz="1300" dirty="0"/>
          </a:p>
        </p:txBody>
      </p:sp>
      <p:pic>
        <p:nvPicPr>
          <p:cNvPr id="27" name="Image 9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46520" y="5248656"/>
            <a:ext cx="292608" cy="292608"/>
          </a:xfrm>
          <a:prstGeom prst="rect">
            <a:avLst/>
          </a:prstGeom>
        </p:spPr>
      </p:pic>
      <p:sp>
        <p:nvSpPr>
          <p:cNvPr id="28" name="Text 16"/>
          <p:cNvSpPr txBox="1"/>
          <p:nvPr/>
        </p:nvSpPr>
        <p:spPr>
          <a:xfrm>
            <a:off x="6903720" y="521208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Piloto y capacitación </a:t>
            </a:r>
            <a:pPr indent="0" marL="0">
              <a:buNone/>
            </a:pPr>
            <a:r>
              <a:rPr lang="en-US" sz="1300" dirty="0">
                <a:solidFill>
                  <a:srgbClr val="C9DEE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 una comunidad de pescadores artesanales.</a:t>
            </a:r>
            <a:endParaRPr lang="en-US" sz="1300" dirty="0"/>
          </a:p>
        </p:txBody>
      </p:sp>
      <p:sp>
        <p:nvSpPr>
          <p:cNvPr id="29" name="Text 17"/>
          <p:cNvSpPr txBox="1"/>
          <p:nvPr/>
        </p:nvSpPr>
        <p:spPr>
          <a:xfrm>
            <a:off x="548640" y="641908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9AAAB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VIDA SUBMARINA · SISEP</a:t>
            </a:r>
            <a:endParaRPr lang="en-US" sz="750" dirty="0"/>
          </a:p>
        </p:txBody>
      </p:sp>
      <p:sp>
        <p:nvSpPr>
          <p:cNvPr id="30" name="Text 18"/>
          <p:cNvSpPr txBox="1"/>
          <p:nvPr/>
        </p:nvSpPr>
        <p:spPr>
          <a:xfrm>
            <a:off x="11091672" y="641908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551176" cy="274320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2551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REFERENCIAS BIBLIOGRÁFICAS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Referencias (ISO 690 numérico)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402336" cy="402336"/>
          </a:xfrm>
          <a:prstGeom prst="ellipse">
            <a:avLst/>
          </a:prstGeom>
          <a:solidFill>
            <a:srgbClr val="0B2A4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16916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[1]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1143000" y="1645920"/>
            <a:ext cx="10424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NACIONES UNIDAS. </a:t>
            </a:r>
            <a:pPr indent="0" marL="0">
              <a:buNone/>
            </a:pPr>
            <a:r>
              <a:rPr lang="en-US" sz="1200" i="1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Objetivo 14: Conservar y utilizar sosteniblemente los océanos, los mares y los recursos marinos</a:t>
            </a:r>
            <a:pPr indent="0" marL="0">
              <a:buNone/>
            </a:pPr>
            <a:r>
              <a:rPr lang="en-US" sz="12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[en línea]. Nueva York: ONU [consulta: 29 septiembre 2026]. Disponible en: </a:t>
            </a:r>
            <a:pPr indent="0" marL="0">
              <a:buNone/>
            </a:pPr>
            <a:r>
              <a:rPr lang="en-US" sz="1200" u="sng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https://www.un.org/sustainabledevelopment/es/oceans/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423160"/>
            <a:ext cx="402336" cy="402336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4231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[2]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2377440"/>
            <a:ext cx="10424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PERÚ. Decreto Ley N.° 25977. </a:t>
            </a:r>
            <a:pPr indent="0" marL="0">
              <a:buNone/>
            </a:pPr>
            <a:r>
              <a:rPr lang="en-US" sz="1200" i="1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Ley General de Pesca</a:t>
            </a:r>
            <a:pPr indent="0" marL="0">
              <a:buNone/>
            </a:pPr>
            <a:r>
              <a:rPr lang="en-US" sz="12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 Diario Oficial El Peruano. Lima, 1992.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3154680"/>
            <a:ext cx="402336" cy="402336"/>
          </a:xfrm>
          <a:prstGeom prst="ellipse">
            <a:avLst/>
          </a:prstGeom>
          <a:solidFill>
            <a:srgbClr val="0B2A4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31546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[3]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1143000" y="3108960"/>
            <a:ext cx="10424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PERÚ. Decreto Supremo N.° 012-2001-PE. </a:t>
            </a:r>
            <a:pPr indent="0" marL="0">
              <a:buNone/>
            </a:pPr>
            <a:r>
              <a:rPr lang="en-US" sz="1200" i="1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Reglamento de la Ley General de Pesca</a:t>
            </a:r>
            <a:pPr indent="0" marL="0">
              <a:buNone/>
            </a:pPr>
            <a:r>
              <a:rPr lang="en-US" sz="12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 Diario Oficial El Peruano. Lima, 2001.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886200"/>
            <a:ext cx="402336" cy="402336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38862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[4]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3840480"/>
            <a:ext cx="10424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INSTITUTO DEL MAR DEL PERÚ (IMARPE). </a:t>
            </a:r>
            <a:pPr indent="0" marL="0">
              <a:buNone/>
            </a:pPr>
            <a:r>
              <a:rPr lang="en-US" sz="1200" i="1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Portal institucional</a:t>
            </a:r>
            <a:pPr indent="0" marL="0">
              <a:buNone/>
            </a:pPr>
            <a:r>
              <a:rPr lang="en-US" sz="12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[en línea]. Callao: IMARPE [consulta: 29 septiembre 2026]. Disponible en: </a:t>
            </a:r>
            <a:pPr indent="0" marL="0">
              <a:buNone/>
            </a:pPr>
            <a:r>
              <a:rPr lang="en-US" sz="1200" u="sng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https://www.imarpe.gob.pe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617720"/>
            <a:ext cx="402336" cy="402336"/>
          </a:xfrm>
          <a:prstGeom prst="ellipse">
            <a:avLst/>
          </a:prstGeom>
          <a:solidFill>
            <a:srgbClr val="0B2A4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46177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[5]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1143000" y="4572000"/>
            <a:ext cx="10424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MINISTERIO DE LA PRODUCCIÓN (PRODUCE). </a:t>
            </a:r>
            <a:pPr indent="0" marL="0">
              <a:buNone/>
            </a:pPr>
            <a:r>
              <a:rPr lang="en-US" sz="1200" i="1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Portal institucional</a:t>
            </a:r>
            <a:pPr indent="0" marL="0">
              <a:buNone/>
            </a:pPr>
            <a:r>
              <a:rPr lang="en-US" sz="12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[en línea]. Lima: PRODUCE [consulta: 29 septiembre 2026]. Disponible en: </a:t>
            </a:r>
            <a:pPr indent="0" marL="0">
              <a:buNone/>
            </a:pPr>
            <a:r>
              <a:rPr lang="en-US" sz="1200" u="sng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https://www.gob.pe/produce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5349240"/>
            <a:ext cx="402336" cy="402336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8640" y="5349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[6]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1143000" y="5303520"/>
            <a:ext cx="10424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SCHWABER, Ken y SUTHERLAND, Jeff. </a:t>
            </a:r>
            <a:pPr indent="0" marL="0">
              <a:buNone/>
            </a:pPr>
            <a:r>
              <a:rPr lang="en-US" sz="1200" i="1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La Guía Scrum: la guía definitiva de Scrum, las reglas del juego</a:t>
            </a:r>
            <a:pPr indent="0" marL="0">
              <a:buNone/>
            </a:pPr>
            <a:r>
              <a:rPr lang="en-US" sz="12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[en línea]. 2020 [consulta: 29 septiembre 2026]. Disponible en: </a:t>
            </a:r>
            <a:pPr indent="0" marL="0">
              <a:buNone/>
            </a:pPr>
            <a:r>
              <a:rPr lang="en-US" sz="1200" u="sng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https://scrumguides.org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641908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9AAAB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VIDA SUBMARINA · SISEP</a:t>
            </a:r>
            <a:endParaRPr lang="en-US" sz="750" dirty="0"/>
          </a:p>
        </p:txBody>
      </p:sp>
      <p:sp>
        <p:nvSpPr>
          <p:cNvPr id="24" name="Text 22"/>
          <p:cNvSpPr txBox="1"/>
          <p:nvPr/>
        </p:nvSpPr>
        <p:spPr>
          <a:xfrm>
            <a:off x="11091672" y="641908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905256" cy="274320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905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ANEXOS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Evidencias del trabajo en equipo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17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Espacios para las capturas reales de Jira, GitHub y del trabajo del equipo.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3566160" cy="2971800"/>
          </a:xfrm>
          <a:prstGeom prst="roundRect">
            <a:avLst>
              <a:gd name="adj" fmla="val 4308"/>
            </a:avLst>
          </a:prstGeom>
          <a:solidFill>
            <a:srgbClr val="F4F9FA"/>
          </a:solidFill>
          <a:ln w="15875">
            <a:solidFill>
              <a:srgbClr val="9CC3CF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1965960" y="2880360"/>
            <a:ext cx="731520" cy="731520"/>
          </a:xfrm>
          <a:prstGeom prst="ellipse">
            <a:avLst/>
          </a:prstGeom>
          <a:solidFill>
            <a:srgbClr val="E3F4F6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1525" y="3055925"/>
            <a:ext cx="380390" cy="38039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37490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8A9AA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Insertar captura aquí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51663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Tablero y backlog en Jira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550468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Épicas, historias HU01–HU15 y sprints.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297680" y="2011680"/>
            <a:ext cx="3566160" cy="2971800"/>
          </a:xfrm>
          <a:prstGeom prst="roundRect">
            <a:avLst>
              <a:gd name="adj" fmla="val 4308"/>
            </a:avLst>
          </a:prstGeom>
          <a:solidFill>
            <a:srgbClr val="F4F9FA"/>
          </a:solidFill>
          <a:ln w="15875">
            <a:solidFill>
              <a:srgbClr val="9CC3CF"/>
            </a:solidFill>
            <a:prstDash val="dash"/>
          </a:ln>
        </p:spPr>
      </p:sp>
      <p:sp>
        <p:nvSpPr>
          <p:cNvPr id="13" name="Shape 10"/>
          <p:cNvSpPr/>
          <p:nvPr/>
        </p:nvSpPr>
        <p:spPr>
          <a:xfrm>
            <a:off x="5715000" y="2880360"/>
            <a:ext cx="731520" cy="731520"/>
          </a:xfrm>
          <a:prstGeom prst="ellipse">
            <a:avLst/>
          </a:prstGeom>
          <a:solidFill>
            <a:srgbClr val="E3F4F6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0565" y="3055925"/>
            <a:ext cx="380390" cy="38039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297680" y="37490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8A9AA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Insertar captura aquí</a:t>
            </a:r>
            <a:endParaRPr lang="en-US" sz="1050" dirty="0"/>
          </a:p>
        </p:txBody>
      </p:sp>
      <p:sp>
        <p:nvSpPr>
          <p:cNvPr id="16" name="Text 12"/>
          <p:cNvSpPr txBox="1"/>
          <p:nvPr/>
        </p:nvSpPr>
        <p:spPr>
          <a:xfrm>
            <a:off x="4297680" y="51663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Repositorio en GitHub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4297680" y="550468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Carpeta con el nombre del proyecto e historial de commits.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8046720" y="2011680"/>
            <a:ext cx="3566160" cy="2971800"/>
          </a:xfrm>
          <a:prstGeom prst="roundRect">
            <a:avLst>
              <a:gd name="adj" fmla="val 4308"/>
            </a:avLst>
          </a:prstGeom>
          <a:solidFill>
            <a:srgbClr val="F4F9FA"/>
          </a:solidFill>
          <a:ln w="15875">
            <a:solidFill>
              <a:srgbClr val="9CC3CF"/>
            </a:solidFill>
            <a:prstDash val="dash"/>
          </a:ln>
        </p:spPr>
      </p:sp>
      <p:sp>
        <p:nvSpPr>
          <p:cNvPr id="19" name="Shape 15"/>
          <p:cNvSpPr/>
          <p:nvPr/>
        </p:nvSpPr>
        <p:spPr>
          <a:xfrm>
            <a:off x="9464040" y="2880360"/>
            <a:ext cx="731520" cy="731520"/>
          </a:xfrm>
          <a:prstGeom prst="ellipse">
            <a:avLst/>
          </a:prstGeom>
          <a:solidFill>
            <a:srgbClr val="E3F4F6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39605" y="3055925"/>
            <a:ext cx="380390" cy="38039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8046720" y="37490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8A9AA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Insertar captura aquí</a:t>
            </a:r>
            <a:endParaRPr lang="en-US" sz="1050" dirty="0"/>
          </a:p>
        </p:txBody>
      </p:sp>
      <p:sp>
        <p:nvSpPr>
          <p:cNvPr id="22" name="Text 17"/>
          <p:cNvSpPr txBox="1"/>
          <p:nvPr/>
        </p:nvSpPr>
        <p:spPr>
          <a:xfrm>
            <a:off x="8046720" y="51663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Trabajo en equipo</a:t>
            </a:r>
            <a:endParaRPr lang="en-US" sz="1400" dirty="0"/>
          </a:p>
        </p:txBody>
      </p:sp>
      <p:sp>
        <p:nvSpPr>
          <p:cNvPr id="23" name="Text 18"/>
          <p:cNvSpPr txBox="1"/>
          <p:nvPr/>
        </p:nvSpPr>
        <p:spPr>
          <a:xfrm>
            <a:off x="8046720" y="550468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Reuniones, reparto de tareas y avances.</a:t>
            </a:r>
            <a:endParaRPr lang="en-US" sz="1100" dirty="0"/>
          </a:p>
        </p:txBody>
      </p:sp>
      <p:sp>
        <p:nvSpPr>
          <p:cNvPr id="24" name="Text 19"/>
          <p:cNvSpPr txBox="1"/>
          <p:nvPr/>
        </p:nvSpPr>
        <p:spPr>
          <a:xfrm>
            <a:off x="548640" y="641908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9AAAB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VIDA SUBMARINA · SISEP</a:t>
            </a:r>
            <a:endParaRPr lang="en-US" sz="750" dirty="0"/>
          </a:p>
        </p:txBody>
      </p:sp>
      <p:sp>
        <p:nvSpPr>
          <p:cNvPr id="25" name="Text 20"/>
          <p:cNvSpPr txBox="1"/>
          <p:nvPr/>
        </p:nvSpPr>
        <p:spPr>
          <a:xfrm>
            <a:off x="11091672" y="641908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3785616" cy="274320"/>
          </a:xfrm>
          <a:prstGeom prst="roundRect">
            <a:avLst>
              <a:gd name="adj" fmla="val 50000"/>
            </a:avLst>
          </a:prstGeom>
          <a:solidFill>
            <a:srgbClr val="123E5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3785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A8ECE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ANÁLISIS Y DISEÑO DE SOFTWARE · NRC 62152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00200"/>
            <a:ext cx="6858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¡Gracias!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8803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C4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¿Preguntas?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6118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6EAF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Proyecto Vida Submarina · Sistema de Monitoreo Pesquero Sostenible (SISEP)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rgbClr val="2EC4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INTEGRANTES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51389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Oroya Molina Luis Fernando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51389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Cardenas Rosales Abigail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217920" y="51389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Yupanqui Castro Romina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54681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Olarte Tuya Shadi Allegra Rashel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54681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Gonzales Zarate Jhosep Rafael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801100" y="2537460"/>
            <a:ext cx="1143000" cy="1143000"/>
          </a:xfrm>
          <a:prstGeom prst="ellipse">
            <a:avLst/>
          </a:prstGeom>
          <a:ln w="19050">
            <a:solidFill>
              <a:srgbClr val="2EC4C9">
                <a:alpha val="6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366760" y="2103120"/>
            <a:ext cx="2011680" cy="2011680"/>
          </a:xfrm>
          <a:prstGeom prst="ellipse">
            <a:avLst/>
          </a:prstGeom>
          <a:ln w="12700">
            <a:solidFill>
              <a:srgbClr val="2EC4C9">
                <a:alpha val="50000"/>
              </a:srgbClr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7932420" y="1668780"/>
            <a:ext cx="2880360" cy="2880360"/>
          </a:xfrm>
          <a:prstGeom prst="ellipse">
            <a:avLst/>
          </a:prstGeom>
          <a:ln w="12700">
            <a:solidFill>
              <a:srgbClr val="2EC4C9">
                <a:alpha val="3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498080" y="1234440"/>
            <a:ext cx="3749040" cy="3749040"/>
          </a:xfrm>
          <a:prstGeom prst="ellipse">
            <a:avLst/>
          </a:prstGeom>
          <a:ln w="12700">
            <a:solidFill>
              <a:srgbClr val="2EC4C9">
                <a:alpha val="20000"/>
              </a:srgbClr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8988552" y="2724912"/>
            <a:ext cx="768096" cy="768096"/>
          </a:xfrm>
          <a:prstGeom prst="ellipse">
            <a:avLst/>
          </a:prstGeom>
          <a:solidFill>
            <a:srgbClr val="FFFFFF"/>
          </a:solidFill>
          <a:ln/>
          <a:effectLst>
            <a:outerShdw sx="100000" sy="100000" kx="0" ky="0" algn="bl" rotWithShape="0" blurRad="228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2895" y="2909255"/>
            <a:ext cx="399410" cy="39941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Proyecto Vida Submarina — SISEP</dc:title>
  <dc:subject>PptxGenJS Presentation</dc:subject>
  <dc:creator>Equipo Vida Submarina · ADS NRC 62152</dc:creator>
  <cp:lastModifiedBy>Equipo Vida Submarina · ADS NRC 62152</cp:lastModifiedBy>
  <cp:revision>1</cp:revision>
  <dcterms:created xsi:type="dcterms:W3CDTF">2026-09-30T02:29:50Z</dcterms:created>
  <dcterms:modified xsi:type="dcterms:W3CDTF">2026-09-30T02:29:50Z</dcterms:modified>
</cp:coreProperties>
</file>