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Somos el equipo del Proyecto Vida Submarina del curso Análisis y Diseño de Software, NRC 62152. Presentaremos SISEP, un Sistema de Monitoreo Pesquero Sostenible pensado para el Perú y alineado con el ODS 14, siguiendo la estructura de las Unidades I y II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exposición sigue la plantilla del curso. En la Unidad I presentamos el proyecto, el análisis de requerimientos y los modelos iniciales. En la Unidad II, los modelos de diseño y la metodología Scrum con las herramientas que usamos. Cerramos con conclusiones, referencias y anexos.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Iniciamos la Unidad I: fundamentos y modelado inicial, que abarca los capítulos 1 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Nuestro proyecto se vincula con el ODS 14, Vida Submarina. SISEP contribuye directamente a la meta 14.4, que busca reglamentar la pesca y poner fin a la pesca ilegal. Además impulsa la sostenibilidad en sus tres dimensiones: económica, ambiental y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principal beneficiario es IMARPE, por su rol en la investigación y el seguimiento de los recursos pesqueros. Con SISEP obtendría datos en tiempo real sobre especies, áreas de faena y tallas, lo que le daría mayor precisión para definir vedas y cuotas. La plataforma central sería gestionada junto con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problema: en el Perú existe sobreexplotación de especies, pesca no regulada e ilegal y no hay un monitoreo inmediato de las capturas ni de las áreas de faena. Esto pone en riesgo la biodiversidad marina, limita la sostenibilidad futura del recurso y perjudica a las comunidades costeras que dependen de la pesca.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Proponemos SISEP, que combina innovación tecnológica, gestión gubernamental y participación local. Las embarcaciones cuentan con GPS y registros digitales que envían datos a una plataforma central gestionada por IMARPE y PRODUCE. Se integran sensores marinos e imágenes satelitales, y un método de trazabilidad con QR certifica la procedencia legal de cada lote. Así se combate la pesca ilegal, se protege el ecosistema y se impulsa a las comunidades costeras.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concreto, SISEP tendrá seis módulos: rastreo GPS cada 15 minutos, alertas por zonas restringidas e irregularidades, bitácora digital con fotos, trazabilidad con QR por lote, monitoreo de clima y sensores, y reportes y dashboards para las autoridades. Cada módulo está respaldado por los requerimientos que presentaremos en el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actor gana algo: el Estado obtiene datos confiables, alertas y reportes; armadores y empresas simplifican trámites y certifican la legalidad de su pesca; los pescadores artesanales acceden a tecnología asequible y dan valor agregado a su producto; y el mercado y las organizaciones ambientales ganan transparencia y trazabilidad.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capítulo 2 describimos el problema como una crisis multidimensional: sobreexplotación, pesca ilegal, deficiencia en el monitoreo, pérdida de biodiversidad y vulnerabilidad socioeconómica. El eje común es la falta de datos confiables y en tiempo real, y ahí es donde actúa 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Identificamos cuatro grupos de usuarios. El Estado necesita datos confiables, fiscalización y alertas tempranas. Armadores y empresas necesitan documentación simple y certificación de legalidad. Los pescadores artesanales necesitan tecnología asequible y participar en la gestión. Y las organizaciones ambientales necesitan transparencia e indicadores de sostenibilidad.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Definimos siete requerimientos funcionales: registro GPS cada 15 minutos, alertas por zonas restringidas, bitácora digital, fotos como evidencia, QR único por lote, monitoreo meteorológico y notificaciones automáticas de irregularidades. Los agrupamos en monitoreo, captura, trazabilidad y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requerimientos no funcionales son medibles: respuesta menor a 3 segundos en consultas, autenticación de dos factores para usuarios críticos, 99,5 % de disponibilidad en horario laboral y capacidad para crecer hasta 10 000 embarcaciones.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requerimientos de dominio son reglas del sector: RD01 exige cumplir el Reglamento de la Ley General de Pesca, D.S. 012-2001-PE; RD09 pide procesos simples que no retrasen la operación; y RD17 exige monitorear indicadores de sostenibilidad. Cada uno se refleja luego en el diseño: validación automática, sincronización por lotes y reportes.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contexto muestra a SISEP en el centro y sus siete actores externos: IMARPE, PRODUCE, armadores, pescadores artesanales, satélites y sensores, el mercado que verifica la trazabilidad y las organizaciones ambientales. Así delimitamos qué está dentro y qué está fuera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los casos de uso hay dos actores principales. IMARPE y PRODUCE generan alertas por zonas restringidas o veda, generan reportes y dashboards y realizan auditoría y fiscalización. El pescador o armador registra su embarcación, envía su posición GPS y registra la captura en la bitácora; ese registro incluye la trazabilidad y el QR por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actividad describe el proceso principal: la embarcación inicia la jornada y enciende el GPS, registra su posición cada 15 minutos, registra la captura con fotos y envía los datos. El sistema valida automáticamente áreas, tallas y permisos: si cumple, almacena la captura y genera el QR del lote; si hay una irregularidad, alerta a las autoridades y al usuario. Al final se generan reportes y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entidad-relación tiene nueve entidades. Un pescador posee embarcaciones; cada embarcación tiene permisos, que el usuario gestiona y que contienen especies; la embarcación tiene capturas, cada captura pertenece a un lote con su código QR y registra una localización; y los sensores generan registros por embarcación.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 la Unidad II: modelos de diseño y metodología ágil, con los capítulos 4 y 5 y las herramientas que usamos.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clases inicial tiene seis clases. Embarcación se compone de Captura y de MonitoreoGPS; cada Captura se compone de DetalleCaptura, que se asocia a una Especie para validar tallas y cuotas; y MonitoreoGPS puede generar una Alerta que notifica a los inspectores.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secuencia muestra la interacción entre la embarcación, el sistema, la base de datos, IMARPE y PRODUCE. La embarcación envía datos GPS, el sistema los valida contra la base de datos y, si corresponde, envía alertas a IMARPE y PRODUCE. Luego se registran bitácora y fotos, se confirma y se genera el QR; finalmente se envían reportes a ambas instituciones y una notificación a la embarcación.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Trabajamos con Scrum, una metodología ágil basada en sprints cortos que entregan valor de forma incremental. Partimos de un Product Backlog dividido en épicas y tareas, seleccionamos historias para cada Sprint Backlog, trabajamos en sprints de dos semanas y al final de cada uno obtenemos un incremento 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 Backlog lo organizamos en Jira en cuatro épicas. El Sprint 1 cubre las historias HU01 a HU06: gestión de flota y actividades pesqueras. El Sprint 2 cubre las historias HU07 a HU15: gestión normativa e inteligencia pesquera y medioambiental. Cada épica se vincula con los requerimientos que atiende.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Planificamos dos sprints de dos semanas. El Sprint 1 implementa la gestión de flota y las actividades pesqueras con seis historias; el Sprint 2 desarrolla la gestión normativa y la inteligencia pesquera y medioambiental con nueve historias. En ambos usamos Jira, y cada sprint termina con un incremento: módulos operativos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fueron nuestras herramientas: Jira para planificar el backlog, los sprints y las tareas; Draw.io para los diagramas UML; dbdiagram.io para el modelo de datos; GitHub como repositorio del proyecto con control de versiones y commits; y Canva para la portada y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Jira estructuramos el trabajo en cuatro niveles: el proyecto, cuatro épicas, quince historias de usuario y las tareas de cada historia. Durante cada sprint las historias avanzan en el tablero de Por hacer a En curso y a Listo; al cerrar el sprint revisamos el incremento y ajustamos el backlog. Las capturas reales están en los anexos.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conclusiones: SISEP responde a un problema real; el análisis de usuarios nos llevó a requerimientos medibles; los modelos que construimos son coherentes entre sí; y Scrum con Jira nos permitió organizar el trabajo en dos sprints con incrementos. Aquí cada integrante puede añadir su conclusión personal, como pide la plantilla.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Aprendimos que modelar antes de programar reduce ambigüedades, que la consistencia de nombres entre diagramas y base de datos es clave, y que un backlog por épicas hace realistas los sprints. Como mejoras recomendamos una app móvil sin conexión, integrar AIS e imágenes satelitales en tiempo real, analítica predictiva para vedas y cuotas, y un piloto con pescadores artesanales. Cada integrante puede complementar con sus lecciones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las referencias en formato ISO 690 numérico. Los números entre corchetes aparecen en las diapositivas donde usamos cada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los anexos mostramos las evidencias: el tablero y backlog en Jira, el repositorio en GitHub con su historial de commits y fotos del trabajo en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Muchas gracias por su atención.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image" Target="../media/image-23-10.pn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png"/><Relationship Id="rId13" Type="http://schemas.openxmlformats.org/officeDocument/2006/relationships/image" Target="../media/image-23-13.png"/><Relationship Id="rId14" Type="http://schemas.openxmlformats.org/officeDocument/2006/relationships/image" Target="../media/image-23-14.png"/><Relationship Id="rId15" Type="http://schemas.openxmlformats.org/officeDocument/2006/relationships/image" Target="../media/image-23-15.png"/><Relationship Id="rId16" Type="http://schemas.openxmlformats.org/officeDocument/2006/relationships/image" Target="../media/image-23-16.png"/><Relationship Id="rId17" Type="http://schemas.openxmlformats.org/officeDocument/2006/relationships/image" Target="../media/image-2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n.org/sustainabledevelopment/es/oceans/" TargetMode="External"/><Relationship Id="rId3" Type="http://schemas.openxmlformats.org/officeDocument/2006/relationships/hyperlink" Target="https://www.imarpe.gob.pe" TargetMode="External"/><Relationship Id="rId4" Type="http://schemas.openxmlformats.org/officeDocument/2006/relationships/hyperlink" Target="https://www.gob.pe/produce" TargetMode="External"/><Relationship Id="rId5" Type="http://schemas.openxmlformats.org/officeDocument/2006/relationships/hyperlink" Target="https://scrumguides.org" TargetMode="External"/><Relationship Id="rId1" Type="http://schemas.openxmlformats.org/officeDocument/2006/relationships/image" Target="../media/Slide-29-image-1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Y DISEÑO DE SOFTWARE · NRC 62152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5029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9FC0C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“Año de la recuperación y consolidación de la economía peruana”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</a:t>
            </a:r>
            <a:endParaRPr lang="en-US" sz="7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Submarina</a:t>
            </a:r>
            <a:endParaRPr lang="en-US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Monitoreo Pesquero Sostenible </a:t>
            </a:r>
            <a:pPr indent="0" marL="0">
              <a:buNone/>
            </a:pPr>
            <a:r>
              <a:rPr lang="en-US" sz="1900" b="1" dirty="0">
                <a:solidFill>
                  <a:srgbClr val="2EC4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SISEP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461772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6177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ODS 14 · Vida submarina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0" y="461772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461772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IMARPE · PRODUCE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0" y="461772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0E3A57"/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461772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Metodología Scrum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03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Oroya Molina Luis Fernando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Cardenas Rosales Abigail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Yupanqui Castro Romina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25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Olarte Tuya Shadi Allegra Rashel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5925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Gonzales Zarate Jhosep Rafael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01100" y="2217420"/>
            <a:ext cx="1143000" cy="11430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66760" y="1783080"/>
            <a:ext cx="2011680" cy="201168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932420" y="1348740"/>
            <a:ext cx="2880360" cy="288036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914400"/>
            <a:ext cx="3749040" cy="3749040"/>
          </a:xfrm>
          <a:prstGeom prst="ellipse">
            <a:avLst/>
          </a:prstGeom>
          <a:ln w="12700">
            <a:solidFill>
              <a:srgbClr val="2EC4C9">
                <a:alpha val="20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988552" y="240487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895" y="2589215"/>
            <a:ext cx="399410" cy="39941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 flipV="1">
            <a:off x="8092440" y="3611880"/>
            <a:ext cx="640080" cy="365760"/>
          </a:xfrm>
          <a:prstGeom prst="line">
            <a:avLst/>
          </a:prstGeom>
          <a:noFill/>
          <a:ln w="15875">
            <a:solidFill>
              <a:srgbClr val="A8ECE7">
                <a:alpha val="80000"/>
              </a:srgbClr>
            </a:solidFill>
            <a:prstDash val="sysDash"/>
          </a:ln>
        </p:spPr>
      </p:sp>
      <p:sp>
        <p:nvSpPr>
          <p:cNvPr id="27" name="Shape 24"/>
          <p:cNvSpPr/>
          <p:nvPr/>
        </p:nvSpPr>
        <p:spPr>
          <a:xfrm flipV="1">
            <a:off x="10241280" y="1417320"/>
            <a:ext cx="502920" cy="685800"/>
          </a:xfrm>
          <a:prstGeom prst="line">
            <a:avLst/>
          </a:prstGeom>
          <a:noFill/>
          <a:ln w="15875">
            <a:solidFill>
              <a:srgbClr val="A8ECE7">
                <a:alpha val="80000"/>
              </a:srgbClr>
            </a:solidFill>
            <a:prstDash val="sysDash"/>
          </a:ln>
        </p:spPr>
      </p:sp>
      <p:sp>
        <p:nvSpPr>
          <p:cNvPr id="28" name="Shape 25"/>
          <p:cNvSpPr/>
          <p:nvPr/>
        </p:nvSpPr>
        <p:spPr>
          <a:xfrm>
            <a:off x="7973568" y="385876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037576" y="392277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0" name="Shape 27"/>
          <p:cNvSpPr/>
          <p:nvPr/>
        </p:nvSpPr>
        <p:spPr>
          <a:xfrm>
            <a:off x="8613648" y="349300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8677656" y="355701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2" name="Shape 29"/>
          <p:cNvSpPr/>
          <p:nvPr/>
        </p:nvSpPr>
        <p:spPr>
          <a:xfrm>
            <a:off x="10122408" y="198424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10186416" y="204825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25328" y="1298448"/>
            <a:ext cx="237744" cy="237744"/>
          </a:xfrm>
          <a:prstGeom prst="ellipse">
            <a:avLst/>
          </a:prstGeom>
          <a:solidFill>
            <a:srgbClr val="2EC4C9">
              <a:alpha val="35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0689336" y="1362456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36" name="Shape 33"/>
          <p:cNvSpPr/>
          <p:nvPr/>
        </p:nvSpPr>
        <p:spPr>
          <a:xfrm>
            <a:off x="10104120" y="352044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0E3A57">
              <a:alpha val="90000"/>
            </a:srgbClr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241280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15 min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7269480" y="1417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0E3A57">
              <a:alpha val="90000"/>
            </a:srgbClr>
          </a:solidFill>
          <a:ln w="9525">
            <a:solidFill>
              <a:srgbClr val="2A7C9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406640" y="14813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LOTE · QR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Trazabilidad legal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818120" y="4114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FC0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12°03′ S · 77°09′ O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0424160" y="5943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dar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4069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152144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CONTENIDO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60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Índice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Recorrido de la exposición según la plantilla del informe del curso: Unidad I y Unidad II.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554480" y="4206240"/>
            <a:ext cx="914400" cy="9144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88720" y="3840480"/>
            <a:ext cx="1645920" cy="164592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822960" y="3474720"/>
            <a:ext cx="2377440" cy="237744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27632" y="427939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75" y="4463735"/>
            <a:ext cx="399410" cy="39941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6355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6A9B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Análisis y Diseño de Software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5029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 · FUNDAMENTOS Y MODELADO INICIAL · SEMANAS 1–4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81381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300" dirty="0"/>
          </a:p>
        </p:txBody>
      </p:sp>
      <p:sp>
        <p:nvSpPr>
          <p:cNvPr id="15" name="Text 11"/>
          <p:cNvSpPr txBox="1"/>
          <p:nvPr/>
        </p:nvSpPr>
        <p:spPr>
          <a:xfrm>
            <a:off x="5532120" y="8138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Presentación del proyecto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532120" y="108813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ODS, institución beneficiaria, problema y solución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532120" y="138988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663440" y="14538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300" dirty="0"/>
          </a:p>
        </p:txBody>
      </p:sp>
      <p:sp>
        <p:nvSpPr>
          <p:cNvPr id="19" name="Text 15"/>
          <p:cNvSpPr txBox="1"/>
          <p:nvPr/>
        </p:nvSpPr>
        <p:spPr>
          <a:xfrm>
            <a:off x="5532120" y="1453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de necesidades y requerimientos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532120" y="172821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Usuarios, requerimientos funcionales, no funcionales y de dominio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532120" y="202996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63440" y="209397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300" dirty="0"/>
          </a:p>
        </p:txBody>
      </p:sp>
      <p:sp>
        <p:nvSpPr>
          <p:cNvPr id="23" name="Text 19"/>
          <p:cNvSpPr txBox="1"/>
          <p:nvPr/>
        </p:nvSpPr>
        <p:spPr>
          <a:xfrm>
            <a:off x="5532120" y="20939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iniciales del sistema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5532120" y="23682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Contexto, casos de uso, procesos y modelo entidad-relación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532120" y="2670048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63440" y="28254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II · MODELOS DE DISEÑO Y METODOLOGÍA ÁGIL · SEMANAS 5–7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313639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300" dirty="0"/>
          </a:p>
        </p:txBody>
      </p:sp>
      <p:sp>
        <p:nvSpPr>
          <p:cNvPr id="28" name="Text 24"/>
          <p:cNvSpPr txBox="1"/>
          <p:nvPr/>
        </p:nvSpPr>
        <p:spPr>
          <a:xfrm>
            <a:off x="5532120" y="31363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32120" y="341071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Diagrama de clases y diagrama de secuencia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532120" y="3712464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663440" y="377647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300" dirty="0"/>
          </a:p>
        </p:txBody>
      </p:sp>
      <p:sp>
        <p:nvSpPr>
          <p:cNvPr id="32" name="Text 28"/>
          <p:cNvSpPr txBox="1"/>
          <p:nvPr/>
        </p:nvSpPr>
        <p:spPr>
          <a:xfrm>
            <a:off x="5532120" y="37764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de trabajo: Scrum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5532120" y="405079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Backlog, sprints y herramientas (Jira, GitHub, Draw.io…)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532120" y="4352544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663440" y="45079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CIERRE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4663440" y="481888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300" dirty="0"/>
          </a:p>
        </p:txBody>
      </p:sp>
      <p:sp>
        <p:nvSpPr>
          <p:cNvPr id="37" name="Text 33"/>
          <p:cNvSpPr txBox="1"/>
          <p:nvPr/>
        </p:nvSpPr>
        <p:spPr>
          <a:xfrm>
            <a:off x="5532120" y="4818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532120" y="509320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Conclusiones, lecciones aprendidas y mejoras futuras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532120" y="5394960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663440" y="545896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2300" dirty="0"/>
          </a:p>
        </p:txBody>
      </p:sp>
      <p:sp>
        <p:nvSpPr>
          <p:cNvPr id="41" name="Text 37"/>
          <p:cNvSpPr txBox="1"/>
          <p:nvPr/>
        </p:nvSpPr>
        <p:spPr>
          <a:xfrm>
            <a:off x="5532120" y="5458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y anexos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5532120" y="57332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Fuentes en ISO 690 y evidencias del trabajo en equipo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5532120" y="6035040"/>
            <a:ext cx="6080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6634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5" name="Text 41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502920"/>
            <a:ext cx="5943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2EC4C9">
                    <a:alpha val="2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y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Modelado Inicial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94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1–4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86600" y="176022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9431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846" y="2085746"/>
            <a:ext cx="309067" cy="30906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138160" y="19431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15341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Presentación del proyecto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086600" y="294894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0" y="313182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846" y="327446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38160" y="31318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334213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de necesidades y requerimientos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7086600" y="413766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0" y="432054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7846" y="446318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38160" y="43205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8138160" y="45308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iniciales del sistema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53872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PRESENTACIÓN DEL PROYECTO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ODS vinculado: ODS 14 — Vida submarina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017520" cy="3017520"/>
          </a:xfrm>
          <a:prstGeom prst="roundRect">
            <a:avLst>
              <a:gd name="adj" fmla="val 4848"/>
            </a:avLst>
          </a:prstGeom>
          <a:solidFill>
            <a:srgbClr val="0A97D9"/>
          </a:solidFill>
          <a:ln/>
          <a:effectLst>
            <a:outerShdw sx="100000" sy="100000" kx="0" ky="0" algn="bl" rotWithShape="0" blurRad="152400" dist="38100" dir="5400000">
              <a:srgbClr val="0B1D2E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DE DESARROLLO SOSTENIBLE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0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</a:t>
            </a:r>
            <a:endParaRPr lang="en-US" sz="15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SUBMARINA</a:t>
            </a:r>
            <a:endParaRPr lang="en-US" sz="15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794760"/>
            <a:ext cx="566928" cy="56692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931920" y="1691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“Conservar y utilizar sosteniblemente los océanos, los mares y los recursos marinos para el desarrollo sostenible.” [1]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6517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implementación de SISEP en el Perú se alinea con el ODS 14 e impulsa la sostenibilidad pesquera en sus tres dimensiones, garantizando que las próximas generaciones puedan seguir beneficiándose de los recursos marinos.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931920" y="3749040"/>
            <a:ext cx="7680960" cy="960120"/>
          </a:xfrm>
          <a:prstGeom prst="roundRect">
            <a:avLst>
              <a:gd name="adj" fmla="val 11429"/>
            </a:avLst>
          </a:prstGeom>
          <a:solidFill>
            <a:srgbClr val="E3F4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114800" y="39319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446" y="4074566"/>
            <a:ext cx="309067" cy="309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92040" y="385876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Meta 14.4 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Reglamentar la explotación pesquera y poner fin a la pesca excesiva y a la pesca ilegal, no declarada y no reglamentada: justo lo que SISEP ayuda a controlar. [1]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540044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ECONÓMICA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55448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Impulsa el desarrollo económico de las comunidades costeras.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29768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2628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5400446"/>
            <a:ext cx="309067" cy="30906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0352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AMBIENTAL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30352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Protege el ecosistema marino y la biodiversidad nacional.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8046720" y="4983480"/>
            <a:ext cx="356616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75320" y="52578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540044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052560" y="5166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DIMENSIÓN SOCIAL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9052560" y="541324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Asegura que las próximas generaciones sigan beneficiándose del mar.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dar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INSTITUCIÓN BENEFICIARIA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1386230"/>
            <a:ext cx="427939" cy="42793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Instituto del Mar del Perú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4290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Institución dedicada a la investigación y al seguimiento de los recursos pesqueros del país. [4]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4526280"/>
            <a:ext cx="338328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 ALIANZA CON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1956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Ministerio de la Producción: co-gestiona la plataforma central de SISEP. [5]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685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¿Por qué IMARPE es el principal beneficiario?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0" y="164592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 rol en la investigación de los recursos pesqueros lo convierte en el usuario que más valor obtiene del sistema.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0" y="2331720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230368" y="2487168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236" y="2621036"/>
            <a:ext cx="290048" cy="290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989320" y="2459736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Datos en tiempo real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989320" y="27706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Especies capturadas, áreas de faena y tallas permitidas, al instante.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029200" y="3319272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230368" y="3474720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236" y="3608588"/>
            <a:ext cx="290048" cy="290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989320" y="3447288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Vedas y cuotas más precisas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5989320" y="3758184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Mejor base para definir periodos de veda y cuotas de extracción.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5029200" y="4306824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5230368" y="4462272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4236" y="4596140"/>
            <a:ext cx="290048" cy="290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989320" y="4434840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Biodiversidad protegida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5989320" y="4745736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Aporta a la protección de la biodiversidad marina nacional.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5029200" y="5294376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5230368" y="5449824"/>
            <a:ext cx="557784" cy="55778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236" y="5583692"/>
            <a:ext cx="290048" cy="290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989320" y="5422392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responsable</a:t>
            </a:r>
            <a:endParaRPr lang="en-US" sz="1350" dirty="0"/>
          </a:p>
        </p:txBody>
      </p:sp>
      <p:sp>
        <p:nvSpPr>
          <p:cNvPr id="36" name="Text 27"/>
          <p:cNvSpPr txBox="1"/>
          <p:nvPr/>
        </p:nvSpPr>
        <p:spPr>
          <a:xfrm>
            <a:off x="5989320" y="573328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Favorece una pesca que beneficia al país y a sus comunidades pesqueras.</a:t>
            </a:r>
            <a:endParaRPr lang="en-US" sz="1150" dirty="0"/>
          </a:p>
        </p:txBody>
      </p:sp>
      <p:sp>
        <p:nvSpPr>
          <p:cNvPr id="37" name="Text 28"/>
          <p:cNvSpPr txBox="1"/>
          <p:nvPr/>
        </p:nvSpPr>
        <p:spPr>
          <a:xfrm>
            <a:off x="502920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PROBLEMA IDENTIFICADO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mar productivo, bajo presión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el Perú, la actividad pesquera presenta serias dificultades que ponen en riesgo el recurso y a quienes viven de él.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553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68833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81" y="2833177"/>
            <a:ext cx="313822" cy="31382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Sobreexplotación de especies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299008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Extracción excesiva que agota las poblaciones marinas.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720840" y="248716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949440" y="268833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281" y="2833177"/>
            <a:ext cx="313822" cy="31382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Biodiversidad marina en riesgo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9008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 debilita el equilibrio de los ecosistemas.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367588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77240" y="387705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81" y="4021897"/>
            <a:ext cx="313822" cy="31382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002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no regulada e ilegal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600200" y="41788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Capturas que escapan al control y a la normativa.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720840" y="367588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387705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4281" y="4021897"/>
            <a:ext cx="313822" cy="31382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7724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Sostenibilidad futura limitada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7772400" y="41788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recursos para las próximas generaciones.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486460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5065776"/>
            <a:ext cx="603504" cy="603504"/>
          </a:xfrm>
          <a:prstGeom prst="ellipse">
            <a:avLst/>
          </a:prstGeom>
          <a:solidFill>
            <a:srgbClr val="FDECE9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081" y="5210617"/>
            <a:ext cx="313822" cy="31382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60020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monitoreo inmediato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1600200" y="536752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 sabe a tiempo qué se captura ni en qué áreas de faena.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6720840" y="4864608"/>
            <a:ext cx="48920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949440" y="5065776"/>
            <a:ext cx="603504" cy="603504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4281" y="5210617"/>
            <a:ext cx="313822" cy="31382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77240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 afectadas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7772400" y="536752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 subsistencia y economía dependen de la pesca.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5669280" y="361188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9709" y="3842309"/>
            <a:ext cx="362102" cy="36210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1" name="Text 32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SOLUCIÓN PROPUESTA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Solución propuesta: SISEP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2395728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55448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1481328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Innovación tecnológica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081528" y="1481328"/>
            <a:ext cx="2318004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55448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93008" y="1481328"/>
            <a:ext cx="1860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gubernamental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536692" y="1481328"/>
            <a:ext cx="2162556" cy="36576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708" y="1554480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8172" y="1481328"/>
            <a:ext cx="1705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local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48640" y="2194560"/>
            <a:ext cx="283464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2395728"/>
            <a:ext cx="640080" cy="640080"/>
          </a:xfrm>
          <a:prstGeom prst="ellipse">
            <a:avLst/>
          </a:prstGeom>
          <a:solidFill>
            <a:srgbClr val="0B2A45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" y="2549347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Embarcaciones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34747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GPS a bordo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Bitácora y registros digitales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de las capturas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069080" y="2011680"/>
            <a:ext cx="4069080" cy="2560320"/>
          </a:xfrm>
          <a:prstGeom prst="roundRect">
            <a:avLst>
              <a:gd name="adj" fmla="val 5714"/>
            </a:avLst>
          </a:prstGeom>
          <a:solidFill>
            <a:srgbClr val="071A2C"/>
          </a:solidFill>
          <a:ln/>
          <a:effectLst>
            <a:outerShdw sx="100000" sy="100000" kx="0" ky="0" algn="bl" rotWithShape="0" blurRad="228600" dist="38100" dir="5400000">
              <a:srgbClr val="0B1D2E">
                <a:alpha val="25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343400" y="22128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PLATAFORMA CENTRAL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4343400" y="2487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· PRODUCE</a:t>
            </a:r>
            <a:endParaRPr lang="en-US" sz="2100" dirty="0"/>
          </a:p>
        </p:txBody>
      </p:sp>
      <p:sp>
        <p:nvSpPr>
          <p:cNvPr id="22" name="Shape 16"/>
          <p:cNvSpPr/>
          <p:nvPr/>
        </p:nvSpPr>
        <p:spPr>
          <a:xfrm>
            <a:off x="457200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3674" y="3286354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34340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76072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2394" y="3286354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53212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6949440" y="3154680"/>
            <a:ext cx="548640" cy="548640"/>
          </a:xfrm>
          <a:prstGeom prst="ellipse">
            <a:avLst/>
          </a:prstGeom>
          <a:solidFill>
            <a:srgbClr val="123E5B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1114" y="3286354"/>
            <a:ext cx="285293" cy="285293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720840" y="3767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8823960" y="2194560"/>
            <a:ext cx="27889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9052560" y="2395728"/>
            <a:ext cx="640080" cy="64008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6179" y="2549347"/>
            <a:ext cx="332842" cy="33284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052560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</a:t>
            </a:r>
            <a:endParaRPr lang="en-US" sz="1400" dirty="0"/>
          </a:p>
        </p:txBody>
      </p:sp>
      <p:sp>
        <p:nvSpPr>
          <p:cNvPr id="35" name="Text 25"/>
          <p:cNvSpPr txBox="1"/>
          <p:nvPr/>
        </p:nvSpPr>
        <p:spPr>
          <a:xfrm>
            <a:off x="9052560" y="34747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QR único por lote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Procedencia legal y responsable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Verificable por el mercado</a:t>
            </a:r>
            <a:endParaRPr lang="en-US" sz="1150" dirty="0"/>
          </a:p>
        </p:txBody>
      </p:sp>
      <p:sp>
        <p:nvSpPr>
          <p:cNvPr id="36" name="Shape 26"/>
          <p:cNvSpPr/>
          <p:nvPr/>
        </p:nvSpPr>
        <p:spPr>
          <a:xfrm>
            <a:off x="3429000" y="3291840"/>
            <a:ext cx="594360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37" name="Text 27"/>
          <p:cNvSpPr txBox="1"/>
          <p:nvPr/>
        </p:nvSpPr>
        <p:spPr>
          <a:xfrm>
            <a:off x="3401568" y="299923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</a:t>
            </a:r>
            <a:endParaRPr lang="en-US" sz="900" dirty="0"/>
          </a:p>
        </p:txBody>
      </p:sp>
      <p:sp>
        <p:nvSpPr>
          <p:cNvPr id="38" name="Shape 28"/>
          <p:cNvSpPr/>
          <p:nvPr/>
        </p:nvSpPr>
        <p:spPr>
          <a:xfrm>
            <a:off x="8183880" y="3291840"/>
            <a:ext cx="594360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39" name="Text 29"/>
          <p:cNvSpPr txBox="1"/>
          <p:nvPr/>
        </p:nvSpPr>
        <p:spPr>
          <a:xfrm>
            <a:off x="8138160" y="2999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4114800" y="4892040"/>
            <a:ext cx="3977640" cy="45720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983480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663440" y="4892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Sensores marinos + imágenes satelitales</a:t>
            </a:r>
            <a:endParaRPr lang="en-US" sz="1100" dirty="0"/>
          </a:p>
        </p:txBody>
      </p:sp>
      <p:sp>
        <p:nvSpPr>
          <p:cNvPr id="43" name="Shape 32"/>
          <p:cNvSpPr/>
          <p:nvPr/>
        </p:nvSpPr>
        <p:spPr>
          <a:xfrm flipV="1">
            <a:off x="6099048" y="4617720"/>
            <a:ext cx="0" cy="25603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4" name="Shape 33"/>
          <p:cNvSpPr/>
          <p:nvPr/>
        </p:nvSpPr>
        <p:spPr>
          <a:xfrm>
            <a:off x="54864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107" y="5768035"/>
            <a:ext cx="204826" cy="204826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105156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Combate la pesca ilegal</a:t>
            </a:r>
            <a:endParaRPr lang="en-US" sz="1250" dirty="0"/>
          </a:p>
        </p:txBody>
      </p:sp>
      <p:sp>
        <p:nvSpPr>
          <p:cNvPr id="47" name="Shape 35"/>
          <p:cNvSpPr/>
          <p:nvPr/>
        </p:nvSpPr>
        <p:spPr>
          <a:xfrm>
            <a:off x="429768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8147" y="5768035"/>
            <a:ext cx="204826" cy="204826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480060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Protege el ecosistema marino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8046720" y="5687568"/>
            <a:ext cx="365760" cy="3657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51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7187" y="5768035"/>
            <a:ext cx="204826" cy="204826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8549640" y="56875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Impulsa a las comunidades costeras</a:t>
            </a:r>
            <a:endParaRPr lang="en-US" sz="1250" dirty="0"/>
          </a:p>
        </p:txBody>
      </p:sp>
      <p:sp>
        <p:nvSpPr>
          <p:cNvPr id="53" name="Text 3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4" name="Text 4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PROPUESTA DEL SISTEMA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¿Qué tendrá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Seis módulos que cubren todo el ciclo de la pesca: desde que la embarcación zarpa hasta que el producto llega al mercado con su código QR.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160520"/>
            <a:ext cx="3246120" cy="1600200"/>
          </a:xfrm>
          <a:prstGeom prst="roundRect">
            <a:avLst>
              <a:gd name="adj" fmla="val 8000"/>
            </a:avLst>
          </a:prstGeom>
          <a:solidFill>
            <a:srgbClr val="071A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3434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· 4 · 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95604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requerimientos funcionales, no funcionales y de dominio respaldan cada módulo.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121" y="1086673"/>
            <a:ext cx="313822" cy="31382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760720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Rastreo GPS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Posición registrada automáticamente cada 15 minutos.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26280" y="27706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6280" y="27706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793992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22592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433" y="1086673"/>
            <a:ext cx="313822" cy="31382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257032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022592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Alertas inteligentes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7022592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Avisos por ingreso a zonas restringidas e irregularidades.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022592" y="2770632"/>
            <a:ext cx="13487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22592" y="2770632"/>
            <a:ext cx="134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 · RF01.7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9290304" y="6858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518904" y="9418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745" y="1086673"/>
            <a:ext cx="313822" cy="313822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753344" y="9601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9518904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Bitácora digital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9518904" y="20391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de capturas con fotos como evidencia.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518904" y="2770632"/>
            <a:ext cx="13487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9518904" y="2770632"/>
            <a:ext cx="1348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 · RF01.4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4297680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4526280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1121" y="3829873"/>
            <a:ext cx="313822" cy="31382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760720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1"/>
          <p:cNvSpPr txBox="1"/>
          <p:nvPr/>
        </p:nvSpPr>
        <p:spPr>
          <a:xfrm>
            <a:off x="4526280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 QR</a:t>
            </a:r>
            <a:endParaRPr lang="en-US" sz="1350" dirty="0"/>
          </a:p>
        </p:txBody>
      </p:sp>
      <p:sp>
        <p:nvSpPr>
          <p:cNvPr id="38" name="Text 32"/>
          <p:cNvSpPr txBox="1"/>
          <p:nvPr/>
        </p:nvSpPr>
        <p:spPr>
          <a:xfrm>
            <a:off x="4526280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 QR único por cada lote de captura.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526280" y="55138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4526280" y="5513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93992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7022592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7433" y="3829873"/>
            <a:ext cx="313822" cy="313822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257032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600" dirty="0"/>
          </a:p>
        </p:txBody>
      </p:sp>
      <p:sp>
        <p:nvSpPr>
          <p:cNvPr id="45" name="Text 38"/>
          <p:cNvSpPr txBox="1"/>
          <p:nvPr/>
        </p:nvSpPr>
        <p:spPr>
          <a:xfrm>
            <a:off x="7022592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 y sensores</a:t>
            </a:r>
            <a:endParaRPr lang="en-US" sz="1350" dirty="0"/>
          </a:p>
        </p:txBody>
      </p:sp>
      <p:sp>
        <p:nvSpPr>
          <p:cNvPr id="46" name="Text 39"/>
          <p:cNvSpPr txBox="1"/>
          <p:nvPr/>
        </p:nvSpPr>
        <p:spPr>
          <a:xfrm>
            <a:off x="7022592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condiciones meteorológicas y del mar.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7022592" y="551383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7022592" y="5513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850" dirty="0"/>
          </a:p>
        </p:txBody>
      </p:sp>
      <p:sp>
        <p:nvSpPr>
          <p:cNvPr id="49" name="Shape 42"/>
          <p:cNvSpPr/>
          <p:nvPr/>
        </p:nvSpPr>
        <p:spPr>
          <a:xfrm>
            <a:off x="9290304" y="3429000"/>
            <a:ext cx="2331720" cy="251460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518904" y="3685032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3745" y="3829873"/>
            <a:ext cx="313822" cy="313822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0753344" y="370332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5E3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600" dirty="0"/>
          </a:p>
        </p:txBody>
      </p:sp>
      <p:sp>
        <p:nvSpPr>
          <p:cNvPr id="53" name="Text 45"/>
          <p:cNvSpPr txBox="1"/>
          <p:nvPr/>
        </p:nvSpPr>
        <p:spPr>
          <a:xfrm>
            <a:off x="9518904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Reportes</a:t>
            </a:r>
            <a:endParaRPr lang="en-US" sz="1350" dirty="0"/>
          </a:p>
        </p:txBody>
      </p:sp>
      <p:sp>
        <p:nvSpPr>
          <p:cNvPr id="54" name="Text 46"/>
          <p:cNvSpPr txBox="1"/>
          <p:nvPr/>
        </p:nvSpPr>
        <p:spPr>
          <a:xfrm>
            <a:off x="9518904" y="478231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Dashboards con estadísticas y tendencias para IMARPE y PRODUCE.</a:t>
            </a:r>
            <a:endParaRPr lang="en-US" sz="1100" dirty="0"/>
          </a:p>
        </p:txBody>
      </p:sp>
      <p:sp>
        <p:nvSpPr>
          <p:cNvPr id="55" name="Shape 47"/>
          <p:cNvSpPr/>
          <p:nvPr/>
        </p:nvSpPr>
        <p:spPr>
          <a:xfrm>
            <a:off x="9518904" y="5513832"/>
            <a:ext cx="107442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9518904" y="5513832"/>
            <a:ext cx="1074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 de uso</a:t>
            </a:r>
            <a:endParaRPr lang="en-US" sz="850" dirty="0"/>
          </a:p>
        </p:txBody>
      </p:sp>
      <p:sp>
        <p:nvSpPr>
          <p:cNvPr id="57" name="Text 4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8" name="Text 5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1 · PROPUESTA DE VALOR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Beneficios para cada actor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qué a cada usuario le conviene participar en SISEP.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45059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GOBIERNO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y PRODUCE</a:t>
            </a:r>
            <a:endParaRPr lang="en-US" sz="14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5935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 confiables en tiempo real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672584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Fiscalización eficiente y alertas tempranas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385816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43000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automáticos para políticas públicas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3364992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621024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6" y="2450592"/>
            <a:ext cx="356616" cy="35661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21024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PESQUERO</a:t>
            </a:r>
            <a:endParaRPr lang="en-US" sz="800" dirty="0"/>
          </a:p>
        </p:txBody>
      </p:sp>
      <p:sp>
        <p:nvSpPr>
          <p:cNvPr id="21" name="Text 14"/>
          <p:cNvSpPr txBox="1"/>
          <p:nvPr/>
        </p:nvSpPr>
        <p:spPr>
          <a:xfrm>
            <a:off x="3621024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y empresas</a:t>
            </a:r>
            <a:endParaRPr lang="en-US" sz="14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1024" y="3959352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59352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Documentación simplificada</a:t>
            </a:r>
            <a:endParaRPr lang="en-US" sz="11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024" y="4672584"/>
            <a:ext cx="237744" cy="237744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959352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Certificación de legalidad para acceder a mercados</a:t>
            </a:r>
            <a:endParaRPr lang="en-US" sz="11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1024" y="5385816"/>
            <a:ext cx="237744" cy="237744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3959352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Protección frente a la pesca ilegal</a:t>
            </a:r>
            <a:endParaRPr lang="en-US" sz="1150" dirty="0"/>
          </a:p>
        </p:txBody>
      </p:sp>
      <p:sp>
        <p:nvSpPr>
          <p:cNvPr id="28" name="Shape 18"/>
          <p:cNvSpPr/>
          <p:nvPr/>
        </p:nvSpPr>
        <p:spPr>
          <a:xfrm>
            <a:off x="6181344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6437376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1968" y="2450592"/>
            <a:ext cx="356616" cy="356616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437376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</a:t>
            </a:r>
            <a:endParaRPr lang="en-US" sz="800" dirty="0"/>
          </a:p>
        </p:txBody>
      </p:sp>
      <p:sp>
        <p:nvSpPr>
          <p:cNvPr id="32" name="Text 21"/>
          <p:cNvSpPr txBox="1"/>
          <p:nvPr/>
        </p:nvSpPr>
        <p:spPr>
          <a:xfrm>
            <a:off x="6437376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</a:t>
            </a:r>
            <a:endParaRPr lang="en-US" sz="145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7376" y="3959352"/>
            <a:ext cx="237744" cy="237744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6775704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Tecnología asequible y fácil de usar</a:t>
            </a:r>
            <a:endParaRPr lang="en-US" sz="1150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376" y="4672584"/>
            <a:ext cx="237744" cy="237744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775704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 agregado por certificación</a:t>
            </a:r>
            <a:endParaRPr lang="en-US" sz="1150" dirty="0"/>
          </a:p>
        </p:txBody>
      </p:sp>
      <p:pic>
        <p:nvPicPr>
          <p:cNvPr id="37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7376" y="5385816"/>
            <a:ext cx="237744" cy="237744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6775704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en la gestión del recurso</a:t>
            </a:r>
            <a:endParaRPr lang="en-US" sz="1150" dirty="0"/>
          </a:p>
        </p:txBody>
      </p:sp>
      <p:sp>
        <p:nvSpPr>
          <p:cNvPr id="39" name="Shape 25"/>
          <p:cNvSpPr/>
          <p:nvPr/>
        </p:nvSpPr>
        <p:spPr>
          <a:xfrm>
            <a:off x="8997696" y="2011680"/>
            <a:ext cx="2633472" cy="411480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40" name="Shape 26"/>
          <p:cNvSpPr/>
          <p:nvPr/>
        </p:nvSpPr>
        <p:spPr>
          <a:xfrm>
            <a:off x="9253728" y="2286000"/>
            <a:ext cx="685800" cy="68580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18320" y="2450592"/>
            <a:ext cx="356616" cy="356616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9253728" y="3108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CONSUMIDORES E I+D</a:t>
            </a:r>
            <a:endParaRPr lang="en-US" sz="800" dirty="0"/>
          </a:p>
        </p:txBody>
      </p:sp>
      <p:sp>
        <p:nvSpPr>
          <p:cNvPr id="43" name="Text 28"/>
          <p:cNvSpPr txBox="1"/>
          <p:nvPr/>
        </p:nvSpPr>
        <p:spPr>
          <a:xfrm>
            <a:off x="9253728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Mercado y ONG</a:t>
            </a:r>
            <a:endParaRPr lang="en-US" sz="1450" dirty="0"/>
          </a:p>
        </p:txBody>
      </p:sp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53728" y="3959352"/>
            <a:ext cx="237744" cy="237744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9592056" y="39319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Verificación de trazabilidad con QR</a:t>
            </a:r>
            <a:endParaRPr lang="en-US" sz="1150" dirty="0"/>
          </a:p>
        </p:txBody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53728" y="4672584"/>
            <a:ext cx="237744" cy="237744"/>
          </a:xfrm>
          <a:prstGeom prst="rect">
            <a:avLst/>
          </a:prstGeom>
        </p:spPr>
      </p:pic>
      <p:sp>
        <p:nvSpPr>
          <p:cNvPr id="47" name="Text 30"/>
          <p:cNvSpPr txBox="1"/>
          <p:nvPr/>
        </p:nvSpPr>
        <p:spPr>
          <a:xfrm>
            <a:off x="9592056" y="4645152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Transparencia de la información pesquera</a:t>
            </a:r>
            <a:endParaRPr lang="en-US" sz="1150" dirty="0"/>
          </a:p>
        </p:txBody>
      </p:sp>
      <p:pic>
        <p:nvPicPr>
          <p:cNvPr id="48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53728" y="5385816"/>
            <a:ext cx="237744" cy="237744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9592056" y="535838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</a:t>
            </a:r>
            <a:endParaRPr lang="en-US" sz="115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1" name="Text 3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DESCRIPCIÓN DEL PROBLEMA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crisis multidimensional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sector pesquero peruano enfrenta cinco problemas que se refuerzan entre sí.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600200" y="2697480"/>
            <a:ext cx="8961120" cy="0"/>
          </a:xfrm>
          <a:prstGeom prst="line">
            <a:avLst/>
          </a:prstGeom>
          <a:noFill/>
          <a:ln w="25400">
            <a:solidFill>
              <a:srgbClr val="D5E3E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423160"/>
            <a:ext cx="548640" cy="548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0136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0136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7607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Sobreexplotación de recursos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Presión sobre las especies por encima de lo sostenible.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3756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548640" cy="5486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04164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04164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281635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 ilegal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85292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Capturas no reguladas que escapan a la fiscalización.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57784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423160"/>
            <a:ext cx="548640" cy="5486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28192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28192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05663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Deficiencia en el monitoreo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09320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 control inmediato de capturas y áreas de faena.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81812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423160"/>
            <a:ext cx="548640" cy="54864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852220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852220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729691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Pérdida de biodiversidad marina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33348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Ecosistemas marinos cada vez más frágiles.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10058400" y="2194560"/>
            <a:ext cx="1005840" cy="10058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EC4C9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2000"/>
              </a:srgbClr>
            </a:outerShdw>
          </a:effectLst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423160"/>
            <a:ext cx="548640" cy="54864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10762488" y="2103120"/>
            <a:ext cx="347472" cy="347472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10762488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9537192" y="340156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 socioeconómica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573768" y="4005072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Comunidades costeras que dependen de la pesca.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2727"/>
            </a:avLst>
          </a:prstGeom>
          <a:solidFill>
            <a:srgbClr val="071A2C"/>
          </a:solidFill>
          <a:ln/>
        </p:spPr>
      </p:sp>
      <p:sp>
        <p:nvSpPr>
          <p:cNvPr id="38" name="Shape 31"/>
          <p:cNvSpPr/>
          <p:nvPr/>
        </p:nvSpPr>
        <p:spPr>
          <a:xfrm>
            <a:off x="822960" y="5230368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801" y="5375209"/>
            <a:ext cx="313822" cy="31382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645920" y="50292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eje común: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falta de datos confiables y de monitoreo en tiempo real. Ahí actúa SISEP.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2" name="Text 34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70332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NECESIDADES DE LOS USUARIOS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usuarios, necesidades distintas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28800"/>
            <a:ext cx="566928" cy="566928"/>
          </a:xfrm>
          <a:prstGeom prst="ellipse">
            <a:avLst/>
          </a:prstGeom>
          <a:solidFill>
            <a:srgbClr val="0B2A4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964863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8288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· PRODUCE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0574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Usuarios gubernamentales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Datos confiables y en tiempo real sobre la actividad pesquera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Herramientas para una fiscalización eficiente y la toma de decisiones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alerta temprana para actividades ilegales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automáticos para políticas públicas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182880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295" y="196486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18288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INDUSTRIAL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0574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y empresas pesqueras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2560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Documentación simplificada que no afecte su operatividad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Certificación de legalidad para acceder a mercados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Menores tiempos administrativos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Protección contra la competencia desleal de la pesca ilegal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4672" y="416052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429658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160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COMUNIDADES COSTERAS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1554480" y="43891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 y comunidades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68680" y="4892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Garantía de sostenibilidad del recurso a futuro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Acceso a tecnología asequible y fácil de usar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 agregado para sus productos mediante certificación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Participación en la gestión de sus recursos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28232" y="416052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295" y="429658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4160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ONG · ACADEMIA</a:t>
            </a:r>
            <a:endParaRPr 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43891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Organizaciones ambientales y de investigación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492240" y="4892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Transparencia en la información pesquera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 y salud de los ecosistemas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0" name="Text 24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2102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FUNCIONALES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el sistema debe hacer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373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373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737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240280" y="1600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automático de posición GPS cada 15 minutos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23774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" y="2377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</a:t>
            </a:r>
            <a:endParaRPr lang="en-US" sz="9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23774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240280" y="2240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 automáticas por ingreso a zonas restringidas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288036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3232" y="30175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3232" y="3017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0175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240280" y="28803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Digitalización de bitácoras de pesca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352044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13232" y="36576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13232" y="36576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RF01.4</a:t>
            </a:r>
            <a:endParaRPr lang="en-US" sz="9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365760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24028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digitales de capturas como evidencia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6052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13232" y="42976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13232" y="4297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9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3080" y="42976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2240280" y="4160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Códigos QR únicos por lote de captura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48640" y="480060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713232" y="49377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13232" y="49377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95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3080" y="493776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240280" y="4800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condiciones meteorológicas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548640" y="5440680"/>
            <a:ext cx="68122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13232" y="55778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713232" y="5577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RF01.7</a:t>
            </a:r>
            <a:endParaRPr lang="en-US" sz="950" dirty="0"/>
          </a:p>
        </p:txBody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83080" y="5577840"/>
            <a:ext cx="274320" cy="27432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2240280" y="54406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Notificaciones automáticas de irregularidades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7726680" y="1600200"/>
            <a:ext cx="3886200" cy="4389120"/>
          </a:xfrm>
          <a:prstGeom prst="roundRect">
            <a:avLst>
              <a:gd name="adj" fmla="val 3765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sp>
        <p:nvSpPr>
          <p:cNvPr id="41" name="Text 32"/>
          <p:cNvSpPr txBox="1"/>
          <p:nvPr/>
        </p:nvSpPr>
        <p:spPr>
          <a:xfrm>
            <a:off x="8001000" y="1691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8000" dirty="0"/>
          </a:p>
        </p:txBody>
      </p:sp>
      <p:sp>
        <p:nvSpPr>
          <p:cNvPr id="42" name="Text 33"/>
          <p:cNvSpPr txBox="1"/>
          <p:nvPr/>
        </p:nvSpPr>
        <p:spPr>
          <a:xfrm>
            <a:off x="91897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requerimientos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funcionales</a:t>
            </a:r>
            <a:endParaRPr lang="en-US" sz="1500" dirty="0"/>
          </a:p>
        </p:txBody>
      </p:sp>
      <p:sp>
        <p:nvSpPr>
          <p:cNvPr id="43" name="Shape 34"/>
          <p:cNvSpPr/>
          <p:nvPr/>
        </p:nvSpPr>
        <p:spPr>
          <a:xfrm>
            <a:off x="8001000" y="29718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800100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MONITOREO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50976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RF01.1 · RF01.2 · RF01.6</a:t>
            </a:r>
            <a:endParaRPr lang="en-US" sz="1150" dirty="0"/>
          </a:p>
        </p:txBody>
      </p:sp>
      <p:sp>
        <p:nvSpPr>
          <p:cNvPr id="46" name="Shape 37"/>
          <p:cNvSpPr/>
          <p:nvPr/>
        </p:nvSpPr>
        <p:spPr>
          <a:xfrm>
            <a:off x="8001000" y="36576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8001000" y="37490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9509760" y="3749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RF01.3 · RF01.4</a:t>
            </a:r>
            <a:endParaRPr lang="en-US" sz="1150" dirty="0"/>
          </a:p>
        </p:txBody>
      </p:sp>
      <p:sp>
        <p:nvSpPr>
          <p:cNvPr id="49" name="Shape 40"/>
          <p:cNvSpPr/>
          <p:nvPr/>
        </p:nvSpPr>
        <p:spPr>
          <a:xfrm>
            <a:off x="8001000" y="43434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001000" y="4434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9509760" y="4434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RF01.5</a:t>
            </a:r>
            <a:endParaRPr lang="en-US" sz="1150" dirty="0"/>
          </a:p>
        </p:txBody>
      </p:sp>
      <p:sp>
        <p:nvSpPr>
          <p:cNvPr id="52" name="Shape 43"/>
          <p:cNvSpPr/>
          <p:nvPr/>
        </p:nvSpPr>
        <p:spPr>
          <a:xfrm>
            <a:off x="8001000" y="5029200"/>
            <a:ext cx="3337560" cy="0"/>
          </a:xfrm>
          <a:prstGeom prst="line">
            <a:avLst/>
          </a:prstGeom>
          <a:noFill/>
          <a:ln w="9525">
            <a:solidFill>
              <a:srgbClr val="24617E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8001000" y="51206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9509760" y="5120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RF01.7</a:t>
            </a:r>
            <a:endParaRPr lang="en-US" sz="115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6" name="Text 4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867912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NO FUNCIONALES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Calidad medible desde el diseño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Cuatro metas concretas que guían la arquitectura, la base de datos y la seguridad.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2559223"/>
            <a:ext cx="294803" cy="2948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RENDIMIENTO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 3 s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Tiempo de respuesta para consultas.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64992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21024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087" y="2559223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325112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25112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SEGURIDAD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3621024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2FA</a:t>
            </a:r>
            <a:endParaRPr lang="en-US" sz="4200" dirty="0"/>
          </a:p>
        </p:txBody>
      </p:sp>
      <p:sp>
        <p:nvSpPr>
          <p:cNvPr id="19" name="Text 15"/>
          <p:cNvSpPr txBox="1"/>
          <p:nvPr/>
        </p:nvSpPr>
        <p:spPr>
          <a:xfrm>
            <a:off x="3621024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Autenticación de dos factores para usuarios críticos.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81344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37376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439" y="2559223"/>
            <a:ext cx="294803" cy="29480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141464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01.3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7141464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DISPONIBILIDAD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99,5 %</a:t>
            </a:r>
            <a:endParaRPr lang="en-US" sz="4200" dirty="0"/>
          </a:p>
        </p:txBody>
      </p:sp>
      <p:sp>
        <p:nvSpPr>
          <p:cNvPr id="26" name="Text 21"/>
          <p:cNvSpPr txBox="1"/>
          <p:nvPr/>
        </p:nvSpPr>
        <p:spPr>
          <a:xfrm>
            <a:off x="6437376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Disponibilidad del sistema en horario laboral.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997696" y="2148840"/>
            <a:ext cx="2633472" cy="3246120"/>
          </a:xfrm>
          <a:prstGeom prst="roundRect">
            <a:avLst>
              <a:gd name="adj" fmla="val 4861"/>
            </a:avLst>
          </a:prstGeom>
          <a:solidFill>
            <a:srgbClr val="0E3453">
              <a:alpha val="90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253728" y="2423160"/>
            <a:ext cx="566928" cy="5669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9791" y="2559223"/>
            <a:ext cx="294803" cy="29480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957816" y="24414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RNF 01.4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9957816" y="26791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ESCALABILIDAD</a:t>
            </a:r>
            <a:endParaRPr lang="en-US" sz="900" dirty="0"/>
          </a:p>
        </p:txBody>
      </p:sp>
      <p:sp>
        <p:nvSpPr>
          <p:cNvPr id="32" name="Text 26"/>
          <p:cNvSpPr txBox="1"/>
          <p:nvPr/>
        </p:nvSpPr>
        <p:spPr>
          <a:xfrm>
            <a:off x="9253728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10 000</a:t>
            </a:r>
            <a:endParaRPr lang="en-US" sz="4200" dirty="0"/>
          </a:p>
        </p:txBody>
      </p:sp>
      <p:sp>
        <p:nvSpPr>
          <p:cNvPr id="33" name="Text 27"/>
          <p:cNvSpPr txBox="1"/>
          <p:nvPr/>
        </p:nvSpPr>
        <p:spPr>
          <a:xfrm>
            <a:off x="9253728" y="4480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DCE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Embarcaciones: capacidad de crecimiento del sistema.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5" name="Text 2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53872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2 · REQUERIMIENTOS DE DOMINIO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Las reglas del sector pesquero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Condiciones propias del dominio pesquero que SISEP debe respetar.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29184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903" y="2422063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NORMATIVA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Cumplimiento del Reglamento de la Ley General de Pesca (D.S. N.° 012-2001-PE) y sus modificatorias. [2] [3]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7200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RD09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704088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2422063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720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OPERATIVIDAD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Procesos simplificados que no retrasen las operaciones pesqueras.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046720" y="201168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321040" y="226771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RD17</a:t>
            </a:r>
            <a:endParaRPr lang="en-US" sz="3600" dirty="0"/>
          </a:p>
        </p:txBody>
      </p:sp>
      <p:sp>
        <p:nvSpPr>
          <p:cNvPr id="20" name="Shape 16"/>
          <p:cNvSpPr/>
          <p:nvPr/>
        </p:nvSpPr>
        <p:spPr>
          <a:xfrm>
            <a:off x="10789920" y="2286000"/>
            <a:ext cx="566928" cy="566928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5983" y="2422063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2104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5A6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SOSTENIBILIDAD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2918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Monitoreo de indicadores de sostenibilidad pesquera.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3F4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5029200"/>
            <a:ext cx="9829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¿Cómo se aplican?  </a:t>
            </a:r>
            <a:pPr indent="0" marL="0">
              <a:buNone/>
            </a:pPr>
            <a:r>
              <a:rPr lang="en-US" sz="12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RD01 → validación automática de áreas, tallas y permisos  ·  RD09 → sincronización inmediata o por lotes  ·  RD17 → reportes y dashboards de sostenibilidad.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9806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FUNCIONAL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contexto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Límites del sistema, entradas y salidas de información y organismos relacionados.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36008" y="2924251"/>
            <a:ext cx="2926080" cy="2926080"/>
          </a:xfrm>
          <a:prstGeom prst="ellipse">
            <a:avLst/>
          </a:prstGeom>
          <a:ln w="12700">
            <a:solidFill>
              <a:srgbClr val="2EC4C9">
                <a:alpha val="45000"/>
              </a:srgbClr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133088" y="2562149"/>
            <a:ext cx="3931920" cy="3931920"/>
          </a:xfrm>
          <a:prstGeom prst="ellipse">
            <a:avLst/>
          </a:prstGeom>
          <a:ln w="12700">
            <a:solidFill>
              <a:srgbClr val="2EC4C9">
                <a:alpha val="3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474720" y="2368296"/>
            <a:ext cx="1325880" cy="1197864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74720" y="3374136"/>
            <a:ext cx="1325880" cy="466344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3474720" y="4114800"/>
            <a:ext cx="1325880" cy="265176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3474720" y="4389120"/>
            <a:ext cx="1325880" cy="996696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7406640" y="2779776"/>
            <a:ext cx="1280160" cy="877824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406640" y="3968496"/>
            <a:ext cx="1280160" cy="9144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7406640" y="4297680"/>
            <a:ext cx="1280160" cy="859536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01168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" y="212140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239914"/>
            <a:ext cx="256764" cy="25676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21122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23865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Investigación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01752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76656" y="312724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245754"/>
            <a:ext cx="256764" cy="25676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3118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PRODUCE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1280160" y="33924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Regulación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48640" y="402336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76656" y="413308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251594"/>
            <a:ext cx="256764" cy="25676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80160" y="4123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Armadores / Empresas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1280160" y="439826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Pesqueras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548640" y="502920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76656" y="513892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257434"/>
            <a:ext cx="256764" cy="25676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280160" y="5129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Pescadores artesanales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1280160" y="54041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Comunidades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8686800" y="242316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8814816" y="253288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322" y="2651394"/>
            <a:ext cx="256764" cy="25676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418320" y="2523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Satélites / Sensores</a:t>
            </a:r>
            <a:endParaRPr lang="en-US" sz="1150" dirty="0"/>
          </a:p>
        </p:txBody>
      </p:sp>
      <p:sp>
        <p:nvSpPr>
          <p:cNvPr id="39" name="Text 32"/>
          <p:cNvSpPr txBox="1"/>
          <p:nvPr/>
        </p:nvSpPr>
        <p:spPr>
          <a:xfrm>
            <a:off x="9418320" y="279806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Imágenes, AIS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8686800" y="361188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814816" y="372160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322" y="3840114"/>
            <a:ext cx="256764" cy="25676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9418320" y="3712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Mercado / Consumidores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9418320" y="39867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Verificación de trazabilidad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8686800" y="4800600"/>
            <a:ext cx="29260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8814816" y="4910328"/>
            <a:ext cx="493776" cy="493776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33322" y="5028834"/>
            <a:ext cx="256764" cy="25676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9418320" y="4901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Org. ambientales / I+D</a:t>
            </a:r>
            <a:endParaRPr lang="en-US" sz="1150" dirty="0"/>
          </a:p>
        </p:txBody>
      </p:sp>
      <p:sp>
        <p:nvSpPr>
          <p:cNvPr id="49" name="Text 40"/>
          <p:cNvSpPr txBox="1"/>
          <p:nvPr/>
        </p:nvSpPr>
        <p:spPr>
          <a:xfrm>
            <a:off x="9418320" y="51755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Organizaciones ambientales</a:t>
            </a:r>
            <a:endParaRPr lang="en-US" sz="950" dirty="0"/>
          </a:p>
        </p:txBody>
      </p:sp>
      <p:sp>
        <p:nvSpPr>
          <p:cNvPr id="50" name="Shape 41"/>
          <p:cNvSpPr/>
          <p:nvPr/>
        </p:nvSpPr>
        <p:spPr>
          <a:xfrm>
            <a:off x="4800600" y="3383280"/>
            <a:ext cx="2606040" cy="1188720"/>
          </a:xfrm>
          <a:prstGeom prst="roundRect">
            <a:avLst>
              <a:gd name="adj" fmla="val 12308"/>
            </a:avLst>
          </a:prstGeom>
          <a:solidFill>
            <a:srgbClr val="071A2C"/>
          </a:solidFill>
          <a:ln/>
          <a:effectLst>
            <a:outerShdw sx="100000" sy="100000" kx="0" ky="0" algn="bl" rotWithShape="0" blurRad="254000" dist="38100" dir="5400000">
              <a:srgbClr val="0B1D2E">
                <a:alpha val="30000"/>
              </a:srgbClr>
            </a:outerShdw>
          </a:effectLst>
        </p:spPr>
      </p:sp>
      <p:sp>
        <p:nvSpPr>
          <p:cNvPr id="51" name="Shape 42"/>
          <p:cNvSpPr/>
          <p:nvPr/>
        </p:nvSpPr>
        <p:spPr>
          <a:xfrm>
            <a:off x="548640" y="5989320"/>
            <a:ext cx="50292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52" name="Text 43"/>
          <p:cNvSpPr txBox="1"/>
          <p:nvPr/>
        </p:nvSpPr>
        <p:spPr>
          <a:xfrm>
            <a:off x="1188720" y="58704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de información entre cada actor externo y el sistema</a:t>
            </a:r>
            <a:endParaRPr lang="en-US" sz="1000" dirty="0"/>
          </a:p>
        </p:txBody>
      </p:sp>
      <p:sp>
        <p:nvSpPr>
          <p:cNvPr id="53" name="Text 44"/>
          <p:cNvSpPr txBox="1"/>
          <p:nvPr/>
        </p:nvSpPr>
        <p:spPr>
          <a:xfrm>
            <a:off x="4800600" y="35478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4800600" y="404164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Monitoreo Pesquero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6" name="Text 4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9806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FUNCIONAL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Casos de uso generales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331720" y="1554480"/>
            <a:ext cx="7543800" cy="4617720"/>
          </a:xfrm>
          <a:prstGeom prst="roundRect">
            <a:avLst>
              <a:gd name="adj" fmla="val 3564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256032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SISEP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481328" y="2468880"/>
            <a:ext cx="1216152" cy="114300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81328" y="3611880"/>
            <a:ext cx="1216152" cy="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3611880"/>
            <a:ext cx="1216152" cy="114300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9555480" y="2331720"/>
            <a:ext cx="1170432" cy="128016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9555480" y="3291840"/>
            <a:ext cx="1170432" cy="32004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555480" y="3611880"/>
            <a:ext cx="1170432" cy="64008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9555480" y="3611880"/>
            <a:ext cx="1170432" cy="2011680"/>
          </a:xfrm>
          <a:prstGeom prst="line">
            <a:avLst/>
          </a:prstGeom>
          <a:noFill/>
          <a:ln w="15875">
            <a:solidFill>
              <a:srgbClr val="5A6B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2103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880360" y="2103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alertas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(zonas restringidas, veda)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97480" y="3246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880360" y="3246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reportes / dashboards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438912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88036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Auditoría / fiscalización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96596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83680" y="19659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embarcación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292608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583680" y="29260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Enviar posición GPS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3886200"/>
            <a:ext cx="315468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83680" y="38862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captura (bitácora)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5257800"/>
            <a:ext cx="3154680" cy="731520"/>
          </a:xfrm>
          <a:prstGeom prst="ellipse">
            <a:avLst/>
          </a:prstGeom>
          <a:solidFill>
            <a:srgbClr val="E3F4F6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83680" y="52578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Trazabilidad y QR por lote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78140" y="4617720"/>
            <a:ext cx="0" cy="64008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  <a:tailEnd type="open"/>
          </a:ln>
        </p:spPr>
      </p:sp>
      <p:sp>
        <p:nvSpPr>
          <p:cNvPr id="29" name="Text 27"/>
          <p:cNvSpPr txBox="1"/>
          <p:nvPr/>
        </p:nvSpPr>
        <p:spPr>
          <a:xfrm>
            <a:off x="8087868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«include»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280160" y="295351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81328" y="3355848"/>
            <a:ext cx="0" cy="694944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7280" y="3611880"/>
            <a:ext cx="768096" cy="0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179576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1328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2386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 / PRODUCE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2642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Institución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524744" y="295351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25912" y="3355848"/>
            <a:ext cx="0" cy="694944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41864" y="3611880"/>
            <a:ext cx="768096" cy="0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10424160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25912" y="4050792"/>
            <a:ext cx="301752" cy="475488"/>
          </a:xfrm>
          <a:prstGeom prst="line">
            <a:avLst/>
          </a:prstGeom>
          <a:noFill/>
          <a:ln w="25400">
            <a:solidFill>
              <a:srgbClr val="0B2A4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11512" y="2386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 / Armador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811512" y="2642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Usuario de campo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DE PROCESOS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actividad (UML)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principal desde el inicio de la jornada de pesca hasta la generación de reportes.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0B1D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2770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Inicio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514600"/>
            <a:ext cx="320040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23444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41732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embarcación inicia la jornada y enciende el GPS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2471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2471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20440" y="2514600"/>
            <a:ext cx="320040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4048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2336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periódico de GPS (cada 15 min) y sensores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3075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73075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514600"/>
            <a:ext cx="320040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4652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2940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Registro de captura en bitácora digital + fotos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3679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3679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732520" y="2514600"/>
            <a:ext cx="320040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52560" y="205740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35440" y="20574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Envío de datos a la plataforma (sync inmediata o por lotes)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42832" y="1929384"/>
            <a:ext cx="310896" cy="310896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42832" y="1929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195560" y="2971800"/>
            <a:ext cx="0" cy="57150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21140" y="3543300"/>
            <a:ext cx="2148840" cy="1325880"/>
          </a:xfrm>
          <a:prstGeom prst="diamond">
            <a:avLst/>
          </a:prstGeom>
          <a:solidFill>
            <a:srgbClr val="E3F4F6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95460" y="38404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 automática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(áreas, tallas, permisos)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257800" y="3291840"/>
            <a:ext cx="2743200" cy="777240"/>
          </a:xfrm>
          <a:prstGeom prst="roundRect">
            <a:avLst>
              <a:gd name="adj" fmla="val 16471"/>
            </a:avLst>
          </a:prstGeom>
          <a:solidFill>
            <a:srgbClr val="E6F6F4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440680" y="3291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Almacenar captura, generar QR y registrar lote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257800" y="4846320"/>
            <a:ext cx="2743200" cy="777240"/>
          </a:xfrm>
          <a:prstGeom prst="roundRect">
            <a:avLst>
              <a:gd name="adj" fmla="val 16471"/>
            </a:avLst>
          </a:prstGeom>
          <a:solidFill>
            <a:srgbClr val="FDECE9"/>
          </a:solidFill>
          <a:ln w="15875">
            <a:solidFill>
              <a:srgbClr val="E8553F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5440680" y="4846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alerta y notificar a autoridades y usuario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 flipH="1" flipV="1">
            <a:off x="8001000" y="3680460"/>
            <a:ext cx="1120140" cy="52578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8001000" y="4206240"/>
            <a:ext cx="1120140" cy="102870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7973568" y="33832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[cumple reglas]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092440" y="5349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[irregularidad]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103120" y="3749040"/>
            <a:ext cx="24231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286000" y="37490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Generar reportes y dashboards (estadísticas, tendencias)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 flipH="1">
            <a:off x="4526280" y="3680460"/>
            <a:ext cx="731520" cy="52578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 flipV="1">
            <a:off x="4526280" y="4206240"/>
            <a:ext cx="731520" cy="102870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1417320" y="4206240"/>
            <a:ext cx="685800" cy="0"/>
          </a:xfrm>
          <a:prstGeom prst="line">
            <a:avLst/>
          </a:prstGeom>
          <a:noFill/>
          <a:ln w="1905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60120" y="3977640"/>
            <a:ext cx="457200" cy="4572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B1D2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1560" y="4069080"/>
            <a:ext cx="274320" cy="274320"/>
          </a:xfrm>
          <a:prstGeom prst="ellipse">
            <a:avLst/>
          </a:prstGeom>
          <a:solidFill>
            <a:srgbClr val="0B1D2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22960" y="44988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760720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3F4F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7240" y="5760720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Clave: </a:t>
            </a:r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validación aplica las reglas de dominio (RD01); lo que cumple se certifica con QR y lo irregular dispara una alerta.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71576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3 · MODELO DE DATOS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entidad-relación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65176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5176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posee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0..*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577840" y="21717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19248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gestiona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082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503920" y="21717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19248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contiene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2082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N..*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7784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7784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tiene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503920" y="3771900"/>
            <a:ext cx="822960" cy="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35250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pertenece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084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 flipV="1">
            <a:off x="4526280" y="4343400"/>
            <a:ext cx="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N..*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452360" y="4343400"/>
            <a:ext cx="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 flipV="1">
            <a:off x="5257800" y="2743200"/>
            <a:ext cx="1463040" cy="457200"/>
          </a:xfrm>
          <a:prstGeom prst="line">
            <a:avLst/>
          </a:prstGeom>
          <a:noFill/>
          <a:ln w="15875">
            <a:solidFill>
              <a:srgbClr val="0F4C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59552" y="28072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tiene </a:t>
            </a:r>
            <a:pPr algn="l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28" name="Shape 26"/>
          <p:cNvSpPr/>
          <p:nvPr/>
        </p:nvSpPr>
        <p:spPr>
          <a:xfrm>
            <a:off x="347472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1188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Usuario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id_usr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auth_2fa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3796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Permiso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id_perm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tipo_permiso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fecha_inicio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fecha_fin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326880" y="16002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326880" y="16002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38" name="Shape 36"/>
          <p:cNvSpPr/>
          <p:nvPr/>
        </p:nvSpPr>
        <p:spPr>
          <a:xfrm>
            <a:off x="9326880" y="17830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6404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Especie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464040" y="20025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id_esp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nombre_cientifico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nombre_comun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talla_minima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4864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Pescador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id_pesc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contacto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7472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47472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48" name="Shape 46"/>
          <p:cNvSpPr/>
          <p:nvPr/>
        </p:nvSpPr>
        <p:spPr>
          <a:xfrm>
            <a:off x="347472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1188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Embarcación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361188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nombre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eslora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matricula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owner_id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0080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40080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3796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53796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id_capt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fecha_hora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total_kg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id_lote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lugar_id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326880" y="32004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326880" y="32004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58" name="Shape 56"/>
          <p:cNvSpPr/>
          <p:nvPr/>
        </p:nvSpPr>
        <p:spPr>
          <a:xfrm>
            <a:off x="9326880" y="33832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64040" y="3200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Lote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9464040" y="36027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id_lote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codigo_qr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fecha_creacion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estado_trazabilidad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4720" y="48006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3474720" y="48006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63" name="Shape 61"/>
          <p:cNvSpPr/>
          <p:nvPr/>
        </p:nvSpPr>
        <p:spPr>
          <a:xfrm>
            <a:off x="3474720" y="49834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11880" y="4800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SensorRegistro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3611880" y="52029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id_reg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id_emb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lat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tipo_sensor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valor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00800" y="480060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D2D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400800" y="4800600"/>
            <a:ext cx="2103120" cy="329184"/>
          </a:xfrm>
          <a:prstGeom prst="roundRect">
            <a:avLst>
              <a:gd name="adj" fmla="val 27778"/>
            </a:avLst>
          </a:prstGeom>
          <a:solidFill>
            <a:srgbClr val="0B2A45"/>
          </a:solidFill>
          <a:ln/>
        </p:spPr>
      </p:sp>
      <p:sp>
        <p:nvSpPr>
          <p:cNvPr id="68" name="Shape 66"/>
          <p:cNvSpPr/>
          <p:nvPr/>
        </p:nvSpPr>
        <p:spPr>
          <a:xfrm>
            <a:off x="6400800" y="4983480"/>
            <a:ext cx="2103120" cy="146304"/>
          </a:xfrm>
          <a:prstGeom prst="rect">
            <a:avLst/>
          </a:prstGeom>
          <a:solidFill>
            <a:srgbClr val="0B2A4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37960" y="4800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Localización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6537960" y="5202936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id_loc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latitud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· 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longitud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zona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164592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 la base de datos que soportará las operaciones de SISEP: flota, permisos, capturas, lotes y registros de sensores.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48640" y="480060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E3F4F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77240" y="4846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PK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 primaria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FK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clave foránea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1..*  N..1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cardinalidad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9326880" y="4800600"/>
            <a:ext cx="2286000" cy="1143000"/>
          </a:xfrm>
          <a:prstGeom prst="roundRect">
            <a:avLst>
              <a:gd name="adj" fmla="val 9600"/>
            </a:avLst>
          </a:prstGeom>
          <a:solidFill>
            <a:srgbClr val="071A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509760" y="484632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4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0" y="484632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entidades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E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relaciones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502920"/>
            <a:ext cx="5943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0" b="1" dirty="0">
                <a:solidFill>
                  <a:srgbClr val="2EC4C9">
                    <a:alpha val="2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UNIDAD II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033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 y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Ágil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394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5–7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86600" y="176022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94310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846" y="2085746"/>
            <a:ext cx="309067" cy="30906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138160" y="19431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15341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de diseño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086600" y="294894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0" y="313182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846" y="327446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38160" y="31318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334213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Metodología de trabajo: Scrum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7086600" y="4137660"/>
            <a:ext cx="4526280" cy="960120"/>
          </a:xfrm>
          <a:prstGeom prst="roundRect">
            <a:avLst>
              <a:gd name="adj" fmla="val 11429"/>
            </a:avLst>
          </a:prstGeom>
          <a:solidFill>
            <a:srgbClr val="0E3453">
              <a:alpha val="8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0" y="4320540"/>
            <a:ext cx="594360" cy="59436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7846" y="446318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38160" y="43205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8138160" y="45308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Jira, Draw.io, dbdiagram.io, GitHub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626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 · MODELO ESTRUCTURAL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clases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01752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matricula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tipoEmbarcacion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capacidadBodega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estado : string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315010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14116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registrarCaptura()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enviarPosicionGPS()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consultarEstado()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90288" y="182880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DetalleCaptura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27448" y="22402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cantidadKg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cantidadUnidades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tallaPromedioCm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cumpleTallaMinima : string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0288" y="298094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27448" y="3044952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validarTalla()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calcularTotal()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verificarCuota()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485632" y="1828800"/>
            <a:ext cx="3017520" cy="1618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85632" y="182880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85632" y="18288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MonitoreoGPS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22792" y="22402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latitud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longitud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enZonaPermitida : string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485632" y="298094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22792" y="3044952"/>
            <a:ext cx="2788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capturarPosicion()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validarZona()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206240"/>
            <a:ext cx="3017520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61772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longitud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zonaPesca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temperaturaAgua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codigoQR : string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552754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591556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registrarDatos()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generarCodigoQR()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validarCumplimiento()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90288" y="420624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90288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90288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Especie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727448" y="46177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nombreComun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nombreCientifico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tallaMinimaCm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cuotaAnualTn : string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90288" y="5358384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727448" y="5422392"/>
            <a:ext cx="27889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verificarVeda()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consultarCuota()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obtenerTallaMinima()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485632" y="4206240"/>
            <a:ext cx="3017520" cy="1787652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6B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485632" y="4206240"/>
            <a:ext cx="3017520" cy="347472"/>
          </a:xfrm>
          <a:prstGeom prst="rect">
            <a:avLst/>
          </a:prstGeom>
          <a:solidFill>
            <a:srgbClr val="0B2A45"/>
          </a:solidFill>
          <a:ln w="12700">
            <a:solidFill>
              <a:srgbClr val="0F4C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85632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622792" y="4617720"/>
            <a:ext cx="278892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tipoAlerta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descripcion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fechaHora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nivelGravedad : string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estadoAtencion : string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485632" y="5527548"/>
            <a:ext cx="3017520" cy="0"/>
          </a:xfrm>
          <a:prstGeom prst="line">
            <a:avLst/>
          </a:prstGeom>
          <a:noFill/>
          <a:ln w="12700">
            <a:solidFill>
              <a:srgbClr val="0F4C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22792" y="5591556"/>
            <a:ext cx="27889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generarAlerta()</a:t>
            </a:r>
            <a:endParaRPr lang="en-US" sz="900" dirty="0"/>
          </a:p>
          <a:p>
            <a:pPr indent="0" marL="0">
              <a:lnSpc>
                <a:spcPts val="1330"/>
              </a:lnSpc>
              <a:buNone/>
            </a:pPr>
            <a:r>
              <a:rPr lang="en-US" sz="900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notificarInspectores()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194560" y="3913632"/>
            <a:ext cx="0" cy="292608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12264" y="3785616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286000" y="383133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+captura  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99048" y="3744468"/>
            <a:ext cx="0" cy="461772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16752" y="3616452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90488" y="36621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190488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+especie  0..1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994392" y="3575304"/>
            <a:ext cx="0" cy="630936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912096" y="3447288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085832" y="34930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0085832" y="39776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+alerta  0..1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831336" y="5029200"/>
            <a:ext cx="329184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946904"/>
            <a:ext cx="256032" cy="16459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160520" y="2697480"/>
            <a:ext cx="0" cy="233172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2697480"/>
            <a:ext cx="429768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904488" y="4800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4178808" y="24688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0..1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 flipV="1">
            <a:off x="1325880" y="1572768"/>
            <a:ext cx="0" cy="128016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243584" y="1572768"/>
            <a:ext cx="164592" cy="256032"/>
          </a:xfrm>
          <a:prstGeom prst="diamond">
            <a:avLst/>
          </a:prstGeom>
          <a:solidFill>
            <a:srgbClr val="0B2A45"/>
          </a:solidFill>
          <a:ln w="9525">
            <a:solidFill>
              <a:srgbClr val="0B2A4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25880" y="1572768"/>
            <a:ext cx="8668512" cy="0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994392" y="1572768"/>
            <a:ext cx="0" cy="256032"/>
          </a:xfrm>
          <a:prstGeom prst="line">
            <a:avLst/>
          </a:prstGeom>
          <a:noFill/>
          <a:ln w="15875">
            <a:solidFill>
              <a:srgbClr val="0B2A4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211312" y="13533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+monitoreoGPS  0..1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90288" y="6089904"/>
            <a:ext cx="128016" cy="182880"/>
          </a:xfrm>
          <a:prstGeom prst="diamond">
            <a:avLst/>
          </a:prstGeom>
          <a:solidFill>
            <a:srgbClr val="0B2A45"/>
          </a:solidFill>
          <a:ln w="6350">
            <a:solidFill>
              <a:srgbClr val="0B2A45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800600" y="6053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Composición: el todo (◆) contiene a la parte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4 · MODELO DE INTERACCIÓN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secuencia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Intercambio de mensajes entre la embarcación, el sistema, la base de datos, IMARPE y PRODUCE.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41732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08076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41248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0744200" y="2468880"/>
            <a:ext cx="0" cy="3520440"/>
          </a:xfrm>
          <a:prstGeom prst="line">
            <a:avLst/>
          </a:prstGeom>
          <a:noFill/>
          <a:ln w="12700">
            <a:solidFill>
              <a:srgbClr val="9AAA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675888" y="2560320"/>
            <a:ext cx="146304" cy="3383280"/>
          </a:xfrm>
          <a:prstGeom prst="rect">
            <a:avLst/>
          </a:prstGeom>
          <a:solidFill>
            <a:srgbClr val="E3F4F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75688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50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Embarcación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88036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88" y="2075688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28269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SistemaMonitoreo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21208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2075688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1441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54380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528" y="2075688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4613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IMARPE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9875520" y="192024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5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48" y="207568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7785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PRODUCE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1417320" y="2788920"/>
            <a:ext cx="2258568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1618488" y="2569464"/>
            <a:ext cx="950976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GPS datos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3822192" y="3090672"/>
            <a:ext cx="2258568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4023360" y="2871216"/>
            <a:ext cx="82296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Validar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 flipH="1">
            <a:off x="3822192" y="3392424"/>
            <a:ext cx="2258568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  <a:tailEnd type="open"/>
          </a:ln>
        </p:spPr>
      </p:sp>
      <p:sp>
        <p:nvSpPr>
          <p:cNvPr id="32" name="Text 25"/>
          <p:cNvSpPr txBox="1"/>
          <p:nvPr/>
        </p:nvSpPr>
        <p:spPr>
          <a:xfrm>
            <a:off x="4023360" y="3172968"/>
            <a:ext cx="950976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Respuesta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3822192" y="3694176"/>
            <a:ext cx="4590288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  <a:tailEnd type="triangle"/>
          </a:ln>
        </p:spPr>
      </p:sp>
      <p:sp>
        <p:nvSpPr>
          <p:cNvPr id="34" name="Text 27"/>
          <p:cNvSpPr txBox="1"/>
          <p:nvPr/>
        </p:nvSpPr>
        <p:spPr>
          <a:xfrm>
            <a:off x="4023360" y="3474720"/>
            <a:ext cx="75895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Alerta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3822192" y="3995928"/>
            <a:ext cx="6922008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4023360" y="3776472"/>
            <a:ext cx="75895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5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5. Alerta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1417320" y="4297680"/>
            <a:ext cx="2258568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1618488" y="4078224"/>
            <a:ext cx="1335024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6. Bitácora, fotos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 flipH="1">
            <a:off x="3822192" y="4599432"/>
            <a:ext cx="2258568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  <a:tailEnd type="open"/>
          </a:ln>
        </p:spPr>
      </p:sp>
      <p:sp>
        <p:nvSpPr>
          <p:cNvPr id="40" name="Text 33"/>
          <p:cNvSpPr txBox="1"/>
          <p:nvPr/>
        </p:nvSpPr>
        <p:spPr>
          <a:xfrm>
            <a:off x="4023360" y="4379976"/>
            <a:ext cx="114300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7. Confirmación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3822192" y="4901184"/>
            <a:ext cx="2258568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  <a:tailEnd type="triangle"/>
          </a:ln>
        </p:spPr>
      </p:sp>
      <p:sp>
        <p:nvSpPr>
          <p:cNvPr id="42" name="Text 35"/>
          <p:cNvSpPr txBox="1"/>
          <p:nvPr/>
        </p:nvSpPr>
        <p:spPr>
          <a:xfrm>
            <a:off x="4023360" y="4681728"/>
            <a:ext cx="1078992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8. QR generado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3822192" y="5202936"/>
            <a:ext cx="4590288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4" name="Text 37"/>
          <p:cNvSpPr txBox="1"/>
          <p:nvPr/>
        </p:nvSpPr>
        <p:spPr>
          <a:xfrm>
            <a:off x="4023360" y="4983480"/>
            <a:ext cx="822960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9. Reporte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3822192" y="5504688"/>
            <a:ext cx="6922008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6" name="Text 39"/>
          <p:cNvSpPr txBox="1"/>
          <p:nvPr/>
        </p:nvSpPr>
        <p:spPr>
          <a:xfrm>
            <a:off x="4023360" y="5285232"/>
            <a:ext cx="886968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10. Reporte</a:t>
            </a:r>
            <a:endParaRPr lang="en-US" sz="900" dirty="0"/>
          </a:p>
        </p:txBody>
      </p:sp>
      <p:sp>
        <p:nvSpPr>
          <p:cNvPr id="47" name="Shape 40"/>
          <p:cNvSpPr/>
          <p:nvPr/>
        </p:nvSpPr>
        <p:spPr>
          <a:xfrm flipH="1">
            <a:off x="1417320" y="5806440"/>
            <a:ext cx="2258568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  <a:tailEnd type="triangle"/>
          </a:ln>
        </p:spPr>
      </p:sp>
      <p:sp>
        <p:nvSpPr>
          <p:cNvPr id="48" name="Text 41"/>
          <p:cNvSpPr txBox="1"/>
          <p:nvPr/>
        </p:nvSpPr>
        <p:spPr>
          <a:xfrm>
            <a:off x="1618488" y="5586984"/>
            <a:ext cx="1207008" cy="192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A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11. Notificación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852160" y="6217920"/>
            <a:ext cx="365760" cy="0"/>
          </a:xfrm>
          <a:prstGeom prst="line">
            <a:avLst/>
          </a:prstGeom>
          <a:noFill/>
          <a:ln w="19050">
            <a:solidFill>
              <a:srgbClr val="0B2A45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629107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Llamada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7269480" y="6217920"/>
            <a:ext cx="365760" cy="0"/>
          </a:xfrm>
          <a:prstGeom prst="line">
            <a:avLst/>
          </a:prstGeom>
          <a:noFill/>
          <a:ln w="19050">
            <a:solidFill>
              <a:srgbClr val="5A6B7B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770839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Respuesta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8686800" y="6217920"/>
            <a:ext cx="365760" cy="0"/>
          </a:xfrm>
          <a:prstGeom prst="line">
            <a:avLst/>
          </a:prstGeom>
          <a:noFill/>
          <a:ln w="19050">
            <a:solidFill>
              <a:srgbClr val="E8553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912571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</a:t>
            </a:r>
            <a:endParaRPr lang="en-US" sz="900" dirty="0"/>
          </a:p>
        </p:txBody>
      </p:sp>
      <p:sp>
        <p:nvSpPr>
          <p:cNvPr id="55" name="Shape 48"/>
          <p:cNvSpPr/>
          <p:nvPr/>
        </p:nvSpPr>
        <p:spPr>
          <a:xfrm>
            <a:off x="10104120" y="6217920"/>
            <a:ext cx="36576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543032" y="61081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58" name="Text 51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29184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METODOLOGÍA DE TRABAJO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Scrum: entregas cortas, valor continuo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Scrum es una metodología ágil para organizar y desarrollar proyectos complejos, especialmente útil cuando los requisitos pueden cambiar o evolucionar. Se basa en ciclos cortos de trabajo —los sprints— que entregan valor de forma incremental y continua. [6]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5508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E3F4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sprints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071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3816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semanas por sprint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921240" y="1600200"/>
            <a:ext cx="1645920" cy="1325880"/>
          </a:xfrm>
          <a:prstGeom prst="roundRect">
            <a:avLst>
              <a:gd name="adj" fmla="val 9655"/>
            </a:avLst>
          </a:prstGeom>
          <a:solidFill>
            <a:srgbClr val="E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921240" y="1664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0012680" y="2377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historias de usuario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53896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06" y="3535070"/>
            <a:ext cx="427939" cy="427939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Backlog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Lista priorizada de funcionalidades, dividida en épicas y tareas.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414016" y="3749040"/>
            <a:ext cx="171907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270248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758" y="3535070"/>
            <a:ext cx="427939" cy="4279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401568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Backlog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493008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Historias de usuario seleccionadas para cada sprint.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230368" y="3749040"/>
            <a:ext cx="171907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7086600" y="3337560"/>
            <a:ext cx="822960" cy="822960"/>
          </a:xfrm>
          <a:prstGeom prst="ellipse">
            <a:avLst/>
          </a:prstGeom>
          <a:solidFill>
            <a:srgbClr val="2EC4C9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4110" y="3535070"/>
            <a:ext cx="427939" cy="427939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17920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· 2 semanas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6309360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Ciclo corto de trabajo gestionado en Jira.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8046720" y="3749040"/>
            <a:ext cx="1719072" cy="0"/>
          </a:xfrm>
          <a:prstGeom prst="line">
            <a:avLst/>
          </a:prstGeom>
          <a:noFill/>
          <a:ln w="25400">
            <a:solidFill>
              <a:srgbClr val="0F4C6B"/>
            </a:solidFill>
            <a:prstDash val="solid"/>
            <a:tailEnd type="triangle"/>
          </a:ln>
        </p:spPr>
      </p:sp>
      <p:sp>
        <p:nvSpPr>
          <p:cNvPr id="30" name="Shape 25"/>
          <p:cNvSpPr/>
          <p:nvPr/>
        </p:nvSpPr>
        <p:spPr>
          <a:xfrm>
            <a:off x="9902952" y="3337560"/>
            <a:ext cx="822960" cy="822960"/>
          </a:xfrm>
          <a:prstGeom prst="ellipse">
            <a:avLst/>
          </a:prstGeom>
          <a:solidFill>
            <a:srgbClr val="0B2A45"/>
          </a:solidFill>
          <a:ln/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462" y="3535070"/>
            <a:ext cx="427939" cy="427939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034272" y="4279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9125712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Entregable funcional: módulos del sistema operativos.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0314432" y="5349240"/>
            <a:ext cx="0" cy="41148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 flipH="1">
            <a:off x="1865376" y="5760720"/>
            <a:ext cx="8449056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 flipV="1">
            <a:off x="1865376" y="5349240"/>
            <a:ext cx="0" cy="41148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7" name="Text 31"/>
          <p:cNvSpPr txBox="1"/>
          <p:nvPr/>
        </p:nvSpPr>
        <p:spPr>
          <a:xfrm>
            <a:off x="3657600" y="5641848"/>
            <a:ext cx="489204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retroalimentación: se revisa el incremento y se ajusta el backlog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9" name="Text 33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127248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BACKLOG DEL PRODUCTO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 e historias de usuario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Backlog organizado en Jira:  Épica  →  Historia de usuario (HU)  →  Tarea.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F4C6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65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965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HU01 – HU06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697480"/>
            <a:ext cx="566928" cy="566928"/>
          </a:xfrm>
          <a:prstGeom prst="ellipse">
            <a:avLst/>
          </a:prstGeom>
          <a:solidFill>
            <a:srgbClr val="0F4C6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03" y="2833543"/>
            <a:ext cx="294803" cy="29480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1328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1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de flota pesquera</a:t>
            </a:r>
            <a:endParaRPr lang="en-US" sz="13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6908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69848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Registrar embarcación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44568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69848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Posición GPS cada 15 min</a:t>
            </a:r>
            <a:endParaRPr lang="en-US" sz="10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20056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69848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Alertas por zonas restringidas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777240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77240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RF01.1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153619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153619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RF01.2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3319272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547872" y="2697480"/>
            <a:ext cx="566928" cy="566928"/>
          </a:xfrm>
          <a:prstGeom prst="ellipse">
            <a:avLst/>
          </a:prstGeom>
          <a:solidFill>
            <a:srgbClr val="0F4C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935" y="283354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25196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2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547872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Actividades pesqueras</a:t>
            </a:r>
            <a:endParaRPr lang="en-US" sz="13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7872" y="4069080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840480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Bitácora digital de pesca</a:t>
            </a:r>
            <a:endParaRPr lang="en-US" sz="10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7872" y="4544568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840480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Fotos de capturas como evidencia</a:t>
            </a:r>
            <a:endParaRPr lang="en-US" sz="10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7872" y="5020056"/>
            <a:ext cx="201168" cy="20116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840480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QR único por lote</a:t>
            </a:r>
            <a:endParaRPr 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354787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354787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RF01.3</a:t>
            </a:r>
            <a:endParaRPr 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4306824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4306824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RF01.4</a:t>
            </a:r>
            <a:endParaRPr lang="en-US" sz="850" dirty="0"/>
          </a:p>
        </p:txBody>
      </p:sp>
      <p:sp>
        <p:nvSpPr>
          <p:cNvPr id="39" name="Shape 29"/>
          <p:cNvSpPr/>
          <p:nvPr/>
        </p:nvSpPr>
        <p:spPr>
          <a:xfrm>
            <a:off x="5065776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40" name="Text 30"/>
          <p:cNvSpPr txBox="1"/>
          <p:nvPr/>
        </p:nvSpPr>
        <p:spPr>
          <a:xfrm>
            <a:off x="5065776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RF01.5</a:t>
            </a:r>
            <a:endParaRPr lang="en-US" sz="850" dirty="0"/>
          </a:p>
        </p:txBody>
      </p:sp>
      <p:sp>
        <p:nvSpPr>
          <p:cNvPr id="41" name="Shape 31"/>
          <p:cNvSpPr/>
          <p:nvPr/>
        </p:nvSpPr>
        <p:spPr>
          <a:xfrm>
            <a:off x="6172200" y="1965960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42" name="Text 32"/>
          <p:cNvSpPr txBox="1"/>
          <p:nvPr/>
        </p:nvSpPr>
        <p:spPr>
          <a:xfrm>
            <a:off x="6172200" y="1965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</a:t>
            </a:r>
            <a:endParaRPr lang="en-US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7452360" y="1965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HU07 – HU15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172200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6400800" y="26974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6863" y="2833543"/>
            <a:ext cx="294803" cy="294803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104888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3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6400800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normativa</a:t>
            </a:r>
            <a:endParaRPr lang="en-US" sz="1350" dirty="0"/>
          </a:p>
        </p:txBody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4069080"/>
            <a:ext cx="201168" cy="201168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6693408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Validación de áreas, tallas y permisos</a:t>
            </a:r>
            <a:endParaRPr lang="en-US" sz="1050" dirty="0"/>
          </a:p>
        </p:txBody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4544568"/>
            <a:ext cx="201168" cy="20116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6693408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Notificación de irregularidades</a:t>
            </a:r>
            <a:endParaRPr lang="en-US" sz="1050" dirty="0"/>
          </a:p>
        </p:txBody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0" y="5020056"/>
            <a:ext cx="201168" cy="201168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6693408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Cumplimiento del D.S. 012-2001-PE</a:t>
            </a:r>
            <a:endParaRPr lang="en-US" sz="1050" dirty="0"/>
          </a:p>
        </p:txBody>
      </p:sp>
      <p:sp>
        <p:nvSpPr>
          <p:cNvPr id="55" name="Shape 41"/>
          <p:cNvSpPr/>
          <p:nvPr/>
        </p:nvSpPr>
        <p:spPr>
          <a:xfrm>
            <a:off x="6400800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6" name="Text 42"/>
          <p:cNvSpPr txBox="1"/>
          <p:nvPr/>
        </p:nvSpPr>
        <p:spPr>
          <a:xfrm>
            <a:off x="6400800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RF01.7</a:t>
            </a:r>
            <a:endParaRPr lang="en-US" sz="850" dirty="0"/>
          </a:p>
        </p:txBody>
      </p:sp>
      <p:sp>
        <p:nvSpPr>
          <p:cNvPr id="57" name="Shape 43"/>
          <p:cNvSpPr/>
          <p:nvPr/>
        </p:nvSpPr>
        <p:spPr>
          <a:xfrm>
            <a:off x="7159752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58" name="Text 44"/>
          <p:cNvSpPr txBox="1"/>
          <p:nvPr/>
        </p:nvSpPr>
        <p:spPr>
          <a:xfrm>
            <a:off x="7159752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RD01</a:t>
            </a:r>
            <a:endParaRPr lang="en-US" sz="850" dirty="0"/>
          </a:p>
        </p:txBody>
      </p:sp>
      <p:sp>
        <p:nvSpPr>
          <p:cNvPr id="59" name="Shape 45"/>
          <p:cNvSpPr/>
          <p:nvPr/>
        </p:nvSpPr>
        <p:spPr>
          <a:xfrm>
            <a:off x="7781544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60" name="Text 46"/>
          <p:cNvSpPr txBox="1"/>
          <p:nvPr/>
        </p:nvSpPr>
        <p:spPr>
          <a:xfrm>
            <a:off x="7781544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RD09</a:t>
            </a:r>
            <a:endParaRPr lang="en-US" sz="850" dirty="0"/>
          </a:p>
        </p:txBody>
      </p:sp>
      <p:sp>
        <p:nvSpPr>
          <p:cNvPr id="61" name="Shape 47"/>
          <p:cNvSpPr/>
          <p:nvPr/>
        </p:nvSpPr>
        <p:spPr>
          <a:xfrm>
            <a:off x="8942832" y="2468880"/>
            <a:ext cx="2633472" cy="3611880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2" name="Shape 48"/>
          <p:cNvSpPr/>
          <p:nvPr/>
        </p:nvSpPr>
        <p:spPr>
          <a:xfrm>
            <a:off x="9171432" y="26974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3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7495" y="2833543"/>
            <a:ext cx="294803" cy="294803"/>
          </a:xfrm>
          <a:prstGeom prst="rect">
            <a:avLst/>
          </a:prstGeom>
        </p:spPr>
      </p:pic>
      <p:sp>
        <p:nvSpPr>
          <p:cNvPr id="64" name="Text 49"/>
          <p:cNvSpPr txBox="1"/>
          <p:nvPr/>
        </p:nvSpPr>
        <p:spPr>
          <a:xfrm>
            <a:off x="987552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 4</a:t>
            </a:r>
            <a:endParaRPr lang="en-US" sz="900" dirty="0"/>
          </a:p>
        </p:txBody>
      </p:sp>
      <p:sp>
        <p:nvSpPr>
          <p:cNvPr id="65" name="Text 50"/>
          <p:cNvSpPr txBox="1"/>
          <p:nvPr/>
        </p:nvSpPr>
        <p:spPr>
          <a:xfrm>
            <a:off x="9171432" y="3383280"/>
            <a:ext cx="2221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Inteligencia pesquera y medioambiental</a:t>
            </a:r>
            <a:endParaRPr lang="en-US" sz="1350" dirty="0"/>
          </a:p>
        </p:txBody>
      </p:sp>
      <p:pic>
        <p:nvPicPr>
          <p:cNvPr id="66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1432" y="4069080"/>
            <a:ext cx="201168" cy="201168"/>
          </a:xfrm>
          <a:prstGeom prst="rect">
            <a:avLst/>
          </a:prstGeom>
        </p:spPr>
      </p:pic>
      <p:sp>
        <p:nvSpPr>
          <p:cNvPr id="67" name="Text 51"/>
          <p:cNvSpPr txBox="1"/>
          <p:nvPr/>
        </p:nvSpPr>
        <p:spPr>
          <a:xfrm>
            <a:off x="9464040" y="404164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Condiciones meteorológicas</a:t>
            </a:r>
            <a:endParaRPr lang="en-US" sz="1050" dirty="0"/>
          </a:p>
        </p:txBody>
      </p:sp>
      <p:pic>
        <p:nvPicPr>
          <p:cNvPr id="68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71432" y="4544568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464040" y="451713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 de sostenibilidad</a:t>
            </a:r>
            <a:endParaRPr lang="en-US" sz="1050" dirty="0"/>
          </a:p>
        </p:txBody>
      </p:sp>
      <p:pic>
        <p:nvPicPr>
          <p:cNvPr id="70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71432" y="5020056"/>
            <a:ext cx="201168" cy="201168"/>
          </a:xfrm>
          <a:prstGeom prst="rect">
            <a:avLst/>
          </a:prstGeom>
        </p:spPr>
      </p:pic>
      <p:sp>
        <p:nvSpPr>
          <p:cNvPr id="71" name="Text 53"/>
          <p:cNvSpPr txBox="1"/>
          <p:nvPr/>
        </p:nvSpPr>
        <p:spPr>
          <a:xfrm>
            <a:off x="9464040" y="49926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Reportes y dashboards</a:t>
            </a:r>
            <a:endParaRPr lang="en-US" sz="1050" dirty="0"/>
          </a:p>
        </p:txBody>
      </p:sp>
      <p:sp>
        <p:nvSpPr>
          <p:cNvPr id="72" name="Shape 54"/>
          <p:cNvSpPr/>
          <p:nvPr/>
        </p:nvSpPr>
        <p:spPr>
          <a:xfrm>
            <a:off x="9171432" y="562356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3" name="Text 55"/>
          <p:cNvSpPr txBox="1"/>
          <p:nvPr/>
        </p:nvSpPr>
        <p:spPr>
          <a:xfrm>
            <a:off x="9171432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RF01.6</a:t>
            </a:r>
            <a:endParaRPr lang="en-US" sz="850" dirty="0"/>
          </a:p>
        </p:txBody>
      </p:sp>
      <p:sp>
        <p:nvSpPr>
          <p:cNvPr id="74" name="Shape 56"/>
          <p:cNvSpPr/>
          <p:nvPr/>
        </p:nvSpPr>
        <p:spPr>
          <a:xfrm>
            <a:off x="9930384" y="56235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75" name="Text 57"/>
          <p:cNvSpPr txBox="1"/>
          <p:nvPr/>
        </p:nvSpPr>
        <p:spPr>
          <a:xfrm>
            <a:off x="9930384" y="56235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RD17</a:t>
            </a:r>
            <a:endParaRPr lang="en-US" sz="850" dirty="0"/>
          </a:p>
        </p:txBody>
      </p:sp>
      <p:sp>
        <p:nvSpPr>
          <p:cNvPr id="76" name="Text 5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7" name="Text 5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45643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PLANIFICACIÓN DE SPRINTS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sprints, dos incrementos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75488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0" cy="475488"/>
          </a:xfrm>
          <a:prstGeom prst="roundRect">
            <a:avLst>
              <a:gd name="adj" fmla="val 50000"/>
            </a:avLst>
          </a:prstGeom>
          <a:solidFill>
            <a:srgbClr val="0F4C6B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1645920"/>
            <a:ext cx="5486400" cy="47548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4592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  ·  2 SEMANAS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64592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  ·  2 SEMANAS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HU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3145536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la gestión de flota pesquera y las actividades pesqueras.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712464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767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HU01 a HU06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4279392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3342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334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de flota pesquera · Actividades pesqueras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4846320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90118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194560" y="49011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para la gestión de tareas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" y="5413248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4681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5468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Módulos de flota y de actividades pesqueras operativos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237744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00800" y="2560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 2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HU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00800" y="3145536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Desarrollar la gestión normativa, la inteligencia pesquera y medioambiental.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0" y="3712464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3767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37673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HU07 a HU15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0" y="4279392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0" y="43342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4334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Gestión normativa · Inteligencia pesquera y medioambiental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0" y="4846320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0" y="490118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49011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para la gestión de tareas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0" y="5413248"/>
            <a:ext cx="49377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54681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INCREMENTO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0" y="5468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Módulos normativo y de inteligencia pesquera operativos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37413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HERRAMIENTAS UTILIZADAS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Nuestras herramientas de trabajo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PLANIFICAR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88920" y="1572768"/>
            <a:ext cx="434340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57276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MODELAR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26948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6948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VERSIONAR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09760" y="157276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B2A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9760" y="15727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PRESENTAR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377440"/>
            <a:ext cx="731520" cy="731520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5530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772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Jira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GESTIÓN ÁGIL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Backlog con épicas e historias HU01–HU15, planificación de los sprints y seguimiento de tareas.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724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Backlog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158557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58557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Sprints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78892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01752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085" y="2553005"/>
            <a:ext cx="380390" cy="38039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017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Draw.io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301752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MODELADO UML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301752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Diagramas de contexto, casos de uso, actividad, clases y secuencia del sistema.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017520" y="5074920"/>
            <a:ext cx="471830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017520" y="5074920"/>
            <a:ext cx="4718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UML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3562502" y="5074920"/>
            <a:ext cx="866851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3562502" y="5074920"/>
            <a:ext cx="866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02920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525780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365" y="2553005"/>
            <a:ext cx="380390" cy="38039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2578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dbdiagram.io</a:t>
            </a:r>
            <a:endParaRPr lang="en-US" sz="1700" dirty="0"/>
          </a:p>
        </p:txBody>
      </p:sp>
      <p:sp>
        <p:nvSpPr>
          <p:cNvPr id="37" name="Text 32"/>
          <p:cNvSpPr txBox="1"/>
          <p:nvPr/>
        </p:nvSpPr>
        <p:spPr>
          <a:xfrm>
            <a:off x="525780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DATOS</a:t>
            </a:r>
            <a:endParaRPr lang="en-US" sz="800" dirty="0"/>
          </a:p>
        </p:txBody>
      </p:sp>
      <p:sp>
        <p:nvSpPr>
          <p:cNvPr id="38" name="Text 33"/>
          <p:cNvSpPr txBox="1"/>
          <p:nvPr/>
        </p:nvSpPr>
        <p:spPr>
          <a:xfrm>
            <a:off x="525780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Entidades, atributos, claves PK/FK y relaciones de la base de datos.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5257800" y="5074920"/>
            <a:ext cx="471830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5257800" y="5074920"/>
            <a:ext cx="4718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E-R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5802782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5802782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PK / FK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726948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749808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5" y="2553005"/>
            <a:ext cx="380390" cy="38039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74980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</a:t>
            </a:r>
            <a:endParaRPr lang="en-US" sz="1700" dirty="0"/>
          </a:p>
        </p:txBody>
      </p:sp>
      <p:sp>
        <p:nvSpPr>
          <p:cNvPr id="47" name="Text 41"/>
          <p:cNvSpPr txBox="1"/>
          <p:nvPr/>
        </p:nvSpPr>
        <p:spPr>
          <a:xfrm>
            <a:off x="749808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DE VERSIONES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749808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Repositorio con el nombre del proyecto: versiones, commits y trabajo colaborativo.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7498080" y="5074920"/>
            <a:ext cx="998525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7498080" y="5074920"/>
            <a:ext cx="9985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Repositorio</a:t>
            </a:r>
            <a:endParaRPr lang="en-US" sz="800" dirty="0"/>
          </a:p>
        </p:txBody>
      </p:sp>
      <p:sp>
        <p:nvSpPr>
          <p:cNvPr id="51" name="Shape 45"/>
          <p:cNvSpPr/>
          <p:nvPr/>
        </p:nvSpPr>
        <p:spPr>
          <a:xfrm>
            <a:off x="8569757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52" name="Text 46"/>
          <p:cNvSpPr txBox="1"/>
          <p:nvPr/>
        </p:nvSpPr>
        <p:spPr>
          <a:xfrm>
            <a:off x="8569757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Commits</a:t>
            </a:r>
            <a:endParaRPr lang="en-US" sz="800" dirty="0"/>
          </a:p>
        </p:txBody>
      </p:sp>
      <p:sp>
        <p:nvSpPr>
          <p:cNvPr id="53" name="Shape 47"/>
          <p:cNvSpPr/>
          <p:nvPr/>
        </p:nvSpPr>
        <p:spPr>
          <a:xfrm>
            <a:off x="9509760" y="2103120"/>
            <a:ext cx="2103120" cy="342900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738360" y="237744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925" y="2553005"/>
            <a:ext cx="380390" cy="38039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7383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Canva</a:t>
            </a:r>
            <a:endParaRPr lang="en-US" sz="1700" dirty="0"/>
          </a:p>
        </p:txBody>
      </p:sp>
      <p:sp>
        <p:nvSpPr>
          <p:cNvPr id="57" name="Text 50"/>
          <p:cNvSpPr txBox="1"/>
          <p:nvPr/>
        </p:nvSpPr>
        <p:spPr>
          <a:xfrm>
            <a:off x="9738360" y="37307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DISEÑO</a:t>
            </a:r>
            <a:endParaRPr lang="en-US" sz="800" dirty="0"/>
          </a:p>
        </p:txBody>
      </p:sp>
      <p:sp>
        <p:nvSpPr>
          <p:cNvPr id="58" name="Text 51"/>
          <p:cNvSpPr txBox="1"/>
          <p:nvPr/>
        </p:nvSpPr>
        <p:spPr>
          <a:xfrm>
            <a:off x="9738360" y="404164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Portada del informe y presentación final del proyecto.</a:t>
            </a:r>
            <a:endParaRPr lang="en-US" sz="1100" dirty="0"/>
          </a:p>
        </p:txBody>
      </p:sp>
      <p:sp>
        <p:nvSpPr>
          <p:cNvPr id="59" name="Shape 52"/>
          <p:cNvSpPr/>
          <p:nvPr/>
        </p:nvSpPr>
        <p:spPr>
          <a:xfrm>
            <a:off x="9738360" y="5074920"/>
            <a:ext cx="73517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9738360" y="5074920"/>
            <a:ext cx="735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Portada</a:t>
            </a:r>
            <a:endParaRPr lang="en-US" sz="800" dirty="0"/>
          </a:p>
        </p:txBody>
      </p:sp>
      <p:sp>
        <p:nvSpPr>
          <p:cNvPr id="61" name="Shape 54"/>
          <p:cNvSpPr/>
          <p:nvPr/>
        </p:nvSpPr>
        <p:spPr>
          <a:xfrm>
            <a:off x="10546690" y="50749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EF6F8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10546690" y="50749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Exposición</a:t>
            </a:r>
            <a:endParaRPr lang="en-US" sz="800" dirty="0"/>
          </a:p>
        </p:txBody>
      </p:sp>
      <p:sp>
        <p:nvSpPr>
          <p:cNvPr id="63" name="Shape 56"/>
          <p:cNvSpPr/>
          <p:nvPr/>
        </p:nvSpPr>
        <p:spPr>
          <a:xfrm>
            <a:off x="548640" y="5715000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E3F4F6"/>
          </a:solidFill>
          <a:ln/>
        </p:spPr>
      </p:sp>
      <p:sp>
        <p:nvSpPr>
          <p:cNvPr id="64" name="Text 57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Flujo de trabajo: 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planificamos en Jira → modelamos en Draw.io y dbdiagram.io → versionamos en GitHub → presentamos en Canva.</a:t>
            </a:r>
            <a:endParaRPr lang="en-US" sz="120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66" name="Text 59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CAPÍTULO 5 · GESTIÓN DEL PROYECTO EN JIRA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Así organizamos el trabajo en Jira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847088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1969983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80136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12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Vida Submarina · SISEP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6916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969264" y="2514600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3182112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  <a:tailEnd type="oval"/>
          </a:ln>
        </p:spPr>
      </p:sp>
      <p:sp>
        <p:nvSpPr>
          <p:cNvPr id="13" name="Shape 10"/>
          <p:cNvSpPr/>
          <p:nvPr/>
        </p:nvSpPr>
        <p:spPr>
          <a:xfrm>
            <a:off x="1005840" y="2770632"/>
            <a:ext cx="49377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0432" y="2926080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327" y="3048975"/>
            <a:ext cx="266273" cy="26627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28800" y="288036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Épicas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828800" y="3191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Flota · Actividades · Normativa · Inteligencia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074920" y="27706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1426464" y="3593592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426464" y="4261104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  <a:tailEnd type="oval"/>
          </a:ln>
        </p:spPr>
      </p:sp>
      <p:sp>
        <p:nvSpPr>
          <p:cNvPr id="21" name="Shape 17"/>
          <p:cNvSpPr/>
          <p:nvPr/>
        </p:nvSpPr>
        <p:spPr>
          <a:xfrm>
            <a:off x="1463040" y="3849624"/>
            <a:ext cx="44805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627632" y="4005072"/>
            <a:ext cx="512064" cy="51206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527" y="4127967"/>
            <a:ext cx="266273" cy="26627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286000" y="3959352"/>
            <a:ext cx="2743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Historias de usuario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228600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HU01 – HU15, repartidas en 2 sprints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5074920" y="384962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1883664" y="4672584"/>
            <a:ext cx="0" cy="667512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883664" y="5340096"/>
            <a:ext cx="36576" cy="0"/>
          </a:xfrm>
          <a:prstGeom prst="line">
            <a:avLst/>
          </a:prstGeom>
          <a:noFill/>
          <a:ln w="15875">
            <a:solidFill>
              <a:srgbClr val="2EC4C9">
                <a:alpha val="70000"/>
              </a:srgbClr>
            </a:solidFill>
            <a:prstDash val="solid"/>
            <a:tailEnd type="oval"/>
          </a:ln>
        </p:spPr>
      </p:sp>
      <p:sp>
        <p:nvSpPr>
          <p:cNvPr id="29" name="Shape 24"/>
          <p:cNvSpPr/>
          <p:nvPr/>
        </p:nvSpPr>
        <p:spPr>
          <a:xfrm>
            <a:off x="1920240" y="4928616"/>
            <a:ext cx="4023360" cy="822960"/>
          </a:xfrm>
          <a:prstGeom prst="roundRect">
            <a:avLst>
              <a:gd name="adj" fmla="val 13333"/>
            </a:avLst>
          </a:prstGeom>
          <a:solidFill>
            <a:srgbClr val="0E3453">
              <a:alpha val="95000"/>
            </a:srgbClr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084832" y="5084064"/>
            <a:ext cx="512064" cy="512064"/>
          </a:xfrm>
          <a:prstGeom prst="ellipse">
            <a:avLst/>
          </a:prstGeom>
          <a:solidFill>
            <a:srgbClr val="164867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727" y="5206959"/>
            <a:ext cx="266273" cy="266273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2743200" y="503834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Tareas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2743200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Trabajo concreto para completar cada historia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5074920" y="4928616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400" dirty="0"/>
          </a:p>
        </p:txBody>
      </p:sp>
      <p:sp>
        <p:nvSpPr>
          <p:cNvPr id="35" name="Text 29"/>
          <p:cNvSpPr txBox="1"/>
          <p:nvPr/>
        </p:nvSpPr>
        <p:spPr>
          <a:xfrm>
            <a:off x="640080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TABLERO DEL SPRINT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40080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53796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hacer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51052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39" name="Shape 33"/>
          <p:cNvSpPr/>
          <p:nvPr/>
        </p:nvSpPr>
        <p:spPr>
          <a:xfrm>
            <a:off x="662940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0" name="Shape 34"/>
          <p:cNvSpPr/>
          <p:nvPr/>
        </p:nvSpPr>
        <p:spPr>
          <a:xfrm>
            <a:off x="662940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1" name="Shape 35"/>
          <p:cNvSpPr/>
          <p:nvPr/>
        </p:nvSpPr>
        <p:spPr>
          <a:xfrm>
            <a:off x="6629400" y="3017520"/>
            <a:ext cx="109728" cy="109728"/>
          </a:xfrm>
          <a:prstGeom prst="ellipse">
            <a:avLst/>
          </a:prstGeom>
          <a:solidFill>
            <a:srgbClr val="2EC4C9"/>
          </a:solidFill>
          <a:ln/>
        </p:spPr>
      </p:sp>
      <p:sp>
        <p:nvSpPr>
          <p:cNvPr id="42" name="Shape 36"/>
          <p:cNvSpPr/>
          <p:nvPr/>
        </p:nvSpPr>
        <p:spPr>
          <a:xfrm>
            <a:off x="651052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43" name="Shape 37"/>
          <p:cNvSpPr/>
          <p:nvPr/>
        </p:nvSpPr>
        <p:spPr>
          <a:xfrm>
            <a:off x="662940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4" name="Shape 38"/>
          <p:cNvSpPr/>
          <p:nvPr/>
        </p:nvSpPr>
        <p:spPr>
          <a:xfrm>
            <a:off x="662940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5" name="Shape 39"/>
          <p:cNvSpPr/>
          <p:nvPr/>
        </p:nvSpPr>
        <p:spPr>
          <a:xfrm>
            <a:off x="6629400" y="3794760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46" name="Shape 40"/>
          <p:cNvSpPr/>
          <p:nvPr/>
        </p:nvSpPr>
        <p:spPr>
          <a:xfrm>
            <a:off x="6510528" y="411480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47" name="Shape 41"/>
          <p:cNvSpPr/>
          <p:nvPr/>
        </p:nvSpPr>
        <p:spPr>
          <a:xfrm>
            <a:off x="6629400" y="424281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48" name="Shape 42"/>
          <p:cNvSpPr/>
          <p:nvPr/>
        </p:nvSpPr>
        <p:spPr>
          <a:xfrm>
            <a:off x="6629400" y="440740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49" name="Shape 43"/>
          <p:cNvSpPr/>
          <p:nvPr/>
        </p:nvSpPr>
        <p:spPr>
          <a:xfrm>
            <a:off x="6629400" y="457200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sp>
        <p:nvSpPr>
          <p:cNvPr id="50" name="Shape 44"/>
          <p:cNvSpPr/>
          <p:nvPr/>
        </p:nvSpPr>
        <p:spPr>
          <a:xfrm>
            <a:off x="8051292" y="2286000"/>
            <a:ext cx="82296" cy="0"/>
          </a:xfrm>
          <a:prstGeom prst="line">
            <a:avLst/>
          </a:prstGeom>
          <a:noFill/>
          <a:ln w="12700">
            <a:solidFill>
              <a:srgbClr val="2EC4C9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13816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827532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 curso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824788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54" name="Shape 48"/>
          <p:cNvSpPr/>
          <p:nvPr/>
        </p:nvSpPr>
        <p:spPr>
          <a:xfrm>
            <a:off x="836676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55" name="Shape 49"/>
          <p:cNvSpPr/>
          <p:nvPr/>
        </p:nvSpPr>
        <p:spPr>
          <a:xfrm>
            <a:off x="836676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56" name="Shape 50"/>
          <p:cNvSpPr/>
          <p:nvPr/>
        </p:nvSpPr>
        <p:spPr>
          <a:xfrm>
            <a:off x="8366760" y="3017520"/>
            <a:ext cx="109728" cy="109728"/>
          </a:xfrm>
          <a:prstGeom prst="ellipse">
            <a:avLst/>
          </a:prstGeom>
          <a:solidFill>
            <a:srgbClr val="A8ECE7"/>
          </a:solidFill>
          <a:ln/>
        </p:spPr>
      </p:sp>
      <p:sp>
        <p:nvSpPr>
          <p:cNvPr id="57" name="Shape 51"/>
          <p:cNvSpPr/>
          <p:nvPr/>
        </p:nvSpPr>
        <p:spPr>
          <a:xfrm>
            <a:off x="824788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23A5A"/>
          </a:solidFill>
          <a:ln/>
        </p:spPr>
      </p:sp>
      <p:sp>
        <p:nvSpPr>
          <p:cNvPr id="58" name="Shape 52"/>
          <p:cNvSpPr/>
          <p:nvPr/>
        </p:nvSpPr>
        <p:spPr>
          <a:xfrm>
            <a:off x="836676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59" name="Shape 53"/>
          <p:cNvSpPr/>
          <p:nvPr/>
        </p:nvSpPr>
        <p:spPr>
          <a:xfrm>
            <a:off x="836676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60" name="Shape 54"/>
          <p:cNvSpPr/>
          <p:nvPr/>
        </p:nvSpPr>
        <p:spPr>
          <a:xfrm>
            <a:off x="8366760" y="379476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sp>
        <p:nvSpPr>
          <p:cNvPr id="61" name="Shape 55"/>
          <p:cNvSpPr/>
          <p:nvPr/>
        </p:nvSpPr>
        <p:spPr>
          <a:xfrm>
            <a:off x="9788652" y="2286000"/>
            <a:ext cx="82296" cy="0"/>
          </a:xfrm>
          <a:prstGeom prst="line">
            <a:avLst/>
          </a:prstGeom>
          <a:noFill/>
          <a:ln w="12700">
            <a:solidFill>
              <a:srgbClr val="2EC4C9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9875520" y="2057400"/>
            <a:ext cx="1645920" cy="2926080"/>
          </a:xfrm>
          <a:prstGeom prst="roundRect">
            <a:avLst>
              <a:gd name="adj" fmla="val 6667"/>
            </a:avLst>
          </a:prstGeom>
          <a:solidFill>
            <a:srgbClr val="0A2640"/>
          </a:solidFill>
          <a:ln w="9525">
            <a:solidFill>
              <a:srgbClr val="24617E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10012680" y="21305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Listo</a:t>
            </a:r>
            <a:endParaRPr lang="en-US" sz="1050" dirty="0"/>
          </a:p>
        </p:txBody>
      </p:sp>
      <p:sp>
        <p:nvSpPr>
          <p:cNvPr id="64" name="Shape 58"/>
          <p:cNvSpPr/>
          <p:nvPr/>
        </p:nvSpPr>
        <p:spPr>
          <a:xfrm>
            <a:off x="9985248" y="256032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34E5E"/>
          </a:solidFill>
          <a:ln/>
        </p:spPr>
      </p:sp>
      <p:sp>
        <p:nvSpPr>
          <p:cNvPr id="65" name="Shape 59"/>
          <p:cNvSpPr/>
          <p:nvPr/>
        </p:nvSpPr>
        <p:spPr>
          <a:xfrm>
            <a:off x="10104120" y="2688336"/>
            <a:ext cx="101041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66" name="Shape 60"/>
          <p:cNvSpPr/>
          <p:nvPr/>
        </p:nvSpPr>
        <p:spPr>
          <a:xfrm>
            <a:off x="10104120" y="285292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67" name="Shape 61"/>
          <p:cNvSpPr/>
          <p:nvPr/>
        </p:nvSpPr>
        <p:spPr>
          <a:xfrm>
            <a:off x="10104120" y="3017520"/>
            <a:ext cx="109728" cy="109728"/>
          </a:xfrm>
          <a:prstGeom prst="ellipse">
            <a:avLst/>
          </a:prstGeom>
          <a:solidFill>
            <a:srgbClr val="5FA8D3"/>
          </a:solidFill>
          <a:ln/>
        </p:spPr>
      </p:sp>
      <p:pic>
        <p:nvPicPr>
          <p:cNvPr id="6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9960" y="2962656"/>
            <a:ext cx="182880" cy="182880"/>
          </a:xfrm>
          <a:prstGeom prst="rect">
            <a:avLst/>
          </a:prstGeom>
        </p:spPr>
      </p:pic>
      <p:sp>
        <p:nvSpPr>
          <p:cNvPr id="69" name="Shape 62"/>
          <p:cNvSpPr/>
          <p:nvPr/>
        </p:nvSpPr>
        <p:spPr>
          <a:xfrm>
            <a:off x="9985248" y="3337560"/>
            <a:ext cx="1426464" cy="658368"/>
          </a:xfrm>
          <a:prstGeom prst="roundRect">
            <a:avLst>
              <a:gd name="adj" fmla="val 11111"/>
            </a:avLst>
          </a:prstGeom>
          <a:solidFill>
            <a:srgbClr val="134E5E"/>
          </a:solidFill>
          <a:ln/>
        </p:spPr>
      </p:sp>
      <p:sp>
        <p:nvSpPr>
          <p:cNvPr id="70" name="Shape 63"/>
          <p:cNvSpPr/>
          <p:nvPr/>
        </p:nvSpPr>
        <p:spPr>
          <a:xfrm>
            <a:off x="10104120" y="3465576"/>
            <a:ext cx="713232" cy="82296"/>
          </a:xfrm>
          <a:prstGeom prst="roundRect">
            <a:avLst>
              <a:gd name="adj" fmla="val 50000"/>
            </a:avLst>
          </a:prstGeom>
          <a:solidFill>
            <a:srgbClr val="4C7A94"/>
          </a:solidFill>
          <a:ln/>
        </p:spPr>
      </p:sp>
      <p:sp>
        <p:nvSpPr>
          <p:cNvPr id="71" name="Shape 64"/>
          <p:cNvSpPr/>
          <p:nvPr/>
        </p:nvSpPr>
        <p:spPr>
          <a:xfrm>
            <a:off x="10104120" y="3630168"/>
            <a:ext cx="653796" cy="82296"/>
          </a:xfrm>
          <a:prstGeom prst="roundRect">
            <a:avLst>
              <a:gd name="adj" fmla="val 50000"/>
            </a:avLst>
          </a:prstGeom>
          <a:solidFill>
            <a:srgbClr val="3A6682"/>
          </a:solidFill>
          <a:ln/>
        </p:spPr>
      </p:sp>
      <p:sp>
        <p:nvSpPr>
          <p:cNvPr id="72" name="Shape 65"/>
          <p:cNvSpPr/>
          <p:nvPr/>
        </p:nvSpPr>
        <p:spPr>
          <a:xfrm>
            <a:off x="10104120" y="3794760"/>
            <a:ext cx="109728" cy="109728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7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960" y="3739896"/>
            <a:ext cx="182880" cy="182880"/>
          </a:xfrm>
          <a:prstGeom prst="rect">
            <a:avLst/>
          </a:prstGeom>
        </p:spPr>
      </p:pic>
      <p:sp>
        <p:nvSpPr>
          <p:cNvPr id="74" name="Text 66"/>
          <p:cNvSpPr txBox="1"/>
          <p:nvPr/>
        </p:nvSpPr>
        <p:spPr>
          <a:xfrm>
            <a:off x="6400800" y="502920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86A9B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Esquema ilustrativo del flujo del tablero</a:t>
            </a:r>
            <a:endParaRPr lang="en-US" sz="850" dirty="0"/>
          </a:p>
        </p:txBody>
      </p:sp>
      <p:sp>
        <p:nvSpPr>
          <p:cNvPr id="75" name="Shape 67"/>
          <p:cNvSpPr/>
          <p:nvPr/>
        </p:nvSpPr>
        <p:spPr>
          <a:xfrm>
            <a:off x="6400800" y="539496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2EC4C9"/>
          </a:solidFill>
          <a:ln/>
        </p:spPr>
      </p:sp>
      <p:pic>
        <p:nvPicPr>
          <p:cNvPr id="76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1968" y="5596128"/>
            <a:ext cx="365760" cy="365760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7132320" y="53949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1A2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historia avanza por el tablero durante el sprint; al cerrarlo, revisamos el incremento y ajustamos el backlog.</a:t>
            </a:r>
            <a:endParaRPr lang="en-US" sz="1100" dirty="0"/>
          </a:p>
        </p:txBody>
      </p:sp>
      <p:sp>
        <p:nvSpPr>
          <p:cNvPr id="78" name="Text 6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7FA7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79" name="Text 7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del equipo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931920" cy="4480560"/>
          </a:xfrm>
          <a:prstGeom prst="roundRect">
            <a:avLst>
              <a:gd name="adj" fmla="val 3721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Tecnología, gestión gubernamental y participación local: la combinación que puede hacer sostenible la pesca peruana.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ECE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Propuesta SISEP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645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664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SISEP responde a un problema real del Perú: la sobreexplotación, la pesca ilegal y la falta de monitoreo inmediato de capturas y áreas de faena.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46320" y="2670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2788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807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análisis de cuatro grupos de usuarios nos permitió definir 7 requerimientos funcionales, 4 no funcionales y 3 de dominio, medibles y trazables.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846320" y="3813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3931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3950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Los modelos —contexto, casos de uso, actividad, E-R, clases y secuencia— son coherentes entre sí: Embarcación, Captura, Especie y Lote atraviesan todo el diseño.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846320" y="4956048"/>
            <a:ext cx="6766560" cy="0"/>
          </a:xfrm>
          <a:prstGeom prst="line">
            <a:avLst/>
          </a:prstGeom>
          <a:noFill/>
          <a:ln w="9525">
            <a:solidFill>
              <a:srgbClr val="D5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5074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9A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509320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Scrum y Jira nos permitieron dividir el trabajo en 2 sprints de 2 semanas y 15 historias de usuario, con incrementos funcionales al cierre de cada uno.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 Y RECOMENDACIONES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Lecciones aprendidas y mejoras futuras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5E3E8"/>
            </a:solidFill>
            <a:prstDash val="solid"/>
          </a:ln>
          <a:effectLst>
            <a:outerShdw sx="100000" sy="100000" kx="0" ky="0" algn="bl" rotWithShape="0" blurRad="152400" dist="38100" dir="5400000">
              <a:srgbClr val="0B1D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801" y="2019361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87452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Lecciones aprendidas</a:t>
            </a:r>
            <a:endParaRPr lang="en-US" sz="17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7977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74320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Modelar antes de programar reduce ambigüedades entre requerimientos y diseño.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60273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56616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Usar los mismos nombres en diagramas y base de datos evita inconsistencias.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25696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438912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backlog priorizado por épicas hace que los sprints sean realistas.</a:t>
            </a:r>
            <a:endParaRPr lang="en-US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248656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521208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y GitHub dejan evidencia clara del avance y del aporte de cada integrante.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6172200" y="164592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071A2C"/>
          </a:solidFill>
          <a:ln/>
          <a:effectLst>
            <a:outerShdw sx="100000" sy="100000" kx="0" ky="0" algn="bl" rotWithShape="0" blurRad="152400" dist="38100" dir="5400000">
              <a:srgbClr val="0B1D2E">
                <a:alpha val="20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6446520" y="1874520"/>
            <a:ext cx="603504" cy="603504"/>
          </a:xfrm>
          <a:prstGeom prst="ellipse">
            <a:avLst/>
          </a:prstGeom>
          <a:solidFill>
            <a:srgbClr val="2EC4C9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1361" y="2019361"/>
            <a:ext cx="313822" cy="31382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223760" y="187452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Recomendaciones de mejora</a:t>
            </a:r>
            <a:endParaRPr lang="en-US" sz="17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2779776"/>
            <a:ext cx="292608" cy="29260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90372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 móvil sin conexión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sincronización por lotes para zonas sin cobertura.</a:t>
            </a:r>
            <a:endParaRPr lang="en-US" sz="13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3602736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903720" y="35661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Integración AIS y satelital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tiempo real, actor ya previsto en el contexto.</a:t>
            </a:r>
            <a:endParaRPr lang="en-US" sz="13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4425696"/>
            <a:ext cx="292608" cy="292608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903720" y="43891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Analítica predictiva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apoyar a IMARPE en vedas y cuotas.</a:t>
            </a:r>
            <a:endParaRPr lang="en-US" sz="1300" dirty="0"/>
          </a:p>
        </p:txBody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5248656"/>
            <a:ext cx="292608" cy="29260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6903720" y="52120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Piloto y capacitación </a:t>
            </a:r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una comunidad de pescadores artesanales.</a:t>
            </a:r>
            <a:endParaRPr lang="en-US" sz="13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30" name="Text 18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5117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BIBLIOGRÁFICAS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Referencias (ISO 690 numérico)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[1]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4592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NACIONES UNIDAS.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Objetivo 14: Conservar y utilizar sosteniblemente los océanos, los mares y los recursos marinos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Nueva York: ONU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https://www.un.org/sustainabledevelopment/es/oceans/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23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[2]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37744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PERÚ. Decreto Ley N.° 25977.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Ley General de Pesca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Diario Oficial El Peruano. Lima, 1992.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[3]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1089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PERÚ. Decreto Supremo N.° 012-2001-PE.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Reglamento de la Ley General de Pesca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Diario Oficial El Peruano. Lima, 2001.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[4]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84048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INSTITUTO DEL MAR DEL PERÚ (IMARPE).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Portal institucional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Callao: IMARPE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https://www.imarpe.gob.pe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02336" cy="402336"/>
          </a:xfrm>
          <a:prstGeom prst="ellipse">
            <a:avLst/>
          </a:prstGeom>
          <a:solidFill>
            <a:srgbClr val="0B2A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[5]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57200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MINISTERIO DE LA PRODUCCIÓN (PRODUCE).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Portal institucional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Lima: PRODUCE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https://www.gob.pe/produce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402336" cy="402336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[6]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530352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SCHWABER, Ken y SUTHERLAND, Jeff. </a:t>
            </a:r>
            <a:pPr indent="0" marL="0">
              <a:buNone/>
            </a:pPr>
            <a:r>
              <a:rPr lang="en-US" sz="1200" i="1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Guía Scrum: la guía definitiva de Scrum, las reglas del juego</a:t>
            </a:r>
            <a:pPr indent="0" marL="0">
              <a:buNone/>
            </a:pPr>
            <a:r>
              <a:rPr lang="en-US" sz="1200" dirty="0">
                <a:solidFill>
                  <a:srgbClr val="0B1D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[en línea]. 2020 [consulta: 29 septiembre 2026]. Disponible en: </a:t>
            </a:r>
            <a:pPr indent="0" marL="0">
              <a:buNone/>
            </a:pPr>
            <a:r>
              <a:rPr lang="en-US" sz="1200" u="sng" dirty="0">
                <a:solidFill>
                  <a:srgbClr val="0E7C8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https://scrumguides.org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ANEXOS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Evidencias del trabajo en equipo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Espacios para las capturas reales de Jira, GitHub y del trabajo del equipo.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525" y="305592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Tablero y backlog en Jira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Épicas, historias HU01–HU15 y sprints.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571500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65" y="305592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9768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Repositorio en GitHub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29768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Carpeta con el nombre del proyecto e historial de commits.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46720" y="2011680"/>
            <a:ext cx="3566160" cy="2971800"/>
          </a:xfrm>
          <a:prstGeom prst="roundRect">
            <a:avLst>
              <a:gd name="adj" fmla="val 4308"/>
            </a:avLst>
          </a:prstGeom>
          <a:solidFill>
            <a:srgbClr val="F4F9FA"/>
          </a:solidFill>
          <a:ln w="15875">
            <a:solidFill>
              <a:srgbClr val="9CC3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464040" y="2880360"/>
            <a:ext cx="731520" cy="731520"/>
          </a:xfrm>
          <a:prstGeom prst="ellipse">
            <a:avLst/>
          </a:prstGeom>
          <a:solidFill>
            <a:srgbClr val="E3F4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9605" y="30559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04672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AA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Insertar captura aquí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166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Trabajo en equipo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Reuniones, reparto de tareas y avances.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9AAAB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VIDA SUBMARINA · SISEP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11091672" y="64190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3785616" cy="274320"/>
          </a:xfrm>
          <a:prstGeom prst="roundRect">
            <a:avLst>
              <a:gd name="adj" fmla="val 50000"/>
            </a:avLst>
          </a:prstGeom>
          <a:solidFill>
            <a:srgbClr val="123E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A8EC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ANÁLISIS Y DISEÑO DE SOFTWARE · NRC 62152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80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¿Preguntas?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EAF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Proyecto Vida Submarina · Sistema de Monitoreo Pesquero Sostenible (SISEP)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2EC4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Oroya Molina Luis Fernando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Cardenas Rosales Abigail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5138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Yupanqui Castro Romina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Olarte Tuya Shadi Allegra Rashel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Gonzales Zarate Jhosep Rafael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01100" y="2537460"/>
            <a:ext cx="1143000" cy="1143000"/>
          </a:xfrm>
          <a:prstGeom prst="ellipse">
            <a:avLst/>
          </a:prstGeom>
          <a:ln w="19050">
            <a:solidFill>
              <a:srgbClr val="2EC4C9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66760" y="2103120"/>
            <a:ext cx="2011680" cy="2011680"/>
          </a:xfrm>
          <a:prstGeom prst="ellipse">
            <a:avLst/>
          </a:prstGeom>
          <a:ln w="12700">
            <a:solidFill>
              <a:srgbClr val="2EC4C9">
                <a:alpha val="5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932420" y="1668780"/>
            <a:ext cx="2880360" cy="2880360"/>
          </a:xfrm>
          <a:prstGeom prst="ellipse">
            <a:avLst/>
          </a:prstGeom>
          <a:ln w="12700">
            <a:solidFill>
              <a:srgbClr val="2EC4C9">
                <a:alpha val="3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1234440"/>
            <a:ext cx="3749040" cy="3749040"/>
          </a:xfrm>
          <a:prstGeom prst="ellipse">
            <a:avLst/>
          </a:prstGeom>
          <a:ln w="12700">
            <a:solidFill>
              <a:srgbClr val="2EC4C9">
                <a:alpha val="20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988552" y="2724912"/>
            <a:ext cx="768096" cy="76809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895" y="2909255"/>
            <a:ext cx="399410" cy="399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Vida Submarina — SISEP</dc:title>
  <dc:subject>PptxGenJS Presentation</dc:subject>
  <dc:creator>Equipo Vida Submarina · ADS NRC 62152</dc:creator>
  <cp:lastModifiedBy>Equipo Vida Submarina · ADS NRC 62152</cp:lastModifiedBy>
  <cp:revision>1</cp:revision>
  <dcterms:created xsi:type="dcterms:W3CDTF">2026-09-30T02:17:57Z</dcterms:created>
  <dcterms:modified xsi:type="dcterms:W3CDTF">2026-09-30T02:17:57Z</dcterms:modified>
</cp:coreProperties>
</file>