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SIRDEPA del curso Análisis y Diseño de Software, NRC 30228, con la docente Rosario Osorio. Presentamos SIRDEPA, el Sistema de Registro de Desembarque Pesquero Artesanal, alineado al ODS 14 Vida submarina. Nuestro lema resume la idea: del muelle al dato, en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sigue la plantilla del curso. En la Unidad I presentamos el proyecto, el análisis de requerimientos y los modelos iniciales; en la Unidad II, los modelos de diseño y la metodología Scrum con las herramientas que usamos. Cerramos con conclusiones, referencias y anexos.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Iniciamos la Unidad I: fundamentos y modelado inicial, que abarca los capítulos 1 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SIRDEPA se alinea con el ODS 14. A nivel mundial la pesca artesanal representa el 40 % de las capturas y el 90 % del empleo pesquero, pero carece de documentación sistemática. En el Perú involucra a 77 326 pescadores y 23 138 embarcaciones, y aporta el 15 % de los desembarques para consumo humano directo. Además, el proyecto se alinea con la Política Nacional de Pesca al 2040.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SIRDEPA contribuye a tres metas. Meta 14.4: valida en el acto permisos, vedas y tallas para combatir la pesca ilegal; indicador, al menos 90 % de desembarques del DPA piloto validados digitalmente. Meta 14.a: datos diarios estructurados para el IMARPE, en menos de un día. Meta 14.b: constancia con QR que acredita el origen legal y abre mercados; meta, 80 % de lotes con constancia verificable.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institución beneficiaria principal es FONDEPES, que administra más de 50 desembarcaderos pesqueros artesanales en 11 regiones: el lugar natural para registrar el desembarque. Tiene brechas: solo 19 DPA adecuados frente a 63 y un sistema de información desfasado. En 2026 recibió 3 millones de soles para mantener 12 DPA. Proponemos el piloto en Piura, que concentra el 33,4 % de la flota artesanal.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FONDEPES, se benefician el IMARPE, con datos estructurados sin transcribir papel; PRODUCE y los Gobiernos Regionales, que verifican el origen en segundos; los armadores y pescadores, que obtienen constancia de origen e historial; y comerciantes, plantas y consumidores, que tienen prueba verificable de procedencia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central: el registro del desembarque artesanal es manual, fragmentado y tardío. La evidencia de Oceana es clara: solo 15 titulares artesanales se habían registrado en el SITRAPESCA frente a 831 de mayor escala; 78 de 85 entrevistados nunca oyeron del sistema; corregir documentos toma hasta dos horas; y la flota creció 29,1 %, mientras menos del 60 % se ha formalizado.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árbol de problemas resume la situación: el registro en papel y la baja adopción digital causan un registro manual, fragmentado y tardío, que pone en riesgo los recursos y los ingresos de las comunidades. Para el Estado limita vedas y cuotas; para el pescador reduce su acceso a mercados y créditos; y en la cadena de valor facilita que la pesca ilegal se blanquee. Mientras tanto, la normativa ya exige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SIRDEPA es un ecosistema digital: una app móvil que funciona sin conexión, un portal web de gestión y servicios en la nube. Captura el desembarque en menos de tres minutos, lo valida automáticamente contra la normativa y emite una constancia con QR. No reemplaza al SITRAPESCA: es un canal de captura en los DPA que le envía la información sin doble digitación.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Funciona en cinco pasos: el patrón puede avisar su arribo; el registrador del DPA registra el desembarque, incluso sin señal; el motor normativo lo valida y lo clasifica como Conforme, Observado o No conforme; se emite una constancia con QR y hash que llega por SMS al armador; y comprador o fiscalizador verifican el QR en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se organiza en ocho módulos: acceso y seguridad sin correo electrónico; maestros; catálogo normativo; registro de desembarque con modo sin conexión; validación normativa; constancia y trazabilidad; fiscalización; e información, con tableros, reportes y exportación al SITRAPESCA.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diferenciales basados en evidencia: no hay barreras digitales, porque registra el personal del DPA y el armador recibe un SMS; funciona fuera de línea sin duplicar registros; protege el caladero registrando cuadrículas y no coordenadas exactas; y se adapta a la normativa, porque vedas y tallas se actualizan desde el catálogo sin cambiar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propuesta de valor es: del muelle al dato, en minutos. El pescador obtiene un historial oficial por SMS y las inspecciones pasan de dos horas a segundos; el DPA automatiza su cierre diario; comerciantes y plantas compran con prueba de origen legal; e IMARPE y PRODUCE reciben datos estructurados e inmediatos para el control de vedas.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incluye el registro de desembarques de embarcaciones artesanales y de menor escala hasta 32,6 metros cúbicos de bodega, la validación normativa, las constancias QR hasta el primer comprador y la exportación de datos. Queda fuera el monitoreo satelital, que corresponde al SISESAT, la facturación electrónica y el reemplazo del SITRAPESCA.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capítulo 2 analizamos el proceso actual. Tiene cinco deficiencias: captura duplicada en papel, cobertura de monitoreo en solo 63 puntos, ninguna validación inmediata, ninguna trazabilidad comercial y sistemas pensados para la pesca industrial. Levantamos la información con revisión documental, evidencia de campo de Oceana y prototipos de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Identificamos siete interesados. Cuatro tienen influencia alta: el registrador y el administrador del DPA, el patrón o armador y el fiscalizador. Comerciantes, analistas y el equipo de desarrollo tienen influencia media. Por eso el diseño se centra en quienes trabajan en el muelle.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Identificamos once necesidades, cada una respaldada por evidencia. Por ejemplo, el registrador necesita registrar en minutos incluso sin señal; el armador, probar el origen legal sin correo y proteger sus caladeros; el fiscalizador, verificar en segundos; y PRODUCE, integrar con el SITRAPESCA sin doble digitación.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Definimos 24 requerimientos funcionales priorizados con MoSCoW: 14 son indispensables, como la autenticación, el registro de desembarque, la validación normativa, el trabajo sin conexión y la constancia con QR; 8 son deseables, como el aviso de arribo o la interoperabilidad con el SITRAPESCA; y 2 son opcionales: la lectura de balanza y el cierre diario.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14 requerimientos no funcionales siguen la ISO/IEC 25010 y todos tienen un criterio medible: registro en tres minutos o menos, botones de 48 dp y contraste WCAG, respuesta de 2 segundos en el percentil 95, app de menos de 40 MB, 99,5 % de disponibilidad, cero duplicados, acceso con DNI, PIN y SMS, hash SHA-256, API OpenAPI 3, 70 % de cobertura de pruebas y capacidad para 25 000 embarcaciones.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diez requerimientos de dominio traducen la normativa en reglas: la clasificación artesanal por capacidad de bodega y eslora, la obligación de informar capturas, las tallas mínimas y vedas, los datos de descarga del SITRAPESCA, la acreditación del origen legal, la franja de 5 millas y la protección de datos personales según la Ley 29733.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de trazabilidad relaciona cada requerimiento funcional con la necesidad que lo origina, el caso de uso que lo realiza y la historia de usuario que lo implementa, con su sprint. Así comprobamos que ningún requerimiento quede sin modelar ni sin planificar.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contexto representa a SIRDEPA como un único proceso. Seis actores humanos le envían o consultan información: patrón, registrador, fiscalizador, analista, administrador y comerciante. Hay dos sistemas externos: el SITRAPESCA, al que se exportan las declaraciones de descarga, y la pasarela SMS, que envía códigos y enlaces. SIRDEPA no controla la navegación ni los tributos.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casos de uso muestra 16 casos, 6 actores humanos y 2 sistemas externos. El caso central es CU05 Registrar desembarque, que siempre incluye la validación normativa, CU06, y la emisión de la constancia, CU07. Confirmar la recepción de un lote incluye verificar la constancia por QR, y la observación de fiscalización la extiende. CU01, iniciar sesión, es común a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describe los 16 casos de uso con su actor principal y los requerimientos que realizan. El flujo central, en turquesa, es registrar el desembarque, validarlo automáticamente y emitir la constancia digital con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proceso actual, el patrón desembarca, el comerciante pesa y emite una guía en papel, el fiscalizador revisa documentos físicos y pide correcciones, y el observador del IMARPE, si existe en el puerto, vuelve a tomar los datos y los digita en Excel. Tres actores registran lo mismo por separado, con retraso, y si no hay observador el desembarque se omite de la estadística oficial.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SIRDEPA el dato se ingresa una sola vez y en digital, en el muelle. El patrón avisa su arribo, el registrador ingresa el desembarque y el motor de reglas lo valida al instante: si no es conforme, se marca con una alerta de presunta infracción; si es conforme, se genera la constancia con QR y se envía por SMS. El fiscalizador o el comerciante escanean el QR y el tablero del IMARPE y PRODUCE se actualiza en tiempo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comparación lo resume: el tiempo de registro baja de 60 a 120 minutos a menos de 5; la cobertura de datos del IMARPE pasa de alrededor del 30 % al 100 %; la captura deja de ser triplicada y en papel; la validación pasa de manual a automática e instantánea; y la trazabilidad, que hoy no existe, queda garantizada con la constancia QR y el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entidad-relación conceptual tiene al desembarque como entidad central: la llegada de una faena de una embarcación a un lugar de desembarque, registrada por un usuario. Cada desembarque tiene detalles por especie, que se reparten en lotes de destino por comprador: esa es la base de la trazabilidad. Los permisos se relacionan con especies y artes mediante tablas intermedias, y se guarda el resultado de cada regla de validación.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Tomamos cinco decisiones clave: el desembarque como entidad central; el detalle por especie sin repetir columnas; el lote de destino, que permite saber quién compró cuántos kilos; los permisos con relaciones muchos a muchos resueltas con tablas intermedias; y guardar el resultado de cada regla. El modelo relacional para PostgreSQL está en el repositorio como script SQL, DBML y diccionario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la Unidad II: modelos de diseño y metodología ágil, con los capítulos 4 y 5 y las herramientas que utilizamos.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diagrama de clases del dominio refina el modelo de datos con responsabilidades y tipos. Desembarque es la clase central: se compone de sus detalles, del resultado de validación, de la inspección y de la constancia que emite. Cada detalle se reparte en lotes de destino. La embarcación agrega sus permisos, y la especie define vedas y zonas de pesca.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responsabilidades de las clases principales. Embarcación sabe si es artesanal y si tiene permiso vigente; PermisoPesca verifica vigencia, especies y artes; Veda indica si aplica a una especie, zona y fecha; Desembarque agrega detalles, aplica la validación y emite la constancia; LoteDestino confirma la recepción; y Constancia genera el PDF y verifica el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de secuencia muestra el inicio de sesión. La app consulta primero las credenciales locales. Si hay conexión, la API valida al usuario en el servidor, se envía un código OTP por SMS y, al verificarlo, se guarda el token de sesión. Si no hay conexión, la app autoriza el acceso en modo offline, para que el registrador pueda trabajar en el muelle.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diagrama muestra la verificación de la constancia. Al escanear el QR, la app extrae el código y el hash, y el servicio de constancias compara el hash con el almacenado. Si coincide y la constancia está emitida, se muestra como válida; entonces el comerciante puede confirmar la recepción de su lote o el fiscalizador registrar una observación, y todo queda en auditoría. Si no coincide o está anulada, se muestra como no válida.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caso central tomamos cuatro decisiones de diseño: primero se guarda en el celular, para no perder nada; el UUID viaja como clave de idempotencia, para no duplicar registros al reintentar; la validación no bloquea, porque un desembarque no conforme igual se registra y alerta al fiscalizador; y el motor de reglas usa el patrón Strategy, para adaptarse a los cambios normativos sin reescribir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Scrum, un marco ágil basado en el empirismo: transparencia, inspección y adaptación. Lo elegimos porque los requerimientos dependen de validar con el personal del DPA y de una normativa que cambia. Definimos un Objetivo del Producto: que todo desembarque del DPA piloto quede registrado, validado y con constancia el mismo día. Gestionamos los tres artefactos en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Acordamos una Definición de Listo: la historia debe estar redactada como Como, quiero, para; tener criterios de aceptación, estimación, dependencias identificadas y caber en un Sprint. Y una Definición de Terminado: código en GitHub revisado por pull request, pruebas con al menos 70 % de cobertura en el motor de reglas, validación del Product Owner, diagramas y README actualizados, y funcionamiento sin errores críticos.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Product Backlog está en Jira. Tiene 16 historias de usuario en cinco épicas: seguridad y autenticación, gestión de usuarios, gestión de embarcaciones, registro de capturas y generación de reportes. Cada historia se redactó como Como, quiero, para y se estimó con la escala de Fibonacci, para un total de 66 puntos repartidos en 3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Planificamos tres sprints de dos semanas. El Sprint 1, núcleo del sistema, con 23 puntos: inicio de sesión, usuarios, embarcaciones y registro de capturas. El Sprint 2, gestión y control, con 30 puntos: GPS, edición y baja de embarcaciones, roles y verificación en dos pasos. El Sprint 3, reportes y cuotas, con 13 puntos, para IMARPE y PRODUCE. En total, 66 puntos entre el 25 de septiembre y el 6 de noviembre.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repartimos las 16 historias en Jira: el integrante 1, KF, tomó autenticación, captura y GPS, con 19 puntos; el integrante 2, EC, usuarios y verificación en dos pasos, con 15; el integrante 3, AM, la gestión de embarcaciones, con 15; y el integrante 4, DH, roles y reportes, con 17. La carga quedó equilibrada.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siete herramientas: Jira Software para el backlog, los sprints y el tablero; GitHub para el control de versiones; Draw.io y Visio, y Visual Paradigm, para los diagramas UML, el contexto y el E-R; dbdiagram.io para el modelo de base de datos; Word para el informe; y Google Meet y WhatsApp para las reuniones Scrum y la coordinación.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capturas reales de nuestro Jira: el backlog de los tres sprints con sus historias, épicas, fechas y responsables. Creamos el proyecto Vida Submarina ODS 14, estructuramos el backlog con 16 historias y 66 puntos, las distribuimos en tres sprints y registramos los avances en el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proyecto está versionado en GitHub, en el repositorio ODS-14-Vida-submarina. La estructura separa la documentación, los prototipos, los diagramas con sus fuentes, la base de datos con el script SQL, el DBML y el diccionario de datos, y el backlog exportado para Jira. El historial de commits muestra el trabajo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integrante trabajó en su propia rama: Andy en el informe general, el backlog y los sprints; Kenyi en el repositorio, el README y el soporte en Jira; Edgard en los diagramas UML; y Damián en los requerimientos, los prototipos y la presentación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integrante comparte su conclusión. Andy: digitalizar el registro del desembarque es la puerta de entrada para contribuir a las metas 14.4 y 14.b. Kenyi: los requerimientos no funcionales fueron tan determinantes como los funcionales. Edgard: separar desembarque, detalle y lote fue la decisión clave para la trazabilidad. Damián: el patrón Strategy permite acompañar los cambios normativos sin reescribir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nuestras lecciones: cuantificar el problema con fuentes oficiales nos dio un problema acotado y medible; apoyar los requerimientos en evidencia real evita diseñar para un usuario imaginario; generar todos los artefactos de datos desde una sola fuente evita inconsistencias; y los diagramas de secuencia nos hicieron pensar en los escenarios de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futuro recomendamos integrar SIRDEPA con el SISESAT, validar la priorización con el personal del DPA piloto y medir la línea base de tiempos, registrar interacciones con fauna protegida como el lobo marino, y desarrollar el reconocimiento de especies a partir de fotos.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nuestras referencias en formato ISO 690 numérico; los números entre corchetes de cada diapositiva remiten a esta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Continúa la lista de referencias. Los enlaces completos y las fechas de consulta están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anexo A.3 mostramos nuestras reuniones Scrum: la reunión inicial del 26 de septiembre, la sesión de trabajo del 27 y la revisión final del 28, siempre con los cuatro integrantes. Estas son capturas de las sesiones en Google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por su atención. Pueden escanear el código para ver nuestro repositorio en GitHub.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1-3.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9-2.png"/><Relationship Id="rId3" Type="http://schemas.openxmlformats.org/officeDocument/2006/relationships/image" Target="../media/image-8-2.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1-3.png"/><Relationship Id="rId3" Type="http://schemas.openxmlformats.org/officeDocument/2006/relationships/image" Target="../media/image-10-2.png"/><Relationship Id="rId4" Type="http://schemas.openxmlformats.org/officeDocument/2006/relationships/image" Target="../media/image-1-8.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4.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0-2.png"/><Relationship Id="rId6" Type="http://schemas.openxmlformats.org/officeDocument/2006/relationships/image" Target="../media/image-1-8.png"/><Relationship Id="rId7" Type="http://schemas.openxmlformats.org/officeDocument/2006/relationships/image" Target="../media/image-11-5.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14-2.png"/><Relationship Id="rId3" Type="http://schemas.openxmlformats.org/officeDocument/2006/relationships/image" Target="../media/image-1-3.png"/><Relationship Id="rId4" Type="http://schemas.openxmlformats.org/officeDocument/2006/relationships/image" Target="../media/image-7-2.png"/><Relationship Id="rId5" Type="http://schemas.openxmlformats.org/officeDocument/2006/relationships/image" Target="../media/image-7-6.png"/><Relationship Id="rId6" Type="http://schemas.openxmlformats.org/officeDocument/2006/relationships/image" Target="../media/image-7-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image" Target="../media/image-15-3.png"/><Relationship Id="rId6" Type="http://schemas.openxmlformats.org/officeDocument/2006/relationships/image" Target="../media/image-15-3.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8.png"/><Relationship Id="rId10" Type="http://schemas.openxmlformats.org/officeDocument/2006/relationships/image" Target="../media/image-15-8.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0-2.png"/><Relationship Id="rId3" Type="http://schemas.openxmlformats.org/officeDocument/2006/relationships/image" Target="../media/image-7-2.png"/><Relationship Id="rId4" Type="http://schemas.openxmlformats.org/officeDocument/2006/relationships/image" Target="../media/image-1-3.png"/><Relationship Id="rId5" Type="http://schemas.openxmlformats.org/officeDocument/2006/relationships/image" Target="../media/image-12-8.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1-4.png"/><Relationship Id="rId6" Type="http://schemas.openxmlformats.org/officeDocument/2006/relationships/image" Target="../media/image-28-4.png"/><Relationship Id="rId7" Type="http://schemas.openxmlformats.org/officeDocument/2006/relationships/image" Target="../media/image-1-4.png"/><Relationship Id="rId8" Type="http://schemas.openxmlformats.org/officeDocument/2006/relationships/image" Target="../media/image-28-4.png"/><Relationship Id="rId9" Type="http://schemas.openxmlformats.org/officeDocument/2006/relationships/image" Target="../media/image-1-4.png"/><Relationship Id="rId10" Type="http://schemas.openxmlformats.org/officeDocument/2006/relationships/image" Target="../media/image-28-4.png"/><Relationship Id="rId11" Type="http://schemas.openxmlformats.org/officeDocument/2006/relationships/image" Target="../media/image-1-4.png"/><Relationship Id="rId12" Type="http://schemas.openxmlformats.org/officeDocument/2006/relationships/slideLayout" Target="../slideLayouts/slideLayout1.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7-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12-3.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13-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1-3.png"/><Relationship Id="rId5" Type="http://schemas.openxmlformats.org/officeDocument/2006/relationships/image" Target="../media/image-3-2.png"/><Relationship Id="rId6" Type="http://schemas.openxmlformats.org/officeDocument/2006/relationships/image" Target="../media/image-30-3.png"/><Relationship Id="rId7" Type="http://schemas.openxmlformats.org/officeDocument/2006/relationships/image" Target="../media/image-3-3.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8-2.png"/><Relationship Id="rId3" Type="http://schemas.openxmlformats.org/officeDocument/2006/relationships/image" Target="../media/image-12-8.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12-2.png"/><Relationship Id="rId3" Type="http://schemas.openxmlformats.org/officeDocument/2006/relationships/image" Target="../media/image-39-3.png"/><Relationship Id="rId4" Type="http://schemas.openxmlformats.org/officeDocument/2006/relationships/image" Target="../media/image-1-3.png"/><Relationship Id="rId5" Type="http://schemas.openxmlformats.org/officeDocument/2006/relationships/image" Target="../media/image-8-2.png"/><Relationship Id="rId6" Type="http://schemas.openxmlformats.org/officeDocument/2006/relationships/image" Target="../media/image-12-9.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31-4.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3-4.png"/><Relationship Id="rId6" Type="http://schemas.openxmlformats.org/officeDocument/2006/relationships/image" Target="../media/image-12-3.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slideLayout" Target="../slideLayouts/slideLayout1.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3-2.jpg"/><Relationship Id="rId3" Type="http://schemas.openxmlformats.org/officeDocument/2006/relationships/image" Target="../media/image-43-3.jpg"/><Relationship Id="rId4" Type="http://schemas.openxmlformats.org/officeDocument/2006/relationships/image" Target="../media/image-43-4.jpg"/><Relationship Id="rId5" Type="http://schemas.openxmlformats.org/officeDocument/2006/relationships/image" Target="../media/image-42-3.png"/><Relationship Id="rId6" Type="http://schemas.openxmlformats.org/officeDocument/2006/relationships/image" Target="../media/image-30-3.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slideLayout" Target="../slideLayouts/slideLayout1.xml"/><Relationship Id="rId1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4-2.jpg"/><Relationship Id="rId3" Type="http://schemas.openxmlformats.org/officeDocument/2006/relationships/image" Target="../media/image-44-3.jpg"/><Relationship Id="rId4" Type="http://schemas.openxmlformats.org/officeDocument/2006/relationships/image" Target="../media/image-44-4.jp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slideLayout" Target="../slideLayouts/slideLayout1.xml"/><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51-2.png"/><Relationship Id="rId3" Type="http://schemas.openxmlformats.org/officeDocument/2006/relationships/image" Target="../media/image-51-2.png"/><Relationship Id="rId4" Type="http://schemas.openxmlformats.org/officeDocument/2006/relationships/image" Target="../media/image-51-2.png"/><Relationship Id="rId5" Type="http://schemas.openxmlformats.org/officeDocument/2006/relationships/image" Target="../media/image-51-5.jpg"/><Relationship Id="rId6" Type="http://schemas.openxmlformats.org/officeDocument/2006/relationships/image" Target="../media/image-51-6.jpg"/><Relationship Id="rId7" Type="http://schemas.openxmlformats.org/officeDocument/2006/relationships/image" Target="../media/image-51-7.jp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image" Target="../media/image-51-10.png"/><Relationship Id="rId11" Type="http://schemas.openxmlformats.org/officeDocument/2006/relationships/slideLayout" Target="../slideLayouts/slideLayout1.xml"/><Relationship Id="rId1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4" Type="http://schemas.openxmlformats.org/officeDocument/2006/relationships/hyperlink" Target="https://github.com/KenediTorres/ODS-14-Vida-submarina" TargetMode="External"/><Relationship Id="rId6" Type="http://schemas.openxmlformats.org/officeDocument/2006/relationships/hyperlink" Target="https://continental-team-kue2qlm9.atlassian.net" TargetMode="External"/><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52-3.png"/><Relationship Id="rId5" Type="http://schemas.openxmlformats.org/officeDocument/2006/relationships/image" Target="../media/image-52-4.png"/><Relationship Id="rId7" Type="http://schemas.openxmlformats.org/officeDocument/2006/relationships/image" Target="../media/image-1-5.png"/><Relationship Id="rId8" Type="http://schemas.openxmlformats.org/officeDocument/2006/relationships/slideLayout" Target="../slideLayouts/slideLayout1.xml"/><Relationship Id="rId9"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_uc_white.png">    </p:cNvPr>
          <p:cNvPicPr>
            <a:picLocks noChangeAspect="1"/>
          </p:cNvPicPr>
          <p:nvPr/>
        </p:nvPicPr>
        <p:blipFill>
          <a:blip r:embed="rId2"/>
          <a:stretch>
            <a:fillRect/>
          </a:stretch>
        </p:blipFill>
        <p:spPr>
          <a:xfrm>
            <a:off x="566928" y="384048"/>
            <a:ext cx="566928" cy="694944"/>
          </a:xfrm>
          <a:prstGeom prst="rect">
            <a:avLst/>
          </a:prstGeom>
        </p:spPr>
      </p:pic>
      <p:sp>
        <p:nvSpPr>
          <p:cNvPr id="3" name="Text 0"/>
          <p:cNvSpPr txBox="1"/>
          <p:nvPr/>
        </p:nvSpPr>
        <p:spPr>
          <a:xfrm>
            <a:off x="5669280" y="457200"/>
            <a:ext cx="5989320" cy="274320"/>
          </a:xfrm>
          <a:prstGeom prst="rect">
            <a:avLst/>
          </a:prstGeom>
          <a:noFill/>
          <a:ln/>
        </p:spPr>
        <p:txBody>
          <a:bodyPr wrap="square" lIns="0" tIns="0" rIns="0" bIns="0" rtlCol="0" anchor="ctr"/>
          <a:lstStyle/>
          <a:p>
            <a:pPr algn="r" indent="0" marL="0">
              <a:buNone/>
            </a:pPr>
            <a:r>
              <a:rPr lang="en-US" sz="1000" i="1" dirty="0">
                <a:solidFill>
                  <a:srgbClr val="DCE9FF"/>
                </a:solidFill>
                <a:latin typeface="Open Sans" pitchFamily="34" charset="0"/>
                <a:ea typeface="Open Sans" pitchFamily="34" charset="-122"/>
                <a:cs typeface="Open Sans" pitchFamily="34" charset="-120"/>
              </a:rPr>
              <a:t>“Año de la Esperanza y el Fortalecimiento de la Democracia”</a:t>
            </a:r>
            <a:endParaRPr lang="en-US" sz="1000" dirty="0"/>
          </a:p>
        </p:txBody>
      </p:sp>
      <p:sp>
        <p:nvSpPr>
          <p:cNvPr id="4" name="Shape 1"/>
          <p:cNvSpPr/>
          <p:nvPr/>
        </p:nvSpPr>
        <p:spPr>
          <a:xfrm>
            <a:off x="1325880" y="603504"/>
            <a:ext cx="3815791"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5" name="Text 2"/>
          <p:cNvSpPr txBox="1"/>
          <p:nvPr/>
        </p:nvSpPr>
        <p:spPr>
          <a:xfrm>
            <a:off x="1325880" y="603504"/>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ANÁLISIS Y DISEÑO DE SOFTWARE · NRC 30228</a:t>
            </a:r>
            <a:endParaRPr lang="en-US" sz="850" dirty="0"/>
          </a:p>
        </p:txBody>
      </p:sp>
      <p:sp>
        <p:nvSpPr>
          <p:cNvPr id="6" name="Text 3"/>
          <p:cNvSpPr txBox="1"/>
          <p:nvPr/>
        </p:nvSpPr>
        <p:spPr>
          <a:xfrm>
            <a:off x="548640" y="1417320"/>
            <a:ext cx="7315200" cy="1188720"/>
          </a:xfrm>
          <a:prstGeom prst="rect">
            <a:avLst/>
          </a:prstGeom>
          <a:noFill/>
          <a:ln/>
        </p:spPr>
        <p:txBody>
          <a:bodyPr wrap="square" lIns="0" tIns="0" rIns="0" bIns="0" rtlCol="0" anchor="ctr"/>
          <a:lstStyle/>
          <a:p>
            <a:pPr indent="0" marL="0">
              <a:buNone/>
            </a:pPr>
            <a:r>
              <a:rPr lang="en-US" sz="8400" b="1" spc="200" kern="0" dirty="0">
                <a:solidFill>
                  <a:srgbClr val="FFFFFF"/>
                </a:solidFill>
                <a:latin typeface="Montserrat" pitchFamily="34" charset="0"/>
                <a:ea typeface="Montserrat" pitchFamily="34" charset="-122"/>
                <a:cs typeface="Montserrat" pitchFamily="34" charset="-120"/>
              </a:rPr>
              <a:t>SIRDEPA</a:t>
            </a:r>
            <a:endParaRPr lang="en-US" sz="8400" dirty="0"/>
          </a:p>
        </p:txBody>
      </p:sp>
      <p:sp>
        <p:nvSpPr>
          <p:cNvPr id="7" name="Text 4"/>
          <p:cNvSpPr txBox="1"/>
          <p:nvPr/>
        </p:nvSpPr>
        <p:spPr>
          <a:xfrm>
            <a:off x="566928" y="2606040"/>
            <a:ext cx="8138160" cy="411480"/>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Sistema de Registro de Desembarque Pesquero Artesanal</a:t>
            </a:r>
            <a:endParaRPr lang="en-US" sz="1800" dirty="0"/>
          </a:p>
        </p:txBody>
      </p:sp>
      <p:sp>
        <p:nvSpPr>
          <p:cNvPr id="8" name="Shape 5"/>
          <p:cNvSpPr/>
          <p:nvPr/>
        </p:nvSpPr>
        <p:spPr>
          <a:xfrm>
            <a:off x="566928" y="3200400"/>
            <a:ext cx="2063496" cy="329184"/>
          </a:xfrm>
          <a:prstGeom prst="roundRect">
            <a:avLst>
              <a:gd name="adj" fmla="val 50000"/>
            </a:avLst>
          </a:prstGeom>
          <a:solidFill>
            <a:srgbClr val="FFC233"/>
          </a:solidFill>
          <a:ln/>
        </p:spPr>
      </p:sp>
      <p:sp>
        <p:nvSpPr>
          <p:cNvPr id="9" name="Text 6"/>
          <p:cNvSpPr txBox="1"/>
          <p:nvPr/>
        </p:nvSpPr>
        <p:spPr>
          <a:xfrm>
            <a:off x="566928" y="3200400"/>
            <a:ext cx="2063496" cy="329184"/>
          </a:xfrm>
          <a:prstGeom prst="rect">
            <a:avLst/>
          </a:prstGeom>
          <a:noFill/>
          <a:ln/>
        </p:spPr>
        <p:txBody>
          <a:bodyPr wrap="square" lIns="0" tIns="0" rIns="0" bIns="0" rtlCol="0" anchor="ctr"/>
          <a:lstStyle/>
          <a:p>
            <a:pPr algn="ctr" indent="0" marL="0">
              <a:buNone/>
            </a:pPr>
            <a:r>
              <a:rPr lang="en-US" sz="1000" b="1" dirty="0">
                <a:solidFill>
                  <a:srgbClr val="0B1E4F"/>
                </a:solidFill>
                <a:latin typeface="Montserrat" pitchFamily="34" charset="0"/>
                <a:ea typeface="Montserrat" pitchFamily="34" charset="-122"/>
                <a:cs typeface="Montserrat" pitchFamily="34" charset="-120"/>
              </a:rPr>
              <a:t>ODS 14 · Vida submarina</a:t>
            </a:r>
            <a:endParaRPr lang="en-US" sz="1000" dirty="0"/>
          </a:p>
        </p:txBody>
      </p:sp>
      <p:sp>
        <p:nvSpPr>
          <p:cNvPr id="10" name="Shape 7"/>
          <p:cNvSpPr/>
          <p:nvPr/>
        </p:nvSpPr>
        <p:spPr>
          <a:xfrm>
            <a:off x="2758440" y="3200400"/>
            <a:ext cx="4197096" cy="329184"/>
          </a:xfrm>
          <a:prstGeom prst="roundRect">
            <a:avLst>
              <a:gd name="adj" fmla="val 50000"/>
            </a:avLst>
          </a:prstGeom>
          <a:solidFill>
            <a:srgbClr val="FFFFFF">
              <a:alpha val="20000"/>
            </a:srgbClr>
          </a:solidFill>
          <a:ln w="9525">
            <a:solidFill>
              <a:srgbClr val="FFFFFF">
                <a:alpha val="50000"/>
              </a:srgbClr>
            </a:solidFill>
            <a:prstDash val="solid"/>
          </a:ln>
        </p:spPr>
      </p:sp>
      <p:sp>
        <p:nvSpPr>
          <p:cNvPr id="11" name="Text 8"/>
          <p:cNvSpPr txBox="1"/>
          <p:nvPr/>
        </p:nvSpPr>
        <p:spPr>
          <a:xfrm>
            <a:off x="2758440" y="3200400"/>
            <a:ext cx="4197096" cy="329184"/>
          </a:xfrm>
          <a:prstGeom prst="rect">
            <a:avLst/>
          </a:prstGeom>
          <a:noFill/>
          <a:ln/>
        </p:spPr>
        <p:txBody>
          <a:bodyPr wrap="square" lIns="0" tIns="0" rIns="0" bIns="0" rtlCol="0" anchor="ctr"/>
          <a:lstStyle/>
          <a:p>
            <a:pPr algn="ctr" indent="0" marL="0">
              <a:buNone/>
            </a:pPr>
            <a:r>
              <a:rPr lang="en-US" sz="1000" dirty="0">
                <a:solidFill>
                  <a:srgbClr val="FFFFFF"/>
                </a:solidFill>
                <a:latin typeface="Open Sans" pitchFamily="34" charset="0"/>
                <a:ea typeface="Open Sans" pitchFamily="34" charset="-122"/>
                <a:cs typeface="Open Sans" pitchFamily="34" charset="-120"/>
              </a:rPr>
              <a:t>Tema 1 · Registro de desembarque pesquero artesanal</a:t>
            </a:r>
            <a:endParaRPr lang="en-US" sz="1000" dirty="0"/>
          </a:p>
        </p:txBody>
      </p:sp>
      <p:sp>
        <p:nvSpPr>
          <p:cNvPr id="12" name="Text 9"/>
          <p:cNvSpPr txBox="1"/>
          <p:nvPr/>
        </p:nvSpPr>
        <p:spPr>
          <a:xfrm>
            <a:off x="566928" y="3703320"/>
            <a:ext cx="6400800" cy="365760"/>
          </a:xfrm>
          <a:prstGeom prst="rect">
            <a:avLst/>
          </a:prstGeom>
          <a:noFill/>
          <a:ln/>
        </p:spPr>
        <p:txBody>
          <a:bodyPr wrap="square" lIns="0" tIns="0" rIns="0" bIns="0" rtlCol="0" anchor="ctr"/>
          <a:lstStyle/>
          <a:p>
            <a:pPr indent="0" marL="0">
              <a:buNone/>
            </a:pPr>
            <a:r>
              <a:rPr lang="en-US" sz="1600" b="1" i="1" dirty="0">
                <a:solidFill>
                  <a:srgbClr val="7CF0F5"/>
                </a:solidFill>
                <a:latin typeface="Montserrat" pitchFamily="34" charset="0"/>
                <a:ea typeface="Montserrat" pitchFamily="34" charset="-122"/>
                <a:cs typeface="Montserrat" pitchFamily="34" charset="-120"/>
              </a:rPr>
              <a:t>“Del muelle al dato, en minutos”</a:t>
            </a:r>
            <a:endParaRPr lang="en-US" sz="1600" dirty="0"/>
          </a:p>
        </p:txBody>
      </p:sp>
      <p:sp>
        <p:nvSpPr>
          <p:cNvPr id="13" name="Shape 10"/>
          <p:cNvSpPr/>
          <p:nvPr/>
        </p:nvSpPr>
        <p:spPr>
          <a:xfrm>
            <a:off x="548640" y="4315968"/>
            <a:ext cx="7406640" cy="1481328"/>
          </a:xfrm>
          <a:prstGeom prst="roundRect">
            <a:avLst>
              <a:gd name="adj" fmla="val 9877"/>
            </a:avLst>
          </a:prstGeom>
          <a:solidFill>
            <a:srgbClr val="FFFFFF">
              <a:alpha val="14000"/>
            </a:srgbClr>
          </a:solidFill>
          <a:ln w="9525">
            <a:solidFill>
              <a:srgbClr val="FFFFFF">
                <a:alpha val="40000"/>
              </a:srgbClr>
            </a:solidFill>
            <a:prstDash val="solid"/>
          </a:ln>
        </p:spPr>
      </p:sp>
      <p:sp>
        <p:nvSpPr>
          <p:cNvPr id="14" name="Text 11"/>
          <p:cNvSpPr txBox="1"/>
          <p:nvPr/>
        </p:nvSpPr>
        <p:spPr>
          <a:xfrm>
            <a:off x="777240" y="4425696"/>
            <a:ext cx="6949440" cy="274320"/>
          </a:xfrm>
          <a:prstGeom prst="rect">
            <a:avLst/>
          </a:prstGeom>
          <a:noFill/>
          <a:ln/>
        </p:spPr>
        <p:txBody>
          <a:bodyPr wrap="square" lIns="0" tIns="0" rIns="0" bIns="0" rtlCol="0" anchor="ctr"/>
          <a:lstStyle/>
          <a:p>
            <a:pPr indent="0" marL="0">
              <a:buNone/>
            </a:pPr>
            <a:r>
              <a:rPr lang="en-US" sz="850" b="1" spc="150" kern="0" dirty="0">
                <a:solidFill>
                  <a:srgbClr val="FFC233"/>
                </a:solidFill>
                <a:latin typeface="Montserrat" pitchFamily="34" charset="0"/>
                <a:ea typeface="Montserrat" pitchFamily="34" charset="-122"/>
                <a:cs typeface="Montserrat" pitchFamily="34" charset="-120"/>
              </a:rPr>
              <a:t>DOCENTE  </a:t>
            </a:r>
            <a:pPr indent="0" marL="0">
              <a:buNone/>
            </a:pPr>
            <a:r>
              <a:rPr lang="en-US" sz="1150" b="1" dirty="0">
                <a:solidFill>
                  <a:srgbClr val="FFFFFF"/>
                </a:solidFill>
                <a:latin typeface="Open Sans" pitchFamily="34" charset="0"/>
                <a:ea typeface="Open Sans" pitchFamily="34" charset="-122"/>
                <a:cs typeface="Open Sans" pitchFamily="34" charset="-120"/>
              </a:rPr>
              <a:t>Osorio Contreras Rosario Delia</a:t>
            </a:r>
            <a:endParaRPr lang="en-US" sz="1200" dirty="0"/>
          </a:p>
        </p:txBody>
      </p:sp>
      <p:sp>
        <p:nvSpPr>
          <p:cNvPr id="15" name="Text 12"/>
          <p:cNvSpPr txBox="1"/>
          <p:nvPr/>
        </p:nvSpPr>
        <p:spPr>
          <a:xfrm>
            <a:off x="777240" y="4754880"/>
            <a:ext cx="2743200" cy="201168"/>
          </a:xfrm>
          <a:prstGeom prst="rect">
            <a:avLst/>
          </a:prstGeom>
          <a:noFill/>
          <a:ln/>
        </p:spPr>
        <p:txBody>
          <a:bodyPr wrap="square" lIns="0" tIns="0" rIns="0" bIns="0" rtlCol="0" anchor="t"/>
          <a:lstStyle/>
          <a:p>
            <a:pPr indent="0" marL="0">
              <a:buNone/>
            </a:pPr>
            <a:r>
              <a:rPr lang="en-US" sz="850" b="1" spc="150" kern="0" dirty="0">
                <a:solidFill>
                  <a:srgbClr val="FFC233"/>
                </a:solidFill>
                <a:latin typeface="Montserrat" pitchFamily="34" charset="0"/>
                <a:ea typeface="Montserrat" pitchFamily="34" charset="-122"/>
                <a:cs typeface="Montserrat" pitchFamily="34" charset="-120"/>
              </a:rPr>
              <a:t>INTEGRANTES</a:t>
            </a:r>
            <a:endParaRPr lang="en-US" sz="850" dirty="0"/>
          </a:p>
        </p:txBody>
      </p:sp>
      <p:sp>
        <p:nvSpPr>
          <p:cNvPr id="16" name="Text 13"/>
          <p:cNvSpPr txBox="1"/>
          <p:nvPr/>
        </p:nvSpPr>
        <p:spPr>
          <a:xfrm>
            <a:off x="777240" y="4992624"/>
            <a:ext cx="3566160" cy="292608"/>
          </a:xfrm>
          <a:prstGeom prst="rect">
            <a:avLst/>
          </a:prstGeom>
          <a:noFill/>
          <a:ln/>
        </p:spPr>
        <p:txBody>
          <a:bodyPr wrap="square" lIns="0" tIns="0" rIns="0" bIns="0" rtlCol="0" anchor="ctr"/>
          <a:lstStyle/>
          <a:p>
            <a:pPr indent="0" marL="0">
              <a:buNone/>
            </a:pPr>
            <a:r>
              <a:rPr lang="en-US" sz="1050" b="1" dirty="0">
                <a:solidFill>
                  <a:srgbClr val="FFFFFF"/>
                </a:solidFill>
                <a:latin typeface="Open Sans" pitchFamily="34" charset="0"/>
                <a:ea typeface="Open Sans" pitchFamily="34" charset="-122"/>
                <a:cs typeface="Open Sans" pitchFamily="34" charset="-120"/>
              </a:rPr>
              <a:t>Palomino Huamán Damián Samir</a:t>
            </a:r>
            <a:pPr indent="0" marL="0">
              <a:buNone/>
            </a:pPr>
            <a:r>
              <a:rPr lang="en-US" sz="1050" dirty="0">
                <a:solidFill>
                  <a:srgbClr val="BFD6FF"/>
                </a:solidFill>
                <a:latin typeface="Open Sans" pitchFamily="34" charset="0"/>
                <a:ea typeface="Open Sans" pitchFamily="34" charset="-122"/>
                <a:cs typeface="Open Sans" pitchFamily="34" charset="-120"/>
              </a:rPr>
              <a:t>   60420707</a:t>
            </a:r>
            <a:endParaRPr lang="en-US" sz="1050" dirty="0"/>
          </a:p>
        </p:txBody>
      </p:sp>
      <p:sp>
        <p:nvSpPr>
          <p:cNvPr id="17" name="Text 14"/>
          <p:cNvSpPr txBox="1"/>
          <p:nvPr/>
        </p:nvSpPr>
        <p:spPr>
          <a:xfrm>
            <a:off x="4389120" y="4992624"/>
            <a:ext cx="3566160" cy="292608"/>
          </a:xfrm>
          <a:prstGeom prst="rect">
            <a:avLst/>
          </a:prstGeom>
          <a:noFill/>
          <a:ln/>
        </p:spPr>
        <p:txBody>
          <a:bodyPr wrap="square" lIns="0" tIns="0" rIns="0" bIns="0" rtlCol="0" anchor="ctr"/>
          <a:lstStyle/>
          <a:p>
            <a:pPr indent="0" marL="0">
              <a:buNone/>
            </a:pPr>
            <a:r>
              <a:rPr lang="en-US" sz="1050" b="1" dirty="0">
                <a:solidFill>
                  <a:srgbClr val="FFFFFF"/>
                </a:solidFill>
                <a:latin typeface="Open Sans" pitchFamily="34" charset="0"/>
                <a:ea typeface="Open Sans" pitchFamily="34" charset="-122"/>
                <a:cs typeface="Open Sans" pitchFamily="34" charset="-120"/>
              </a:rPr>
              <a:t>Ortega Matos Andy Jeampier</a:t>
            </a:r>
            <a:pPr indent="0" marL="0">
              <a:buNone/>
            </a:pPr>
            <a:r>
              <a:rPr lang="en-US" sz="1050" dirty="0">
                <a:solidFill>
                  <a:srgbClr val="BFD6FF"/>
                </a:solidFill>
                <a:latin typeface="Open Sans" pitchFamily="34" charset="0"/>
                <a:ea typeface="Open Sans" pitchFamily="34" charset="-122"/>
                <a:cs typeface="Open Sans" pitchFamily="34" charset="-120"/>
              </a:rPr>
              <a:t>   61027346</a:t>
            </a:r>
            <a:endParaRPr lang="en-US" sz="1050" dirty="0"/>
          </a:p>
        </p:txBody>
      </p:sp>
      <p:sp>
        <p:nvSpPr>
          <p:cNvPr id="18" name="Text 15"/>
          <p:cNvSpPr txBox="1"/>
          <p:nvPr/>
        </p:nvSpPr>
        <p:spPr>
          <a:xfrm>
            <a:off x="777240" y="5340096"/>
            <a:ext cx="3566160" cy="292608"/>
          </a:xfrm>
          <a:prstGeom prst="rect">
            <a:avLst/>
          </a:prstGeom>
          <a:noFill/>
          <a:ln/>
        </p:spPr>
        <p:txBody>
          <a:bodyPr wrap="square" lIns="0" tIns="0" rIns="0" bIns="0" rtlCol="0" anchor="ctr"/>
          <a:lstStyle/>
          <a:p>
            <a:pPr indent="0" marL="0">
              <a:buNone/>
            </a:pPr>
            <a:r>
              <a:rPr lang="en-US" sz="1050" b="1" dirty="0">
                <a:solidFill>
                  <a:srgbClr val="FFFFFF"/>
                </a:solidFill>
                <a:latin typeface="Open Sans" pitchFamily="34" charset="0"/>
                <a:ea typeface="Open Sans" pitchFamily="34" charset="-122"/>
                <a:cs typeface="Open Sans" pitchFamily="34" charset="-120"/>
              </a:rPr>
              <a:t>Torres Flores Kenyi Kenedi</a:t>
            </a:r>
            <a:pPr indent="0" marL="0">
              <a:buNone/>
            </a:pPr>
            <a:r>
              <a:rPr lang="en-US" sz="1050" dirty="0">
                <a:solidFill>
                  <a:srgbClr val="BFD6FF"/>
                </a:solidFill>
                <a:latin typeface="Open Sans" pitchFamily="34" charset="0"/>
                <a:ea typeface="Open Sans" pitchFamily="34" charset="-122"/>
                <a:cs typeface="Open Sans" pitchFamily="34" charset="-120"/>
              </a:rPr>
              <a:t>   60891443</a:t>
            </a:r>
            <a:endParaRPr lang="en-US" sz="1050" dirty="0"/>
          </a:p>
        </p:txBody>
      </p:sp>
      <p:sp>
        <p:nvSpPr>
          <p:cNvPr id="19" name="Text 16"/>
          <p:cNvSpPr txBox="1"/>
          <p:nvPr/>
        </p:nvSpPr>
        <p:spPr>
          <a:xfrm>
            <a:off x="4389120" y="5340096"/>
            <a:ext cx="3566160" cy="292608"/>
          </a:xfrm>
          <a:prstGeom prst="rect">
            <a:avLst/>
          </a:prstGeom>
          <a:noFill/>
          <a:ln/>
        </p:spPr>
        <p:txBody>
          <a:bodyPr wrap="square" lIns="0" tIns="0" rIns="0" bIns="0" rtlCol="0" anchor="ctr"/>
          <a:lstStyle/>
          <a:p>
            <a:pPr indent="0" marL="0">
              <a:buNone/>
            </a:pPr>
            <a:r>
              <a:rPr lang="en-US" sz="1050" b="1" dirty="0">
                <a:solidFill>
                  <a:srgbClr val="FFFFFF"/>
                </a:solidFill>
                <a:latin typeface="Open Sans" pitchFamily="34" charset="0"/>
                <a:ea typeface="Open Sans" pitchFamily="34" charset="-122"/>
                <a:cs typeface="Open Sans" pitchFamily="34" charset="-120"/>
              </a:rPr>
              <a:t>Lozano De La Cruz Edgard Alejandro</a:t>
            </a:r>
            <a:pPr indent="0" marL="0">
              <a:buNone/>
            </a:pPr>
            <a:r>
              <a:rPr lang="en-US" sz="1050" dirty="0">
                <a:solidFill>
                  <a:srgbClr val="BFD6FF"/>
                </a:solidFill>
                <a:latin typeface="Open Sans" pitchFamily="34" charset="0"/>
                <a:ea typeface="Open Sans" pitchFamily="34" charset="-122"/>
                <a:cs typeface="Open Sans" pitchFamily="34" charset="-120"/>
              </a:rPr>
              <a:t>   61012585</a:t>
            </a:r>
            <a:endParaRPr lang="en-US" sz="1050" dirty="0"/>
          </a:p>
        </p:txBody>
      </p:sp>
      <p:sp>
        <p:nvSpPr>
          <p:cNvPr id="20" name="Text 17"/>
          <p:cNvSpPr txBox="1"/>
          <p:nvPr/>
        </p:nvSpPr>
        <p:spPr>
          <a:xfrm>
            <a:off x="566928" y="6053328"/>
            <a:ext cx="365760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Huancayo – Perú · 2026</a:t>
            </a:r>
            <a:endParaRPr lang="en-US" sz="1100" dirty="0"/>
          </a:p>
        </p:txBody>
      </p:sp>
      <p:sp>
        <p:nvSpPr>
          <p:cNvPr id="21" name="Shape 18"/>
          <p:cNvSpPr/>
          <p:nvPr/>
        </p:nvSpPr>
        <p:spPr>
          <a:xfrm>
            <a:off x="8503920" y="868680"/>
            <a:ext cx="2606040" cy="5257800"/>
          </a:xfrm>
          <a:prstGeom prst="roundRect">
            <a:avLst>
              <a:gd name="adj" fmla="val 11228"/>
            </a:avLst>
          </a:prstGeom>
          <a:solidFill>
            <a:srgbClr val="0B1E4F"/>
          </a:solidFill>
          <a:ln/>
          <a:effectLst>
            <a:outerShdw sx="100000" sy="100000" kx="0" ky="0" algn="bl" rotWithShape="0" blurRad="355600" dist="127000" dir="5400000">
              <a:srgbClr val="031040">
                <a:alpha val="45000"/>
              </a:srgbClr>
            </a:outerShdw>
          </a:effectLst>
        </p:spPr>
      </p:sp>
      <p:sp>
        <p:nvSpPr>
          <p:cNvPr id="22" name="Shape 19"/>
          <p:cNvSpPr/>
          <p:nvPr/>
        </p:nvSpPr>
        <p:spPr>
          <a:xfrm>
            <a:off x="8595360" y="960120"/>
            <a:ext cx="2423160" cy="5074920"/>
          </a:xfrm>
          <a:prstGeom prst="roundRect">
            <a:avLst>
              <a:gd name="adj" fmla="val 9057"/>
            </a:avLst>
          </a:prstGeom>
          <a:solidFill>
            <a:srgbClr val="FFFFFF"/>
          </a:solidFill>
          <a:ln/>
        </p:spPr>
      </p:sp>
      <p:sp>
        <p:nvSpPr>
          <p:cNvPr id="23" name="Shape 20"/>
          <p:cNvSpPr/>
          <p:nvPr/>
        </p:nvSpPr>
        <p:spPr>
          <a:xfrm>
            <a:off x="8595360" y="960120"/>
            <a:ext cx="2423160" cy="566928"/>
          </a:xfrm>
          <a:prstGeom prst="roundRect">
            <a:avLst>
              <a:gd name="adj" fmla="val 38710"/>
            </a:avLst>
          </a:prstGeom>
          <a:solidFill>
            <a:srgbClr val="0B5FFF"/>
          </a:solidFill>
          <a:ln/>
        </p:spPr>
      </p:sp>
      <p:sp>
        <p:nvSpPr>
          <p:cNvPr id="24" name="Shape 21"/>
          <p:cNvSpPr/>
          <p:nvPr/>
        </p:nvSpPr>
        <p:spPr>
          <a:xfrm>
            <a:off x="8595360" y="1325880"/>
            <a:ext cx="2423160" cy="201168"/>
          </a:xfrm>
          <a:prstGeom prst="rect">
            <a:avLst/>
          </a:prstGeom>
          <a:solidFill>
            <a:srgbClr val="0B5FFF"/>
          </a:solidFill>
          <a:ln/>
        </p:spPr>
      </p:sp>
      <p:sp>
        <p:nvSpPr>
          <p:cNvPr id="25" name="Shape 22"/>
          <p:cNvSpPr/>
          <p:nvPr/>
        </p:nvSpPr>
        <p:spPr>
          <a:xfrm>
            <a:off x="9486900" y="996696"/>
            <a:ext cx="640080" cy="73152"/>
          </a:xfrm>
          <a:prstGeom prst="roundRect">
            <a:avLst>
              <a:gd name="adj" fmla="val 50000"/>
            </a:avLst>
          </a:prstGeom>
          <a:solidFill>
            <a:srgbClr val="0B1E4F"/>
          </a:solidFill>
          <a:ln/>
        </p:spPr>
      </p:sp>
      <p:pic>
        <p:nvPicPr>
          <p:cNvPr id="26" name="Image 1" descr="preencoded.png">    </p:cNvPr>
          <p:cNvPicPr>
            <a:picLocks noChangeAspect="1"/>
          </p:cNvPicPr>
          <p:nvPr/>
        </p:nvPicPr>
        <p:blipFill>
          <a:blip r:embed="rId3"/>
          <a:stretch>
            <a:fillRect/>
          </a:stretch>
        </p:blipFill>
        <p:spPr>
          <a:xfrm>
            <a:off x="8759952" y="1197864"/>
            <a:ext cx="237744" cy="237744"/>
          </a:xfrm>
          <a:prstGeom prst="rect">
            <a:avLst/>
          </a:prstGeom>
        </p:spPr>
      </p:pic>
      <p:sp>
        <p:nvSpPr>
          <p:cNvPr id="27" name="Text 23"/>
          <p:cNvSpPr txBox="1"/>
          <p:nvPr/>
        </p:nvSpPr>
        <p:spPr>
          <a:xfrm>
            <a:off x="9052560" y="1179576"/>
            <a:ext cx="137160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SIRDEPA</a:t>
            </a:r>
            <a:endParaRPr lang="en-US" sz="1100" dirty="0"/>
          </a:p>
        </p:txBody>
      </p:sp>
      <p:sp>
        <p:nvSpPr>
          <p:cNvPr id="28" name="Text 24"/>
          <p:cNvSpPr txBox="1"/>
          <p:nvPr/>
        </p:nvSpPr>
        <p:spPr>
          <a:xfrm>
            <a:off x="8778240" y="1673352"/>
            <a:ext cx="2057400" cy="201168"/>
          </a:xfrm>
          <a:prstGeom prst="rect">
            <a:avLst/>
          </a:prstGeom>
          <a:noFill/>
          <a:ln/>
        </p:spPr>
        <p:txBody>
          <a:bodyPr wrap="square" lIns="0" tIns="0" rIns="0" bIns="0" rtlCol="0" anchor="t"/>
          <a:lstStyle/>
          <a:p>
            <a:pPr indent="0" marL="0">
              <a:buNone/>
            </a:pPr>
            <a:r>
              <a:rPr lang="en-US" sz="750" b="1" spc="150" kern="0" dirty="0">
                <a:solidFill>
                  <a:srgbClr val="8A96AE"/>
                </a:solidFill>
                <a:latin typeface="Montserrat" pitchFamily="34" charset="0"/>
                <a:ea typeface="Montserrat" pitchFamily="34" charset="-122"/>
                <a:cs typeface="Montserrat" pitchFamily="34" charset="-120"/>
              </a:rPr>
              <a:t>CONSTANCIA DIGITAL</a:t>
            </a:r>
            <a:endParaRPr lang="en-US" sz="750" dirty="0"/>
          </a:p>
        </p:txBody>
      </p:sp>
      <p:sp>
        <p:nvSpPr>
          <p:cNvPr id="29" name="Text 25"/>
          <p:cNvSpPr txBox="1"/>
          <p:nvPr/>
        </p:nvSpPr>
        <p:spPr>
          <a:xfrm>
            <a:off x="8778240" y="1856232"/>
            <a:ext cx="2057400" cy="274320"/>
          </a:xfrm>
          <a:prstGeom prst="rect">
            <a:avLst/>
          </a:prstGeom>
          <a:noFill/>
          <a:ln/>
        </p:spPr>
        <p:txBody>
          <a:bodyPr wrap="square" lIns="0" tIns="0" rIns="0" bIns="0" rtlCol="0" anchor="t"/>
          <a:lstStyle/>
          <a:p>
            <a:pPr indent="0" marL="0">
              <a:buNone/>
            </a:pPr>
            <a:r>
              <a:rPr lang="en-US" sz="1100" b="1" dirty="0">
                <a:solidFill>
                  <a:srgbClr val="0E1B3D"/>
                </a:solidFill>
                <a:latin typeface="Montserrat" pitchFamily="34" charset="0"/>
                <a:ea typeface="Montserrat" pitchFamily="34" charset="-122"/>
                <a:cs typeface="Montserrat" pitchFamily="34" charset="-120"/>
              </a:rPr>
              <a:t>Desembarque registrado</a:t>
            </a:r>
            <a:endParaRPr lang="en-US" sz="1100" dirty="0"/>
          </a:p>
        </p:txBody>
      </p:sp>
      <p:sp>
        <p:nvSpPr>
          <p:cNvPr id="30" name="Shape 26"/>
          <p:cNvSpPr/>
          <p:nvPr/>
        </p:nvSpPr>
        <p:spPr>
          <a:xfrm>
            <a:off x="8778240" y="2203704"/>
            <a:ext cx="1143000" cy="274320"/>
          </a:xfrm>
          <a:prstGeom prst="roundRect">
            <a:avLst>
              <a:gd name="adj" fmla="val 50000"/>
            </a:avLst>
          </a:prstGeom>
          <a:solidFill>
            <a:srgbClr val="E2F8EF"/>
          </a:solidFill>
          <a:ln/>
        </p:spPr>
      </p:sp>
      <p:pic>
        <p:nvPicPr>
          <p:cNvPr id="31" name="Image 2" descr="preencoded.png">    </p:cNvPr>
          <p:cNvPicPr>
            <a:picLocks noChangeAspect="1"/>
          </p:cNvPicPr>
          <p:nvPr/>
        </p:nvPicPr>
        <p:blipFill>
          <a:blip r:embed="rId4"/>
          <a:stretch>
            <a:fillRect/>
          </a:stretch>
        </p:blipFill>
        <p:spPr>
          <a:xfrm>
            <a:off x="8851392" y="2249424"/>
            <a:ext cx="182880" cy="182880"/>
          </a:xfrm>
          <a:prstGeom prst="rect">
            <a:avLst/>
          </a:prstGeom>
        </p:spPr>
      </p:pic>
      <p:sp>
        <p:nvSpPr>
          <p:cNvPr id="32" name="Text 27"/>
          <p:cNvSpPr txBox="1"/>
          <p:nvPr/>
        </p:nvSpPr>
        <p:spPr>
          <a:xfrm>
            <a:off x="9079992" y="2203704"/>
            <a:ext cx="822960" cy="274320"/>
          </a:xfrm>
          <a:prstGeom prst="rect">
            <a:avLst/>
          </a:prstGeom>
          <a:noFill/>
          <a:ln/>
        </p:spPr>
        <p:txBody>
          <a:bodyPr wrap="square" lIns="0" tIns="0" rIns="0" bIns="0" rtlCol="0" anchor="ctr"/>
          <a:lstStyle/>
          <a:p>
            <a:pPr indent="0" marL="0">
              <a:buNone/>
            </a:pPr>
            <a:r>
              <a:rPr lang="en-US" sz="900" b="1" dirty="0">
                <a:solidFill>
                  <a:srgbClr val="0B9468"/>
                </a:solidFill>
                <a:latin typeface="Open Sans" pitchFamily="34" charset="0"/>
                <a:ea typeface="Open Sans" pitchFamily="34" charset="-122"/>
                <a:cs typeface="Open Sans" pitchFamily="34" charset="-120"/>
              </a:rPr>
              <a:t>Conforme</a:t>
            </a:r>
            <a:endParaRPr lang="en-US" sz="900" dirty="0"/>
          </a:p>
        </p:txBody>
      </p:sp>
      <p:sp>
        <p:nvSpPr>
          <p:cNvPr id="33" name="Shape 28"/>
          <p:cNvSpPr/>
          <p:nvPr/>
        </p:nvSpPr>
        <p:spPr>
          <a:xfrm>
            <a:off x="9025128" y="2624328"/>
            <a:ext cx="1563624" cy="1563624"/>
          </a:xfrm>
          <a:prstGeom prst="roundRect">
            <a:avLst>
              <a:gd name="adj" fmla="val 5848"/>
            </a:avLst>
          </a:prstGeom>
          <a:solidFill>
            <a:srgbClr val="FFFFFF"/>
          </a:solidFill>
          <a:ln w="9525">
            <a:solidFill>
              <a:srgbClr val="DCE5F3"/>
            </a:solidFill>
            <a:prstDash val="solid"/>
          </a:ln>
        </p:spPr>
      </p:sp>
      <p:pic>
        <p:nvPicPr>
          <p:cNvPr id="34" name="Image 3" descr="assets/qr.png">    </p:cNvPr>
          <p:cNvPicPr>
            <a:picLocks noChangeAspect="1"/>
          </p:cNvPicPr>
          <p:nvPr/>
        </p:nvPicPr>
        <p:blipFill>
          <a:blip r:embed="rId5"/>
          <a:stretch>
            <a:fillRect/>
          </a:stretch>
        </p:blipFill>
        <p:spPr>
          <a:xfrm>
            <a:off x="9098280" y="2697480"/>
            <a:ext cx="1417320" cy="1417320"/>
          </a:xfrm>
          <a:prstGeom prst="rect">
            <a:avLst/>
          </a:prstGeom>
        </p:spPr>
      </p:pic>
      <p:sp>
        <p:nvSpPr>
          <p:cNvPr id="35" name="Text 29"/>
          <p:cNvSpPr txBox="1"/>
          <p:nvPr/>
        </p:nvSpPr>
        <p:spPr>
          <a:xfrm>
            <a:off x="8778240" y="427024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Especie</a:t>
            </a:r>
            <a:endParaRPr lang="en-US" sz="800" dirty="0"/>
          </a:p>
        </p:txBody>
      </p:sp>
      <p:sp>
        <p:nvSpPr>
          <p:cNvPr id="36" name="Shape 30"/>
          <p:cNvSpPr/>
          <p:nvPr/>
        </p:nvSpPr>
        <p:spPr>
          <a:xfrm>
            <a:off x="10012680" y="4334256"/>
            <a:ext cx="822960" cy="91440"/>
          </a:xfrm>
          <a:prstGeom prst="roundRect">
            <a:avLst>
              <a:gd name="adj" fmla="val 50000"/>
            </a:avLst>
          </a:prstGeom>
          <a:solidFill>
            <a:srgbClr val="D3E2FF"/>
          </a:solidFill>
          <a:ln/>
        </p:spPr>
      </p:sp>
      <p:sp>
        <p:nvSpPr>
          <p:cNvPr id="37" name="Text 31"/>
          <p:cNvSpPr txBox="1"/>
          <p:nvPr/>
        </p:nvSpPr>
        <p:spPr>
          <a:xfrm>
            <a:off x="8778240" y="454456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Kilos</a:t>
            </a:r>
            <a:endParaRPr lang="en-US" sz="800" dirty="0"/>
          </a:p>
        </p:txBody>
      </p:sp>
      <p:sp>
        <p:nvSpPr>
          <p:cNvPr id="38" name="Shape 32"/>
          <p:cNvSpPr/>
          <p:nvPr/>
        </p:nvSpPr>
        <p:spPr>
          <a:xfrm>
            <a:off x="10287000" y="4608576"/>
            <a:ext cx="548640" cy="91440"/>
          </a:xfrm>
          <a:prstGeom prst="roundRect">
            <a:avLst>
              <a:gd name="adj" fmla="val 50000"/>
            </a:avLst>
          </a:prstGeom>
          <a:solidFill>
            <a:srgbClr val="D3E2FF"/>
          </a:solidFill>
          <a:ln/>
        </p:spPr>
      </p:sp>
      <p:sp>
        <p:nvSpPr>
          <p:cNvPr id="39" name="Text 33"/>
          <p:cNvSpPr txBox="1"/>
          <p:nvPr/>
        </p:nvSpPr>
        <p:spPr>
          <a:xfrm>
            <a:off x="8778240" y="481888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Zona (cuadrícula)</a:t>
            </a:r>
            <a:endParaRPr lang="en-US" sz="800" dirty="0"/>
          </a:p>
        </p:txBody>
      </p:sp>
      <p:sp>
        <p:nvSpPr>
          <p:cNvPr id="40" name="Shape 34"/>
          <p:cNvSpPr/>
          <p:nvPr/>
        </p:nvSpPr>
        <p:spPr>
          <a:xfrm>
            <a:off x="10149840" y="4882896"/>
            <a:ext cx="685800" cy="91440"/>
          </a:xfrm>
          <a:prstGeom prst="roundRect">
            <a:avLst>
              <a:gd name="adj" fmla="val 50000"/>
            </a:avLst>
          </a:prstGeom>
          <a:solidFill>
            <a:srgbClr val="D3E2FF"/>
          </a:solidFill>
          <a:ln/>
        </p:spPr>
      </p:sp>
      <p:sp>
        <p:nvSpPr>
          <p:cNvPr id="41" name="Shape 35"/>
          <p:cNvSpPr/>
          <p:nvPr/>
        </p:nvSpPr>
        <p:spPr>
          <a:xfrm>
            <a:off x="8778240" y="5468112"/>
            <a:ext cx="2057400" cy="384048"/>
          </a:xfrm>
          <a:prstGeom prst="roundRect">
            <a:avLst>
              <a:gd name="adj" fmla="val 50000"/>
            </a:avLst>
          </a:prstGeom>
          <a:solidFill>
            <a:srgbClr val="0B5FFF"/>
          </a:solidFill>
          <a:ln/>
        </p:spPr>
      </p:sp>
      <p:pic>
        <p:nvPicPr>
          <p:cNvPr id="42" name="Image 4" descr="preencoded.png">    </p:cNvPr>
          <p:cNvPicPr>
            <a:picLocks noChangeAspect="1"/>
          </p:cNvPicPr>
          <p:nvPr/>
        </p:nvPicPr>
        <p:blipFill>
          <a:blip r:embed="rId6"/>
          <a:stretch>
            <a:fillRect/>
          </a:stretch>
        </p:blipFill>
        <p:spPr>
          <a:xfrm>
            <a:off x="8979408" y="5559552"/>
            <a:ext cx="201168" cy="201168"/>
          </a:xfrm>
          <a:prstGeom prst="rect">
            <a:avLst/>
          </a:prstGeom>
        </p:spPr>
      </p:pic>
      <p:sp>
        <p:nvSpPr>
          <p:cNvPr id="43" name="Text 36"/>
          <p:cNvSpPr txBox="1"/>
          <p:nvPr/>
        </p:nvSpPr>
        <p:spPr>
          <a:xfrm>
            <a:off x="9235440" y="5468112"/>
            <a:ext cx="1508760" cy="384048"/>
          </a:xfrm>
          <a:prstGeom prst="rect">
            <a:avLst/>
          </a:prstGeom>
          <a:noFill/>
          <a:ln/>
        </p:spPr>
        <p:txBody>
          <a:bodyPr wrap="square" lIns="0" tIns="0" rIns="0" bIns="0" rtlCol="0" anchor="ctr"/>
          <a:lstStyle/>
          <a:p>
            <a:pPr indent="0" marL="0">
              <a:buNone/>
            </a:pPr>
            <a:r>
              <a:rPr lang="en-US" sz="950" b="1" dirty="0">
                <a:solidFill>
                  <a:srgbClr val="FFFFFF"/>
                </a:solidFill>
                <a:latin typeface="Open Sans" pitchFamily="34" charset="0"/>
                <a:ea typeface="Open Sans" pitchFamily="34" charset="-122"/>
                <a:cs typeface="Open Sans" pitchFamily="34" charset="-120"/>
              </a:rPr>
              <a:t>Enviada por SMS</a:t>
            </a:r>
            <a:endParaRPr lang="en-US" sz="950" dirty="0"/>
          </a:p>
        </p:txBody>
      </p:sp>
      <p:sp>
        <p:nvSpPr>
          <p:cNvPr id="44" name="Shape 37"/>
          <p:cNvSpPr/>
          <p:nvPr/>
        </p:nvSpPr>
        <p:spPr>
          <a:xfrm>
            <a:off x="6995160" y="1874520"/>
            <a:ext cx="1600200" cy="566928"/>
          </a:xfrm>
          <a:prstGeom prst="roundRect">
            <a:avLst>
              <a:gd name="adj" fmla="val 22581"/>
            </a:avLst>
          </a:prstGeom>
          <a:solidFill>
            <a:srgbClr val="FFC233"/>
          </a:solidFill>
          <a:ln/>
          <a:effectLst>
            <a:outerShdw sx="100000" sy="100000" kx="0" ky="0" algn="bl" rotWithShape="0" blurRad="203200" dist="50800" dir="5400000">
              <a:srgbClr val="031040">
                <a:alpha val="30000"/>
              </a:srgbClr>
            </a:outerShdw>
          </a:effectLst>
        </p:spPr>
      </p:sp>
      <p:sp>
        <p:nvSpPr>
          <p:cNvPr id="45" name="Text 38"/>
          <p:cNvSpPr txBox="1"/>
          <p:nvPr/>
        </p:nvSpPr>
        <p:spPr>
          <a:xfrm>
            <a:off x="7132320" y="1901952"/>
            <a:ext cx="1417320" cy="512064"/>
          </a:xfrm>
          <a:prstGeom prst="rect">
            <a:avLst/>
          </a:prstGeom>
          <a:noFill/>
          <a:ln/>
        </p:spPr>
        <p:txBody>
          <a:bodyPr wrap="square" lIns="0" tIns="0" rIns="0" bIns="0" rtlCol="0" anchor="ctr"/>
          <a:lstStyle/>
          <a:p>
            <a:pPr indent="0" marL="0">
              <a:buNone/>
            </a:pPr>
            <a:r>
              <a:rPr lang="en-US" sz="1400" b="1" dirty="0">
                <a:solidFill>
                  <a:srgbClr val="0B1E4F"/>
                </a:solidFill>
                <a:latin typeface="Montserrat" pitchFamily="34" charset="0"/>
                <a:ea typeface="Montserrat" pitchFamily="34" charset="-122"/>
                <a:cs typeface="Montserrat" pitchFamily="34" charset="-120"/>
              </a:rPr>
              <a:t>&lt; 3 min</a:t>
            </a:r>
            <a:endParaRPr lang="en-US" sz="1200" dirty="0"/>
          </a:p>
          <a:p>
            <a:pPr indent="0" marL="0">
              <a:buNone/>
            </a:pPr>
            <a:r>
              <a:rPr lang="en-US" sz="850" dirty="0">
                <a:solidFill>
                  <a:srgbClr val="0B1E4F"/>
                </a:solidFill>
                <a:latin typeface="Open Sans" pitchFamily="34" charset="0"/>
                <a:ea typeface="Open Sans" pitchFamily="34" charset="-122"/>
                <a:cs typeface="Open Sans" pitchFamily="34" charset="-120"/>
              </a:rPr>
              <a:t>por desembarque</a:t>
            </a:r>
            <a:endParaRPr lang="en-US" sz="1200" dirty="0"/>
          </a:p>
        </p:txBody>
      </p:sp>
      <p:sp>
        <p:nvSpPr>
          <p:cNvPr id="46" name="Shape 39"/>
          <p:cNvSpPr/>
          <p:nvPr/>
        </p:nvSpPr>
        <p:spPr>
          <a:xfrm>
            <a:off x="10716768" y="3017520"/>
            <a:ext cx="1234440" cy="566928"/>
          </a:xfrm>
          <a:prstGeom prst="roundRect">
            <a:avLst>
              <a:gd name="adj" fmla="val 22581"/>
            </a:avLst>
          </a:prstGeom>
          <a:solidFill>
            <a:srgbClr val="FFFFFF"/>
          </a:solidFill>
          <a:ln/>
          <a:effectLst>
            <a:outerShdw sx="100000" sy="100000" kx="0" ky="0" algn="bl" rotWithShape="0" blurRad="203200" dist="50800" dir="5400000">
              <a:srgbClr val="031040">
                <a:alpha val="30000"/>
              </a:srgbClr>
            </a:outerShdw>
          </a:effectLst>
        </p:spPr>
      </p:sp>
      <p:pic>
        <p:nvPicPr>
          <p:cNvPr id="47" name="Image 5" descr="preencoded.png">    </p:cNvPr>
          <p:cNvPicPr>
            <a:picLocks noChangeAspect="1"/>
          </p:cNvPicPr>
          <p:nvPr/>
        </p:nvPicPr>
        <p:blipFill>
          <a:blip r:embed="rId7"/>
          <a:stretch>
            <a:fillRect/>
          </a:stretch>
        </p:blipFill>
        <p:spPr>
          <a:xfrm>
            <a:off x="10826496" y="3163824"/>
            <a:ext cx="274320" cy="274320"/>
          </a:xfrm>
          <a:prstGeom prst="rect">
            <a:avLst/>
          </a:prstGeom>
        </p:spPr>
      </p:pic>
      <p:sp>
        <p:nvSpPr>
          <p:cNvPr id="48" name="Text 40"/>
          <p:cNvSpPr txBox="1"/>
          <p:nvPr/>
        </p:nvSpPr>
        <p:spPr>
          <a:xfrm>
            <a:off x="11137392" y="3044952"/>
            <a:ext cx="777240" cy="512064"/>
          </a:xfrm>
          <a:prstGeom prst="rect">
            <a:avLst/>
          </a:prstGeom>
          <a:noFill/>
          <a:ln/>
        </p:spPr>
        <p:txBody>
          <a:bodyPr wrap="square" lIns="0" tIns="0" rIns="0" bIns="0" rtlCol="0" anchor="ctr"/>
          <a:lstStyle/>
          <a:p>
            <a:pPr indent="0" marL="0">
              <a:buNone/>
            </a:pPr>
            <a:r>
              <a:rPr lang="en-US" sz="850" b="1" dirty="0">
                <a:solidFill>
                  <a:srgbClr val="0E1B3D"/>
                </a:solidFill>
                <a:latin typeface="Open Sans" pitchFamily="34" charset="0"/>
                <a:ea typeface="Open Sans" pitchFamily="34" charset="-122"/>
                <a:cs typeface="Open Sans" pitchFamily="34" charset="-120"/>
              </a:rPr>
              <a:t>Funciona sin señal</a:t>
            </a:r>
            <a:endParaRPr lang="en-US" sz="850" dirty="0"/>
          </a:p>
        </p:txBody>
      </p:sp>
      <p:sp>
        <p:nvSpPr>
          <p:cNvPr id="49" name="Shape 41"/>
          <p:cNvSpPr/>
          <p:nvPr/>
        </p:nvSpPr>
        <p:spPr>
          <a:xfrm>
            <a:off x="6858000" y="4160520"/>
            <a:ext cx="1783080" cy="566928"/>
          </a:xfrm>
          <a:prstGeom prst="roundRect">
            <a:avLst>
              <a:gd name="adj" fmla="val 22581"/>
            </a:avLst>
          </a:prstGeom>
          <a:solidFill>
            <a:srgbClr val="10B981"/>
          </a:solidFill>
          <a:ln/>
          <a:effectLst>
            <a:outerShdw sx="100000" sy="100000" kx="0" ky="0" algn="bl" rotWithShape="0" blurRad="203200" dist="50800" dir="5400000">
              <a:srgbClr val="031040">
                <a:alpha val="30000"/>
              </a:srgbClr>
            </a:outerShdw>
          </a:effectLst>
        </p:spPr>
      </p:sp>
      <p:pic>
        <p:nvPicPr>
          <p:cNvPr id="50" name="Image 6" descr="preencoded.png">    </p:cNvPr>
          <p:cNvPicPr>
            <a:picLocks noChangeAspect="1"/>
          </p:cNvPicPr>
          <p:nvPr/>
        </p:nvPicPr>
        <p:blipFill>
          <a:blip r:embed="rId8"/>
          <a:stretch>
            <a:fillRect/>
          </a:stretch>
        </p:blipFill>
        <p:spPr>
          <a:xfrm>
            <a:off x="6976872" y="4297680"/>
            <a:ext cx="274320" cy="274320"/>
          </a:xfrm>
          <a:prstGeom prst="rect">
            <a:avLst/>
          </a:prstGeom>
        </p:spPr>
      </p:pic>
      <p:sp>
        <p:nvSpPr>
          <p:cNvPr id="51" name="Text 42"/>
          <p:cNvSpPr txBox="1"/>
          <p:nvPr/>
        </p:nvSpPr>
        <p:spPr>
          <a:xfrm>
            <a:off x="7296912" y="4187952"/>
            <a:ext cx="1298448" cy="512064"/>
          </a:xfrm>
          <a:prstGeom prst="rect">
            <a:avLst/>
          </a:prstGeom>
          <a:noFill/>
          <a:ln/>
        </p:spPr>
        <p:txBody>
          <a:bodyPr wrap="square" lIns="0" tIns="0" rIns="0" bIns="0" rtlCol="0" anchor="ctr"/>
          <a:lstStyle/>
          <a:p>
            <a:pPr indent="0" marL="0">
              <a:buNone/>
            </a:pPr>
            <a:r>
              <a:rPr lang="en-US" sz="850" b="1" dirty="0">
                <a:solidFill>
                  <a:srgbClr val="FFFFFF"/>
                </a:solidFill>
                <a:latin typeface="Open Sans" pitchFamily="34" charset="0"/>
                <a:ea typeface="Open Sans" pitchFamily="34" charset="-122"/>
                <a:cs typeface="Open Sans" pitchFamily="34" charset="-120"/>
              </a:rPr>
              <a:t>QR con hash SHA-256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blue.jpg">    </p:cNvPr>
          <p:cNvPicPr>
            <a:picLocks noChangeAspect="1"/>
          </p:cNvPicPr>
          <p:nvPr/>
        </p:nvPicPr>
        <p:blipFill>
          <a:blip r:embed="rId2"/>
          <a:srcRect l="0" r="0" t="0" b="0"/>
          <a:stretch/>
        </p:blipFill>
        <p:spPr>
          <a:xfrm>
            <a:off x="0" y="0"/>
            <a:ext cx="4023360" cy="6858000"/>
          </a:xfrm>
          <a:prstGeom prst="rect">
            <a:avLst/>
          </a:prstGeom>
        </p:spPr>
      </p:pic>
      <p:sp>
        <p:nvSpPr>
          <p:cNvPr id="3" name="Shape 0"/>
          <p:cNvSpPr/>
          <p:nvPr/>
        </p:nvSpPr>
        <p:spPr>
          <a:xfrm>
            <a:off x="548640" y="502920"/>
            <a:ext cx="1094537"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4" name="Text 1"/>
          <p:cNvSpPr txBox="1"/>
          <p:nvPr/>
        </p:nvSpPr>
        <p:spPr>
          <a:xfrm>
            <a:off x="548640" y="502920"/>
            <a:ext cx="1094537"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CONTENIDO</a:t>
            </a:r>
            <a:endParaRPr lang="en-US" sz="850" dirty="0"/>
          </a:p>
        </p:txBody>
      </p:sp>
      <p:sp>
        <p:nvSpPr>
          <p:cNvPr id="5" name="Text 2"/>
          <p:cNvSpPr txBox="1"/>
          <p:nvPr/>
        </p:nvSpPr>
        <p:spPr>
          <a:xfrm>
            <a:off x="548640" y="914400"/>
            <a:ext cx="3291840" cy="868680"/>
          </a:xfrm>
          <a:prstGeom prst="rect">
            <a:avLst/>
          </a:prstGeom>
          <a:noFill/>
          <a:ln/>
        </p:spPr>
        <p:txBody>
          <a:bodyPr wrap="square" lIns="0" tIns="0" rIns="0" bIns="0" rtlCol="0" anchor="t"/>
          <a:lstStyle/>
          <a:p>
            <a:pPr indent="0" marL="0">
              <a:buNone/>
            </a:pPr>
            <a:r>
              <a:rPr lang="en-US" sz="4600" b="1" dirty="0">
                <a:solidFill>
                  <a:srgbClr val="FFFFFF"/>
                </a:solidFill>
                <a:latin typeface="Montserrat" pitchFamily="34" charset="0"/>
                <a:ea typeface="Montserrat" pitchFamily="34" charset="-122"/>
                <a:cs typeface="Montserrat" pitchFamily="34" charset="-120"/>
              </a:rPr>
              <a:t>Índice</a:t>
            </a:r>
            <a:endParaRPr lang="en-US" sz="4600" dirty="0"/>
          </a:p>
        </p:txBody>
      </p:sp>
      <p:sp>
        <p:nvSpPr>
          <p:cNvPr id="6" name="Text 3"/>
          <p:cNvSpPr txBox="1"/>
          <p:nvPr/>
        </p:nvSpPr>
        <p:spPr>
          <a:xfrm>
            <a:off x="548640" y="1874520"/>
            <a:ext cx="3108960" cy="1005840"/>
          </a:xfrm>
          <a:prstGeom prst="rect">
            <a:avLst/>
          </a:prstGeom>
          <a:noFill/>
          <a:ln/>
        </p:spPr>
        <p:txBody>
          <a:bodyPr wrap="square" lIns="0" tIns="0" rIns="0" bIns="0" rtlCol="0" anchor="t"/>
          <a:lstStyle/>
          <a:p>
            <a:pPr indent="0" marL="0">
              <a:buNone/>
            </a:pPr>
            <a:r>
              <a:rPr lang="en-US" sz="1250" dirty="0">
                <a:solidFill>
                  <a:srgbClr val="DCE9FF"/>
                </a:solidFill>
                <a:latin typeface="Open Sans" pitchFamily="34" charset="0"/>
                <a:ea typeface="Open Sans" pitchFamily="34" charset="-122"/>
                <a:cs typeface="Open Sans" pitchFamily="34" charset="-120"/>
              </a:rPr>
              <a:t>La exposición sigue la plantilla del informe del curso: Unidad I y Unidad II, conclusiones, referencias y anexos.</a:t>
            </a:r>
            <a:endParaRPr lang="en-US" sz="1250" dirty="0"/>
          </a:p>
        </p:txBody>
      </p:sp>
      <p:sp>
        <p:nvSpPr>
          <p:cNvPr id="7" name="Text 4"/>
          <p:cNvSpPr txBox="1"/>
          <p:nvPr/>
        </p:nvSpPr>
        <p:spPr>
          <a:xfrm>
            <a:off x="548640" y="3246120"/>
            <a:ext cx="914400" cy="548640"/>
          </a:xfrm>
          <a:prstGeom prst="rect">
            <a:avLst/>
          </a:prstGeom>
          <a:noFill/>
          <a:ln/>
        </p:spPr>
        <p:txBody>
          <a:bodyPr wrap="square" lIns="0" tIns="0" rIns="0" bIns="0" rtlCol="0" anchor="ctr"/>
          <a:lstStyle/>
          <a:p>
            <a:pPr indent="0" marL="0">
              <a:buNone/>
            </a:pPr>
            <a:r>
              <a:rPr lang="en-US" sz="2800" b="1" dirty="0">
                <a:solidFill>
                  <a:srgbClr val="FFC233"/>
                </a:solidFill>
                <a:latin typeface="Montserrat" pitchFamily="34" charset="0"/>
                <a:ea typeface="Montserrat" pitchFamily="34" charset="-122"/>
                <a:cs typeface="Montserrat" pitchFamily="34" charset="-120"/>
              </a:rPr>
              <a:t>5</a:t>
            </a:r>
            <a:endParaRPr lang="en-US" sz="2800" dirty="0"/>
          </a:p>
        </p:txBody>
      </p:sp>
      <p:sp>
        <p:nvSpPr>
          <p:cNvPr id="8" name="Text 5"/>
          <p:cNvSpPr txBox="1"/>
          <p:nvPr/>
        </p:nvSpPr>
        <p:spPr>
          <a:xfrm>
            <a:off x="1417320" y="3246120"/>
            <a:ext cx="2377440" cy="548640"/>
          </a:xfrm>
          <a:prstGeom prst="rect">
            <a:avLst/>
          </a:prstGeom>
          <a:noFill/>
          <a:ln/>
        </p:spPr>
        <p:txBody>
          <a:bodyPr wrap="square" lIns="0" tIns="0" rIns="0" bIns="0" rtlCol="0" anchor="ctr"/>
          <a:lstStyle/>
          <a:p>
            <a:pPr indent="0" marL="0">
              <a:buNone/>
            </a:pPr>
            <a:r>
              <a:rPr lang="en-US" sz="1200" dirty="0">
                <a:solidFill>
                  <a:srgbClr val="FFFFFF"/>
                </a:solidFill>
                <a:latin typeface="Open Sans" pitchFamily="34" charset="0"/>
                <a:ea typeface="Open Sans" pitchFamily="34" charset="-122"/>
                <a:cs typeface="Open Sans" pitchFamily="34" charset="-120"/>
              </a:rPr>
              <a:t>capítulos</a:t>
            </a:r>
            <a:endParaRPr lang="en-US" sz="1200" dirty="0"/>
          </a:p>
        </p:txBody>
      </p:sp>
      <p:sp>
        <p:nvSpPr>
          <p:cNvPr id="9" name="Text 6"/>
          <p:cNvSpPr txBox="1"/>
          <p:nvPr/>
        </p:nvSpPr>
        <p:spPr>
          <a:xfrm>
            <a:off x="548640" y="3959352"/>
            <a:ext cx="914400" cy="548640"/>
          </a:xfrm>
          <a:prstGeom prst="rect">
            <a:avLst/>
          </a:prstGeom>
          <a:noFill/>
          <a:ln/>
        </p:spPr>
        <p:txBody>
          <a:bodyPr wrap="square" lIns="0" tIns="0" rIns="0" bIns="0" rtlCol="0" anchor="ctr"/>
          <a:lstStyle/>
          <a:p>
            <a:pPr indent="0" marL="0">
              <a:buNone/>
            </a:pPr>
            <a:r>
              <a:rPr lang="en-US" sz="2800" b="1" dirty="0">
                <a:solidFill>
                  <a:srgbClr val="FFC233"/>
                </a:solidFill>
                <a:latin typeface="Montserrat" pitchFamily="34" charset="0"/>
                <a:ea typeface="Montserrat" pitchFamily="34" charset="-122"/>
                <a:cs typeface="Montserrat" pitchFamily="34" charset="-120"/>
              </a:rPr>
              <a:t>24</a:t>
            </a:r>
            <a:endParaRPr lang="en-US" sz="2800" dirty="0"/>
          </a:p>
        </p:txBody>
      </p:sp>
      <p:sp>
        <p:nvSpPr>
          <p:cNvPr id="10" name="Text 7"/>
          <p:cNvSpPr txBox="1"/>
          <p:nvPr/>
        </p:nvSpPr>
        <p:spPr>
          <a:xfrm>
            <a:off x="1417320" y="3959352"/>
            <a:ext cx="2377440" cy="548640"/>
          </a:xfrm>
          <a:prstGeom prst="rect">
            <a:avLst/>
          </a:prstGeom>
          <a:noFill/>
          <a:ln/>
        </p:spPr>
        <p:txBody>
          <a:bodyPr wrap="square" lIns="0" tIns="0" rIns="0" bIns="0" rtlCol="0" anchor="ctr"/>
          <a:lstStyle/>
          <a:p>
            <a:pPr indent="0" marL="0">
              <a:buNone/>
            </a:pPr>
            <a:r>
              <a:rPr lang="en-US" sz="1200" dirty="0">
                <a:solidFill>
                  <a:srgbClr val="FFFFFF"/>
                </a:solidFill>
                <a:latin typeface="Open Sans" pitchFamily="34" charset="0"/>
                <a:ea typeface="Open Sans" pitchFamily="34" charset="-122"/>
                <a:cs typeface="Open Sans" pitchFamily="34" charset="-120"/>
              </a:rPr>
              <a:t>requerimientos funcionales</a:t>
            </a:r>
            <a:endParaRPr lang="en-US" sz="1200" dirty="0"/>
          </a:p>
        </p:txBody>
      </p:sp>
      <p:sp>
        <p:nvSpPr>
          <p:cNvPr id="11" name="Text 8"/>
          <p:cNvSpPr txBox="1"/>
          <p:nvPr/>
        </p:nvSpPr>
        <p:spPr>
          <a:xfrm>
            <a:off x="548640" y="4672584"/>
            <a:ext cx="914400" cy="548640"/>
          </a:xfrm>
          <a:prstGeom prst="rect">
            <a:avLst/>
          </a:prstGeom>
          <a:noFill/>
          <a:ln/>
        </p:spPr>
        <p:txBody>
          <a:bodyPr wrap="square" lIns="0" tIns="0" rIns="0" bIns="0" rtlCol="0" anchor="ctr"/>
          <a:lstStyle/>
          <a:p>
            <a:pPr indent="0" marL="0">
              <a:buNone/>
            </a:pPr>
            <a:r>
              <a:rPr lang="en-US" sz="2800" b="1" dirty="0">
                <a:solidFill>
                  <a:srgbClr val="FFC233"/>
                </a:solidFill>
                <a:latin typeface="Montserrat" pitchFamily="34" charset="0"/>
                <a:ea typeface="Montserrat" pitchFamily="34" charset="-122"/>
                <a:cs typeface="Montserrat" pitchFamily="34" charset="-120"/>
              </a:rPr>
              <a:t>16</a:t>
            </a:r>
            <a:endParaRPr lang="en-US" sz="2800" dirty="0"/>
          </a:p>
        </p:txBody>
      </p:sp>
      <p:sp>
        <p:nvSpPr>
          <p:cNvPr id="12" name="Text 9"/>
          <p:cNvSpPr txBox="1"/>
          <p:nvPr/>
        </p:nvSpPr>
        <p:spPr>
          <a:xfrm>
            <a:off x="1417320" y="4672584"/>
            <a:ext cx="2377440" cy="548640"/>
          </a:xfrm>
          <a:prstGeom prst="rect">
            <a:avLst/>
          </a:prstGeom>
          <a:noFill/>
          <a:ln/>
        </p:spPr>
        <p:txBody>
          <a:bodyPr wrap="square" lIns="0" tIns="0" rIns="0" bIns="0" rtlCol="0" anchor="ctr"/>
          <a:lstStyle/>
          <a:p>
            <a:pPr indent="0" marL="0">
              <a:buNone/>
            </a:pPr>
            <a:r>
              <a:rPr lang="en-US" sz="1200" dirty="0">
                <a:solidFill>
                  <a:srgbClr val="FFFFFF"/>
                </a:solidFill>
                <a:latin typeface="Open Sans" pitchFamily="34" charset="0"/>
                <a:ea typeface="Open Sans" pitchFamily="34" charset="-122"/>
                <a:cs typeface="Open Sans" pitchFamily="34" charset="-120"/>
              </a:rPr>
              <a:t>historias de usuario en Jira</a:t>
            </a:r>
            <a:endParaRPr lang="en-US" sz="1200" dirty="0"/>
          </a:p>
        </p:txBody>
      </p:sp>
      <p:sp>
        <p:nvSpPr>
          <p:cNvPr id="13" name="Text 10"/>
          <p:cNvSpPr txBox="1"/>
          <p:nvPr/>
        </p:nvSpPr>
        <p:spPr>
          <a:xfrm>
            <a:off x="548640" y="5385816"/>
            <a:ext cx="914400" cy="548640"/>
          </a:xfrm>
          <a:prstGeom prst="rect">
            <a:avLst/>
          </a:prstGeom>
          <a:noFill/>
          <a:ln/>
        </p:spPr>
        <p:txBody>
          <a:bodyPr wrap="square" lIns="0" tIns="0" rIns="0" bIns="0" rtlCol="0" anchor="ctr"/>
          <a:lstStyle/>
          <a:p>
            <a:pPr indent="0" marL="0">
              <a:buNone/>
            </a:pPr>
            <a:r>
              <a:rPr lang="en-US" sz="2800" b="1" dirty="0">
                <a:solidFill>
                  <a:srgbClr val="FFC233"/>
                </a:solidFill>
                <a:latin typeface="Montserrat" pitchFamily="34" charset="0"/>
                <a:ea typeface="Montserrat" pitchFamily="34" charset="-122"/>
                <a:cs typeface="Montserrat" pitchFamily="34" charset="-120"/>
              </a:rPr>
              <a:t>3</a:t>
            </a:r>
            <a:endParaRPr lang="en-US" sz="2800" dirty="0"/>
          </a:p>
        </p:txBody>
      </p:sp>
      <p:sp>
        <p:nvSpPr>
          <p:cNvPr id="14" name="Text 11"/>
          <p:cNvSpPr txBox="1"/>
          <p:nvPr/>
        </p:nvSpPr>
        <p:spPr>
          <a:xfrm>
            <a:off x="1417320" y="5385816"/>
            <a:ext cx="2377440" cy="548640"/>
          </a:xfrm>
          <a:prstGeom prst="rect">
            <a:avLst/>
          </a:prstGeom>
          <a:noFill/>
          <a:ln/>
        </p:spPr>
        <p:txBody>
          <a:bodyPr wrap="square" lIns="0" tIns="0" rIns="0" bIns="0" rtlCol="0" anchor="ctr"/>
          <a:lstStyle/>
          <a:p>
            <a:pPr indent="0" marL="0">
              <a:buNone/>
            </a:pPr>
            <a:r>
              <a:rPr lang="en-US" sz="1200" dirty="0">
                <a:solidFill>
                  <a:srgbClr val="FFFFFF"/>
                </a:solidFill>
                <a:latin typeface="Open Sans" pitchFamily="34" charset="0"/>
                <a:ea typeface="Open Sans" pitchFamily="34" charset="-122"/>
                <a:cs typeface="Open Sans" pitchFamily="34" charset="-120"/>
              </a:rPr>
              <a:t>sprints · 66 puntos</a:t>
            </a:r>
            <a:endParaRPr lang="en-US" sz="1200" dirty="0"/>
          </a:p>
        </p:txBody>
      </p:sp>
      <p:sp>
        <p:nvSpPr>
          <p:cNvPr id="15" name="Text 12"/>
          <p:cNvSpPr txBox="1"/>
          <p:nvPr/>
        </p:nvSpPr>
        <p:spPr>
          <a:xfrm>
            <a:off x="4572000" y="502920"/>
            <a:ext cx="7040880" cy="256032"/>
          </a:xfrm>
          <a:prstGeom prst="rect">
            <a:avLst/>
          </a:prstGeom>
          <a:noFill/>
          <a:ln/>
        </p:spPr>
        <p:txBody>
          <a:bodyPr wrap="square" lIns="0" tIns="0" rIns="0" bIns="0" rtlCol="0" anchor="ctr"/>
          <a:lstStyle/>
          <a:p>
            <a:pPr indent="0" marL="0">
              <a:buNone/>
            </a:pPr>
            <a:r>
              <a:rPr lang="en-US" sz="850" b="1" spc="140" kern="0" dirty="0">
                <a:solidFill>
                  <a:srgbClr val="0839C4"/>
                </a:solidFill>
                <a:latin typeface="Montserrat" pitchFamily="34" charset="0"/>
                <a:ea typeface="Montserrat" pitchFamily="34" charset="-122"/>
                <a:cs typeface="Montserrat" pitchFamily="34" charset="-120"/>
              </a:rPr>
              <a:t>UNIDAD I · FUNDAMENTOS Y MODELADO INICIAL · SEMANAS 1–4</a:t>
            </a:r>
            <a:endParaRPr lang="en-US" sz="850" dirty="0"/>
          </a:p>
        </p:txBody>
      </p:sp>
      <p:sp>
        <p:nvSpPr>
          <p:cNvPr id="16" name="Shape 13"/>
          <p:cNvSpPr/>
          <p:nvPr/>
        </p:nvSpPr>
        <p:spPr>
          <a:xfrm>
            <a:off x="4572000" y="850392"/>
            <a:ext cx="566928" cy="475488"/>
          </a:xfrm>
          <a:prstGeom prst="roundRect">
            <a:avLst>
              <a:gd name="adj" fmla="val 23077"/>
            </a:avLst>
          </a:prstGeom>
          <a:solidFill>
            <a:srgbClr val="0B5FFF"/>
          </a:solidFill>
          <a:ln/>
        </p:spPr>
      </p:sp>
      <p:sp>
        <p:nvSpPr>
          <p:cNvPr id="17" name="Text 14"/>
          <p:cNvSpPr txBox="1"/>
          <p:nvPr/>
        </p:nvSpPr>
        <p:spPr>
          <a:xfrm>
            <a:off x="4572000" y="850392"/>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01</a:t>
            </a:r>
            <a:endParaRPr lang="en-US" sz="1500" dirty="0"/>
          </a:p>
        </p:txBody>
      </p:sp>
      <p:sp>
        <p:nvSpPr>
          <p:cNvPr id="18" name="Text 15"/>
          <p:cNvSpPr txBox="1"/>
          <p:nvPr/>
        </p:nvSpPr>
        <p:spPr>
          <a:xfrm>
            <a:off x="5349240" y="832104"/>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Presentación del proyecto</a:t>
            </a:r>
            <a:endParaRPr lang="en-US" sz="1400" dirty="0"/>
          </a:p>
        </p:txBody>
      </p:sp>
      <p:sp>
        <p:nvSpPr>
          <p:cNvPr id="19" name="Text 16"/>
          <p:cNvSpPr txBox="1"/>
          <p:nvPr/>
        </p:nvSpPr>
        <p:spPr>
          <a:xfrm>
            <a:off x="5349240" y="1106424"/>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ODS 14, FONDEPES, problema y solución SIRDEPA</a:t>
            </a:r>
            <a:endParaRPr lang="en-US" sz="1100" dirty="0"/>
          </a:p>
        </p:txBody>
      </p:sp>
      <p:sp>
        <p:nvSpPr>
          <p:cNvPr id="20" name="Shape 17"/>
          <p:cNvSpPr/>
          <p:nvPr/>
        </p:nvSpPr>
        <p:spPr>
          <a:xfrm>
            <a:off x="4572000" y="1508760"/>
            <a:ext cx="566928" cy="475488"/>
          </a:xfrm>
          <a:prstGeom prst="roundRect">
            <a:avLst>
              <a:gd name="adj" fmla="val 23077"/>
            </a:avLst>
          </a:prstGeom>
          <a:solidFill>
            <a:srgbClr val="7B5CFF"/>
          </a:solidFill>
          <a:ln/>
        </p:spPr>
      </p:sp>
      <p:sp>
        <p:nvSpPr>
          <p:cNvPr id="21" name="Text 18"/>
          <p:cNvSpPr txBox="1"/>
          <p:nvPr/>
        </p:nvSpPr>
        <p:spPr>
          <a:xfrm>
            <a:off x="4572000" y="1508760"/>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02</a:t>
            </a:r>
            <a:endParaRPr lang="en-US" sz="1500" dirty="0"/>
          </a:p>
        </p:txBody>
      </p:sp>
      <p:sp>
        <p:nvSpPr>
          <p:cNvPr id="22" name="Text 19"/>
          <p:cNvSpPr txBox="1"/>
          <p:nvPr/>
        </p:nvSpPr>
        <p:spPr>
          <a:xfrm>
            <a:off x="5349240" y="1490472"/>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Análisis de necesidades y requerimientos</a:t>
            </a:r>
            <a:endParaRPr lang="en-US" sz="1400" dirty="0"/>
          </a:p>
        </p:txBody>
      </p:sp>
      <p:sp>
        <p:nvSpPr>
          <p:cNvPr id="23" name="Text 20"/>
          <p:cNvSpPr txBox="1"/>
          <p:nvPr/>
        </p:nvSpPr>
        <p:spPr>
          <a:xfrm>
            <a:off x="5349240" y="1764792"/>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Necesidades, RF, RNF, RD y matriz de trazabilidad</a:t>
            </a:r>
            <a:endParaRPr lang="en-US" sz="1100" dirty="0"/>
          </a:p>
        </p:txBody>
      </p:sp>
      <p:sp>
        <p:nvSpPr>
          <p:cNvPr id="24" name="Shape 21"/>
          <p:cNvSpPr/>
          <p:nvPr/>
        </p:nvSpPr>
        <p:spPr>
          <a:xfrm>
            <a:off x="4572000" y="2167128"/>
            <a:ext cx="566928" cy="475488"/>
          </a:xfrm>
          <a:prstGeom prst="roundRect">
            <a:avLst>
              <a:gd name="adj" fmla="val 23077"/>
            </a:avLst>
          </a:prstGeom>
          <a:solidFill>
            <a:srgbClr val="008FB0"/>
          </a:solidFill>
          <a:ln/>
        </p:spPr>
      </p:sp>
      <p:sp>
        <p:nvSpPr>
          <p:cNvPr id="25" name="Text 22"/>
          <p:cNvSpPr txBox="1"/>
          <p:nvPr/>
        </p:nvSpPr>
        <p:spPr>
          <a:xfrm>
            <a:off x="4572000" y="2167128"/>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03</a:t>
            </a:r>
            <a:endParaRPr lang="en-US" sz="1500" dirty="0"/>
          </a:p>
        </p:txBody>
      </p:sp>
      <p:sp>
        <p:nvSpPr>
          <p:cNvPr id="26" name="Text 23"/>
          <p:cNvSpPr txBox="1"/>
          <p:nvPr/>
        </p:nvSpPr>
        <p:spPr>
          <a:xfrm>
            <a:off x="5349240" y="2148840"/>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Modelos iniciales del sistema</a:t>
            </a:r>
            <a:endParaRPr lang="en-US" sz="1400" dirty="0"/>
          </a:p>
        </p:txBody>
      </p:sp>
      <p:sp>
        <p:nvSpPr>
          <p:cNvPr id="27" name="Text 24"/>
          <p:cNvSpPr txBox="1"/>
          <p:nvPr/>
        </p:nvSpPr>
        <p:spPr>
          <a:xfrm>
            <a:off x="5349240" y="2423160"/>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Contexto, casos de uso, procesos AS-IS / TO-BE y E-R</a:t>
            </a:r>
            <a:endParaRPr lang="en-US" sz="1100" dirty="0"/>
          </a:p>
        </p:txBody>
      </p:sp>
      <p:sp>
        <p:nvSpPr>
          <p:cNvPr id="28" name="Text 25"/>
          <p:cNvSpPr txBox="1"/>
          <p:nvPr/>
        </p:nvSpPr>
        <p:spPr>
          <a:xfrm>
            <a:off x="4572000" y="2898648"/>
            <a:ext cx="7040880" cy="256032"/>
          </a:xfrm>
          <a:prstGeom prst="rect">
            <a:avLst/>
          </a:prstGeom>
          <a:noFill/>
          <a:ln/>
        </p:spPr>
        <p:txBody>
          <a:bodyPr wrap="square" lIns="0" tIns="0" rIns="0" bIns="0" rtlCol="0" anchor="ctr"/>
          <a:lstStyle/>
          <a:p>
            <a:pPr indent="0" marL="0">
              <a:buNone/>
            </a:pPr>
            <a:r>
              <a:rPr lang="en-US" sz="850" b="1" spc="140" kern="0" dirty="0">
                <a:solidFill>
                  <a:srgbClr val="0B9468"/>
                </a:solidFill>
                <a:latin typeface="Montserrat" pitchFamily="34" charset="0"/>
                <a:ea typeface="Montserrat" pitchFamily="34" charset="-122"/>
                <a:cs typeface="Montserrat" pitchFamily="34" charset="-120"/>
              </a:rPr>
              <a:t>UNIDAD II · MODELOS DE DISEÑO Y METODOLOGÍA ÁGIL · SEMANAS 5–7</a:t>
            </a:r>
            <a:endParaRPr lang="en-US" sz="850" dirty="0"/>
          </a:p>
        </p:txBody>
      </p:sp>
      <p:sp>
        <p:nvSpPr>
          <p:cNvPr id="29" name="Shape 26"/>
          <p:cNvSpPr/>
          <p:nvPr/>
        </p:nvSpPr>
        <p:spPr>
          <a:xfrm>
            <a:off x="4572000" y="3246120"/>
            <a:ext cx="566928" cy="475488"/>
          </a:xfrm>
          <a:prstGeom prst="roundRect">
            <a:avLst>
              <a:gd name="adj" fmla="val 23077"/>
            </a:avLst>
          </a:prstGeom>
          <a:solidFill>
            <a:srgbClr val="10B981"/>
          </a:solidFill>
          <a:ln/>
        </p:spPr>
      </p:sp>
      <p:sp>
        <p:nvSpPr>
          <p:cNvPr id="30" name="Text 27"/>
          <p:cNvSpPr txBox="1"/>
          <p:nvPr/>
        </p:nvSpPr>
        <p:spPr>
          <a:xfrm>
            <a:off x="4572000" y="3246120"/>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04</a:t>
            </a:r>
            <a:endParaRPr lang="en-US" sz="1500" dirty="0"/>
          </a:p>
        </p:txBody>
      </p:sp>
      <p:sp>
        <p:nvSpPr>
          <p:cNvPr id="31" name="Text 28"/>
          <p:cNvSpPr txBox="1"/>
          <p:nvPr/>
        </p:nvSpPr>
        <p:spPr>
          <a:xfrm>
            <a:off x="5349240" y="3227832"/>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Modelos de diseño</a:t>
            </a:r>
            <a:endParaRPr lang="en-US" sz="1400" dirty="0"/>
          </a:p>
        </p:txBody>
      </p:sp>
      <p:sp>
        <p:nvSpPr>
          <p:cNvPr id="32" name="Text 29"/>
          <p:cNvSpPr txBox="1"/>
          <p:nvPr/>
        </p:nvSpPr>
        <p:spPr>
          <a:xfrm>
            <a:off x="5349240" y="3502152"/>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Diagrama de clases y diagramas de secuencia</a:t>
            </a:r>
            <a:endParaRPr lang="en-US" sz="1100" dirty="0"/>
          </a:p>
        </p:txBody>
      </p:sp>
      <p:sp>
        <p:nvSpPr>
          <p:cNvPr id="33" name="Shape 30"/>
          <p:cNvSpPr/>
          <p:nvPr/>
        </p:nvSpPr>
        <p:spPr>
          <a:xfrm>
            <a:off x="4572000" y="3904488"/>
            <a:ext cx="566928" cy="475488"/>
          </a:xfrm>
          <a:prstGeom prst="roundRect">
            <a:avLst>
              <a:gd name="adj" fmla="val 23077"/>
            </a:avLst>
          </a:prstGeom>
          <a:solidFill>
            <a:srgbClr val="FF8A00"/>
          </a:solidFill>
          <a:ln/>
        </p:spPr>
      </p:sp>
      <p:sp>
        <p:nvSpPr>
          <p:cNvPr id="34" name="Text 31"/>
          <p:cNvSpPr txBox="1"/>
          <p:nvPr/>
        </p:nvSpPr>
        <p:spPr>
          <a:xfrm>
            <a:off x="4572000" y="3904488"/>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05</a:t>
            </a:r>
            <a:endParaRPr lang="en-US" sz="1500" dirty="0"/>
          </a:p>
        </p:txBody>
      </p:sp>
      <p:sp>
        <p:nvSpPr>
          <p:cNvPr id="35" name="Text 32"/>
          <p:cNvSpPr txBox="1"/>
          <p:nvPr/>
        </p:nvSpPr>
        <p:spPr>
          <a:xfrm>
            <a:off x="5349240" y="3886200"/>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Metodología de trabajo: Scrum</a:t>
            </a:r>
            <a:endParaRPr lang="en-US" sz="1400" dirty="0"/>
          </a:p>
        </p:txBody>
      </p:sp>
      <p:sp>
        <p:nvSpPr>
          <p:cNvPr id="36" name="Text 33"/>
          <p:cNvSpPr txBox="1"/>
          <p:nvPr/>
        </p:nvSpPr>
        <p:spPr>
          <a:xfrm>
            <a:off x="5349240" y="4160520"/>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Backlog, sprints y herramientas (Jira, GitHub…)</a:t>
            </a:r>
            <a:endParaRPr lang="en-US" sz="1100" dirty="0"/>
          </a:p>
        </p:txBody>
      </p:sp>
      <p:sp>
        <p:nvSpPr>
          <p:cNvPr id="37" name="Text 34"/>
          <p:cNvSpPr txBox="1"/>
          <p:nvPr/>
        </p:nvSpPr>
        <p:spPr>
          <a:xfrm>
            <a:off x="4572000" y="4636008"/>
            <a:ext cx="7040880" cy="256032"/>
          </a:xfrm>
          <a:prstGeom prst="rect">
            <a:avLst/>
          </a:prstGeom>
          <a:noFill/>
          <a:ln/>
        </p:spPr>
        <p:txBody>
          <a:bodyPr wrap="square" lIns="0" tIns="0" rIns="0" bIns="0" rtlCol="0" anchor="ctr"/>
          <a:lstStyle/>
          <a:p>
            <a:pPr indent="0" marL="0">
              <a:buNone/>
            </a:pPr>
            <a:r>
              <a:rPr lang="en-US" sz="850" b="1" spc="140" kern="0" dirty="0">
                <a:solidFill>
                  <a:srgbClr val="E0393F"/>
                </a:solidFill>
                <a:latin typeface="Montserrat" pitchFamily="34" charset="0"/>
                <a:ea typeface="Montserrat" pitchFamily="34" charset="-122"/>
                <a:cs typeface="Montserrat" pitchFamily="34" charset="-120"/>
              </a:rPr>
              <a:t>CIERRE</a:t>
            </a:r>
            <a:endParaRPr lang="en-US" sz="850" dirty="0"/>
          </a:p>
        </p:txBody>
      </p:sp>
      <p:sp>
        <p:nvSpPr>
          <p:cNvPr id="38" name="Shape 35"/>
          <p:cNvSpPr/>
          <p:nvPr/>
        </p:nvSpPr>
        <p:spPr>
          <a:xfrm>
            <a:off x="4572000" y="4983480"/>
            <a:ext cx="566928" cy="475488"/>
          </a:xfrm>
          <a:prstGeom prst="roundRect">
            <a:avLst>
              <a:gd name="adj" fmla="val 23077"/>
            </a:avLst>
          </a:prstGeom>
          <a:solidFill>
            <a:srgbClr val="FF5A5F"/>
          </a:solidFill>
          <a:ln/>
        </p:spPr>
      </p:sp>
      <p:sp>
        <p:nvSpPr>
          <p:cNvPr id="39" name="Text 36"/>
          <p:cNvSpPr txBox="1"/>
          <p:nvPr/>
        </p:nvSpPr>
        <p:spPr>
          <a:xfrm>
            <a:off x="4572000" y="4983480"/>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06</a:t>
            </a:r>
            <a:endParaRPr lang="en-US" sz="1500" dirty="0"/>
          </a:p>
        </p:txBody>
      </p:sp>
      <p:sp>
        <p:nvSpPr>
          <p:cNvPr id="40" name="Text 37"/>
          <p:cNvSpPr txBox="1"/>
          <p:nvPr/>
        </p:nvSpPr>
        <p:spPr>
          <a:xfrm>
            <a:off x="5349240" y="4965192"/>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Conclusiones y recomendaciones</a:t>
            </a:r>
            <a:endParaRPr lang="en-US" sz="1400" dirty="0"/>
          </a:p>
        </p:txBody>
      </p:sp>
      <p:sp>
        <p:nvSpPr>
          <p:cNvPr id="41" name="Text 38"/>
          <p:cNvSpPr txBox="1"/>
          <p:nvPr/>
        </p:nvSpPr>
        <p:spPr>
          <a:xfrm>
            <a:off x="5349240" y="5239512"/>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Conclusiones, lecciones y mejoras por integrante</a:t>
            </a:r>
            <a:endParaRPr lang="en-US" sz="1100" dirty="0"/>
          </a:p>
        </p:txBody>
      </p:sp>
      <p:sp>
        <p:nvSpPr>
          <p:cNvPr id="42" name="Shape 39"/>
          <p:cNvSpPr/>
          <p:nvPr/>
        </p:nvSpPr>
        <p:spPr>
          <a:xfrm>
            <a:off x="4572000" y="5641848"/>
            <a:ext cx="566928" cy="475488"/>
          </a:xfrm>
          <a:prstGeom prst="roundRect">
            <a:avLst>
              <a:gd name="adj" fmla="val 23077"/>
            </a:avLst>
          </a:prstGeom>
          <a:solidFill>
            <a:srgbClr val="FF5A5F"/>
          </a:solidFill>
          <a:ln/>
        </p:spPr>
      </p:sp>
      <p:sp>
        <p:nvSpPr>
          <p:cNvPr id="43" name="Text 40"/>
          <p:cNvSpPr txBox="1"/>
          <p:nvPr/>
        </p:nvSpPr>
        <p:spPr>
          <a:xfrm>
            <a:off x="4572000" y="5641848"/>
            <a:ext cx="56692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07</a:t>
            </a:r>
            <a:endParaRPr lang="en-US" sz="1500" dirty="0"/>
          </a:p>
        </p:txBody>
      </p:sp>
      <p:sp>
        <p:nvSpPr>
          <p:cNvPr id="44" name="Text 41"/>
          <p:cNvSpPr txBox="1"/>
          <p:nvPr/>
        </p:nvSpPr>
        <p:spPr>
          <a:xfrm>
            <a:off x="5349240" y="5623560"/>
            <a:ext cx="6217920" cy="274320"/>
          </a:xfrm>
          <a:prstGeom prst="rect">
            <a:avLst/>
          </a:prstGeom>
          <a:noFill/>
          <a:ln/>
        </p:spPr>
        <p:txBody>
          <a:bodyPr wrap="square" lIns="0" tIns="0" rIns="0" bIns="0" rtlCol="0" anchor="ctr"/>
          <a:lstStyle/>
          <a:p>
            <a:pPr indent="0" marL="0">
              <a:buNone/>
            </a:pPr>
            <a:r>
              <a:rPr lang="en-US" sz="1400" b="1" dirty="0">
                <a:solidFill>
                  <a:srgbClr val="0E1B3D"/>
                </a:solidFill>
                <a:latin typeface="Montserrat" pitchFamily="34" charset="0"/>
                <a:ea typeface="Montserrat" pitchFamily="34" charset="-122"/>
                <a:cs typeface="Montserrat" pitchFamily="34" charset="-120"/>
              </a:rPr>
              <a:t>Referencias y anexos</a:t>
            </a:r>
            <a:endParaRPr lang="en-US" sz="1400" dirty="0"/>
          </a:p>
        </p:txBody>
      </p:sp>
      <p:sp>
        <p:nvSpPr>
          <p:cNvPr id="45" name="Text 42"/>
          <p:cNvSpPr txBox="1"/>
          <p:nvPr/>
        </p:nvSpPr>
        <p:spPr>
          <a:xfrm>
            <a:off x="5349240" y="5897880"/>
            <a:ext cx="6217920" cy="237744"/>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30 fuentes ISO 690 y evidencias del equipo</a:t>
            </a:r>
            <a:endParaRPr lang="en-US" sz="1100" dirty="0"/>
          </a:p>
        </p:txBody>
      </p:sp>
      <p:sp>
        <p:nvSpPr>
          <p:cNvPr id="46" name="Text 43"/>
          <p:cNvSpPr txBox="1"/>
          <p:nvPr/>
        </p:nvSpPr>
        <p:spPr>
          <a:xfrm>
            <a:off x="457200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7" name="Text 4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11480" y="320040"/>
            <a:ext cx="5943600" cy="2651760"/>
          </a:xfrm>
          <a:prstGeom prst="rect">
            <a:avLst/>
          </a:prstGeom>
          <a:noFill/>
          <a:ln/>
        </p:spPr>
        <p:txBody>
          <a:bodyPr wrap="square" lIns="0" tIns="0" rIns="0" bIns="0" rtlCol="0" anchor="t"/>
          <a:lstStyle/>
          <a:p>
            <a:pPr indent="0" marL="0">
              <a:buNone/>
            </a:pPr>
            <a:r>
              <a:rPr lang="en-US" sz="20000" b="1" dirty="0">
                <a:solidFill>
                  <a:srgbClr val="FFFFFF">
                    <a:alpha val="22000"/>
                  </a:srgbClr>
                </a:solidFill>
                <a:latin typeface="Montserrat" pitchFamily="34" charset="0"/>
                <a:ea typeface="Montserrat" pitchFamily="34" charset="-122"/>
                <a:cs typeface="Montserrat" pitchFamily="34" charset="-120"/>
              </a:rPr>
              <a:t>01</a:t>
            </a:r>
            <a:endParaRPr lang="en-US" sz="20000" dirty="0"/>
          </a:p>
        </p:txBody>
      </p:sp>
      <p:sp>
        <p:nvSpPr>
          <p:cNvPr id="3" name="Text 1"/>
          <p:cNvSpPr txBox="1"/>
          <p:nvPr/>
        </p:nvSpPr>
        <p:spPr>
          <a:xfrm>
            <a:off x="640080" y="3246120"/>
            <a:ext cx="4572000" cy="320040"/>
          </a:xfrm>
          <a:prstGeom prst="rect">
            <a:avLst/>
          </a:prstGeom>
          <a:noFill/>
          <a:ln/>
        </p:spPr>
        <p:txBody>
          <a:bodyPr wrap="square" lIns="0" tIns="0" rIns="0" bIns="0" rtlCol="0" anchor="t"/>
          <a:lstStyle/>
          <a:p>
            <a:pPr indent="0" marL="0">
              <a:buNone/>
            </a:pPr>
            <a:r>
              <a:rPr lang="en-US" sz="1400" b="1" spc="600" kern="0" dirty="0">
                <a:solidFill>
                  <a:srgbClr val="FFC233"/>
                </a:solidFill>
                <a:latin typeface="Montserrat" pitchFamily="34" charset="0"/>
                <a:ea typeface="Montserrat" pitchFamily="34" charset="-122"/>
                <a:cs typeface="Montserrat" pitchFamily="34" charset="-120"/>
              </a:rPr>
              <a:t>UNIDAD I</a:t>
            </a:r>
            <a:endParaRPr lang="en-US" sz="1400" dirty="0"/>
          </a:p>
        </p:txBody>
      </p:sp>
      <p:sp>
        <p:nvSpPr>
          <p:cNvPr id="4" name="Text 2"/>
          <p:cNvSpPr txBox="1"/>
          <p:nvPr/>
        </p:nvSpPr>
        <p:spPr>
          <a:xfrm>
            <a:off x="640080" y="3611880"/>
            <a:ext cx="6217920" cy="160020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Montserrat" pitchFamily="34" charset="0"/>
                <a:ea typeface="Montserrat" pitchFamily="34" charset="-122"/>
                <a:cs typeface="Montserrat" pitchFamily="34" charset="-120"/>
              </a:rPr>
              <a:t>Fundamentos y</a:t>
            </a:r>
            <a:endParaRPr lang="en-US" sz="4000" dirty="0"/>
          </a:p>
          <a:p>
            <a:pPr indent="0" marL="0">
              <a:lnSpc>
                <a:spcPct val="95000"/>
              </a:lnSpc>
              <a:buNone/>
            </a:pPr>
            <a:r>
              <a:rPr lang="en-US" sz="4000" b="1" dirty="0">
                <a:solidFill>
                  <a:srgbClr val="FFFFFF"/>
                </a:solidFill>
                <a:latin typeface="Montserrat" pitchFamily="34" charset="0"/>
                <a:ea typeface="Montserrat" pitchFamily="34" charset="-122"/>
                <a:cs typeface="Montserrat" pitchFamily="34" charset="-120"/>
              </a:rPr>
              <a:t>Modelado Inicial</a:t>
            </a:r>
            <a:endParaRPr lang="en-US" sz="4000" dirty="0"/>
          </a:p>
        </p:txBody>
      </p:sp>
      <p:sp>
        <p:nvSpPr>
          <p:cNvPr id="5" name="Text 3"/>
          <p:cNvSpPr txBox="1"/>
          <p:nvPr/>
        </p:nvSpPr>
        <p:spPr>
          <a:xfrm>
            <a:off x="640080" y="5257800"/>
            <a:ext cx="4572000" cy="320040"/>
          </a:xfrm>
          <a:prstGeom prst="rect">
            <a:avLst/>
          </a:prstGeom>
          <a:noFill/>
          <a:ln/>
        </p:spPr>
        <p:txBody>
          <a:bodyPr wrap="square" lIns="0" tIns="0" rIns="0" bIns="0" rtlCol="0" anchor="t"/>
          <a:lstStyle/>
          <a:p>
            <a:pPr indent="0" marL="0">
              <a:buNone/>
            </a:pPr>
            <a:r>
              <a:rPr lang="en-US" sz="1500" dirty="0">
                <a:solidFill>
                  <a:srgbClr val="DCE9FF"/>
                </a:solidFill>
                <a:latin typeface="Open Sans" pitchFamily="34" charset="0"/>
                <a:ea typeface="Open Sans" pitchFamily="34" charset="-122"/>
                <a:cs typeface="Open Sans" pitchFamily="34" charset="-120"/>
              </a:rPr>
              <a:t>Semanas 1–4</a:t>
            </a:r>
            <a:endParaRPr lang="en-US" sz="1500" dirty="0"/>
          </a:p>
        </p:txBody>
      </p:sp>
      <p:sp>
        <p:nvSpPr>
          <p:cNvPr id="6" name="Shape 4"/>
          <p:cNvSpPr/>
          <p:nvPr/>
        </p:nvSpPr>
        <p:spPr>
          <a:xfrm>
            <a:off x="7040880" y="1604772"/>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7" name="Shape 5"/>
          <p:cNvSpPr/>
          <p:nvPr/>
        </p:nvSpPr>
        <p:spPr>
          <a:xfrm>
            <a:off x="7269480" y="1787652"/>
            <a:ext cx="594360" cy="594360"/>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7412126" y="1930298"/>
            <a:ext cx="309067" cy="309067"/>
          </a:xfrm>
          <a:prstGeom prst="rect">
            <a:avLst/>
          </a:prstGeom>
        </p:spPr>
      </p:pic>
      <p:sp>
        <p:nvSpPr>
          <p:cNvPr id="9" name="Text 6"/>
          <p:cNvSpPr txBox="1"/>
          <p:nvPr/>
        </p:nvSpPr>
        <p:spPr>
          <a:xfrm>
            <a:off x="8092440" y="1787652"/>
            <a:ext cx="3383280" cy="228600"/>
          </a:xfrm>
          <a:prstGeom prst="rect">
            <a:avLst/>
          </a:prstGeom>
          <a:noFill/>
          <a:ln/>
        </p:spPr>
        <p:txBody>
          <a:bodyPr wrap="square" lIns="0" tIns="0" rIns="0" bIns="0" rtlCol="0" anchor="t"/>
          <a:lstStyle/>
          <a:p>
            <a:pPr indent="0" marL="0">
              <a:buNone/>
            </a:pPr>
            <a:r>
              <a:rPr lang="en-US" sz="850" b="1" spc="200" kern="0" dirty="0">
                <a:solidFill>
                  <a:srgbClr val="0B5FFF"/>
                </a:solidFill>
                <a:latin typeface="Montserrat" pitchFamily="34" charset="0"/>
                <a:ea typeface="Montserrat" pitchFamily="34" charset="-122"/>
                <a:cs typeface="Montserrat" pitchFamily="34" charset="-120"/>
              </a:rPr>
              <a:t>CAPÍTULO 1</a:t>
            </a:r>
            <a:endParaRPr lang="en-US" sz="850" dirty="0"/>
          </a:p>
        </p:txBody>
      </p:sp>
      <p:sp>
        <p:nvSpPr>
          <p:cNvPr id="10" name="Text 7"/>
          <p:cNvSpPr txBox="1"/>
          <p:nvPr/>
        </p:nvSpPr>
        <p:spPr>
          <a:xfrm>
            <a:off x="8092440" y="1997964"/>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Presentación del proyecto</a:t>
            </a:r>
            <a:endParaRPr lang="en-US" sz="1450" dirty="0"/>
          </a:p>
        </p:txBody>
      </p:sp>
      <p:sp>
        <p:nvSpPr>
          <p:cNvPr id="11" name="Shape 8"/>
          <p:cNvSpPr/>
          <p:nvPr/>
        </p:nvSpPr>
        <p:spPr>
          <a:xfrm>
            <a:off x="7040880" y="2766060"/>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12" name="Shape 9"/>
          <p:cNvSpPr/>
          <p:nvPr/>
        </p:nvSpPr>
        <p:spPr>
          <a:xfrm>
            <a:off x="7269480" y="2948940"/>
            <a:ext cx="594360" cy="594360"/>
          </a:xfrm>
          <a:prstGeom prst="roundRect">
            <a:avLst>
              <a:gd name="adj" fmla="val 28000"/>
            </a:avLst>
          </a:prstGeom>
          <a:solidFill>
            <a:srgbClr val="7B5CFF"/>
          </a:solidFill>
          <a:ln/>
        </p:spPr>
      </p:sp>
      <p:pic>
        <p:nvPicPr>
          <p:cNvPr id="13" name="Image 1" descr="preencoded.png">    </p:cNvPr>
          <p:cNvPicPr>
            <a:picLocks noChangeAspect="1"/>
          </p:cNvPicPr>
          <p:nvPr/>
        </p:nvPicPr>
        <p:blipFill>
          <a:blip r:embed="rId3"/>
          <a:stretch>
            <a:fillRect/>
          </a:stretch>
        </p:blipFill>
        <p:spPr>
          <a:xfrm>
            <a:off x="7412126" y="3091586"/>
            <a:ext cx="309067" cy="309067"/>
          </a:xfrm>
          <a:prstGeom prst="rect">
            <a:avLst/>
          </a:prstGeom>
        </p:spPr>
      </p:pic>
      <p:sp>
        <p:nvSpPr>
          <p:cNvPr id="14" name="Text 10"/>
          <p:cNvSpPr txBox="1"/>
          <p:nvPr/>
        </p:nvSpPr>
        <p:spPr>
          <a:xfrm>
            <a:off x="8092440" y="2948940"/>
            <a:ext cx="3383280" cy="228600"/>
          </a:xfrm>
          <a:prstGeom prst="rect">
            <a:avLst/>
          </a:prstGeom>
          <a:noFill/>
          <a:ln/>
        </p:spPr>
        <p:txBody>
          <a:bodyPr wrap="square" lIns="0" tIns="0" rIns="0" bIns="0" rtlCol="0" anchor="t"/>
          <a:lstStyle/>
          <a:p>
            <a:pPr indent="0" marL="0">
              <a:buNone/>
            </a:pPr>
            <a:r>
              <a:rPr lang="en-US" sz="850" b="1" spc="200" kern="0" dirty="0">
                <a:solidFill>
                  <a:srgbClr val="7B5CFF"/>
                </a:solidFill>
                <a:latin typeface="Montserrat" pitchFamily="34" charset="0"/>
                <a:ea typeface="Montserrat" pitchFamily="34" charset="-122"/>
                <a:cs typeface="Montserrat" pitchFamily="34" charset="-120"/>
              </a:rPr>
              <a:t>CAPÍTULO 2</a:t>
            </a:r>
            <a:endParaRPr lang="en-US" sz="850" dirty="0"/>
          </a:p>
        </p:txBody>
      </p:sp>
      <p:sp>
        <p:nvSpPr>
          <p:cNvPr id="15" name="Text 11"/>
          <p:cNvSpPr txBox="1"/>
          <p:nvPr/>
        </p:nvSpPr>
        <p:spPr>
          <a:xfrm>
            <a:off x="8092440" y="3159252"/>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Análisis de necesidades, requerimientos y documentación</a:t>
            </a:r>
            <a:endParaRPr lang="en-US" sz="1450" dirty="0"/>
          </a:p>
        </p:txBody>
      </p:sp>
      <p:sp>
        <p:nvSpPr>
          <p:cNvPr id="16" name="Shape 12"/>
          <p:cNvSpPr/>
          <p:nvPr/>
        </p:nvSpPr>
        <p:spPr>
          <a:xfrm>
            <a:off x="7040880" y="3927348"/>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17" name="Shape 13"/>
          <p:cNvSpPr/>
          <p:nvPr/>
        </p:nvSpPr>
        <p:spPr>
          <a:xfrm>
            <a:off x="7269480" y="4110228"/>
            <a:ext cx="594360" cy="594360"/>
          </a:xfrm>
          <a:prstGeom prst="roundRect">
            <a:avLst>
              <a:gd name="adj" fmla="val 28000"/>
            </a:avLst>
          </a:prstGeom>
          <a:solidFill>
            <a:srgbClr val="00B8D4"/>
          </a:solidFill>
          <a:ln/>
        </p:spPr>
      </p:sp>
      <p:pic>
        <p:nvPicPr>
          <p:cNvPr id="18" name="Image 2" descr="preencoded.png">    </p:cNvPr>
          <p:cNvPicPr>
            <a:picLocks noChangeAspect="1"/>
          </p:cNvPicPr>
          <p:nvPr/>
        </p:nvPicPr>
        <p:blipFill>
          <a:blip r:embed="rId4"/>
          <a:stretch>
            <a:fillRect/>
          </a:stretch>
        </p:blipFill>
        <p:spPr>
          <a:xfrm>
            <a:off x="7412126" y="4252874"/>
            <a:ext cx="309067" cy="309067"/>
          </a:xfrm>
          <a:prstGeom prst="rect">
            <a:avLst/>
          </a:prstGeom>
        </p:spPr>
      </p:pic>
      <p:sp>
        <p:nvSpPr>
          <p:cNvPr id="19" name="Text 14"/>
          <p:cNvSpPr txBox="1"/>
          <p:nvPr/>
        </p:nvSpPr>
        <p:spPr>
          <a:xfrm>
            <a:off x="8092440" y="4110228"/>
            <a:ext cx="3383280" cy="228600"/>
          </a:xfrm>
          <a:prstGeom prst="rect">
            <a:avLst/>
          </a:prstGeom>
          <a:noFill/>
          <a:ln/>
        </p:spPr>
        <p:txBody>
          <a:bodyPr wrap="square" lIns="0" tIns="0" rIns="0" bIns="0" rtlCol="0" anchor="t"/>
          <a:lstStyle/>
          <a:p>
            <a:pPr indent="0" marL="0">
              <a:buNone/>
            </a:pPr>
            <a:r>
              <a:rPr lang="en-US" sz="850" b="1" spc="200" kern="0" dirty="0">
                <a:solidFill>
                  <a:srgbClr val="00B8D4"/>
                </a:solidFill>
                <a:latin typeface="Montserrat" pitchFamily="34" charset="0"/>
                <a:ea typeface="Montserrat" pitchFamily="34" charset="-122"/>
                <a:cs typeface="Montserrat" pitchFamily="34" charset="-120"/>
              </a:rPr>
              <a:t>CAPÍTULO 3</a:t>
            </a:r>
            <a:endParaRPr lang="en-US" sz="850" dirty="0"/>
          </a:p>
        </p:txBody>
      </p:sp>
      <p:sp>
        <p:nvSpPr>
          <p:cNvPr id="20" name="Text 15"/>
          <p:cNvSpPr txBox="1"/>
          <p:nvPr/>
        </p:nvSpPr>
        <p:spPr>
          <a:xfrm>
            <a:off x="8092440" y="4320540"/>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Modelos iniciales del sistema</a:t>
            </a:r>
            <a:endParaRPr lang="en-US" sz="1450" dirty="0"/>
          </a:p>
        </p:txBody>
      </p:sp>
      <p:sp>
        <p:nvSpPr>
          <p:cNvPr id="21" name="Text 1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22" name="Text 1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0B5FFF"/>
          </a:solidFill>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1.1 ODS VINCULADO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ODS 14: Vida submarina</a:t>
            </a:r>
            <a:endParaRPr lang="en-US" sz="3000" dirty="0"/>
          </a:p>
        </p:txBody>
      </p:sp>
      <p:sp>
        <p:nvSpPr>
          <p:cNvPr id="5" name="Shape 3"/>
          <p:cNvSpPr/>
          <p:nvPr/>
        </p:nvSpPr>
        <p:spPr>
          <a:xfrm>
            <a:off x="548640" y="1572768"/>
            <a:ext cx="2606040" cy="2606040"/>
          </a:xfrm>
          <a:prstGeom prst="roundRect">
            <a:avLst>
              <a:gd name="adj" fmla="val 6316"/>
            </a:avLst>
          </a:prstGeom>
          <a:solidFill>
            <a:srgbClr val="0A97D9"/>
          </a:solidFill>
          <a:ln/>
          <a:effectLst>
            <a:outerShdw sx="100000" sy="100000" kx="0" ky="0" algn="bl" rotWithShape="0" blurRad="228600" dist="63500" dir="5400000">
              <a:srgbClr val="0A97D9">
                <a:alpha val="35000"/>
              </a:srgbClr>
            </a:outerShdw>
          </a:effectLst>
        </p:spPr>
      </p:sp>
      <p:sp>
        <p:nvSpPr>
          <p:cNvPr id="6" name="Text 4"/>
          <p:cNvSpPr txBox="1"/>
          <p:nvPr/>
        </p:nvSpPr>
        <p:spPr>
          <a:xfrm>
            <a:off x="749808" y="1737360"/>
            <a:ext cx="2286000" cy="365760"/>
          </a:xfrm>
          <a:prstGeom prst="rect">
            <a:avLst/>
          </a:prstGeom>
          <a:noFill/>
          <a:ln/>
        </p:spPr>
        <p:txBody>
          <a:bodyPr wrap="square" lIns="0" tIns="0" rIns="0" bIns="0" rtlCol="0" anchor="t"/>
          <a:lstStyle/>
          <a:p>
            <a:pPr indent="0" marL="0">
              <a:buNone/>
            </a:pPr>
            <a:r>
              <a:rPr lang="en-US" sz="750" b="1" spc="100" kern="0" dirty="0">
                <a:solidFill>
                  <a:srgbClr val="FFFFFF"/>
                </a:solidFill>
                <a:latin typeface="Montserrat" pitchFamily="34" charset="0"/>
                <a:ea typeface="Montserrat" pitchFamily="34" charset="-122"/>
                <a:cs typeface="Montserrat" pitchFamily="34" charset="-120"/>
              </a:rPr>
              <a:t>OBJETIVO DE DESARROLLO SOSTENIBLE</a:t>
            </a:r>
            <a:endParaRPr lang="en-US" sz="750" dirty="0"/>
          </a:p>
        </p:txBody>
      </p:sp>
      <p:sp>
        <p:nvSpPr>
          <p:cNvPr id="7" name="Text 5"/>
          <p:cNvSpPr txBox="1"/>
          <p:nvPr/>
        </p:nvSpPr>
        <p:spPr>
          <a:xfrm>
            <a:off x="713232" y="1993392"/>
            <a:ext cx="2286000" cy="1234440"/>
          </a:xfrm>
          <a:prstGeom prst="rect">
            <a:avLst/>
          </a:prstGeom>
          <a:noFill/>
          <a:ln/>
        </p:spPr>
        <p:txBody>
          <a:bodyPr wrap="square" lIns="0" tIns="0" rIns="0" bIns="0" rtlCol="0" anchor="ctr"/>
          <a:lstStyle/>
          <a:p>
            <a:pPr indent="0" marL="0">
              <a:buNone/>
            </a:pPr>
            <a:r>
              <a:rPr lang="en-US" sz="9200" b="1" dirty="0">
                <a:solidFill>
                  <a:srgbClr val="FFFFFF"/>
                </a:solidFill>
                <a:latin typeface="Montserrat" pitchFamily="34" charset="0"/>
                <a:ea typeface="Montserrat" pitchFamily="34" charset="-122"/>
                <a:cs typeface="Montserrat" pitchFamily="34" charset="-120"/>
              </a:rPr>
              <a:t>14</a:t>
            </a:r>
            <a:endParaRPr lang="en-US" sz="9200" dirty="0"/>
          </a:p>
        </p:txBody>
      </p:sp>
      <p:sp>
        <p:nvSpPr>
          <p:cNvPr id="8" name="Text 6"/>
          <p:cNvSpPr txBox="1"/>
          <p:nvPr/>
        </p:nvSpPr>
        <p:spPr>
          <a:xfrm>
            <a:off x="749808" y="3291840"/>
            <a:ext cx="1645920" cy="685800"/>
          </a:xfrm>
          <a:prstGeom prst="rect">
            <a:avLst/>
          </a:prstGeom>
          <a:noFill/>
          <a:ln/>
        </p:spPr>
        <p:txBody>
          <a:bodyPr wrap="square" lIns="0" tIns="0" rIns="0" bIns="0" rtlCol="0" anchor="t"/>
          <a:lstStyle/>
          <a:p>
            <a:pPr indent="0" marL="0">
              <a:lnSpc>
                <a:spcPct val="95000"/>
              </a:lnSpc>
              <a:buNone/>
            </a:pPr>
            <a:r>
              <a:rPr lang="en-US" sz="1400" b="1" dirty="0">
                <a:solidFill>
                  <a:srgbClr val="FFFFFF"/>
                </a:solidFill>
                <a:latin typeface="Montserrat" pitchFamily="34" charset="0"/>
                <a:ea typeface="Montserrat" pitchFamily="34" charset="-122"/>
                <a:cs typeface="Montserrat" pitchFamily="34" charset="-120"/>
              </a:rPr>
              <a:t>VIDA</a:t>
            </a:r>
            <a:endParaRPr lang="en-US" sz="1400" dirty="0"/>
          </a:p>
          <a:p>
            <a:pPr indent="0" marL="0">
              <a:lnSpc>
                <a:spcPct val="95000"/>
              </a:lnSpc>
              <a:buNone/>
            </a:pPr>
            <a:r>
              <a:rPr lang="en-US" sz="1400" b="1" dirty="0">
                <a:solidFill>
                  <a:srgbClr val="FFFFFF"/>
                </a:solidFill>
                <a:latin typeface="Montserrat" pitchFamily="34" charset="0"/>
                <a:ea typeface="Montserrat" pitchFamily="34" charset="-122"/>
                <a:cs typeface="Montserrat" pitchFamily="34" charset="-120"/>
              </a:rPr>
              <a:t>SUBMARINA</a:t>
            </a:r>
            <a:endParaRPr lang="en-US" sz="1400" dirty="0"/>
          </a:p>
        </p:txBody>
      </p:sp>
      <p:pic>
        <p:nvPicPr>
          <p:cNvPr id="9" name="Image 0" descr="preencoded.png">    </p:cNvPr>
          <p:cNvPicPr>
            <a:picLocks noChangeAspect="1"/>
          </p:cNvPicPr>
          <p:nvPr/>
        </p:nvPicPr>
        <p:blipFill>
          <a:blip r:embed="rId2"/>
          <a:stretch>
            <a:fillRect/>
          </a:stretch>
        </p:blipFill>
        <p:spPr>
          <a:xfrm>
            <a:off x="2395728" y="3401568"/>
            <a:ext cx="548640" cy="548640"/>
          </a:xfrm>
          <a:prstGeom prst="rect">
            <a:avLst/>
          </a:prstGeom>
        </p:spPr>
      </p:pic>
      <p:sp>
        <p:nvSpPr>
          <p:cNvPr id="10" name="Text 7"/>
          <p:cNvSpPr txBox="1"/>
          <p:nvPr/>
        </p:nvSpPr>
        <p:spPr>
          <a:xfrm>
            <a:off x="3520440" y="1572768"/>
            <a:ext cx="8092440" cy="777240"/>
          </a:xfrm>
          <a:prstGeom prst="rect">
            <a:avLst/>
          </a:prstGeom>
          <a:noFill/>
          <a:ln/>
        </p:spPr>
        <p:txBody>
          <a:bodyPr wrap="square" lIns="0" tIns="0" rIns="0" bIns="0" rtlCol="0" anchor="t"/>
          <a:lstStyle/>
          <a:p>
            <a:pPr indent="0" marL="0">
              <a:buNone/>
            </a:pPr>
            <a:r>
              <a:rPr lang="en-US" sz="1700" b="1" dirty="0">
                <a:solidFill>
                  <a:srgbClr val="0839C4"/>
                </a:solidFill>
                <a:latin typeface="Montserrat" pitchFamily="34" charset="0"/>
                <a:ea typeface="Montserrat" pitchFamily="34" charset="-122"/>
                <a:cs typeface="Montserrat" pitchFamily="34" charset="-120"/>
              </a:rPr>
              <a:t>“Conservar y utilizar sosteniblemente los océanos, los mares y los recursos marinos para el desarrollo sostenible.” [1]</a:t>
            </a:r>
            <a:endParaRPr lang="en-US" sz="1700" dirty="0"/>
          </a:p>
        </p:txBody>
      </p:sp>
      <p:sp>
        <p:nvSpPr>
          <p:cNvPr id="11" name="Text 8"/>
          <p:cNvSpPr txBox="1"/>
          <p:nvPr/>
        </p:nvSpPr>
        <p:spPr>
          <a:xfrm>
            <a:off x="3520440" y="2395728"/>
            <a:ext cx="8092440" cy="685800"/>
          </a:xfrm>
          <a:prstGeom prst="rect">
            <a:avLst/>
          </a:prstGeom>
          <a:noFill/>
          <a:ln/>
        </p:spPr>
        <p:txBody>
          <a:bodyPr wrap="square" lIns="0" tIns="0" rIns="0" bIns="0" rtlCol="0" anchor="t"/>
          <a:lstStyle/>
          <a:p>
            <a:pPr indent="0" marL="0">
              <a:buNone/>
            </a:pPr>
            <a:r>
              <a:rPr lang="en-US" sz="1300" dirty="0">
                <a:solidFill>
                  <a:srgbClr val="4A5878"/>
                </a:solidFill>
                <a:latin typeface="Open Sans" pitchFamily="34" charset="0"/>
                <a:ea typeface="Open Sans" pitchFamily="34" charset="-122"/>
                <a:cs typeface="Open Sans" pitchFamily="34" charset="-120"/>
              </a:rPr>
              <a:t>Las directrices de la FAO recomiendan sistemas de recopilación de datos para fundamentar el ordenamiento pesquero [3]. Sin información precisa no se pueden fiscalizar vedas, cuotas ni tallas mínimas.</a:t>
            </a:r>
            <a:endParaRPr lang="en-US" sz="1300" dirty="0"/>
          </a:p>
        </p:txBody>
      </p:sp>
      <p:sp>
        <p:nvSpPr>
          <p:cNvPr id="12" name="Shape 9"/>
          <p:cNvSpPr/>
          <p:nvPr/>
        </p:nvSpPr>
        <p:spPr>
          <a:xfrm>
            <a:off x="3520440" y="3246120"/>
            <a:ext cx="8092440" cy="932688"/>
          </a:xfrm>
          <a:prstGeom prst="roundRect">
            <a:avLst>
              <a:gd name="adj" fmla="val 13725"/>
            </a:avLst>
          </a:prstGeom>
          <a:solidFill>
            <a:srgbClr val="EAF1FF"/>
          </a:solidFill>
          <a:ln/>
        </p:spPr>
      </p:sp>
      <p:sp>
        <p:nvSpPr>
          <p:cNvPr id="13" name="Shape 10"/>
          <p:cNvSpPr/>
          <p:nvPr/>
        </p:nvSpPr>
        <p:spPr>
          <a:xfrm>
            <a:off x="3703320" y="3401568"/>
            <a:ext cx="603504" cy="603504"/>
          </a:xfrm>
          <a:prstGeom prst="ellipse">
            <a:avLst/>
          </a:prstGeom>
          <a:solidFill>
            <a:srgbClr val="FFFFFF"/>
          </a:solidFill>
          <a:ln/>
        </p:spPr>
      </p:sp>
      <p:pic>
        <p:nvPicPr>
          <p:cNvPr id="14" name="Image 1" descr="preencoded.png">    </p:cNvPr>
          <p:cNvPicPr>
            <a:picLocks noChangeAspect="1"/>
          </p:cNvPicPr>
          <p:nvPr/>
        </p:nvPicPr>
        <p:blipFill>
          <a:blip r:embed="rId3"/>
          <a:stretch>
            <a:fillRect/>
          </a:stretch>
        </p:blipFill>
        <p:spPr>
          <a:xfrm>
            <a:off x="3848161" y="3546409"/>
            <a:ext cx="313822" cy="313822"/>
          </a:xfrm>
          <a:prstGeom prst="rect">
            <a:avLst/>
          </a:prstGeom>
        </p:spPr>
      </p:pic>
      <p:sp>
        <p:nvSpPr>
          <p:cNvPr id="15" name="Text 11"/>
          <p:cNvSpPr txBox="1"/>
          <p:nvPr/>
        </p:nvSpPr>
        <p:spPr>
          <a:xfrm>
            <a:off x="4480560" y="3291840"/>
            <a:ext cx="6949440" cy="841248"/>
          </a:xfrm>
          <a:prstGeom prst="rect">
            <a:avLst/>
          </a:prstGeom>
          <a:noFill/>
          <a:ln/>
        </p:spPr>
        <p:txBody>
          <a:bodyPr wrap="square" lIns="0" tIns="0" rIns="0" bIns="0" rtlCol="0" anchor="ctr"/>
          <a:lstStyle/>
          <a:p>
            <a:pPr indent="0" marL="0">
              <a:buNone/>
            </a:pPr>
            <a:r>
              <a:rPr lang="en-US" sz="1200" b="1" dirty="0">
                <a:solidFill>
                  <a:srgbClr val="0839C4"/>
                </a:solidFill>
                <a:latin typeface="Open Sans" pitchFamily="34" charset="0"/>
                <a:ea typeface="Open Sans" pitchFamily="34" charset="-122"/>
                <a:cs typeface="Open Sans" pitchFamily="34" charset="-120"/>
              </a:rPr>
              <a:t>Política Nacional de Pesca al 2040 </a:t>
            </a:r>
            <a:pPr indent="0" marL="0">
              <a:buNone/>
            </a:pPr>
            <a:r>
              <a:rPr lang="en-US" sz="1200" dirty="0">
                <a:solidFill>
                  <a:srgbClr val="0E1B3D"/>
                </a:solidFill>
                <a:latin typeface="Open Sans" pitchFamily="34" charset="0"/>
                <a:ea typeface="Open Sans" pitchFamily="34" charset="-122"/>
                <a:cs typeface="Open Sans" pitchFamily="34" charset="-120"/>
              </a:rPr>
              <a:t>(D.S. N.° 012-2025-PRODUCE): orientada al ordenamiento, la innovación tecnológica y la mejora de la comercialización. SIRDEPA se alinea con ella. [7], [8]</a:t>
            </a:r>
            <a:endParaRPr lang="en-US" sz="1200" dirty="0"/>
          </a:p>
        </p:txBody>
      </p:sp>
      <p:sp>
        <p:nvSpPr>
          <p:cNvPr id="16" name="Text 12"/>
          <p:cNvSpPr txBox="1"/>
          <p:nvPr/>
        </p:nvSpPr>
        <p:spPr>
          <a:xfrm>
            <a:off x="548640" y="4434840"/>
            <a:ext cx="5486400" cy="256032"/>
          </a:xfrm>
          <a:prstGeom prst="rect">
            <a:avLst/>
          </a:prstGeom>
          <a:noFill/>
          <a:ln/>
        </p:spPr>
        <p:txBody>
          <a:bodyPr wrap="square" lIns="0" tIns="0" rIns="0" bIns="0" rtlCol="0" anchor="ctr"/>
          <a:lstStyle/>
          <a:p>
            <a:pPr indent="0" marL="0">
              <a:buNone/>
            </a:pPr>
            <a:r>
              <a:rPr lang="en-US" sz="950" b="1" spc="200" kern="0" dirty="0">
                <a:solidFill>
                  <a:srgbClr val="0839C4"/>
                </a:solidFill>
                <a:latin typeface="Montserrat" pitchFamily="34" charset="0"/>
                <a:ea typeface="Montserrat" pitchFamily="34" charset="-122"/>
                <a:cs typeface="Montserrat" pitchFamily="34" charset="-120"/>
              </a:rPr>
              <a:t>LA PESCA ARTESANAL EN CIFRAS</a:t>
            </a:r>
            <a:endParaRPr lang="en-US" sz="950" dirty="0"/>
          </a:p>
        </p:txBody>
      </p:sp>
      <p:sp>
        <p:nvSpPr>
          <p:cNvPr id="17" name="Shape 13"/>
          <p:cNvSpPr/>
          <p:nvPr/>
        </p:nvSpPr>
        <p:spPr>
          <a:xfrm>
            <a:off x="548640" y="4773168"/>
            <a:ext cx="2103120" cy="1417320"/>
          </a:xfrm>
          <a:prstGeom prst="roundRect">
            <a:avLst>
              <a:gd name="adj" fmla="val 9032"/>
            </a:avLst>
          </a:prstGeom>
          <a:solidFill>
            <a:srgbClr val="EAF1FF"/>
          </a:solidFill>
          <a:ln/>
        </p:spPr>
      </p:sp>
      <p:sp>
        <p:nvSpPr>
          <p:cNvPr id="18" name="Text 14"/>
          <p:cNvSpPr txBox="1"/>
          <p:nvPr/>
        </p:nvSpPr>
        <p:spPr>
          <a:xfrm>
            <a:off x="731520" y="4901184"/>
            <a:ext cx="1828800" cy="548640"/>
          </a:xfrm>
          <a:prstGeom prst="rect">
            <a:avLst/>
          </a:prstGeom>
          <a:noFill/>
          <a:ln/>
        </p:spPr>
        <p:txBody>
          <a:bodyPr wrap="square" lIns="0" tIns="0" rIns="0" bIns="0" rtlCol="0" anchor="ctr"/>
          <a:lstStyle/>
          <a:p>
            <a:pPr indent="0" marL="0">
              <a:buNone/>
            </a:pPr>
            <a:r>
              <a:rPr lang="en-US" sz="2800" b="1" dirty="0">
                <a:solidFill>
                  <a:srgbClr val="0B5FFF"/>
                </a:solidFill>
                <a:latin typeface="Montserrat" pitchFamily="34" charset="0"/>
                <a:ea typeface="Montserrat" pitchFamily="34" charset="-122"/>
                <a:cs typeface="Montserrat" pitchFamily="34" charset="-120"/>
              </a:rPr>
              <a:t>40 %</a:t>
            </a:r>
            <a:endParaRPr lang="en-US" sz="2800" dirty="0"/>
          </a:p>
        </p:txBody>
      </p:sp>
      <p:sp>
        <p:nvSpPr>
          <p:cNvPr id="19" name="Text 15"/>
          <p:cNvSpPr txBox="1"/>
          <p:nvPr/>
        </p:nvSpPr>
        <p:spPr>
          <a:xfrm>
            <a:off x="731520" y="5468112"/>
            <a:ext cx="1828800" cy="4572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 las capturas mundiales</a:t>
            </a:r>
            <a:endParaRPr lang="en-US" sz="1050" dirty="0"/>
          </a:p>
        </p:txBody>
      </p:sp>
      <p:sp>
        <p:nvSpPr>
          <p:cNvPr id="20" name="Text 16"/>
          <p:cNvSpPr txBox="1"/>
          <p:nvPr/>
        </p:nvSpPr>
        <p:spPr>
          <a:xfrm>
            <a:off x="731520" y="5888736"/>
            <a:ext cx="1828800" cy="201168"/>
          </a:xfrm>
          <a:prstGeom prst="rect">
            <a:avLst/>
          </a:prstGeom>
          <a:noFill/>
          <a:ln/>
        </p:spPr>
        <p:txBody>
          <a:bodyPr wrap="square" lIns="0" tIns="0" rIns="0" bIns="0" rtlCol="0" anchor="t"/>
          <a:lstStyle/>
          <a:p>
            <a:pPr indent="0" marL="0">
              <a:buNone/>
            </a:pPr>
            <a:r>
              <a:rPr lang="en-US" sz="850" i="1" dirty="0">
                <a:solidFill>
                  <a:srgbClr val="4A5878"/>
                </a:solidFill>
                <a:latin typeface="Open Sans" pitchFamily="34" charset="0"/>
                <a:ea typeface="Open Sans" pitchFamily="34" charset="-122"/>
                <a:cs typeface="Open Sans" pitchFamily="34" charset="-120"/>
              </a:rPr>
              <a:t>Mundo [4]</a:t>
            </a:r>
            <a:endParaRPr lang="en-US" sz="850" dirty="0"/>
          </a:p>
        </p:txBody>
      </p:sp>
      <p:sp>
        <p:nvSpPr>
          <p:cNvPr id="21" name="Shape 17"/>
          <p:cNvSpPr/>
          <p:nvPr/>
        </p:nvSpPr>
        <p:spPr>
          <a:xfrm>
            <a:off x="2779776" y="4773168"/>
            <a:ext cx="2103120" cy="1417320"/>
          </a:xfrm>
          <a:prstGeom prst="roundRect">
            <a:avLst>
              <a:gd name="adj" fmla="val 9032"/>
            </a:avLst>
          </a:prstGeom>
          <a:solidFill>
            <a:srgbClr val="E0F8FB"/>
          </a:solidFill>
          <a:ln/>
        </p:spPr>
      </p:sp>
      <p:sp>
        <p:nvSpPr>
          <p:cNvPr id="22" name="Text 18"/>
          <p:cNvSpPr txBox="1"/>
          <p:nvPr/>
        </p:nvSpPr>
        <p:spPr>
          <a:xfrm>
            <a:off x="2962656" y="4901184"/>
            <a:ext cx="1828800" cy="548640"/>
          </a:xfrm>
          <a:prstGeom prst="rect">
            <a:avLst/>
          </a:prstGeom>
          <a:noFill/>
          <a:ln/>
        </p:spPr>
        <p:txBody>
          <a:bodyPr wrap="square" lIns="0" tIns="0" rIns="0" bIns="0" rtlCol="0" anchor="ctr"/>
          <a:lstStyle/>
          <a:p>
            <a:pPr indent="0" marL="0">
              <a:buNone/>
            </a:pPr>
            <a:r>
              <a:rPr lang="en-US" sz="2800" b="1" dirty="0">
                <a:solidFill>
                  <a:srgbClr val="008FB0"/>
                </a:solidFill>
                <a:latin typeface="Montserrat" pitchFamily="34" charset="0"/>
                <a:ea typeface="Montserrat" pitchFamily="34" charset="-122"/>
                <a:cs typeface="Montserrat" pitchFamily="34" charset="-120"/>
              </a:rPr>
              <a:t>90 %</a:t>
            </a:r>
            <a:endParaRPr lang="en-US" sz="2800" dirty="0"/>
          </a:p>
        </p:txBody>
      </p:sp>
      <p:sp>
        <p:nvSpPr>
          <p:cNvPr id="23" name="Text 19"/>
          <p:cNvSpPr txBox="1"/>
          <p:nvPr/>
        </p:nvSpPr>
        <p:spPr>
          <a:xfrm>
            <a:off x="2962656" y="5468112"/>
            <a:ext cx="1828800" cy="4572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del empleo pesquero mundial</a:t>
            </a:r>
            <a:endParaRPr lang="en-US" sz="1050" dirty="0"/>
          </a:p>
        </p:txBody>
      </p:sp>
      <p:sp>
        <p:nvSpPr>
          <p:cNvPr id="24" name="Text 20"/>
          <p:cNvSpPr txBox="1"/>
          <p:nvPr/>
        </p:nvSpPr>
        <p:spPr>
          <a:xfrm>
            <a:off x="2962656" y="5888736"/>
            <a:ext cx="1828800" cy="201168"/>
          </a:xfrm>
          <a:prstGeom prst="rect">
            <a:avLst/>
          </a:prstGeom>
          <a:noFill/>
          <a:ln/>
        </p:spPr>
        <p:txBody>
          <a:bodyPr wrap="square" lIns="0" tIns="0" rIns="0" bIns="0" rtlCol="0" anchor="t"/>
          <a:lstStyle/>
          <a:p>
            <a:pPr indent="0" marL="0">
              <a:buNone/>
            </a:pPr>
            <a:r>
              <a:rPr lang="en-US" sz="850" i="1" dirty="0">
                <a:solidFill>
                  <a:srgbClr val="4A5878"/>
                </a:solidFill>
                <a:latin typeface="Open Sans" pitchFamily="34" charset="0"/>
                <a:ea typeface="Open Sans" pitchFamily="34" charset="-122"/>
                <a:cs typeface="Open Sans" pitchFamily="34" charset="-120"/>
              </a:rPr>
              <a:t>Mundo [4]</a:t>
            </a:r>
            <a:endParaRPr lang="en-US" sz="850" dirty="0"/>
          </a:p>
        </p:txBody>
      </p:sp>
      <p:sp>
        <p:nvSpPr>
          <p:cNvPr id="25" name="Shape 21"/>
          <p:cNvSpPr/>
          <p:nvPr/>
        </p:nvSpPr>
        <p:spPr>
          <a:xfrm>
            <a:off x="5010912" y="4773168"/>
            <a:ext cx="2103120" cy="1417320"/>
          </a:xfrm>
          <a:prstGeom prst="roundRect">
            <a:avLst>
              <a:gd name="adj" fmla="val 9032"/>
            </a:avLst>
          </a:prstGeom>
          <a:solidFill>
            <a:srgbClr val="EFEBFF"/>
          </a:solidFill>
          <a:ln/>
        </p:spPr>
      </p:sp>
      <p:sp>
        <p:nvSpPr>
          <p:cNvPr id="26" name="Text 22"/>
          <p:cNvSpPr txBox="1"/>
          <p:nvPr/>
        </p:nvSpPr>
        <p:spPr>
          <a:xfrm>
            <a:off x="5193792" y="4901184"/>
            <a:ext cx="1828800" cy="548640"/>
          </a:xfrm>
          <a:prstGeom prst="rect">
            <a:avLst/>
          </a:prstGeom>
          <a:noFill/>
          <a:ln/>
        </p:spPr>
        <p:txBody>
          <a:bodyPr wrap="square" lIns="0" tIns="0" rIns="0" bIns="0" rtlCol="0" anchor="ctr"/>
          <a:lstStyle/>
          <a:p>
            <a:pPr indent="0" marL="0">
              <a:buNone/>
            </a:pPr>
            <a:r>
              <a:rPr lang="en-US" sz="2800" b="1" dirty="0">
                <a:solidFill>
                  <a:srgbClr val="7B5CFF"/>
                </a:solidFill>
                <a:latin typeface="Montserrat" pitchFamily="34" charset="0"/>
                <a:ea typeface="Montserrat" pitchFamily="34" charset="-122"/>
                <a:cs typeface="Montserrat" pitchFamily="34" charset="-120"/>
              </a:rPr>
              <a:t>77 326</a:t>
            </a:r>
            <a:endParaRPr lang="en-US" sz="2800" dirty="0"/>
          </a:p>
        </p:txBody>
      </p:sp>
      <p:sp>
        <p:nvSpPr>
          <p:cNvPr id="27" name="Text 23"/>
          <p:cNvSpPr txBox="1"/>
          <p:nvPr/>
        </p:nvSpPr>
        <p:spPr>
          <a:xfrm>
            <a:off x="5193792" y="5468112"/>
            <a:ext cx="1828800" cy="4572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pescadores artesanales</a:t>
            </a:r>
            <a:endParaRPr lang="en-US" sz="1050" dirty="0"/>
          </a:p>
        </p:txBody>
      </p:sp>
      <p:sp>
        <p:nvSpPr>
          <p:cNvPr id="28" name="Text 24"/>
          <p:cNvSpPr txBox="1"/>
          <p:nvPr/>
        </p:nvSpPr>
        <p:spPr>
          <a:xfrm>
            <a:off x="5193792" y="5888736"/>
            <a:ext cx="1828800" cy="201168"/>
          </a:xfrm>
          <a:prstGeom prst="rect">
            <a:avLst/>
          </a:prstGeom>
          <a:noFill/>
          <a:ln/>
        </p:spPr>
        <p:txBody>
          <a:bodyPr wrap="square" lIns="0" tIns="0" rIns="0" bIns="0" rtlCol="0" anchor="t"/>
          <a:lstStyle/>
          <a:p>
            <a:pPr indent="0" marL="0">
              <a:buNone/>
            </a:pPr>
            <a:r>
              <a:rPr lang="en-US" sz="850" i="1" dirty="0">
                <a:solidFill>
                  <a:srgbClr val="4A5878"/>
                </a:solidFill>
                <a:latin typeface="Open Sans" pitchFamily="34" charset="0"/>
                <a:ea typeface="Open Sans" pitchFamily="34" charset="-122"/>
                <a:cs typeface="Open Sans" pitchFamily="34" charset="-120"/>
              </a:rPr>
              <a:t>Perú [5]</a:t>
            </a:r>
            <a:endParaRPr lang="en-US" sz="850" dirty="0"/>
          </a:p>
        </p:txBody>
      </p:sp>
      <p:sp>
        <p:nvSpPr>
          <p:cNvPr id="29" name="Shape 25"/>
          <p:cNvSpPr/>
          <p:nvPr/>
        </p:nvSpPr>
        <p:spPr>
          <a:xfrm>
            <a:off x="7242048" y="4773168"/>
            <a:ext cx="2103120" cy="1417320"/>
          </a:xfrm>
          <a:prstGeom prst="roundRect">
            <a:avLst>
              <a:gd name="adj" fmla="val 9032"/>
            </a:avLst>
          </a:prstGeom>
          <a:solidFill>
            <a:srgbClr val="FFF1DE"/>
          </a:solidFill>
          <a:ln/>
        </p:spPr>
      </p:sp>
      <p:sp>
        <p:nvSpPr>
          <p:cNvPr id="30" name="Text 26"/>
          <p:cNvSpPr txBox="1"/>
          <p:nvPr/>
        </p:nvSpPr>
        <p:spPr>
          <a:xfrm>
            <a:off x="7424928" y="4901184"/>
            <a:ext cx="1828800" cy="548640"/>
          </a:xfrm>
          <a:prstGeom prst="rect">
            <a:avLst/>
          </a:prstGeom>
          <a:noFill/>
          <a:ln/>
        </p:spPr>
        <p:txBody>
          <a:bodyPr wrap="square" lIns="0" tIns="0" rIns="0" bIns="0" rtlCol="0" anchor="ctr"/>
          <a:lstStyle/>
          <a:p>
            <a:pPr indent="0" marL="0">
              <a:buNone/>
            </a:pPr>
            <a:r>
              <a:rPr lang="en-US" sz="2800" b="1" dirty="0">
                <a:solidFill>
                  <a:srgbClr val="E06F00"/>
                </a:solidFill>
                <a:latin typeface="Montserrat" pitchFamily="34" charset="0"/>
                <a:ea typeface="Montserrat" pitchFamily="34" charset="-122"/>
                <a:cs typeface="Montserrat" pitchFamily="34" charset="-120"/>
              </a:rPr>
              <a:t>23 138</a:t>
            </a:r>
            <a:endParaRPr lang="en-US" sz="2800" dirty="0"/>
          </a:p>
        </p:txBody>
      </p:sp>
      <p:sp>
        <p:nvSpPr>
          <p:cNvPr id="31" name="Text 27"/>
          <p:cNvSpPr txBox="1"/>
          <p:nvPr/>
        </p:nvSpPr>
        <p:spPr>
          <a:xfrm>
            <a:off x="7424928" y="5468112"/>
            <a:ext cx="1828800" cy="4572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embarcaciones artesanales</a:t>
            </a:r>
            <a:endParaRPr lang="en-US" sz="1050" dirty="0"/>
          </a:p>
        </p:txBody>
      </p:sp>
      <p:sp>
        <p:nvSpPr>
          <p:cNvPr id="32" name="Text 28"/>
          <p:cNvSpPr txBox="1"/>
          <p:nvPr/>
        </p:nvSpPr>
        <p:spPr>
          <a:xfrm>
            <a:off x="7424928" y="5888736"/>
            <a:ext cx="1828800" cy="201168"/>
          </a:xfrm>
          <a:prstGeom prst="rect">
            <a:avLst/>
          </a:prstGeom>
          <a:noFill/>
          <a:ln/>
        </p:spPr>
        <p:txBody>
          <a:bodyPr wrap="square" lIns="0" tIns="0" rIns="0" bIns="0" rtlCol="0" anchor="t"/>
          <a:lstStyle/>
          <a:p>
            <a:pPr indent="0" marL="0">
              <a:buNone/>
            </a:pPr>
            <a:r>
              <a:rPr lang="en-US" sz="850" i="1" dirty="0">
                <a:solidFill>
                  <a:srgbClr val="4A5878"/>
                </a:solidFill>
                <a:latin typeface="Open Sans" pitchFamily="34" charset="0"/>
                <a:ea typeface="Open Sans" pitchFamily="34" charset="-122"/>
                <a:cs typeface="Open Sans" pitchFamily="34" charset="-120"/>
              </a:rPr>
              <a:t>Perú [5]</a:t>
            </a:r>
            <a:endParaRPr lang="en-US" sz="850" dirty="0"/>
          </a:p>
        </p:txBody>
      </p:sp>
      <p:sp>
        <p:nvSpPr>
          <p:cNvPr id="33" name="Shape 29"/>
          <p:cNvSpPr/>
          <p:nvPr/>
        </p:nvSpPr>
        <p:spPr>
          <a:xfrm>
            <a:off x="9473184" y="4773168"/>
            <a:ext cx="2103120" cy="1417320"/>
          </a:xfrm>
          <a:prstGeom prst="roundRect">
            <a:avLst>
              <a:gd name="adj" fmla="val 9032"/>
            </a:avLst>
          </a:prstGeom>
          <a:solidFill>
            <a:srgbClr val="E2F8EF"/>
          </a:solidFill>
          <a:ln/>
        </p:spPr>
      </p:sp>
      <p:sp>
        <p:nvSpPr>
          <p:cNvPr id="34" name="Text 30"/>
          <p:cNvSpPr txBox="1"/>
          <p:nvPr/>
        </p:nvSpPr>
        <p:spPr>
          <a:xfrm>
            <a:off x="9656064" y="4901184"/>
            <a:ext cx="1828800" cy="548640"/>
          </a:xfrm>
          <a:prstGeom prst="rect">
            <a:avLst/>
          </a:prstGeom>
          <a:noFill/>
          <a:ln/>
        </p:spPr>
        <p:txBody>
          <a:bodyPr wrap="square" lIns="0" tIns="0" rIns="0" bIns="0" rtlCol="0" anchor="ctr"/>
          <a:lstStyle/>
          <a:p>
            <a:pPr indent="0" marL="0">
              <a:buNone/>
            </a:pPr>
            <a:r>
              <a:rPr lang="en-US" sz="2800" b="1" dirty="0">
                <a:solidFill>
                  <a:srgbClr val="0B9468"/>
                </a:solidFill>
                <a:latin typeface="Montserrat" pitchFamily="34" charset="0"/>
                <a:ea typeface="Montserrat" pitchFamily="34" charset="-122"/>
                <a:cs typeface="Montserrat" pitchFamily="34" charset="-120"/>
              </a:rPr>
              <a:t>15 %</a:t>
            </a:r>
            <a:endParaRPr lang="en-US" sz="2800" dirty="0"/>
          </a:p>
        </p:txBody>
      </p:sp>
      <p:sp>
        <p:nvSpPr>
          <p:cNvPr id="35" name="Text 31"/>
          <p:cNvSpPr txBox="1"/>
          <p:nvPr/>
        </p:nvSpPr>
        <p:spPr>
          <a:xfrm>
            <a:off x="9656064" y="5468112"/>
            <a:ext cx="1828800" cy="4572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 los desembarques para consumo humano directo</a:t>
            </a:r>
            <a:endParaRPr lang="en-US" sz="1050" dirty="0"/>
          </a:p>
        </p:txBody>
      </p:sp>
      <p:sp>
        <p:nvSpPr>
          <p:cNvPr id="36" name="Text 32"/>
          <p:cNvSpPr txBox="1"/>
          <p:nvPr/>
        </p:nvSpPr>
        <p:spPr>
          <a:xfrm>
            <a:off x="9656064" y="5888736"/>
            <a:ext cx="1828800" cy="201168"/>
          </a:xfrm>
          <a:prstGeom prst="rect">
            <a:avLst/>
          </a:prstGeom>
          <a:noFill/>
          <a:ln/>
        </p:spPr>
        <p:txBody>
          <a:bodyPr wrap="square" lIns="0" tIns="0" rIns="0" bIns="0" rtlCol="0" anchor="t"/>
          <a:lstStyle/>
          <a:p>
            <a:pPr indent="0" marL="0">
              <a:buNone/>
            </a:pPr>
            <a:r>
              <a:rPr lang="en-US" sz="850" i="1" dirty="0">
                <a:solidFill>
                  <a:srgbClr val="4A5878"/>
                </a:solidFill>
                <a:latin typeface="Open Sans" pitchFamily="34" charset="0"/>
                <a:ea typeface="Open Sans" pitchFamily="34" charset="-122"/>
                <a:cs typeface="Open Sans" pitchFamily="34" charset="-120"/>
              </a:rPr>
              <a:t>Perú [6]</a:t>
            </a:r>
            <a:endParaRPr lang="en-US" sz="850" dirty="0"/>
          </a:p>
        </p:txBody>
      </p:sp>
      <p:sp>
        <p:nvSpPr>
          <p:cNvPr id="37" name="Text 33"/>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38" name="Text 3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815791"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3" name="Text 1"/>
          <p:cNvSpPr txBox="1"/>
          <p:nvPr/>
        </p:nvSpPr>
        <p:spPr>
          <a:xfrm>
            <a:off x="548640" y="411480"/>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1.1 CONTRIBUCIÓN A LAS METAS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SIRDEPA aporta a tres metas del ODS 14</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DCE9FF"/>
                </a:solidFill>
                <a:latin typeface="Open Sans" pitchFamily="34" charset="0"/>
                <a:ea typeface="Open Sans" pitchFamily="34" charset="-122"/>
                <a:cs typeface="Open Sans" pitchFamily="34" charset="-120"/>
              </a:rPr>
              <a:t>Tabla 1 del informe: qué pide cada meta, cómo contribuye el sistema y con qué indicador lo medimos. [2]</a:t>
            </a:r>
            <a:endParaRPr lang="en-US" sz="1300" dirty="0"/>
          </a:p>
        </p:txBody>
      </p:sp>
      <p:sp>
        <p:nvSpPr>
          <p:cNvPr id="6" name="Shape 4"/>
          <p:cNvSpPr/>
          <p:nvPr/>
        </p:nvSpPr>
        <p:spPr>
          <a:xfrm>
            <a:off x="548640" y="2011680"/>
            <a:ext cx="3566160" cy="4206240"/>
          </a:xfrm>
          <a:prstGeom prst="roundRect">
            <a:avLst>
              <a:gd name="adj" fmla="val 4615"/>
            </a:avLst>
          </a:prstGeom>
          <a:solidFill>
            <a:srgbClr val="FFFFFF"/>
          </a:solidFill>
          <a:ln/>
          <a:effectLst>
            <a:outerShdw sx="100000" sy="100000" kx="0" ky="0" algn="bl" rotWithShape="0" blurRad="279400" dist="76200" dir="5400000">
              <a:srgbClr val="031040">
                <a:alpha val="30000"/>
              </a:srgbClr>
            </a:outerShdw>
          </a:effectLst>
        </p:spPr>
      </p:sp>
      <p:sp>
        <p:nvSpPr>
          <p:cNvPr id="7" name="Shape 5"/>
          <p:cNvSpPr/>
          <p:nvPr/>
        </p:nvSpPr>
        <p:spPr>
          <a:xfrm>
            <a:off x="548640" y="2011680"/>
            <a:ext cx="3566160" cy="1024128"/>
          </a:xfrm>
          <a:prstGeom prst="roundRect">
            <a:avLst>
              <a:gd name="adj" fmla="val 16071"/>
            </a:avLst>
          </a:prstGeom>
          <a:solidFill>
            <a:srgbClr val="0B1E4F"/>
          </a:solidFill>
          <a:ln/>
        </p:spPr>
      </p:sp>
      <p:sp>
        <p:nvSpPr>
          <p:cNvPr id="8" name="Shape 6"/>
          <p:cNvSpPr/>
          <p:nvPr/>
        </p:nvSpPr>
        <p:spPr>
          <a:xfrm>
            <a:off x="548640" y="2743200"/>
            <a:ext cx="3566160" cy="292608"/>
          </a:xfrm>
          <a:prstGeom prst="rect">
            <a:avLst/>
          </a:prstGeom>
          <a:solidFill>
            <a:srgbClr val="0B1E4F"/>
          </a:solidFill>
          <a:ln/>
        </p:spPr>
      </p:sp>
      <p:sp>
        <p:nvSpPr>
          <p:cNvPr id="9" name="Text 7"/>
          <p:cNvSpPr txBox="1"/>
          <p:nvPr/>
        </p:nvSpPr>
        <p:spPr>
          <a:xfrm>
            <a:off x="804672" y="2194560"/>
            <a:ext cx="2286000" cy="384048"/>
          </a:xfrm>
          <a:prstGeom prst="rect">
            <a:avLst/>
          </a:prstGeom>
          <a:noFill/>
          <a:ln/>
        </p:spPr>
        <p:txBody>
          <a:bodyPr wrap="square" lIns="0" tIns="0" rIns="0" bIns="0" rtlCol="0" anchor="ctr"/>
          <a:lstStyle/>
          <a:p>
            <a:pPr indent="0" marL="0">
              <a:buNone/>
            </a:pPr>
            <a:r>
              <a:rPr lang="en-US" sz="2200" b="1" dirty="0">
                <a:solidFill>
                  <a:srgbClr val="FFC233"/>
                </a:solidFill>
                <a:latin typeface="Montserrat" pitchFamily="34" charset="0"/>
                <a:ea typeface="Montserrat" pitchFamily="34" charset="-122"/>
                <a:cs typeface="Montserrat" pitchFamily="34" charset="-120"/>
              </a:rPr>
              <a:t>META 14.4</a:t>
            </a:r>
            <a:endParaRPr lang="en-US" sz="2200" dirty="0"/>
          </a:p>
        </p:txBody>
      </p:sp>
      <p:sp>
        <p:nvSpPr>
          <p:cNvPr id="10" name="Text 8"/>
          <p:cNvSpPr txBox="1"/>
          <p:nvPr/>
        </p:nvSpPr>
        <p:spPr>
          <a:xfrm>
            <a:off x="804672" y="2578608"/>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Open Sans" pitchFamily="34" charset="0"/>
                <a:ea typeface="Open Sans" pitchFamily="34" charset="-122"/>
                <a:cs typeface="Open Sans" pitchFamily="34" charset="-120"/>
              </a:rPr>
              <a:t>Explotación pesquera sostenible</a:t>
            </a:r>
            <a:endParaRPr lang="en-US" sz="1150" dirty="0"/>
          </a:p>
        </p:txBody>
      </p:sp>
      <p:pic>
        <p:nvPicPr>
          <p:cNvPr id="11" name="Image 0" descr="preencoded.png">    </p:cNvPr>
          <p:cNvPicPr>
            <a:picLocks noChangeAspect="1"/>
          </p:cNvPicPr>
          <p:nvPr/>
        </p:nvPicPr>
        <p:blipFill>
          <a:blip r:embed="rId2"/>
          <a:stretch>
            <a:fillRect/>
          </a:stretch>
        </p:blipFill>
        <p:spPr>
          <a:xfrm>
            <a:off x="3456432" y="2286000"/>
            <a:ext cx="420624" cy="420624"/>
          </a:xfrm>
          <a:prstGeom prst="rect">
            <a:avLst/>
          </a:prstGeom>
        </p:spPr>
      </p:pic>
      <p:sp>
        <p:nvSpPr>
          <p:cNvPr id="12" name="Text 9"/>
          <p:cNvSpPr txBox="1"/>
          <p:nvPr/>
        </p:nvSpPr>
        <p:spPr>
          <a:xfrm>
            <a:off x="804672" y="3200400"/>
            <a:ext cx="2743200" cy="201168"/>
          </a:xfrm>
          <a:prstGeom prst="rect">
            <a:avLst/>
          </a:prstGeom>
          <a:noFill/>
          <a:ln/>
        </p:spPr>
        <p:txBody>
          <a:bodyPr wrap="square" lIns="0" tIns="0" rIns="0" bIns="0" rtlCol="0" anchor="t"/>
          <a:lstStyle/>
          <a:p>
            <a:pPr indent="0" marL="0">
              <a:buNone/>
            </a:pPr>
            <a:r>
              <a:rPr lang="en-US" sz="800" b="1" spc="150" kern="0" dirty="0">
                <a:solidFill>
                  <a:srgbClr val="8A96AE"/>
                </a:solidFill>
                <a:latin typeface="Montserrat" pitchFamily="34" charset="0"/>
                <a:ea typeface="Montserrat" pitchFamily="34" charset="-122"/>
                <a:cs typeface="Montserrat" pitchFamily="34" charset="-120"/>
              </a:rPr>
              <a:t>QUÉ PIDE</a:t>
            </a:r>
            <a:endParaRPr lang="en-US" sz="800" dirty="0"/>
          </a:p>
        </p:txBody>
      </p:sp>
      <p:sp>
        <p:nvSpPr>
          <p:cNvPr id="13" name="Text 10"/>
          <p:cNvSpPr txBox="1"/>
          <p:nvPr/>
        </p:nvSpPr>
        <p:spPr>
          <a:xfrm>
            <a:off x="804672" y="3401568"/>
            <a:ext cx="3108960" cy="658368"/>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Reglamentar la explotación pesquera y poner fin a la pesca ilegal, no declarada y no reglamentada.</a:t>
            </a:r>
            <a:endParaRPr lang="en-US" sz="1050" dirty="0"/>
          </a:p>
        </p:txBody>
      </p:sp>
      <p:sp>
        <p:nvSpPr>
          <p:cNvPr id="14" name="Text 11"/>
          <p:cNvSpPr txBox="1"/>
          <p:nvPr/>
        </p:nvSpPr>
        <p:spPr>
          <a:xfrm>
            <a:off x="804672" y="4114800"/>
            <a:ext cx="3017520" cy="201168"/>
          </a:xfrm>
          <a:prstGeom prst="rect">
            <a:avLst/>
          </a:prstGeom>
          <a:noFill/>
          <a:ln/>
        </p:spPr>
        <p:txBody>
          <a:bodyPr wrap="square" lIns="0" tIns="0" rIns="0" bIns="0" rtlCol="0" anchor="t"/>
          <a:lstStyle/>
          <a:p>
            <a:pPr indent="0" marL="0">
              <a:buNone/>
            </a:pPr>
            <a:r>
              <a:rPr lang="en-US" sz="800" b="1" spc="150" kern="0" dirty="0">
                <a:solidFill>
                  <a:srgbClr val="0B5FFF"/>
                </a:solidFill>
                <a:latin typeface="Montserrat" pitchFamily="34" charset="0"/>
                <a:ea typeface="Montserrat" pitchFamily="34" charset="-122"/>
                <a:cs typeface="Montserrat" pitchFamily="34" charset="-120"/>
              </a:rPr>
              <a:t>CÓMO CONTRIBUYE SIRDEPA</a:t>
            </a:r>
            <a:endParaRPr lang="en-US" sz="800" dirty="0"/>
          </a:p>
        </p:txBody>
      </p:sp>
      <p:sp>
        <p:nvSpPr>
          <p:cNvPr id="15" name="Text 12"/>
          <p:cNvSpPr txBox="1"/>
          <p:nvPr/>
        </p:nvSpPr>
        <p:spPr>
          <a:xfrm>
            <a:off x="804672" y="4315968"/>
            <a:ext cx="3108960" cy="86868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Registra cada desembarque con especie, kilos, zona y arte; valida en el acto permiso, vedas y tallas mínimas, y alerta al fiscalizador.</a:t>
            </a:r>
            <a:endParaRPr lang="en-US" sz="1050" dirty="0"/>
          </a:p>
        </p:txBody>
      </p:sp>
      <p:sp>
        <p:nvSpPr>
          <p:cNvPr id="16" name="Shape 13"/>
          <p:cNvSpPr/>
          <p:nvPr/>
        </p:nvSpPr>
        <p:spPr>
          <a:xfrm>
            <a:off x="731520" y="5257800"/>
            <a:ext cx="3200400" cy="804672"/>
          </a:xfrm>
          <a:prstGeom prst="roundRect">
            <a:avLst>
              <a:gd name="adj" fmla="val 13636"/>
            </a:avLst>
          </a:prstGeom>
          <a:solidFill>
            <a:srgbClr val="EAF1FF"/>
          </a:solidFill>
          <a:ln/>
        </p:spPr>
      </p:sp>
      <p:sp>
        <p:nvSpPr>
          <p:cNvPr id="17" name="Text 14"/>
          <p:cNvSpPr txBox="1"/>
          <p:nvPr/>
        </p:nvSpPr>
        <p:spPr>
          <a:xfrm>
            <a:off x="868680" y="5257800"/>
            <a:ext cx="1143000" cy="804672"/>
          </a:xfrm>
          <a:prstGeom prst="rect">
            <a:avLst/>
          </a:prstGeom>
          <a:noFill/>
          <a:ln/>
        </p:spPr>
        <p:txBody>
          <a:bodyPr wrap="square" lIns="0" tIns="0" rIns="0" bIns="0" rtlCol="0" anchor="ctr"/>
          <a:lstStyle/>
          <a:p>
            <a:pPr indent="0" marL="0">
              <a:buNone/>
            </a:pPr>
            <a:r>
              <a:rPr lang="en-US" sz="1900" b="1" dirty="0">
                <a:solidFill>
                  <a:srgbClr val="0B5FFF"/>
                </a:solidFill>
                <a:latin typeface="Montserrat" pitchFamily="34" charset="0"/>
                <a:ea typeface="Montserrat" pitchFamily="34" charset="-122"/>
                <a:cs typeface="Montserrat" pitchFamily="34" charset="-120"/>
              </a:rPr>
              <a:t>≥ 90 %</a:t>
            </a:r>
            <a:endParaRPr lang="en-US" sz="1900" dirty="0"/>
          </a:p>
        </p:txBody>
      </p:sp>
      <p:sp>
        <p:nvSpPr>
          <p:cNvPr id="18" name="Text 15"/>
          <p:cNvSpPr txBox="1"/>
          <p:nvPr/>
        </p:nvSpPr>
        <p:spPr>
          <a:xfrm>
            <a:off x="2029968" y="5257800"/>
            <a:ext cx="1783080" cy="804672"/>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de desembarques del DPA piloto registrados y validados digitalmente</a:t>
            </a:r>
            <a:endParaRPr lang="en-US" sz="950" dirty="0"/>
          </a:p>
        </p:txBody>
      </p:sp>
      <p:sp>
        <p:nvSpPr>
          <p:cNvPr id="19" name="Shape 16"/>
          <p:cNvSpPr/>
          <p:nvPr/>
        </p:nvSpPr>
        <p:spPr>
          <a:xfrm>
            <a:off x="4297680" y="2011680"/>
            <a:ext cx="3566160" cy="4206240"/>
          </a:xfrm>
          <a:prstGeom prst="roundRect">
            <a:avLst>
              <a:gd name="adj" fmla="val 4615"/>
            </a:avLst>
          </a:prstGeom>
          <a:solidFill>
            <a:srgbClr val="FFFFFF"/>
          </a:solidFill>
          <a:ln/>
          <a:effectLst>
            <a:outerShdw sx="100000" sy="100000" kx="0" ky="0" algn="bl" rotWithShape="0" blurRad="279400" dist="76200" dir="5400000">
              <a:srgbClr val="031040">
                <a:alpha val="30000"/>
              </a:srgbClr>
            </a:outerShdw>
          </a:effectLst>
        </p:spPr>
      </p:sp>
      <p:sp>
        <p:nvSpPr>
          <p:cNvPr id="20" name="Shape 17"/>
          <p:cNvSpPr/>
          <p:nvPr/>
        </p:nvSpPr>
        <p:spPr>
          <a:xfrm>
            <a:off x="4297680" y="2011680"/>
            <a:ext cx="3566160" cy="1024128"/>
          </a:xfrm>
          <a:prstGeom prst="roundRect">
            <a:avLst>
              <a:gd name="adj" fmla="val 16071"/>
            </a:avLst>
          </a:prstGeom>
          <a:solidFill>
            <a:srgbClr val="0B1E4F"/>
          </a:solidFill>
          <a:ln/>
        </p:spPr>
      </p:sp>
      <p:sp>
        <p:nvSpPr>
          <p:cNvPr id="21" name="Shape 18"/>
          <p:cNvSpPr/>
          <p:nvPr/>
        </p:nvSpPr>
        <p:spPr>
          <a:xfrm>
            <a:off x="4297680" y="2743200"/>
            <a:ext cx="3566160" cy="292608"/>
          </a:xfrm>
          <a:prstGeom prst="rect">
            <a:avLst/>
          </a:prstGeom>
          <a:solidFill>
            <a:srgbClr val="0B1E4F"/>
          </a:solidFill>
          <a:ln/>
        </p:spPr>
      </p:sp>
      <p:sp>
        <p:nvSpPr>
          <p:cNvPr id="22" name="Text 19"/>
          <p:cNvSpPr txBox="1"/>
          <p:nvPr/>
        </p:nvSpPr>
        <p:spPr>
          <a:xfrm>
            <a:off x="4553712" y="2194560"/>
            <a:ext cx="2286000" cy="384048"/>
          </a:xfrm>
          <a:prstGeom prst="rect">
            <a:avLst/>
          </a:prstGeom>
          <a:noFill/>
          <a:ln/>
        </p:spPr>
        <p:txBody>
          <a:bodyPr wrap="square" lIns="0" tIns="0" rIns="0" bIns="0" rtlCol="0" anchor="ctr"/>
          <a:lstStyle/>
          <a:p>
            <a:pPr indent="0" marL="0">
              <a:buNone/>
            </a:pPr>
            <a:r>
              <a:rPr lang="en-US" sz="2200" b="1" dirty="0">
                <a:solidFill>
                  <a:srgbClr val="7CF0F5"/>
                </a:solidFill>
                <a:latin typeface="Montserrat" pitchFamily="34" charset="0"/>
                <a:ea typeface="Montserrat" pitchFamily="34" charset="-122"/>
                <a:cs typeface="Montserrat" pitchFamily="34" charset="-120"/>
              </a:rPr>
              <a:t>META 14.a</a:t>
            </a:r>
            <a:endParaRPr lang="en-US" sz="2200" dirty="0"/>
          </a:p>
        </p:txBody>
      </p:sp>
      <p:sp>
        <p:nvSpPr>
          <p:cNvPr id="23" name="Text 20"/>
          <p:cNvSpPr txBox="1"/>
          <p:nvPr/>
        </p:nvSpPr>
        <p:spPr>
          <a:xfrm>
            <a:off x="4553712" y="2578608"/>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Open Sans" pitchFamily="34" charset="0"/>
                <a:ea typeface="Open Sans" pitchFamily="34" charset="-122"/>
                <a:cs typeface="Open Sans" pitchFamily="34" charset="-120"/>
              </a:rPr>
              <a:t>Conocimiento científico</a:t>
            </a:r>
            <a:endParaRPr lang="en-US" sz="1150" dirty="0"/>
          </a:p>
        </p:txBody>
      </p:sp>
      <p:pic>
        <p:nvPicPr>
          <p:cNvPr id="24" name="Image 1" descr="preencoded.png">    </p:cNvPr>
          <p:cNvPicPr>
            <a:picLocks noChangeAspect="1"/>
          </p:cNvPicPr>
          <p:nvPr/>
        </p:nvPicPr>
        <p:blipFill>
          <a:blip r:embed="rId3"/>
          <a:stretch>
            <a:fillRect/>
          </a:stretch>
        </p:blipFill>
        <p:spPr>
          <a:xfrm>
            <a:off x="7205472" y="2286000"/>
            <a:ext cx="420624" cy="420624"/>
          </a:xfrm>
          <a:prstGeom prst="rect">
            <a:avLst/>
          </a:prstGeom>
        </p:spPr>
      </p:pic>
      <p:sp>
        <p:nvSpPr>
          <p:cNvPr id="25" name="Text 21"/>
          <p:cNvSpPr txBox="1"/>
          <p:nvPr/>
        </p:nvSpPr>
        <p:spPr>
          <a:xfrm>
            <a:off x="4553712" y="3200400"/>
            <a:ext cx="2743200" cy="201168"/>
          </a:xfrm>
          <a:prstGeom prst="rect">
            <a:avLst/>
          </a:prstGeom>
          <a:noFill/>
          <a:ln/>
        </p:spPr>
        <p:txBody>
          <a:bodyPr wrap="square" lIns="0" tIns="0" rIns="0" bIns="0" rtlCol="0" anchor="t"/>
          <a:lstStyle/>
          <a:p>
            <a:pPr indent="0" marL="0">
              <a:buNone/>
            </a:pPr>
            <a:r>
              <a:rPr lang="en-US" sz="800" b="1" spc="150" kern="0" dirty="0">
                <a:solidFill>
                  <a:srgbClr val="8A96AE"/>
                </a:solidFill>
                <a:latin typeface="Montserrat" pitchFamily="34" charset="0"/>
                <a:ea typeface="Montserrat" pitchFamily="34" charset="-122"/>
                <a:cs typeface="Montserrat" pitchFamily="34" charset="-120"/>
              </a:rPr>
              <a:t>QUÉ PIDE</a:t>
            </a:r>
            <a:endParaRPr lang="en-US" sz="800" dirty="0"/>
          </a:p>
        </p:txBody>
      </p:sp>
      <p:sp>
        <p:nvSpPr>
          <p:cNvPr id="26" name="Text 22"/>
          <p:cNvSpPr txBox="1"/>
          <p:nvPr/>
        </p:nvSpPr>
        <p:spPr>
          <a:xfrm>
            <a:off x="4553712" y="3401568"/>
            <a:ext cx="3108960" cy="658368"/>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Aumentar los conocimientos científicos y la capacidad de investigación marina.</a:t>
            </a:r>
            <a:endParaRPr lang="en-US" sz="1050" dirty="0"/>
          </a:p>
        </p:txBody>
      </p:sp>
      <p:sp>
        <p:nvSpPr>
          <p:cNvPr id="27" name="Text 23"/>
          <p:cNvSpPr txBox="1"/>
          <p:nvPr/>
        </p:nvSpPr>
        <p:spPr>
          <a:xfrm>
            <a:off x="4553712" y="4114800"/>
            <a:ext cx="3017520" cy="201168"/>
          </a:xfrm>
          <a:prstGeom prst="rect">
            <a:avLst/>
          </a:prstGeom>
          <a:noFill/>
          <a:ln/>
        </p:spPr>
        <p:txBody>
          <a:bodyPr wrap="square" lIns="0" tIns="0" rIns="0" bIns="0" rtlCol="0" anchor="t"/>
          <a:lstStyle/>
          <a:p>
            <a:pPr indent="0" marL="0">
              <a:buNone/>
            </a:pPr>
            <a:r>
              <a:rPr lang="en-US" sz="800" b="1" spc="150" kern="0" dirty="0">
                <a:solidFill>
                  <a:srgbClr val="0B5FFF"/>
                </a:solidFill>
                <a:latin typeface="Montserrat" pitchFamily="34" charset="0"/>
                <a:ea typeface="Montserrat" pitchFamily="34" charset="-122"/>
                <a:cs typeface="Montserrat" pitchFamily="34" charset="-120"/>
              </a:rPr>
              <a:t>CÓMO CONTRIBUYE SIRDEPA</a:t>
            </a:r>
            <a:endParaRPr lang="en-US" sz="800" dirty="0"/>
          </a:p>
        </p:txBody>
      </p:sp>
      <p:sp>
        <p:nvSpPr>
          <p:cNvPr id="28" name="Text 24"/>
          <p:cNvSpPr txBox="1"/>
          <p:nvPr/>
        </p:nvSpPr>
        <p:spPr>
          <a:xfrm>
            <a:off x="4553712" y="4315968"/>
            <a:ext cx="3108960" cy="86868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Entrega al IMARPE datos diarios estructurados de captura, esfuerzo y precios, exportables y comparables.</a:t>
            </a:r>
            <a:endParaRPr lang="en-US" sz="1050" dirty="0"/>
          </a:p>
        </p:txBody>
      </p:sp>
      <p:sp>
        <p:nvSpPr>
          <p:cNvPr id="29" name="Shape 25"/>
          <p:cNvSpPr/>
          <p:nvPr/>
        </p:nvSpPr>
        <p:spPr>
          <a:xfrm>
            <a:off x="4480560" y="5257800"/>
            <a:ext cx="3200400" cy="804672"/>
          </a:xfrm>
          <a:prstGeom prst="roundRect">
            <a:avLst>
              <a:gd name="adj" fmla="val 13636"/>
            </a:avLst>
          </a:prstGeom>
          <a:solidFill>
            <a:srgbClr val="EAF1FF"/>
          </a:solidFill>
          <a:ln/>
        </p:spPr>
      </p:sp>
      <p:sp>
        <p:nvSpPr>
          <p:cNvPr id="30" name="Text 26"/>
          <p:cNvSpPr txBox="1"/>
          <p:nvPr/>
        </p:nvSpPr>
        <p:spPr>
          <a:xfrm>
            <a:off x="4617720" y="5257800"/>
            <a:ext cx="1143000" cy="804672"/>
          </a:xfrm>
          <a:prstGeom prst="rect">
            <a:avLst/>
          </a:prstGeom>
          <a:noFill/>
          <a:ln/>
        </p:spPr>
        <p:txBody>
          <a:bodyPr wrap="square" lIns="0" tIns="0" rIns="0" bIns="0" rtlCol="0" anchor="ctr"/>
          <a:lstStyle/>
          <a:p>
            <a:pPr indent="0" marL="0">
              <a:buNone/>
            </a:pPr>
            <a:r>
              <a:rPr lang="en-US" sz="1900" b="1" dirty="0">
                <a:solidFill>
                  <a:srgbClr val="0B5FFF"/>
                </a:solidFill>
                <a:latin typeface="Montserrat" pitchFamily="34" charset="0"/>
                <a:ea typeface="Montserrat" pitchFamily="34" charset="-122"/>
                <a:cs typeface="Montserrat" pitchFamily="34" charset="-120"/>
              </a:rPr>
              <a:t>&lt; 1 día</a:t>
            </a:r>
            <a:endParaRPr lang="en-US" sz="1900" dirty="0"/>
          </a:p>
        </p:txBody>
      </p:sp>
      <p:sp>
        <p:nvSpPr>
          <p:cNvPr id="31" name="Text 27"/>
          <p:cNvSpPr txBox="1"/>
          <p:nvPr/>
        </p:nvSpPr>
        <p:spPr>
          <a:xfrm>
            <a:off x="5779008" y="5257800"/>
            <a:ext cx="1783080" cy="804672"/>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entre el desembarque y el dato disponible</a:t>
            </a:r>
            <a:endParaRPr lang="en-US" sz="950" dirty="0"/>
          </a:p>
        </p:txBody>
      </p:sp>
      <p:sp>
        <p:nvSpPr>
          <p:cNvPr id="32" name="Shape 28"/>
          <p:cNvSpPr/>
          <p:nvPr/>
        </p:nvSpPr>
        <p:spPr>
          <a:xfrm>
            <a:off x="8046720" y="2011680"/>
            <a:ext cx="3566160" cy="4206240"/>
          </a:xfrm>
          <a:prstGeom prst="roundRect">
            <a:avLst>
              <a:gd name="adj" fmla="val 4615"/>
            </a:avLst>
          </a:prstGeom>
          <a:solidFill>
            <a:srgbClr val="FFFFFF"/>
          </a:solidFill>
          <a:ln/>
          <a:effectLst>
            <a:outerShdw sx="100000" sy="100000" kx="0" ky="0" algn="bl" rotWithShape="0" blurRad="279400" dist="76200" dir="5400000">
              <a:srgbClr val="031040">
                <a:alpha val="30000"/>
              </a:srgbClr>
            </a:outerShdw>
          </a:effectLst>
        </p:spPr>
      </p:sp>
      <p:sp>
        <p:nvSpPr>
          <p:cNvPr id="33" name="Shape 29"/>
          <p:cNvSpPr/>
          <p:nvPr/>
        </p:nvSpPr>
        <p:spPr>
          <a:xfrm>
            <a:off x="8046720" y="2011680"/>
            <a:ext cx="3566160" cy="1024128"/>
          </a:xfrm>
          <a:prstGeom prst="roundRect">
            <a:avLst>
              <a:gd name="adj" fmla="val 16071"/>
            </a:avLst>
          </a:prstGeom>
          <a:solidFill>
            <a:srgbClr val="0B1E4F"/>
          </a:solidFill>
          <a:ln/>
        </p:spPr>
      </p:sp>
      <p:sp>
        <p:nvSpPr>
          <p:cNvPr id="34" name="Shape 30"/>
          <p:cNvSpPr/>
          <p:nvPr/>
        </p:nvSpPr>
        <p:spPr>
          <a:xfrm>
            <a:off x="8046720" y="2743200"/>
            <a:ext cx="3566160" cy="292608"/>
          </a:xfrm>
          <a:prstGeom prst="rect">
            <a:avLst/>
          </a:prstGeom>
          <a:solidFill>
            <a:srgbClr val="0B1E4F"/>
          </a:solidFill>
          <a:ln/>
        </p:spPr>
      </p:sp>
      <p:sp>
        <p:nvSpPr>
          <p:cNvPr id="35" name="Text 31"/>
          <p:cNvSpPr txBox="1"/>
          <p:nvPr/>
        </p:nvSpPr>
        <p:spPr>
          <a:xfrm>
            <a:off x="8302752" y="2194560"/>
            <a:ext cx="2286000" cy="384048"/>
          </a:xfrm>
          <a:prstGeom prst="rect">
            <a:avLst/>
          </a:prstGeom>
          <a:noFill/>
          <a:ln/>
        </p:spPr>
        <p:txBody>
          <a:bodyPr wrap="square" lIns="0" tIns="0" rIns="0" bIns="0" rtlCol="0" anchor="ctr"/>
          <a:lstStyle/>
          <a:p>
            <a:pPr indent="0" marL="0">
              <a:buNone/>
            </a:pPr>
            <a:r>
              <a:rPr lang="en-US" sz="2200" b="1" dirty="0">
                <a:solidFill>
                  <a:srgbClr val="A9FFD6"/>
                </a:solidFill>
                <a:latin typeface="Montserrat" pitchFamily="34" charset="0"/>
                <a:ea typeface="Montserrat" pitchFamily="34" charset="-122"/>
                <a:cs typeface="Montserrat" pitchFamily="34" charset="-120"/>
              </a:rPr>
              <a:t>META 14.b</a:t>
            </a:r>
            <a:endParaRPr lang="en-US" sz="2200" dirty="0"/>
          </a:p>
        </p:txBody>
      </p:sp>
      <p:sp>
        <p:nvSpPr>
          <p:cNvPr id="36" name="Text 32"/>
          <p:cNvSpPr txBox="1"/>
          <p:nvPr/>
        </p:nvSpPr>
        <p:spPr>
          <a:xfrm>
            <a:off x="8302752" y="2578608"/>
            <a:ext cx="2743200" cy="310896"/>
          </a:xfrm>
          <a:prstGeom prst="rect">
            <a:avLst/>
          </a:prstGeom>
          <a:noFill/>
          <a:ln/>
        </p:spPr>
        <p:txBody>
          <a:bodyPr wrap="square" lIns="0" tIns="0" rIns="0" bIns="0" rtlCol="0" anchor="ctr"/>
          <a:lstStyle/>
          <a:p>
            <a:pPr indent="0" marL="0">
              <a:buNone/>
            </a:pPr>
            <a:r>
              <a:rPr lang="en-US" sz="1150" b="1" dirty="0">
                <a:solidFill>
                  <a:srgbClr val="FFFFFF"/>
                </a:solidFill>
                <a:latin typeface="Open Sans" pitchFamily="34" charset="0"/>
                <a:ea typeface="Open Sans" pitchFamily="34" charset="-122"/>
                <a:cs typeface="Open Sans" pitchFamily="34" charset="-120"/>
              </a:rPr>
              <a:t>Pesca artesanal y mercados</a:t>
            </a:r>
            <a:endParaRPr lang="en-US" sz="1150" dirty="0"/>
          </a:p>
        </p:txBody>
      </p:sp>
      <p:pic>
        <p:nvPicPr>
          <p:cNvPr id="37" name="Image 2" descr="preencoded.png">    </p:cNvPr>
          <p:cNvPicPr>
            <a:picLocks noChangeAspect="1"/>
          </p:cNvPicPr>
          <p:nvPr/>
        </p:nvPicPr>
        <p:blipFill>
          <a:blip r:embed="rId4"/>
          <a:stretch>
            <a:fillRect/>
          </a:stretch>
        </p:blipFill>
        <p:spPr>
          <a:xfrm>
            <a:off x="10954512" y="2286000"/>
            <a:ext cx="420624" cy="420624"/>
          </a:xfrm>
          <a:prstGeom prst="rect">
            <a:avLst/>
          </a:prstGeom>
        </p:spPr>
      </p:pic>
      <p:sp>
        <p:nvSpPr>
          <p:cNvPr id="38" name="Text 33"/>
          <p:cNvSpPr txBox="1"/>
          <p:nvPr/>
        </p:nvSpPr>
        <p:spPr>
          <a:xfrm>
            <a:off x="8302752" y="3200400"/>
            <a:ext cx="2743200" cy="201168"/>
          </a:xfrm>
          <a:prstGeom prst="rect">
            <a:avLst/>
          </a:prstGeom>
          <a:noFill/>
          <a:ln/>
        </p:spPr>
        <p:txBody>
          <a:bodyPr wrap="square" lIns="0" tIns="0" rIns="0" bIns="0" rtlCol="0" anchor="t"/>
          <a:lstStyle/>
          <a:p>
            <a:pPr indent="0" marL="0">
              <a:buNone/>
            </a:pPr>
            <a:r>
              <a:rPr lang="en-US" sz="800" b="1" spc="150" kern="0" dirty="0">
                <a:solidFill>
                  <a:srgbClr val="8A96AE"/>
                </a:solidFill>
                <a:latin typeface="Montserrat" pitchFamily="34" charset="0"/>
                <a:ea typeface="Montserrat" pitchFamily="34" charset="-122"/>
                <a:cs typeface="Montserrat" pitchFamily="34" charset="-120"/>
              </a:rPr>
              <a:t>QUÉ PIDE</a:t>
            </a:r>
            <a:endParaRPr lang="en-US" sz="800" dirty="0"/>
          </a:p>
        </p:txBody>
      </p:sp>
      <p:sp>
        <p:nvSpPr>
          <p:cNvPr id="39" name="Text 34"/>
          <p:cNvSpPr txBox="1"/>
          <p:nvPr/>
        </p:nvSpPr>
        <p:spPr>
          <a:xfrm>
            <a:off x="8302752" y="3401568"/>
            <a:ext cx="3108960" cy="658368"/>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Facilitar el acceso de los pescadores artesanales a los recursos marinos y los mercados.</a:t>
            </a:r>
            <a:endParaRPr lang="en-US" sz="1050" dirty="0"/>
          </a:p>
        </p:txBody>
      </p:sp>
      <p:sp>
        <p:nvSpPr>
          <p:cNvPr id="40" name="Text 35"/>
          <p:cNvSpPr txBox="1"/>
          <p:nvPr/>
        </p:nvSpPr>
        <p:spPr>
          <a:xfrm>
            <a:off x="8302752" y="4114800"/>
            <a:ext cx="3017520" cy="201168"/>
          </a:xfrm>
          <a:prstGeom prst="rect">
            <a:avLst/>
          </a:prstGeom>
          <a:noFill/>
          <a:ln/>
        </p:spPr>
        <p:txBody>
          <a:bodyPr wrap="square" lIns="0" tIns="0" rIns="0" bIns="0" rtlCol="0" anchor="t"/>
          <a:lstStyle/>
          <a:p>
            <a:pPr indent="0" marL="0">
              <a:buNone/>
            </a:pPr>
            <a:r>
              <a:rPr lang="en-US" sz="800" b="1" spc="150" kern="0" dirty="0">
                <a:solidFill>
                  <a:srgbClr val="0B5FFF"/>
                </a:solidFill>
                <a:latin typeface="Montserrat" pitchFamily="34" charset="0"/>
                <a:ea typeface="Montserrat" pitchFamily="34" charset="-122"/>
                <a:cs typeface="Montserrat" pitchFamily="34" charset="-120"/>
              </a:rPr>
              <a:t>CÓMO CONTRIBUYE SIRDEPA</a:t>
            </a:r>
            <a:endParaRPr lang="en-US" sz="800" dirty="0"/>
          </a:p>
        </p:txBody>
      </p:sp>
      <p:sp>
        <p:nvSpPr>
          <p:cNvPr id="41" name="Text 36"/>
          <p:cNvSpPr txBox="1"/>
          <p:nvPr/>
        </p:nvSpPr>
        <p:spPr>
          <a:xfrm>
            <a:off x="8302752" y="4315968"/>
            <a:ext cx="3108960" cy="86868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Constancia digital con QR que acredita el origen legal del producto e historial del esfuerzo pesquero del armador.</a:t>
            </a:r>
            <a:endParaRPr lang="en-US" sz="1050" dirty="0"/>
          </a:p>
        </p:txBody>
      </p:sp>
      <p:sp>
        <p:nvSpPr>
          <p:cNvPr id="42" name="Shape 37"/>
          <p:cNvSpPr/>
          <p:nvPr/>
        </p:nvSpPr>
        <p:spPr>
          <a:xfrm>
            <a:off x="8229600" y="5257800"/>
            <a:ext cx="3200400" cy="804672"/>
          </a:xfrm>
          <a:prstGeom prst="roundRect">
            <a:avLst>
              <a:gd name="adj" fmla="val 13636"/>
            </a:avLst>
          </a:prstGeom>
          <a:solidFill>
            <a:srgbClr val="EAF1FF"/>
          </a:solidFill>
          <a:ln/>
        </p:spPr>
      </p:sp>
      <p:sp>
        <p:nvSpPr>
          <p:cNvPr id="43" name="Text 38"/>
          <p:cNvSpPr txBox="1"/>
          <p:nvPr/>
        </p:nvSpPr>
        <p:spPr>
          <a:xfrm>
            <a:off x="8366760" y="5257800"/>
            <a:ext cx="1143000" cy="804672"/>
          </a:xfrm>
          <a:prstGeom prst="rect">
            <a:avLst/>
          </a:prstGeom>
          <a:noFill/>
          <a:ln/>
        </p:spPr>
        <p:txBody>
          <a:bodyPr wrap="square" lIns="0" tIns="0" rIns="0" bIns="0" rtlCol="0" anchor="ctr"/>
          <a:lstStyle/>
          <a:p>
            <a:pPr indent="0" marL="0">
              <a:buNone/>
            </a:pPr>
            <a:r>
              <a:rPr lang="en-US" sz="1900" b="1" dirty="0">
                <a:solidFill>
                  <a:srgbClr val="0B5FFF"/>
                </a:solidFill>
                <a:latin typeface="Montserrat" pitchFamily="34" charset="0"/>
                <a:ea typeface="Montserrat" pitchFamily="34" charset="-122"/>
                <a:cs typeface="Montserrat" pitchFamily="34" charset="-120"/>
              </a:rPr>
              <a:t>≥ 80 %</a:t>
            </a:r>
            <a:endParaRPr lang="en-US" sz="1900" dirty="0"/>
          </a:p>
        </p:txBody>
      </p:sp>
      <p:sp>
        <p:nvSpPr>
          <p:cNvPr id="44" name="Text 39"/>
          <p:cNvSpPr txBox="1"/>
          <p:nvPr/>
        </p:nvSpPr>
        <p:spPr>
          <a:xfrm>
            <a:off x="9528048" y="5257800"/>
            <a:ext cx="1783080" cy="804672"/>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de lotes vendidos con constancia verificable</a:t>
            </a:r>
            <a:endParaRPr lang="en-US" sz="950" dirty="0"/>
          </a:p>
        </p:txBody>
      </p:sp>
      <p:sp>
        <p:nvSpPr>
          <p:cNvPr id="45" name="Text 4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6" name="Text 4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815791" cy="274320"/>
          </a:xfrm>
          <a:prstGeom prst="roundRect">
            <a:avLst>
              <a:gd name="adj" fmla="val 50000"/>
            </a:avLst>
          </a:prstGeom>
          <a:solidFill>
            <a:srgbClr val="0B5FFF"/>
          </a:solidFill>
          <a:ln/>
        </p:spPr>
      </p:sp>
      <p:sp>
        <p:nvSpPr>
          <p:cNvPr id="3" name="Text 1"/>
          <p:cNvSpPr txBox="1"/>
          <p:nvPr/>
        </p:nvSpPr>
        <p:spPr>
          <a:xfrm>
            <a:off x="548640" y="411480"/>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1.2 INSTITUCIÓN BENEFICIARIA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900" b="1" dirty="0">
                <a:solidFill>
                  <a:srgbClr val="0E1B3D"/>
                </a:solidFill>
                <a:latin typeface="Montserrat" pitchFamily="34" charset="0"/>
                <a:ea typeface="Montserrat" pitchFamily="34" charset="-122"/>
                <a:cs typeface="Montserrat" pitchFamily="34" charset="-120"/>
              </a:rPr>
              <a:t>FONDEPES: donde la pesca artesanal llega a tierra</a:t>
            </a:r>
            <a:endParaRPr lang="en-US" sz="2900" dirty="0"/>
          </a:p>
        </p:txBody>
      </p:sp>
      <p:sp>
        <p:nvSpPr>
          <p:cNvPr id="5" name="Shape 3"/>
          <p:cNvSpPr/>
          <p:nvPr/>
        </p:nvSpPr>
        <p:spPr>
          <a:xfrm>
            <a:off x="548640" y="1600200"/>
            <a:ext cx="3931920" cy="4572000"/>
          </a:xfrm>
          <a:prstGeom prst="roundRect">
            <a:avLst>
              <a:gd name="adj" fmla="val 4651"/>
            </a:avLst>
          </a:prstGeom>
          <a:solidFill>
            <a:srgbClr val="0B5FFF"/>
          </a:solidFill>
          <a:ln/>
          <a:effectLst>
            <a:outerShdw sx="100000" sy="100000" kx="0" ky="0" algn="bl" rotWithShape="0" blurRad="254000" dist="76200" dir="5400000">
              <a:srgbClr val="0B5FFF">
                <a:alpha val="30000"/>
              </a:srgbClr>
            </a:outerShdw>
          </a:effectLst>
        </p:spPr>
      </p:sp>
      <p:sp>
        <p:nvSpPr>
          <p:cNvPr id="6" name="Shape 4"/>
          <p:cNvSpPr/>
          <p:nvPr/>
        </p:nvSpPr>
        <p:spPr>
          <a:xfrm>
            <a:off x="822960" y="1847088"/>
            <a:ext cx="658368" cy="658368"/>
          </a:xfrm>
          <a:prstGeom prst="roundRect">
            <a:avLst>
              <a:gd name="adj" fmla="val 28000"/>
            </a:avLst>
          </a:prstGeom>
          <a:solidFill>
            <a:srgbClr val="FFFFFF"/>
          </a:solidFill>
          <a:ln/>
        </p:spPr>
      </p:sp>
      <p:pic>
        <p:nvPicPr>
          <p:cNvPr id="7" name="Image 0" descr="preencoded.png">    </p:cNvPr>
          <p:cNvPicPr>
            <a:picLocks noChangeAspect="1"/>
          </p:cNvPicPr>
          <p:nvPr/>
        </p:nvPicPr>
        <p:blipFill>
          <a:blip r:embed="rId2"/>
          <a:stretch>
            <a:fillRect/>
          </a:stretch>
        </p:blipFill>
        <p:spPr>
          <a:xfrm>
            <a:off x="980968" y="2005096"/>
            <a:ext cx="342351" cy="342351"/>
          </a:xfrm>
          <a:prstGeom prst="rect">
            <a:avLst/>
          </a:prstGeom>
        </p:spPr>
      </p:pic>
      <p:sp>
        <p:nvSpPr>
          <p:cNvPr id="8" name="Text 5"/>
          <p:cNvSpPr txBox="1"/>
          <p:nvPr/>
        </p:nvSpPr>
        <p:spPr>
          <a:xfrm>
            <a:off x="822960" y="2651760"/>
            <a:ext cx="347472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FONDEPES</a:t>
            </a:r>
            <a:endParaRPr lang="en-US" sz="3200" dirty="0"/>
          </a:p>
        </p:txBody>
      </p:sp>
      <p:sp>
        <p:nvSpPr>
          <p:cNvPr id="9" name="Text 6"/>
          <p:cNvSpPr txBox="1"/>
          <p:nvPr/>
        </p:nvSpPr>
        <p:spPr>
          <a:xfrm>
            <a:off x="822960" y="3200400"/>
            <a:ext cx="3474720" cy="320040"/>
          </a:xfrm>
          <a:prstGeom prst="rect">
            <a:avLst/>
          </a:prstGeom>
          <a:noFill/>
          <a:ln/>
        </p:spPr>
        <p:txBody>
          <a:bodyPr wrap="square" lIns="0" tIns="0" rIns="0" bIns="0" rtlCol="0" anchor="ctr"/>
          <a:lstStyle/>
          <a:p>
            <a:pPr indent="0" marL="0">
              <a:buNone/>
            </a:pPr>
            <a:r>
              <a:rPr lang="en-US" sz="1300" b="1" dirty="0">
                <a:solidFill>
                  <a:srgbClr val="7CF0F5"/>
                </a:solidFill>
                <a:latin typeface="Open Sans" pitchFamily="34" charset="0"/>
                <a:ea typeface="Open Sans" pitchFamily="34" charset="-122"/>
                <a:cs typeface="Open Sans" pitchFamily="34" charset="-120"/>
              </a:rPr>
              <a:t>Fondo Nacional de Desarrollo Pesquero</a:t>
            </a:r>
            <a:endParaRPr lang="en-US" sz="1300" dirty="0"/>
          </a:p>
        </p:txBody>
      </p:sp>
      <p:sp>
        <p:nvSpPr>
          <p:cNvPr id="10" name="Text 7"/>
          <p:cNvSpPr txBox="1"/>
          <p:nvPr/>
        </p:nvSpPr>
        <p:spPr>
          <a:xfrm>
            <a:off x="822960" y="3611880"/>
            <a:ext cx="3429000" cy="1188720"/>
          </a:xfrm>
          <a:prstGeom prst="rect">
            <a:avLst/>
          </a:prstGeom>
          <a:noFill/>
          <a:ln/>
        </p:spPr>
        <p:txBody>
          <a:bodyPr wrap="square" lIns="0" tIns="0" rIns="0" bIns="0" rtlCol="0" anchor="t"/>
          <a:lstStyle/>
          <a:p>
            <a:pPr indent="0" marL="0">
              <a:buNone/>
            </a:pPr>
            <a:r>
              <a:rPr lang="en-US" sz="1150" i="1" dirty="0">
                <a:solidFill>
                  <a:srgbClr val="E6EEFF"/>
                </a:solidFill>
                <a:latin typeface="Open Sans" pitchFamily="34" charset="0"/>
                <a:ea typeface="Open Sans" pitchFamily="34" charset="-122"/>
                <a:cs typeface="Open Sans" pitchFamily="34" charset="-120"/>
              </a:rPr>
              <a:t>“Promoción del desarrollo y gestión de infraestructuras para el desembarque, procesamiento, distribución y comercialización” de la pesca artesanal. [9]</a:t>
            </a:r>
            <a:endParaRPr lang="en-US" sz="1150" dirty="0"/>
          </a:p>
        </p:txBody>
      </p:sp>
      <p:sp>
        <p:nvSpPr>
          <p:cNvPr id="11" name="Shape 8"/>
          <p:cNvSpPr/>
          <p:nvPr/>
        </p:nvSpPr>
        <p:spPr>
          <a:xfrm>
            <a:off x="822960" y="4983480"/>
            <a:ext cx="3383280" cy="960120"/>
          </a:xfrm>
          <a:prstGeom prst="roundRect">
            <a:avLst>
              <a:gd name="adj" fmla="val 13333"/>
            </a:avLst>
          </a:prstGeom>
          <a:solidFill>
            <a:srgbClr val="FFFFFF">
              <a:alpha val="15000"/>
            </a:srgbClr>
          </a:solidFill>
          <a:ln/>
        </p:spPr>
      </p:sp>
      <p:sp>
        <p:nvSpPr>
          <p:cNvPr id="12" name="Text 9"/>
          <p:cNvSpPr txBox="1"/>
          <p:nvPr/>
        </p:nvSpPr>
        <p:spPr>
          <a:xfrm>
            <a:off x="960120" y="5029200"/>
            <a:ext cx="1097280" cy="868680"/>
          </a:xfrm>
          <a:prstGeom prst="rect">
            <a:avLst/>
          </a:prstGeom>
          <a:noFill/>
          <a:ln/>
        </p:spPr>
        <p:txBody>
          <a:bodyPr wrap="square" lIns="0" tIns="0" rIns="0" bIns="0" rtlCol="0" anchor="ctr"/>
          <a:lstStyle/>
          <a:p>
            <a:pPr indent="0" marL="0">
              <a:buNone/>
            </a:pPr>
            <a:r>
              <a:rPr lang="en-US" sz="3200" b="1" dirty="0">
                <a:solidFill>
                  <a:srgbClr val="FFC233"/>
                </a:solidFill>
                <a:latin typeface="Montserrat" pitchFamily="34" charset="0"/>
                <a:ea typeface="Montserrat" pitchFamily="34" charset="-122"/>
                <a:cs typeface="Montserrat" pitchFamily="34" charset="-120"/>
              </a:rPr>
              <a:t>+50</a:t>
            </a:r>
            <a:endParaRPr lang="en-US" sz="3200" dirty="0"/>
          </a:p>
        </p:txBody>
      </p:sp>
      <p:sp>
        <p:nvSpPr>
          <p:cNvPr id="13" name="Text 10"/>
          <p:cNvSpPr txBox="1"/>
          <p:nvPr/>
        </p:nvSpPr>
        <p:spPr>
          <a:xfrm>
            <a:off x="2011680" y="5029200"/>
            <a:ext cx="2103120" cy="868680"/>
          </a:xfrm>
          <a:prstGeom prst="rect">
            <a:avLst/>
          </a:prstGeom>
          <a:noFill/>
          <a:ln/>
        </p:spPr>
        <p:txBody>
          <a:bodyPr wrap="square" lIns="0" tIns="0" rIns="0" bIns="0" rtlCol="0" anchor="ctr"/>
          <a:lstStyle/>
          <a:p>
            <a:pPr indent="0" marL="0">
              <a:buNone/>
            </a:pPr>
            <a:r>
              <a:rPr lang="en-US" sz="1050" dirty="0">
                <a:solidFill>
                  <a:srgbClr val="FFFFFF"/>
                </a:solidFill>
                <a:latin typeface="Open Sans" pitchFamily="34" charset="0"/>
                <a:ea typeface="Open Sans" pitchFamily="34" charset="-122"/>
                <a:cs typeface="Open Sans" pitchFamily="34" charset="-120"/>
              </a:rPr>
              <a:t>desembarcaderos pesqueros artesanales (DPA) en 11 regiones [10]</a:t>
            </a:r>
            <a:endParaRPr lang="en-US" sz="1050" dirty="0"/>
          </a:p>
        </p:txBody>
      </p:sp>
      <p:sp>
        <p:nvSpPr>
          <p:cNvPr id="14" name="Shape 11"/>
          <p:cNvSpPr/>
          <p:nvPr/>
        </p:nvSpPr>
        <p:spPr>
          <a:xfrm>
            <a:off x="4754880" y="1600200"/>
            <a:ext cx="3383280" cy="2880360"/>
          </a:xfrm>
          <a:prstGeom prst="roundRect">
            <a:avLst>
              <a:gd name="adj" fmla="val 4444"/>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 name="Text 12"/>
          <p:cNvSpPr txBox="1"/>
          <p:nvPr/>
        </p:nvSpPr>
        <p:spPr>
          <a:xfrm>
            <a:off x="4983480" y="1755648"/>
            <a:ext cx="3017520" cy="228600"/>
          </a:xfrm>
          <a:prstGeom prst="rect">
            <a:avLst/>
          </a:prstGeom>
          <a:noFill/>
          <a:ln/>
        </p:spPr>
        <p:txBody>
          <a:bodyPr wrap="square" lIns="0" tIns="0" rIns="0" bIns="0" rtlCol="0" anchor="t"/>
          <a:lstStyle/>
          <a:p>
            <a:pPr indent="0" marL="0">
              <a:buNone/>
            </a:pPr>
            <a:r>
              <a:rPr lang="en-US" sz="850" b="1" spc="120" kern="0" dirty="0">
                <a:solidFill>
                  <a:srgbClr val="0839C4"/>
                </a:solidFill>
                <a:latin typeface="Montserrat" pitchFamily="34" charset="0"/>
                <a:ea typeface="Montserrat" pitchFamily="34" charset="-122"/>
                <a:cs typeface="Montserrat" pitchFamily="34" charset="-120"/>
              </a:rPr>
              <a:t>DPA DEL FONDEPES POR REGIÓN</a:t>
            </a:r>
            <a:endParaRPr lang="en-US" sz="850" dirty="0"/>
          </a:p>
        </p:txBody>
      </p:sp>
      <p:sp>
        <p:nvSpPr>
          <p:cNvPr id="16" name="Text 13"/>
          <p:cNvSpPr txBox="1"/>
          <p:nvPr/>
        </p:nvSpPr>
        <p:spPr>
          <a:xfrm>
            <a:off x="4983480" y="2148840"/>
            <a:ext cx="914400" cy="365760"/>
          </a:xfrm>
          <a:prstGeom prst="rect">
            <a:avLst/>
          </a:prstGeom>
          <a:noFill/>
          <a:ln/>
        </p:spPr>
        <p:txBody>
          <a:bodyPr wrap="square" lIns="0" tIns="0" rIns="0" bIns="0" rtlCol="0" anchor="ctr"/>
          <a:lstStyle/>
          <a:p>
            <a:pPr indent="0" marL="0">
              <a:buNone/>
            </a:pPr>
            <a:r>
              <a:rPr lang="en-US" sz="1050" dirty="0">
                <a:solidFill>
                  <a:srgbClr val="0E1B3D"/>
                </a:solidFill>
                <a:latin typeface="Open Sans" pitchFamily="34" charset="0"/>
                <a:ea typeface="Open Sans" pitchFamily="34" charset="-122"/>
                <a:cs typeface="Open Sans" pitchFamily="34" charset="-120"/>
              </a:rPr>
              <a:t>Piura</a:t>
            </a:r>
            <a:endParaRPr lang="en-US" sz="1050" dirty="0"/>
          </a:p>
        </p:txBody>
      </p:sp>
      <p:sp>
        <p:nvSpPr>
          <p:cNvPr id="17" name="Shape 14"/>
          <p:cNvSpPr/>
          <p:nvPr/>
        </p:nvSpPr>
        <p:spPr>
          <a:xfrm>
            <a:off x="5897880" y="2212848"/>
            <a:ext cx="1828800" cy="237744"/>
          </a:xfrm>
          <a:prstGeom prst="roundRect">
            <a:avLst>
              <a:gd name="adj" fmla="val 50000"/>
            </a:avLst>
          </a:prstGeom>
          <a:solidFill>
            <a:srgbClr val="0B5FFF"/>
          </a:solidFill>
          <a:ln/>
        </p:spPr>
      </p:sp>
      <p:sp>
        <p:nvSpPr>
          <p:cNvPr id="18" name="Text 15"/>
          <p:cNvSpPr txBox="1"/>
          <p:nvPr/>
        </p:nvSpPr>
        <p:spPr>
          <a:xfrm>
            <a:off x="7790688" y="2148840"/>
            <a:ext cx="365760" cy="365760"/>
          </a:xfrm>
          <a:prstGeom prst="rect">
            <a:avLst/>
          </a:prstGeom>
          <a:noFill/>
          <a:ln/>
        </p:spPr>
        <p:txBody>
          <a:bodyPr wrap="square" lIns="0" tIns="0" rIns="0" bIns="0" rtlCol="0" anchor="ctr"/>
          <a:lstStyle/>
          <a:p>
            <a:pPr indent="0" marL="0">
              <a:buNone/>
            </a:pPr>
            <a:r>
              <a:rPr lang="en-US" sz="1200" b="1" dirty="0">
                <a:solidFill>
                  <a:srgbClr val="0B5FFF"/>
                </a:solidFill>
                <a:latin typeface="Montserrat" pitchFamily="34" charset="0"/>
                <a:ea typeface="Montserrat" pitchFamily="34" charset="-122"/>
                <a:cs typeface="Montserrat" pitchFamily="34" charset="-120"/>
              </a:rPr>
              <a:t>11</a:t>
            </a:r>
            <a:endParaRPr lang="en-US" sz="1200" dirty="0"/>
          </a:p>
        </p:txBody>
      </p:sp>
      <p:sp>
        <p:nvSpPr>
          <p:cNvPr id="19" name="Text 16"/>
          <p:cNvSpPr txBox="1"/>
          <p:nvPr/>
        </p:nvSpPr>
        <p:spPr>
          <a:xfrm>
            <a:off x="4983480" y="2679192"/>
            <a:ext cx="914400" cy="365760"/>
          </a:xfrm>
          <a:prstGeom prst="rect">
            <a:avLst/>
          </a:prstGeom>
          <a:noFill/>
          <a:ln/>
        </p:spPr>
        <p:txBody>
          <a:bodyPr wrap="square" lIns="0" tIns="0" rIns="0" bIns="0" rtlCol="0" anchor="ctr"/>
          <a:lstStyle/>
          <a:p>
            <a:pPr indent="0" marL="0">
              <a:buNone/>
            </a:pPr>
            <a:r>
              <a:rPr lang="en-US" sz="1050" dirty="0">
                <a:solidFill>
                  <a:srgbClr val="0E1B3D"/>
                </a:solidFill>
                <a:latin typeface="Open Sans" pitchFamily="34" charset="0"/>
                <a:ea typeface="Open Sans" pitchFamily="34" charset="-122"/>
                <a:cs typeface="Open Sans" pitchFamily="34" charset="-120"/>
              </a:rPr>
              <a:t>Lima</a:t>
            </a:r>
            <a:endParaRPr lang="en-US" sz="1050" dirty="0"/>
          </a:p>
        </p:txBody>
      </p:sp>
      <p:sp>
        <p:nvSpPr>
          <p:cNvPr id="20" name="Shape 17"/>
          <p:cNvSpPr/>
          <p:nvPr/>
        </p:nvSpPr>
        <p:spPr>
          <a:xfrm>
            <a:off x="5897880" y="2743200"/>
            <a:ext cx="1163782" cy="237744"/>
          </a:xfrm>
          <a:prstGeom prst="roundRect">
            <a:avLst>
              <a:gd name="adj" fmla="val 50000"/>
            </a:avLst>
          </a:prstGeom>
          <a:solidFill>
            <a:srgbClr val="00B8D4"/>
          </a:solidFill>
          <a:ln/>
        </p:spPr>
      </p:sp>
      <p:sp>
        <p:nvSpPr>
          <p:cNvPr id="21" name="Text 18"/>
          <p:cNvSpPr txBox="1"/>
          <p:nvPr/>
        </p:nvSpPr>
        <p:spPr>
          <a:xfrm>
            <a:off x="7125670" y="2679192"/>
            <a:ext cx="365760" cy="365760"/>
          </a:xfrm>
          <a:prstGeom prst="rect">
            <a:avLst/>
          </a:prstGeom>
          <a:noFill/>
          <a:ln/>
        </p:spPr>
        <p:txBody>
          <a:bodyPr wrap="square" lIns="0" tIns="0" rIns="0" bIns="0" rtlCol="0" anchor="ctr"/>
          <a:lstStyle/>
          <a:p>
            <a:pPr indent="0" marL="0">
              <a:buNone/>
            </a:pPr>
            <a:r>
              <a:rPr lang="en-US" sz="1200" b="1" dirty="0">
                <a:solidFill>
                  <a:srgbClr val="00B8D4"/>
                </a:solidFill>
                <a:latin typeface="Montserrat" pitchFamily="34" charset="0"/>
                <a:ea typeface="Montserrat" pitchFamily="34" charset="-122"/>
                <a:cs typeface="Montserrat" pitchFamily="34" charset="-120"/>
              </a:rPr>
              <a:t>7</a:t>
            </a:r>
            <a:endParaRPr lang="en-US" sz="1200" dirty="0"/>
          </a:p>
        </p:txBody>
      </p:sp>
      <p:sp>
        <p:nvSpPr>
          <p:cNvPr id="22" name="Text 19"/>
          <p:cNvSpPr txBox="1"/>
          <p:nvPr/>
        </p:nvSpPr>
        <p:spPr>
          <a:xfrm>
            <a:off x="4983480" y="3209544"/>
            <a:ext cx="914400" cy="365760"/>
          </a:xfrm>
          <a:prstGeom prst="rect">
            <a:avLst/>
          </a:prstGeom>
          <a:noFill/>
          <a:ln/>
        </p:spPr>
        <p:txBody>
          <a:bodyPr wrap="square" lIns="0" tIns="0" rIns="0" bIns="0" rtlCol="0" anchor="ctr"/>
          <a:lstStyle/>
          <a:p>
            <a:pPr indent="0" marL="0">
              <a:buNone/>
            </a:pPr>
            <a:r>
              <a:rPr lang="en-US" sz="1050" dirty="0">
                <a:solidFill>
                  <a:srgbClr val="0E1B3D"/>
                </a:solidFill>
                <a:latin typeface="Open Sans" pitchFamily="34" charset="0"/>
                <a:ea typeface="Open Sans" pitchFamily="34" charset="-122"/>
                <a:cs typeface="Open Sans" pitchFamily="34" charset="-120"/>
              </a:rPr>
              <a:t>Arequipa</a:t>
            </a:r>
            <a:endParaRPr lang="en-US" sz="1050" dirty="0"/>
          </a:p>
        </p:txBody>
      </p:sp>
      <p:sp>
        <p:nvSpPr>
          <p:cNvPr id="23" name="Shape 20"/>
          <p:cNvSpPr/>
          <p:nvPr/>
        </p:nvSpPr>
        <p:spPr>
          <a:xfrm>
            <a:off x="5897880" y="3273552"/>
            <a:ext cx="997527" cy="237744"/>
          </a:xfrm>
          <a:prstGeom prst="roundRect">
            <a:avLst>
              <a:gd name="adj" fmla="val 50000"/>
            </a:avLst>
          </a:prstGeom>
          <a:solidFill>
            <a:srgbClr val="7B5CFF"/>
          </a:solidFill>
          <a:ln/>
        </p:spPr>
      </p:sp>
      <p:sp>
        <p:nvSpPr>
          <p:cNvPr id="24" name="Text 21"/>
          <p:cNvSpPr txBox="1"/>
          <p:nvPr/>
        </p:nvSpPr>
        <p:spPr>
          <a:xfrm>
            <a:off x="6959415" y="3209544"/>
            <a:ext cx="365760" cy="365760"/>
          </a:xfrm>
          <a:prstGeom prst="rect">
            <a:avLst/>
          </a:prstGeom>
          <a:noFill/>
          <a:ln/>
        </p:spPr>
        <p:txBody>
          <a:bodyPr wrap="square" lIns="0" tIns="0" rIns="0" bIns="0" rtlCol="0" anchor="ctr"/>
          <a:lstStyle/>
          <a:p>
            <a:pPr indent="0" marL="0">
              <a:buNone/>
            </a:pPr>
            <a:r>
              <a:rPr lang="en-US" sz="1200" b="1" dirty="0">
                <a:solidFill>
                  <a:srgbClr val="7B5CFF"/>
                </a:solidFill>
                <a:latin typeface="Montserrat" pitchFamily="34" charset="0"/>
                <a:ea typeface="Montserrat" pitchFamily="34" charset="-122"/>
                <a:cs typeface="Montserrat" pitchFamily="34" charset="-120"/>
              </a:rPr>
              <a:t>6</a:t>
            </a:r>
            <a:endParaRPr lang="en-US" sz="1200" dirty="0"/>
          </a:p>
        </p:txBody>
      </p:sp>
      <p:sp>
        <p:nvSpPr>
          <p:cNvPr id="25" name="Text 22"/>
          <p:cNvSpPr txBox="1"/>
          <p:nvPr/>
        </p:nvSpPr>
        <p:spPr>
          <a:xfrm>
            <a:off x="4983480" y="3739896"/>
            <a:ext cx="914400" cy="365760"/>
          </a:xfrm>
          <a:prstGeom prst="rect">
            <a:avLst/>
          </a:prstGeom>
          <a:noFill/>
          <a:ln/>
        </p:spPr>
        <p:txBody>
          <a:bodyPr wrap="square" lIns="0" tIns="0" rIns="0" bIns="0" rtlCol="0" anchor="ctr"/>
          <a:lstStyle/>
          <a:p>
            <a:pPr indent="0" marL="0">
              <a:buNone/>
            </a:pPr>
            <a:r>
              <a:rPr lang="en-US" sz="1050" dirty="0">
                <a:solidFill>
                  <a:srgbClr val="0E1B3D"/>
                </a:solidFill>
                <a:latin typeface="Open Sans" pitchFamily="34" charset="0"/>
                <a:ea typeface="Open Sans" pitchFamily="34" charset="-122"/>
                <a:cs typeface="Open Sans" pitchFamily="34" charset="-120"/>
              </a:rPr>
              <a:t>Ica</a:t>
            </a:r>
            <a:endParaRPr lang="en-US" sz="1050" dirty="0"/>
          </a:p>
        </p:txBody>
      </p:sp>
      <p:sp>
        <p:nvSpPr>
          <p:cNvPr id="26" name="Shape 23"/>
          <p:cNvSpPr/>
          <p:nvPr/>
        </p:nvSpPr>
        <p:spPr>
          <a:xfrm>
            <a:off x="5897880" y="3803904"/>
            <a:ext cx="831273" cy="237744"/>
          </a:xfrm>
          <a:prstGeom prst="roundRect">
            <a:avLst>
              <a:gd name="adj" fmla="val 50000"/>
            </a:avLst>
          </a:prstGeom>
          <a:solidFill>
            <a:srgbClr val="FF8A00"/>
          </a:solidFill>
          <a:ln/>
        </p:spPr>
      </p:sp>
      <p:sp>
        <p:nvSpPr>
          <p:cNvPr id="27" name="Text 24"/>
          <p:cNvSpPr txBox="1"/>
          <p:nvPr/>
        </p:nvSpPr>
        <p:spPr>
          <a:xfrm>
            <a:off x="6793161" y="3739896"/>
            <a:ext cx="365760" cy="365760"/>
          </a:xfrm>
          <a:prstGeom prst="rect">
            <a:avLst/>
          </a:prstGeom>
          <a:noFill/>
          <a:ln/>
        </p:spPr>
        <p:txBody>
          <a:bodyPr wrap="square" lIns="0" tIns="0" rIns="0" bIns="0" rtlCol="0" anchor="ctr"/>
          <a:lstStyle/>
          <a:p>
            <a:pPr indent="0" marL="0">
              <a:buNone/>
            </a:pPr>
            <a:r>
              <a:rPr lang="en-US" sz="1200" b="1" dirty="0">
                <a:solidFill>
                  <a:srgbClr val="FF8A00"/>
                </a:solidFill>
                <a:latin typeface="Montserrat" pitchFamily="34" charset="0"/>
                <a:ea typeface="Montserrat" pitchFamily="34" charset="-122"/>
                <a:cs typeface="Montserrat" pitchFamily="34" charset="-120"/>
              </a:rPr>
              <a:t>5</a:t>
            </a:r>
            <a:endParaRPr lang="en-US" sz="1200" dirty="0"/>
          </a:p>
        </p:txBody>
      </p:sp>
      <p:sp>
        <p:nvSpPr>
          <p:cNvPr id="28" name="Text 25"/>
          <p:cNvSpPr txBox="1"/>
          <p:nvPr/>
        </p:nvSpPr>
        <p:spPr>
          <a:xfrm>
            <a:off x="4983480" y="4224528"/>
            <a:ext cx="3017520" cy="201168"/>
          </a:xfrm>
          <a:prstGeom prst="rect">
            <a:avLst/>
          </a:prstGeom>
          <a:noFill/>
          <a:ln/>
        </p:spPr>
        <p:txBody>
          <a:bodyPr wrap="square" lIns="0" tIns="0" rIns="0" bIns="0" rtlCol="0" anchor="ctr"/>
          <a:lstStyle/>
          <a:p>
            <a:pPr algn="l" indent="0" marL="0">
              <a:buNone/>
            </a:pPr>
            <a:r>
              <a:rPr lang="en-US" sz="850" i="1" dirty="0">
                <a:solidFill>
                  <a:srgbClr val="8A96AE"/>
                </a:solidFill>
                <a:latin typeface="Open Sans" pitchFamily="34" charset="0"/>
                <a:ea typeface="Open Sans" pitchFamily="34" charset="-122"/>
                <a:cs typeface="Open Sans" pitchFamily="34" charset="-120"/>
              </a:rPr>
              <a:t>Principales regiones. Fuente: FONDEPES [10]</a:t>
            </a:r>
            <a:endParaRPr lang="en-US" sz="850" dirty="0"/>
          </a:p>
        </p:txBody>
      </p:sp>
      <p:sp>
        <p:nvSpPr>
          <p:cNvPr id="29" name="Shape 26"/>
          <p:cNvSpPr/>
          <p:nvPr/>
        </p:nvSpPr>
        <p:spPr>
          <a:xfrm>
            <a:off x="8321040" y="1600200"/>
            <a:ext cx="3291840" cy="2880360"/>
          </a:xfrm>
          <a:prstGeom prst="roundRect">
            <a:avLst>
              <a:gd name="adj" fmla="val 4444"/>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0" name="Text 27"/>
          <p:cNvSpPr txBox="1"/>
          <p:nvPr/>
        </p:nvSpPr>
        <p:spPr>
          <a:xfrm>
            <a:off x="8549640" y="1755648"/>
            <a:ext cx="2926080" cy="228600"/>
          </a:xfrm>
          <a:prstGeom prst="rect">
            <a:avLst/>
          </a:prstGeom>
          <a:noFill/>
          <a:ln/>
        </p:spPr>
        <p:txBody>
          <a:bodyPr wrap="square" lIns="0" tIns="0" rIns="0" bIns="0" rtlCol="0" anchor="t"/>
          <a:lstStyle/>
          <a:p>
            <a:pPr indent="0" marL="0">
              <a:buNone/>
            </a:pPr>
            <a:r>
              <a:rPr lang="en-US" sz="850" b="1" spc="120" kern="0" dirty="0">
                <a:solidFill>
                  <a:srgbClr val="E0393F"/>
                </a:solidFill>
                <a:latin typeface="Montserrat" pitchFamily="34" charset="0"/>
                <a:ea typeface="Montserrat" pitchFamily="34" charset="-122"/>
                <a:cs typeface="Montserrat" pitchFamily="34" charset="-120"/>
              </a:rPr>
              <a:t>BRECHA DE INFRAESTRUCTURA</a:t>
            </a:r>
            <a:endParaRPr lang="en-US" sz="850" dirty="0"/>
          </a:p>
        </p:txBody>
      </p:sp>
      <p:sp>
        <p:nvSpPr>
          <p:cNvPr id="31" name="Text 28"/>
          <p:cNvSpPr txBox="1"/>
          <p:nvPr/>
        </p:nvSpPr>
        <p:spPr>
          <a:xfrm>
            <a:off x="8549640" y="2011680"/>
            <a:ext cx="2926080" cy="685800"/>
          </a:xfrm>
          <a:prstGeom prst="rect">
            <a:avLst/>
          </a:prstGeom>
          <a:noFill/>
          <a:ln/>
        </p:spPr>
        <p:txBody>
          <a:bodyPr wrap="square" lIns="0" tIns="0" rIns="0" bIns="0" rtlCol="0" anchor="ctr"/>
          <a:lstStyle/>
          <a:p>
            <a:pPr indent="0" marL="0">
              <a:buNone/>
            </a:pPr>
            <a:r>
              <a:rPr lang="en-US" sz="3600" b="1" dirty="0">
                <a:solidFill>
                  <a:srgbClr val="FF5A5F"/>
                </a:solidFill>
                <a:latin typeface="Montserrat" pitchFamily="34" charset="0"/>
                <a:ea typeface="Montserrat" pitchFamily="34" charset="-122"/>
                <a:cs typeface="Montserrat" pitchFamily="34" charset="-120"/>
              </a:rPr>
              <a:t>19</a:t>
            </a:r>
            <a:pPr indent="0" marL="0">
              <a:buNone/>
            </a:pPr>
            <a:r>
              <a:rPr lang="en-US" sz="2000" b="1" dirty="0">
                <a:solidFill>
                  <a:srgbClr val="8A96AE"/>
                </a:solidFill>
                <a:latin typeface="Montserrat" pitchFamily="34" charset="0"/>
                <a:ea typeface="Montserrat" pitchFamily="34" charset="-122"/>
                <a:cs typeface="Montserrat" pitchFamily="34" charset="-120"/>
              </a:rPr>
              <a:t> / 63</a:t>
            </a:r>
            <a:endParaRPr lang="en-US" sz="1200" dirty="0"/>
          </a:p>
        </p:txBody>
      </p:sp>
      <p:sp>
        <p:nvSpPr>
          <p:cNvPr id="32" name="Text 29"/>
          <p:cNvSpPr txBox="1"/>
          <p:nvPr/>
        </p:nvSpPr>
        <p:spPr>
          <a:xfrm>
            <a:off x="8549640" y="2697480"/>
            <a:ext cx="288036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DPA adecuados a la norma sanitaria frente al valor óptimo (PEI 2025-2030) [9]</a:t>
            </a:r>
            <a:endParaRPr lang="en-US" sz="1050" dirty="0"/>
          </a:p>
        </p:txBody>
      </p:sp>
      <p:sp>
        <p:nvSpPr>
          <p:cNvPr id="33" name="Shape 30"/>
          <p:cNvSpPr/>
          <p:nvPr/>
        </p:nvSpPr>
        <p:spPr>
          <a:xfrm>
            <a:off x="8549640" y="3291840"/>
            <a:ext cx="2834640" cy="164592"/>
          </a:xfrm>
          <a:prstGeom prst="roundRect">
            <a:avLst>
              <a:gd name="adj" fmla="val 50000"/>
            </a:avLst>
          </a:prstGeom>
          <a:solidFill>
            <a:srgbClr val="FFE9EA"/>
          </a:solidFill>
          <a:ln/>
        </p:spPr>
      </p:sp>
      <p:sp>
        <p:nvSpPr>
          <p:cNvPr id="34" name="Shape 31"/>
          <p:cNvSpPr/>
          <p:nvPr/>
        </p:nvSpPr>
        <p:spPr>
          <a:xfrm>
            <a:off x="8549640" y="3291840"/>
            <a:ext cx="854891" cy="164592"/>
          </a:xfrm>
          <a:prstGeom prst="roundRect">
            <a:avLst>
              <a:gd name="adj" fmla="val 50000"/>
            </a:avLst>
          </a:prstGeom>
          <a:solidFill>
            <a:srgbClr val="FF5A5F"/>
          </a:solidFill>
          <a:ln/>
        </p:spPr>
      </p:sp>
      <p:sp>
        <p:nvSpPr>
          <p:cNvPr id="35" name="Text 32"/>
          <p:cNvSpPr txBox="1"/>
          <p:nvPr/>
        </p:nvSpPr>
        <p:spPr>
          <a:xfrm>
            <a:off x="8549640" y="3566160"/>
            <a:ext cx="2880360" cy="77724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Su sistema de información crediticia está “desfasado”: SIRDEPA ayuda a cerrar la brecha de sistemas. [9]</a:t>
            </a:r>
            <a:endParaRPr lang="en-US" sz="1000" dirty="0"/>
          </a:p>
        </p:txBody>
      </p:sp>
      <p:sp>
        <p:nvSpPr>
          <p:cNvPr id="36" name="Shape 33"/>
          <p:cNvSpPr/>
          <p:nvPr/>
        </p:nvSpPr>
        <p:spPr>
          <a:xfrm>
            <a:off x="4754880" y="4663440"/>
            <a:ext cx="3383280" cy="1508760"/>
          </a:xfrm>
          <a:prstGeom prst="roundRect">
            <a:avLst>
              <a:gd name="adj" fmla="val 8485"/>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7" name="Shape 34"/>
          <p:cNvSpPr/>
          <p:nvPr/>
        </p:nvSpPr>
        <p:spPr>
          <a:xfrm>
            <a:off x="4956048" y="4846320"/>
            <a:ext cx="502920" cy="502920"/>
          </a:xfrm>
          <a:prstGeom prst="roundRect">
            <a:avLst>
              <a:gd name="adj" fmla="val 28000"/>
            </a:avLst>
          </a:prstGeom>
          <a:solidFill>
            <a:srgbClr val="10B981"/>
          </a:solidFill>
          <a:ln/>
        </p:spPr>
      </p:sp>
      <p:pic>
        <p:nvPicPr>
          <p:cNvPr id="38" name="Image 1" descr="preencoded.png">    </p:cNvPr>
          <p:cNvPicPr>
            <a:picLocks noChangeAspect="1"/>
          </p:cNvPicPr>
          <p:nvPr/>
        </p:nvPicPr>
        <p:blipFill>
          <a:blip r:embed="rId3"/>
          <a:stretch>
            <a:fillRect/>
          </a:stretch>
        </p:blipFill>
        <p:spPr>
          <a:xfrm>
            <a:off x="5076749" y="4967021"/>
            <a:ext cx="261518" cy="261518"/>
          </a:xfrm>
          <a:prstGeom prst="rect">
            <a:avLst/>
          </a:prstGeom>
        </p:spPr>
      </p:pic>
      <p:sp>
        <p:nvSpPr>
          <p:cNvPr id="39" name="Text 35"/>
          <p:cNvSpPr txBox="1"/>
          <p:nvPr/>
        </p:nvSpPr>
        <p:spPr>
          <a:xfrm>
            <a:off x="5596128" y="4846320"/>
            <a:ext cx="2468880" cy="457200"/>
          </a:xfrm>
          <a:prstGeom prst="rect">
            <a:avLst/>
          </a:prstGeom>
          <a:noFill/>
          <a:ln/>
        </p:spPr>
        <p:txBody>
          <a:bodyPr wrap="square" lIns="0" tIns="0" rIns="0" bIns="0" rtlCol="0" anchor="ctr"/>
          <a:lstStyle/>
          <a:p>
            <a:pPr indent="0" marL="0">
              <a:buNone/>
            </a:pPr>
            <a:r>
              <a:rPr lang="en-US" sz="1800" b="1" dirty="0">
                <a:solidFill>
                  <a:srgbClr val="0B9468"/>
                </a:solidFill>
                <a:latin typeface="Montserrat" pitchFamily="34" charset="0"/>
                <a:ea typeface="Montserrat" pitchFamily="34" charset="-122"/>
                <a:cs typeface="Montserrat" pitchFamily="34" charset="-120"/>
              </a:rPr>
              <a:t>S/ 3 millones</a:t>
            </a:r>
            <a:endParaRPr lang="en-US" sz="1800" dirty="0"/>
          </a:p>
        </p:txBody>
      </p:sp>
      <p:sp>
        <p:nvSpPr>
          <p:cNvPr id="40" name="Text 36"/>
          <p:cNvSpPr txBox="1"/>
          <p:nvPr/>
        </p:nvSpPr>
        <p:spPr>
          <a:xfrm>
            <a:off x="4956048" y="5394960"/>
            <a:ext cx="3063240" cy="731520"/>
          </a:xfrm>
          <a:prstGeom prst="rect">
            <a:avLst/>
          </a:prstGeom>
          <a:noFill/>
          <a:ln/>
        </p:spPr>
        <p:txBody>
          <a:bodyPr wrap="square" lIns="0" tIns="0" rIns="0" bIns="0" rtlCol="0" anchor="t"/>
          <a:lstStyle/>
          <a:p>
            <a:pPr indent="0" marL="0">
              <a:buNone/>
            </a:pPr>
            <a:r>
              <a:rPr lang="en-US" sz="1000" dirty="0">
                <a:solidFill>
                  <a:srgbClr val="0E1B3D"/>
                </a:solidFill>
                <a:latin typeface="Open Sans" pitchFamily="34" charset="0"/>
                <a:ea typeface="Open Sans" pitchFamily="34" charset="-122"/>
                <a:cs typeface="Open Sans" pitchFamily="34" charset="-120"/>
              </a:rPr>
              <a:t>transferidos por el MEF (D.S. N.° 193-2026-EF) para mantener 12 DPA ante El Niño. [11]</a:t>
            </a:r>
            <a:endParaRPr lang="en-US" sz="1000" dirty="0"/>
          </a:p>
        </p:txBody>
      </p:sp>
      <p:sp>
        <p:nvSpPr>
          <p:cNvPr id="41" name="Shape 37"/>
          <p:cNvSpPr/>
          <p:nvPr/>
        </p:nvSpPr>
        <p:spPr>
          <a:xfrm>
            <a:off x="8321040" y="4663440"/>
            <a:ext cx="3291840" cy="1508760"/>
          </a:xfrm>
          <a:prstGeom prst="roundRect">
            <a:avLst>
              <a:gd name="adj" fmla="val 8485"/>
            </a:avLst>
          </a:prstGeom>
          <a:solidFill>
            <a:srgbClr val="FFF6DA"/>
          </a:solidFill>
          <a:ln w="6350">
            <a:solidFill>
              <a:srgbClr val="FFE08A"/>
            </a:solidFill>
            <a:prstDash val="solid"/>
          </a:ln>
          <a:effectLst>
            <a:outerShdw sx="100000" sy="100000" kx="0" ky="0" algn="bl" rotWithShape="0" blurRad="177800" dist="38100" dir="5400000">
              <a:srgbClr val="0B1E4F">
                <a:alpha val="10000"/>
              </a:srgbClr>
            </a:outerShdw>
          </a:effectLst>
        </p:spPr>
      </p:sp>
      <p:sp>
        <p:nvSpPr>
          <p:cNvPr id="42" name="Shape 38"/>
          <p:cNvSpPr/>
          <p:nvPr/>
        </p:nvSpPr>
        <p:spPr>
          <a:xfrm>
            <a:off x="8522208" y="4846320"/>
            <a:ext cx="502920" cy="502920"/>
          </a:xfrm>
          <a:prstGeom prst="roundRect">
            <a:avLst>
              <a:gd name="adj" fmla="val 28000"/>
            </a:avLst>
          </a:prstGeom>
          <a:solidFill>
            <a:srgbClr val="FF8A00"/>
          </a:solidFill>
          <a:ln/>
        </p:spPr>
      </p:sp>
      <p:pic>
        <p:nvPicPr>
          <p:cNvPr id="43" name="Image 2" descr="preencoded.png">    </p:cNvPr>
          <p:cNvPicPr>
            <a:picLocks noChangeAspect="1"/>
          </p:cNvPicPr>
          <p:nvPr/>
        </p:nvPicPr>
        <p:blipFill>
          <a:blip r:embed="rId4"/>
          <a:stretch>
            <a:fillRect/>
          </a:stretch>
        </p:blipFill>
        <p:spPr>
          <a:xfrm>
            <a:off x="8642909" y="4967021"/>
            <a:ext cx="261518" cy="261518"/>
          </a:xfrm>
          <a:prstGeom prst="rect">
            <a:avLst/>
          </a:prstGeom>
        </p:spPr>
      </p:pic>
      <p:sp>
        <p:nvSpPr>
          <p:cNvPr id="44" name="Text 39"/>
          <p:cNvSpPr txBox="1"/>
          <p:nvPr/>
        </p:nvSpPr>
        <p:spPr>
          <a:xfrm>
            <a:off x="9162288" y="4846320"/>
            <a:ext cx="2377440" cy="457200"/>
          </a:xfrm>
          <a:prstGeom prst="rect">
            <a:avLst/>
          </a:prstGeom>
          <a:noFill/>
          <a:ln/>
        </p:spPr>
        <p:txBody>
          <a:bodyPr wrap="square" lIns="0" tIns="0" rIns="0" bIns="0" rtlCol="0" anchor="ctr"/>
          <a:lstStyle/>
          <a:p>
            <a:pPr indent="0" marL="0">
              <a:buNone/>
            </a:pPr>
            <a:r>
              <a:rPr lang="en-US" sz="1600" b="1" dirty="0">
                <a:solidFill>
                  <a:srgbClr val="E06F00"/>
                </a:solidFill>
                <a:latin typeface="Montserrat" pitchFamily="34" charset="0"/>
                <a:ea typeface="Montserrat" pitchFamily="34" charset="-122"/>
                <a:cs typeface="Montserrat" pitchFamily="34" charset="-120"/>
              </a:rPr>
              <a:t>Piloto en Piura</a:t>
            </a:r>
            <a:endParaRPr lang="en-US" sz="1600" dirty="0"/>
          </a:p>
        </p:txBody>
      </p:sp>
      <p:sp>
        <p:nvSpPr>
          <p:cNvPr id="45" name="Text 40"/>
          <p:cNvSpPr txBox="1"/>
          <p:nvPr/>
        </p:nvSpPr>
        <p:spPr>
          <a:xfrm>
            <a:off x="8522208" y="5394960"/>
            <a:ext cx="2971800" cy="731520"/>
          </a:xfrm>
          <a:prstGeom prst="rect">
            <a:avLst/>
          </a:prstGeom>
          <a:noFill/>
          <a:ln/>
        </p:spPr>
        <p:txBody>
          <a:bodyPr wrap="square" lIns="0" tIns="0" rIns="0" bIns="0" rtlCol="0" anchor="t"/>
          <a:lstStyle/>
          <a:p>
            <a:pPr indent="0" marL="0">
              <a:buNone/>
            </a:pPr>
            <a:r>
              <a:rPr lang="en-US" sz="1000" dirty="0">
                <a:solidFill>
                  <a:srgbClr val="0E1B3D"/>
                </a:solidFill>
                <a:latin typeface="Open Sans" pitchFamily="34" charset="0"/>
                <a:ea typeface="Open Sans" pitchFamily="34" charset="-122"/>
                <a:cs typeface="Open Sans" pitchFamily="34" charset="-120"/>
              </a:rPr>
              <a:t>Concentra el 33,4 % de la flota artesanal del país y el mayor número de DPA del FONDEPES. [5], [10]</a:t>
            </a:r>
            <a:endParaRPr lang="en-US" sz="1000" dirty="0"/>
          </a:p>
        </p:txBody>
      </p:sp>
      <p:sp>
        <p:nvSpPr>
          <p:cNvPr id="46" name="Text 41"/>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7" name="Text 42"/>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0B5FFF"/>
          </a:solidFill>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1.2 BENEFICIARIOS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Todos ganan con el registro digital</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2 del informe: rol de cada actor en la pesca artesanal y beneficio que obtiene. [5], [9], [12]</a:t>
            </a:r>
            <a:endParaRPr lang="en-US" sz="1300" dirty="0"/>
          </a:p>
        </p:txBody>
      </p:sp>
      <p:sp>
        <p:nvSpPr>
          <p:cNvPr id="6" name="Shape 4"/>
          <p:cNvSpPr/>
          <p:nvPr/>
        </p:nvSpPr>
        <p:spPr>
          <a:xfrm>
            <a:off x="548640" y="2011680"/>
            <a:ext cx="2103120" cy="4160520"/>
          </a:xfrm>
          <a:prstGeom prst="roundRect">
            <a:avLst>
              <a:gd name="adj" fmla="val 6087"/>
            </a:avLst>
          </a:prstGeom>
          <a:solidFill>
            <a:srgbClr val="FFFFFF"/>
          </a:solidFill>
          <a:ln w="19050">
            <a:solidFill>
              <a:srgbClr val="0B5FFF"/>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49808" y="2240280"/>
            <a:ext cx="566928" cy="566928"/>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885871" y="2376343"/>
            <a:ext cx="294803" cy="294803"/>
          </a:xfrm>
          <a:prstGeom prst="rect">
            <a:avLst/>
          </a:prstGeom>
        </p:spPr>
      </p:pic>
      <p:sp>
        <p:nvSpPr>
          <p:cNvPr id="9" name="Text 6"/>
          <p:cNvSpPr txBox="1"/>
          <p:nvPr/>
        </p:nvSpPr>
        <p:spPr>
          <a:xfrm>
            <a:off x="749808" y="2944368"/>
            <a:ext cx="1783080" cy="201168"/>
          </a:xfrm>
          <a:prstGeom prst="rect">
            <a:avLst/>
          </a:prstGeom>
          <a:noFill/>
          <a:ln/>
        </p:spPr>
        <p:txBody>
          <a:bodyPr wrap="square" lIns="0" tIns="0" rIns="0" bIns="0" rtlCol="0" anchor="t"/>
          <a:lstStyle/>
          <a:p>
            <a:pPr indent="0" marL="0">
              <a:buNone/>
            </a:pPr>
            <a:r>
              <a:rPr lang="en-US" sz="750" b="1" spc="100" kern="0" dirty="0">
                <a:solidFill>
                  <a:srgbClr val="0B5FFF"/>
                </a:solidFill>
                <a:latin typeface="Montserrat" pitchFamily="34" charset="0"/>
                <a:ea typeface="Montserrat" pitchFamily="34" charset="-122"/>
                <a:cs typeface="Montserrat" pitchFamily="34" charset="-120"/>
              </a:rPr>
              <a:t>BENEFICIARIO PRINCIPAL</a:t>
            </a:r>
            <a:endParaRPr lang="en-US" sz="750" dirty="0"/>
          </a:p>
        </p:txBody>
      </p:sp>
      <p:sp>
        <p:nvSpPr>
          <p:cNvPr id="10" name="Text 7"/>
          <p:cNvSpPr txBox="1"/>
          <p:nvPr/>
        </p:nvSpPr>
        <p:spPr>
          <a:xfrm>
            <a:off x="749808" y="3163824"/>
            <a:ext cx="1737360" cy="749808"/>
          </a:xfrm>
          <a:prstGeom prst="rect">
            <a:avLst/>
          </a:prstGeom>
          <a:noFill/>
          <a:ln/>
        </p:spPr>
        <p:txBody>
          <a:bodyPr wrap="square" lIns="0" tIns="0" rIns="0" bIns="0" rtlCol="0" anchor="t"/>
          <a:lstStyle/>
          <a:p>
            <a:pPr indent="0" marL="0">
              <a:buNone/>
            </a:pPr>
            <a:r>
              <a:rPr lang="en-US" sz="1150" b="1" dirty="0">
                <a:solidFill>
                  <a:srgbClr val="0E1B3D"/>
                </a:solidFill>
                <a:latin typeface="Montserrat" pitchFamily="34" charset="0"/>
                <a:ea typeface="Montserrat" pitchFamily="34" charset="-122"/>
                <a:cs typeface="Montserrat" pitchFamily="34" charset="-120"/>
              </a:rPr>
              <a:t>FONDEPES y administración del DPA</a:t>
            </a:r>
            <a:endParaRPr lang="en-US" sz="1150" dirty="0"/>
          </a:p>
        </p:txBody>
      </p:sp>
      <p:sp>
        <p:nvSpPr>
          <p:cNvPr id="11" name="Text 8"/>
          <p:cNvSpPr txBox="1"/>
          <p:nvPr/>
        </p:nvSpPr>
        <p:spPr>
          <a:xfrm>
            <a:off x="749808" y="3931920"/>
            <a:ext cx="914400" cy="182880"/>
          </a:xfrm>
          <a:prstGeom prst="rect">
            <a:avLst/>
          </a:prstGeom>
          <a:noFill/>
          <a:ln/>
        </p:spPr>
        <p:txBody>
          <a:bodyPr wrap="square" lIns="0" tIns="0" rIns="0" bIns="0" rtlCol="0" anchor="t"/>
          <a:lstStyle/>
          <a:p>
            <a:pPr indent="0" marL="0">
              <a:buNone/>
            </a:pPr>
            <a:r>
              <a:rPr lang="en-US" sz="750" b="1" spc="100" kern="0" dirty="0">
                <a:solidFill>
                  <a:srgbClr val="8A96AE"/>
                </a:solidFill>
                <a:latin typeface="Montserrat" pitchFamily="34" charset="0"/>
                <a:ea typeface="Montserrat" pitchFamily="34" charset="-122"/>
                <a:cs typeface="Montserrat" pitchFamily="34" charset="-120"/>
              </a:rPr>
              <a:t>ROL</a:t>
            </a:r>
            <a:endParaRPr lang="en-US" sz="750" dirty="0"/>
          </a:p>
        </p:txBody>
      </p:sp>
      <p:sp>
        <p:nvSpPr>
          <p:cNvPr id="12" name="Text 9"/>
          <p:cNvSpPr txBox="1"/>
          <p:nvPr/>
        </p:nvSpPr>
        <p:spPr>
          <a:xfrm>
            <a:off x="749808" y="4114800"/>
            <a:ext cx="1737360" cy="64008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Construye, mantiene y administra los DPA.</a:t>
            </a:r>
            <a:endParaRPr lang="en-US" sz="950" dirty="0"/>
          </a:p>
        </p:txBody>
      </p:sp>
      <p:sp>
        <p:nvSpPr>
          <p:cNvPr id="13" name="Shape 10"/>
          <p:cNvSpPr/>
          <p:nvPr/>
        </p:nvSpPr>
        <p:spPr>
          <a:xfrm>
            <a:off x="676656" y="4773168"/>
            <a:ext cx="1847088" cy="1280160"/>
          </a:xfrm>
          <a:prstGeom prst="roundRect">
            <a:avLst>
              <a:gd name="adj" fmla="val 7143"/>
            </a:avLst>
          </a:prstGeom>
          <a:solidFill>
            <a:srgbClr val="EAF1FF"/>
          </a:solidFill>
          <a:ln/>
        </p:spPr>
      </p:sp>
      <p:sp>
        <p:nvSpPr>
          <p:cNvPr id="14" name="Text 11"/>
          <p:cNvSpPr txBox="1"/>
          <p:nvPr/>
        </p:nvSpPr>
        <p:spPr>
          <a:xfrm>
            <a:off x="786384" y="4846320"/>
            <a:ext cx="1371600" cy="182880"/>
          </a:xfrm>
          <a:prstGeom prst="rect">
            <a:avLst/>
          </a:prstGeom>
          <a:noFill/>
          <a:ln/>
        </p:spPr>
        <p:txBody>
          <a:bodyPr wrap="square" lIns="0" tIns="0" rIns="0" bIns="0" rtlCol="0" anchor="t"/>
          <a:lstStyle/>
          <a:p>
            <a:pPr indent="0" marL="0">
              <a:buNone/>
            </a:pPr>
            <a:r>
              <a:rPr lang="en-US" sz="750" b="1" spc="100" kern="0" dirty="0">
                <a:solidFill>
                  <a:srgbClr val="0B5FFF"/>
                </a:solidFill>
                <a:latin typeface="Montserrat" pitchFamily="34" charset="0"/>
                <a:ea typeface="Montserrat" pitchFamily="34" charset="-122"/>
                <a:cs typeface="Montserrat" pitchFamily="34" charset="-120"/>
              </a:rPr>
              <a:t>BENEFICIO</a:t>
            </a:r>
            <a:endParaRPr lang="en-US" sz="750" dirty="0"/>
          </a:p>
        </p:txBody>
      </p:sp>
      <p:sp>
        <p:nvSpPr>
          <p:cNvPr id="15" name="Text 12"/>
          <p:cNvSpPr txBox="1"/>
          <p:nvPr/>
        </p:nvSpPr>
        <p:spPr>
          <a:xfrm>
            <a:off x="786384" y="5029200"/>
            <a:ext cx="1645920" cy="98755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Estadística diaria del muelle, control del uso de la infraestructura y sustento para decisiones de inversión.</a:t>
            </a:r>
            <a:endParaRPr lang="en-US" sz="950" dirty="0"/>
          </a:p>
        </p:txBody>
      </p:sp>
      <p:sp>
        <p:nvSpPr>
          <p:cNvPr id="16" name="Shape 13"/>
          <p:cNvSpPr/>
          <p:nvPr/>
        </p:nvSpPr>
        <p:spPr>
          <a:xfrm>
            <a:off x="2798064" y="2011680"/>
            <a:ext cx="2103120" cy="416052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7" name="Shape 14"/>
          <p:cNvSpPr/>
          <p:nvPr/>
        </p:nvSpPr>
        <p:spPr>
          <a:xfrm>
            <a:off x="2999232" y="2240280"/>
            <a:ext cx="566928" cy="566928"/>
          </a:xfrm>
          <a:prstGeom prst="roundRect">
            <a:avLst>
              <a:gd name="adj" fmla="val 28000"/>
            </a:avLst>
          </a:prstGeom>
          <a:solidFill>
            <a:srgbClr val="008FB0"/>
          </a:solidFill>
          <a:ln/>
        </p:spPr>
      </p:sp>
      <p:pic>
        <p:nvPicPr>
          <p:cNvPr id="18" name="Image 1" descr="preencoded.png">    </p:cNvPr>
          <p:cNvPicPr>
            <a:picLocks noChangeAspect="1"/>
          </p:cNvPicPr>
          <p:nvPr/>
        </p:nvPicPr>
        <p:blipFill>
          <a:blip r:embed="rId3"/>
          <a:stretch>
            <a:fillRect/>
          </a:stretch>
        </p:blipFill>
        <p:spPr>
          <a:xfrm>
            <a:off x="3135295" y="2376343"/>
            <a:ext cx="294803" cy="294803"/>
          </a:xfrm>
          <a:prstGeom prst="rect">
            <a:avLst/>
          </a:prstGeom>
        </p:spPr>
      </p:pic>
      <p:sp>
        <p:nvSpPr>
          <p:cNvPr id="19" name="Text 15"/>
          <p:cNvSpPr txBox="1"/>
          <p:nvPr/>
        </p:nvSpPr>
        <p:spPr>
          <a:xfrm>
            <a:off x="2999232" y="2944368"/>
            <a:ext cx="1783080" cy="201168"/>
          </a:xfrm>
          <a:prstGeom prst="rect">
            <a:avLst/>
          </a:prstGeom>
          <a:noFill/>
          <a:ln/>
        </p:spPr>
        <p:txBody>
          <a:bodyPr wrap="square" lIns="0" tIns="0" rIns="0" bIns="0" rtlCol="0" anchor="t"/>
          <a:lstStyle/>
          <a:p>
            <a:pPr indent="0" marL="0">
              <a:buNone/>
            </a:pPr>
            <a:r>
              <a:rPr lang="en-US" sz="750" b="1" spc="100" kern="0" dirty="0">
                <a:solidFill>
                  <a:srgbClr val="008FB0"/>
                </a:solidFill>
                <a:latin typeface="Montserrat" pitchFamily="34" charset="0"/>
                <a:ea typeface="Montserrat" pitchFamily="34" charset="-122"/>
                <a:cs typeface="Montserrat" pitchFamily="34" charset="-120"/>
              </a:rPr>
              <a:t>INVESTIGACIÓN</a:t>
            </a:r>
            <a:endParaRPr lang="en-US" sz="750" dirty="0"/>
          </a:p>
        </p:txBody>
      </p:sp>
      <p:sp>
        <p:nvSpPr>
          <p:cNvPr id="20" name="Text 16"/>
          <p:cNvSpPr txBox="1"/>
          <p:nvPr/>
        </p:nvSpPr>
        <p:spPr>
          <a:xfrm>
            <a:off x="2999232" y="3163824"/>
            <a:ext cx="1737360" cy="749808"/>
          </a:xfrm>
          <a:prstGeom prst="rect">
            <a:avLst/>
          </a:prstGeom>
          <a:noFill/>
          <a:ln/>
        </p:spPr>
        <p:txBody>
          <a:bodyPr wrap="square" lIns="0" tIns="0" rIns="0" bIns="0" rtlCol="0" anchor="t"/>
          <a:lstStyle/>
          <a:p>
            <a:pPr indent="0" marL="0">
              <a:buNone/>
            </a:pPr>
            <a:r>
              <a:rPr lang="en-US" sz="1150" b="1" dirty="0">
                <a:solidFill>
                  <a:srgbClr val="0E1B3D"/>
                </a:solidFill>
                <a:latin typeface="Montserrat" pitchFamily="34" charset="0"/>
                <a:ea typeface="Montserrat" pitchFamily="34" charset="-122"/>
                <a:cs typeface="Montserrat" pitchFamily="34" charset="-120"/>
              </a:rPr>
              <a:t>IMARPE</a:t>
            </a:r>
            <a:endParaRPr lang="en-US" sz="1150" dirty="0"/>
          </a:p>
        </p:txBody>
      </p:sp>
      <p:sp>
        <p:nvSpPr>
          <p:cNvPr id="21" name="Text 17"/>
          <p:cNvSpPr txBox="1"/>
          <p:nvPr/>
        </p:nvSpPr>
        <p:spPr>
          <a:xfrm>
            <a:off x="2999232" y="3931920"/>
            <a:ext cx="914400" cy="182880"/>
          </a:xfrm>
          <a:prstGeom prst="rect">
            <a:avLst/>
          </a:prstGeom>
          <a:noFill/>
          <a:ln/>
        </p:spPr>
        <p:txBody>
          <a:bodyPr wrap="square" lIns="0" tIns="0" rIns="0" bIns="0" rtlCol="0" anchor="t"/>
          <a:lstStyle/>
          <a:p>
            <a:pPr indent="0" marL="0">
              <a:buNone/>
            </a:pPr>
            <a:r>
              <a:rPr lang="en-US" sz="750" b="1" spc="100" kern="0" dirty="0">
                <a:solidFill>
                  <a:srgbClr val="8A96AE"/>
                </a:solidFill>
                <a:latin typeface="Montserrat" pitchFamily="34" charset="0"/>
                <a:ea typeface="Montserrat" pitchFamily="34" charset="-122"/>
                <a:cs typeface="Montserrat" pitchFamily="34" charset="-120"/>
              </a:rPr>
              <a:t>ROL</a:t>
            </a:r>
            <a:endParaRPr lang="en-US" sz="750" dirty="0"/>
          </a:p>
        </p:txBody>
      </p:sp>
      <p:sp>
        <p:nvSpPr>
          <p:cNvPr id="22" name="Text 18"/>
          <p:cNvSpPr txBox="1"/>
          <p:nvPr/>
        </p:nvSpPr>
        <p:spPr>
          <a:xfrm>
            <a:off x="2999232" y="4114800"/>
            <a:ext cx="1737360" cy="64008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Monitorea la pesquería artesanal con observadores en 63 lugares de desembarque.</a:t>
            </a:r>
            <a:endParaRPr lang="en-US" sz="950" dirty="0"/>
          </a:p>
        </p:txBody>
      </p:sp>
      <p:sp>
        <p:nvSpPr>
          <p:cNvPr id="23" name="Shape 19"/>
          <p:cNvSpPr/>
          <p:nvPr/>
        </p:nvSpPr>
        <p:spPr>
          <a:xfrm>
            <a:off x="2926080" y="4773168"/>
            <a:ext cx="1847088" cy="1280160"/>
          </a:xfrm>
          <a:prstGeom prst="roundRect">
            <a:avLst>
              <a:gd name="adj" fmla="val 7143"/>
            </a:avLst>
          </a:prstGeom>
          <a:solidFill>
            <a:srgbClr val="EAF1FF"/>
          </a:solidFill>
          <a:ln/>
        </p:spPr>
      </p:sp>
      <p:sp>
        <p:nvSpPr>
          <p:cNvPr id="24" name="Text 20"/>
          <p:cNvSpPr txBox="1"/>
          <p:nvPr/>
        </p:nvSpPr>
        <p:spPr>
          <a:xfrm>
            <a:off x="3035808" y="4846320"/>
            <a:ext cx="1371600" cy="182880"/>
          </a:xfrm>
          <a:prstGeom prst="rect">
            <a:avLst/>
          </a:prstGeom>
          <a:noFill/>
          <a:ln/>
        </p:spPr>
        <p:txBody>
          <a:bodyPr wrap="square" lIns="0" tIns="0" rIns="0" bIns="0" rtlCol="0" anchor="t"/>
          <a:lstStyle/>
          <a:p>
            <a:pPr indent="0" marL="0">
              <a:buNone/>
            </a:pPr>
            <a:r>
              <a:rPr lang="en-US" sz="750" b="1" spc="100" kern="0" dirty="0">
                <a:solidFill>
                  <a:srgbClr val="008FB0"/>
                </a:solidFill>
                <a:latin typeface="Montserrat" pitchFamily="34" charset="0"/>
                <a:ea typeface="Montserrat" pitchFamily="34" charset="-122"/>
                <a:cs typeface="Montserrat" pitchFamily="34" charset="-120"/>
              </a:rPr>
              <a:t>BENEFICIO</a:t>
            </a:r>
            <a:endParaRPr lang="en-US" sz="750" dirty="0"/>
          </a:p>
        </p:txBody>
      </p:sp>
      <p:sp>
        <p:nvSpPr>
          <p:cNvPr id="25" name="Text 21"/>
          <p:cNvSpPr txBox="1"/>
          <p:nvPr/>
        </p:nvSpPr>
        <p:spPr>
          <a:xfrm>
            <a:off x="3035808" y="5029200"/>
            <a:ext cx="1645920" cy="98755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Datos de captura y esfuerzo estructurados, sin transcribir formatos en papel.</a:t>
            </a:r>
            <a:endParaRPr lang="en-US" sz="950" dirty="0"/>
          </a:p>
        </p:txBody>
      </p:sp>
      <p:sp>
        <p:nvSpPr>
          <p:cNvPr id="26" name="Shape 22"/>
          <p:cNvSpPr/>
          <p:nvPr/>
        </p:nvSpPr>
        <p:spPr>
          <a:xfrm>
            <a:off x="5047488" y="2011680"/>
            <a:ext cx="2103120" cy="416052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7" name="Shape 23"/>
          <p:cNvSpPr/>
          <p:nvPr/>
        </p:nvSpPr>
        <p:spPr>
          <a:xfrm>
            <a:off x="5248656" y="2240280"/>
            <a:ext cx="566928" cy="566928"/>
          </a:xfrm>
          <a:prstGeom prst="roundRect">
            <a:avLst>
              <a:gd name="adj" fmla="val 28000"/>
            </a:avLst>
          </a:prstGeom>
          <a:solidFill>
            <a:srgbClr val="7B5CFF"/>
          </a:solidFill>
          <a:ln/>
        </p:spPr>
      </p:sp>
      <p:pic>
        <p:nvPicPr>
          <p:cNvPr id="28" name="Image 2" descr="preencoded.png">    </p:cNvPr>
          <p:cNvPicPr>
            <a:picLocks noChangeAspect="1"/>
          </p:cNvPicPr>
          <p:nvPr/>
        </p:nvPicPr>
        <p:blipFill>
          <a:blip r:embed="rId4"/>
          <a:stretch>
            <a:fillRect/>
          </a:stretch>
        </p:blipFill>
        <p:spPr>
          <a:xfrm>
            <a:off x="5384719" y="2376343"/>
            <a:ext cx="294803" cy="294803"/>
          </a:xfrm>
          <a:prstGeom prst="rect">
            <a:avLst/>
          </a:prstGeom>
        </p:spPr>
      </p:pic>
      <p:sp>
        <p:nvSpPr>
          <p:cNvPr id="29" name="Text 24"/>
          <p:cNvSpPr txBox="1"/>
          <p:nvPr/>
        </p:nvSpPr>
        <p:spPr>
          <a:xfrm>
            <a:off x="5248656" y="2944368"/>
            <a:ext cx="1783080" cy="201168"/>
          </a:xfrm>
          <a:prstGeom prst="rect">
            <a:avLst/>
          </a:prstGeom>
          <a:noFill/>
          <a:ln/>
        </p:spPr>
        <p:txBody>
          <a:bodyPr wrap="square" lIns="0" tIns="0" rIns="0" bIns="0" rtlCol="0" anchor="t"/>
          <a:lstStyle/>
          <a:p>
            <a:pPr indent="0" marL="0">
              <a:buNone/>
            </a:pPr>
            <a:r>
              <a:rPr lang="en-US" sz="750" b="1" spc="100" kern="0" dirty="0">
                <a:solidFill>
                  <a:srgbClr val="7B5CFF"/>
                </a:solidFill>
                <a:latin typeface="Montserrat" pitchFamily="34" charset="0"/>
                <a:ea typeface="Montserrat" pitchFamily="34" charset="-122"/>
                <a:cs typeface="Montserrat" pitchFamily="34" charset="-120"/>
              </a:rPr>
              <a:t>REGULACIÓN</a:t>
            </a:r>
            <a:endParaRPr lang="en-US" sz="750" dirty="0"/>
          </a:p>
        </p:txBody>
      </p:sp>
      <p:sp>
        <p:nvSpPr>
          <p:cNvPr id="30" name="Text 25"/>
          <p:cNvSpPr txBox="1"/>
          <p:nvPr/>
        </p:nvSpPr>
        <p:spPr>
          <a:xfrm>
            <a:off x="5248656" y="3163824"/>
            <a:ext cx="1737360" cy="749808"/>
          </a:xfrm>
          <a:prstGeom prst="rect">
            <a:avLst/>
          </a:prstGeom>
          <a:noFill/>
          <a:ln/>
        </p:spPr>
        <p:txBody>
          <a:bodyPr wrap="square" lIns="0" tIns="0" rIns="0" bIns="0" rtlCol="0" anchor="t"/>
          <a:lstStyle/>
          <a:p>
            <a:pPr indent="0" marL="0">
              <a:buNone/>
            </a:pPr>
            <a:r>
              <a:rPr lang="en-US" sz="1150" b="1" dirty="0">
                <a:solidFill>
                  <a:srgbClr val="0E1B3D"/>
                </a:solidFill>
                <a:latin typeface="Montserrat" pitchFamily="34" charset="0"/>
                <a:ea typeface="Montserrat" pitchFamily="34" charset="-122"/>
                <a:cs typeface="Montserrat" pitchFamily="34" charset="-120"/>
              </a:rPr>
              <a:t>PRODUCE y Gobiernos Regionales (DIREPRO)</a:t>
            </a:r>
            <a:endParaRPr lang="en-US" sz="1150" dirty="0"/>
          </a:p>
        </p:txBody>
      </p:sp>
      <p:sp>
        <p:nvSpPr>
          <p:cNvPr id="31" name="Text 26"/>
          <p:cNvSpPr txBox="1"/>
          <p:nvPr/>
        </p:nvSpPr>
        <p:spPr>
          <a:xfrm>
            <a:off x="5248656" y="3931920"/>
            <a:ext cx="914400" cy="182880"/>
          </a:xfrm>
          <a:prstGeom prst="rect">
            <a:avLst/>
          </a:prstGeom>
          <a:noFill/>
          <a:ln/>
        </p:spPr>
        <p:txBody>
          <a:bodyPr wrap="square" lIns="0" tIns="0" rIns="0" bIns="0" rtlCol="0" anchor="t"/>
          <a:lstStyle/>
          <a:p>
            <a:pPr indent="0" marL="0">
              <a:buNone/>
            </a:pPr>
            <a:r>
              <a:rPr lang="en-US" sz="750" b="1" spc="100" kern="0" dirty="0">
                <a:solidFill>
                  <a:srgbClr val="8A96AE"/>
                </a:solidFill>
                <a:latin typeface="Montserrat" pitchFamily="34" charset="0"/>
                <a:ea typeface="Montserrat" pitchFamily="34" charset="-122"/>
                <a:cs typeface="Montserrat" pitchFamily="34" charset="-120"/>
              </a:rPr>
              <a:t>ROL</a:t>
            </a:r>
            <a:endParaRPr lang="en-US" sz="750" dirty="0"/>
          </a:p>
        </p:txBody>
      </p:sp>
      <p:sp>
        <p:nvSpPr>
          <p:cNvPr id="32" name="Text 27"/>
          <p:cNvSpPr txBox="1"/>
          <p:nvPr/>
        </p:nvSpPr>
        <p:spPr>
          <a:xfrm>
            <a:off x="5248656" y="4114800"/>
            <a:ext cx="1737360" cy="64008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Otorgan permisos, fiscalizan y (PRODUCE) administran el SITRAPESCA.</a:t>
            </a:r>
            <a:endParaRPr lang="en-US" sz="950" dirty="0"/>
          </a:p>
        </p:txBody>
      </p:sp>
      <p:sp>
        <p:nvSpPr>
          <p:cNvPr id="33" name="Shape 28"/>
          <p:cNvSpPr/>
          <p:nvPr/>
        </p:nvSpPr>
        <p:spPr>
          <a:xfrm>
            <a:off x="5175504" y="4773168"/>
            <a:ext cx="1847088" cy="1280160"/>
          </a:xfrm>
          <a:prstGeom prst="roundRect">
            <a:avLst>
              <a:gd name="adj" fmla="val 7143"/>
            </a:avLst>
          </a:prstGeom>
          <a:solidFill>
            <a:srgbClr val="EAF1FF"/>
          </a:solidFill>
          <a:ln/>
        </p:spPr>
      </p:sp>
      <p:sp>
        <p:nvSpPr>
          <p:cNvPr id="34" name="Text 29"/>
          <p:cNvSpPr txBox="1"/>
          <p:nvPr/>
        </p:nvSpPr>
        <p:spPr>
          <a:xfrm>
            <a:off x="5285232" y="4846320"/>
            <a:ext cx="1371600" cy="182880"/>
          </a:xfrm>
          <a:prstGeom prst="rect">
            <a:avLst/>
          </a:prstGeom>
          <a:noFill/>
          <a:ln/>
        </p:spPr>
        <p:txBody>
          <a:bodyPr wrap="square" lIns="0" tIns="0" rIns="0" bIns="0" rtlCol="0" anchor="t"/>
          <a:lstStyle/>
          <a:p>
            <a:pPr indent="0" marL="0">
              <a:buNone/>
            </a:pPr>
            <a:r>
              <a:rPr lang="en-US" sz="750" b="1" spc="100" kern="0" dirty="0">
                <a:solidFill>
                  <a:srgbClr val="7B5CFF"/>
                </a:solidFill>
                <a:latin typeface="Montserrat" pitchFamily="34" charset="0"/>
                <a:ea typeface="Montserrat" pitchFamily="34" charset="-122"/>
                <a:cs typeface="Montserrat" pitchFamily="34" charset="-120"/>
              </a:rPr>
              <a:t>BENEFICIO</a:t>
            </a:r>
            <a:endParaRPr lang="en-US" sz="750" dirty="0"/>
          </a:p>
        </p:txBody>
      </p:sp>
      <p:sp>
        <p:nvSpPr>
          <p:cNvPr id="35" name="Text 30"/>
          <p:cNvSpPr txBox="1"/>
          <p:nvPr/>
        </p:nvSpPr>
        <p:spPr>
          <a:xfrm>
            <a:off x="5285232" y="5029200"/>
            <a:ext cx="1645920" cy="98755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Verificación del origen en segundos con QR, alertas de no conformidad y datos compatibles con el SITRAPESCA.</a:t>
            </a:r>
            <a:endParaRPr lang="en-US" sz="950" dirty="0"/>
          </a:p>
        </p:txBody>
      </p:sp>
      <p:sp>
        <p:nvSpPr>
          <p:cNvPr id="36" name="Shape 31"/>
          <p:cNvSpPr/>
          <p:nvPr/>
        </p:nvSpPr>
        <p:spPr>
          <a:xfrm>
            <a:off x="7296912" y="2011680"/>
            <a:ext cx="2103120" cy="416052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7" name="Shape 32"/>
          <p:cNvSpPr/>
          <p:nvPr/>
        </p:nvSpPr>
        <p:spPr>
          <a:xfrm>
            <a:off x="7498080" y="2240280"/>
            <a:ext cx="566928" cy="566928"/>
          </a:xfrm>
          <a:prstGeom prst="roundRect">
            <a:avLst>
              <a:gd name="adj" fmla="val 28000"/>
            </a:avLst>
          </a:prstGeom>
          <a:solidFill>
            <a:srgbClr val="E06F00"/>
          </a:solidFill>
          <a:ln/>
        </p:spPr>
      </p:sp>
      <p:pic>
        <p:nvPicPr>
          <p:cNvPr id="38" name="Image 3" descr="preencoded.png">    </p:cNvPr>
          <p:cNvPicPr>
            <a:picLocks noChangeAspect="1"/>
          </p:cNvPicPr>
          <p:nvPr/>
        </p:nvPicPr>
        <p:blipFill>
          <a:blip r:embed="rId5"/>
          <a:stretch>
            <a:fillRect/>
          </a:stretch>
        </p:blipFill>
        <p:spPr>
          <a:xfrm>
            <a:off x="7634143" y="2376343"/>
            <a:ext cx="294803" cy="294803"/>
          </a:xfrm>
          <a:prstGeom prst="rect">
            <a:avLst/>
          </a:prstGeom>
        </p:spPr>
      </p:pic>
      <p:sp>
        <p:nvSpPr>
          <p:cNvPr id="39" name="Text 33"/>
          <p:cNvSpPr txBox="1"/>
          <p:nvPr/>
        </p:nvSpPr>
        <p:spPr>
          <a:xfrm>
            <a:off x="7498080" y="2944368"/>
            <a:ext cx="1783080" cy="201168"/>
          </a:xfrm>
          <a:prstGeom prst="rect">
            <a:avLst/>
          </a:prstGeom>
          <a:noFill/>
          <a:ln/>
        </p:spPr>
        <p:txBody>
          <a:bodyPr wrap="square" lIns="0" tIns="0" rIns="0" bIns="0" rtlCol="0" anchor="t"/>
          <a:lstStyle/>
          <a:p>
            <a:pPr indent="0" marL="0">
              <a:buNone/>
            </a:pPr>
            <a:r>
              <a:rPr lang="en-US" sz="750" b="1" spc="100" kern="0" dirty="0">
                <a:solidFill>
                  <a:srgbClr val="E06F00"/>
                </a:solidFill>
                <a:latin typeface="Montserrat" pitchFamily="34" charset="0"/>
                <a:ea typeface="Montserrat" pitchFamily="34" charset="-122"/>
                <a:cs typeface="Montserrat" pitchFamily="34" charset="-120"/>
              </a:rPr>
              <a:t>77 326 PESCADORES</a:t>
            </a:r>
            <a:endParaRPr lang="en-US" sz="750" dirty="0"/>
          </a:p>
        </p:txBody>
      </p:sp>
      <p:sp>
        <p:nvSpPr>
          <p:cNvPr id="40" name="Text 34"/>
          <p:cNvSpPr txBox="1"/>
          <p:nvPr/>
        </p:nvSpPr>
        <p:spPr>
          <a:xfrm>
            <a:off x="7498080" y="3163824"/>
            <a:ext cx="1737360" cy="749808"/>
          </a:xfrm>
          <a:prstGeom prst="rect">
            <a:avLst/>
          </a:prstGeom>
          <a:noFill/>
          <a:ln/>
        </p:spPr>
        <p:txBody>
          <a:bodyPr wrap="square" lIns="0" tIns="0" rIns="0" bIns="0" rtlCol="0" anchor="t"/>
          <a:lstStyle/>
          <a:p>
            <a:pPr indent="0" marL="0">
              <a:buNone/>
            </a:pPr>
            <a:r>
              <a:rPr lang="en-US" sz="1150" b="1" dirty="0">
                <a:solidFill>
                  <a:srgbClr val="0E1B3D"/>
                </a:solidFill>
                <a:latin typeface="Montserrat" pitchFamily="34" charset="0"/>
                <a:ea typeface="Montserrat" pitchFamily="34" charset="-122"/>
                <a:cs typeface="Montserrat" pitchFamily="34" charset="-120"/>
              </a:rPr>
              <a:t>Armadores y pescadores artesanales</a:t>
            </a:r>
            <a:endParaRPr lang="en-US" sz="1150" dirty="0"/>
          </a:p>
        </p:txBody>
      </p:sp>
      <p:sp>
        <p:nvSpPr>
          <p:cNvPr id="41" name="Text 35"/>
          <p:cNvSpPr txBox="1"/>
          <p:nvPr/>
        </p:nvSpPr>
        <p:spPr>
          <a:xfrm>
            <a:off x="7498080" y="3931920"/>
            <a:ext cx="914400" cy="182880"/>
          </a:xfrm>
          <a:prstGeom prst="rect">
            <a:avLst/>
          </a:prstGeom>
          <a:noFill/>
          <a:ln/>
        </p:spPr>
        <p:txBody>
          <a:bodyPr wrap="square" lIns="0" tIns="0" rIns="0" bIns="0" rtlCol="0" anchor="t"/>
          <a:lstStyle/>
          <a:p>
            <a:pPr indent="0" marL="0">
              <a:buNone/>
            </a:pPr>
            <a:r>
              <a:rPr lang="en-US" sz="750" b="1" spc="100" kern="0" dirty="0">
                <a:solidFill>
                  <a:srgbClr val="8A96AE"/>
                </a:solidFill>
                <a:latin typeface="Montserrat" pitchFamily="34" charset="0"/>
                <a:ea typeface="Montserrat" pitchFamily="34" charset="-122"/>
                <a:cs typeface="Montserrat" pitchFamily="34" charset="-120"/>
              </a:rPr>
              <a:t>ROL</a:t>
            </a:r>
            <a:endParaRPr lang="en-US" sz="750" dirty="0"/>
          </a:p>
        </p:txBody>
      </p:sp>
      <p:sp>
        <p:nvSpPr>
          <p:cNvPr id="42" name="Text 36"/>
          <p:cNvSpPr txBox="1"/>
          <p:nvPr/>
        </p:nvSpPr>
        <p:spPr>
          <a:xfrm>
            <a:off x="7498080" y="4114800"/>
            <a:ext cx="1737360" cy="64008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Pescadores embarcados en todo el litoral.</a:t>
            </a:r>
            <a:endParaRPr lang="en-US" sz="950" dirty="0"/>
          </a:p>
        </p:txBody>
      </p:sp>
      <p:sp>
        <p:nvSpPr>
          <p:cNvPr id="43" name="Shape 37"/>
          <p:cNvSpPr/>
          <p:nvPr/>
        </p:nvSpPr>
        <p:spPr>
          <a:xfrm>
            <a:off x="7424928" y="4773168"/>
            <a:ext cx="1847088" cy="1280160"/>
          </a:xfrm>
          <a:prstGeom prst="roundRect">
            <a:avLst>
              <a:gd name="adj" fmla="val 7143"/>
            </a:avLst>
          </a:prstGeom>
          <a:solidFill>
            <a:srgbClr val="EAF1FF"/>
          </a:solidFill>
          <a:ln/>
        </p:spPr>
      </p:sp>
      <p:sp>
        <p:nvSpPr>
          <p:cNvPr id="44" name="Text 38"/>
          <p:cNvSpPr txBox="1"/>
          <p:nvPr/>
        </p:nvSpPr>
        <p:spPr>
          <a:xfrm>
            <a:off x="7534656" y="4846320"/>
            <a:ext cx="1371600" cy="182880"/>
          </a:xfrm>
          <a:prstGeom prst="rect">
            <a:avLst/>
          </a:prstGeom>
          <a:noFill/>
          <a:ln/>
        </p:spPr>
        <p:txBody>
          <a:bodyPr wrap="square" lIns="0" tIns="0" rIns="0" bIns="0" rtlCol="0" anchor="t"/>
          <a:lstStyle/>
          <a:p>
            <a:pPr indent="0" marL="0">
              <a:buNone/>
            </a:pPr>
            <a:r>
              <a:rPr lang="en-US" sz="750" b="1" spc="100" kern="0" dirty="0">
                <a:solidFill>
                  <a:srgbClr val="E06F00"/>
                </a:solidFill>
                <a:latin typeface="Montserrat" pitchFamily="34" charset="0"/>
                <a:ea typeface="Montserrat" pitchFamily="34" charset="-122"/>
                <a:cs typeface="Montserrat" pitchFamily="34" charset="-120"/>
              </a:rPr>
              <a:t>BENEFICIO</a:t>
            </a:r>
            <a:endParaRPr lang="en-US" sz="750" dirty="0"/>
          </a:p>
        </p:txBody>
      </p:sp>
      <p:sp>
        <p:nvSpPr>
          <p:cNvPr id="45" name="Text 39"/>
          <p:cNvSpPr txBox="1"/>
          <p:nvPr/>
        </p:nvSpPr>
        <p:spPr>
          <a:xfrm>
            <a:off x="7534656" y="5029200"/>
            <a:ext cx="1645920" cy="98755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Constancia de origen, historial de esfuerzo pesquero y menos tiempo en trámites.</a:t>
            </a:r>
            <a:endParaRPr lang="en-US" sz="950" dirty="0"/>
          </a:p>
        </p:txBody>
      </p:sp>
      <p:sp>
        <p:nvSpPr>
          <p:cNvPr id="46" name="Shape 40"/>
          <p:cNvSpPr/>
          <p:nvPr/>
        </p:nvSpPr>
        <p:spPr>
          <a:xfrm>
            <a:off x="9546336" y="2011680"/>
            <a:ext cx="2103120" cy="416052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7" name="Shape 41"/>
          <p:cNvSpPr/>
          <p:nvPr/>
        </p:nvSpPr>
        <p:spPr>
          <a:xfrm>
            <a:off x="9747504" y="2240280"/>
            <a:ext cx="566928" cy="566928"/>
          </a:xfrm>
          <a:prstGeom prst="roundRect">
            <a:avLst>
              <a:gd name="adj" fmla="val 28000"/>
            </a:avLst>
          </a:prstGeom>
          <a:solidFill>
            <a:srgbClr val="0B9468"/>
          </a:solidFill>
          <a:ln/>
        </p:spPr>
      </p:sp>
      <p:pic>
        <p:nvPicPr>
          <p:cNvPr id="48" name="Image 4" descr="preencoded.png">    </p:cNvPr>
          <p:cNvPicPr>
            <a:picLocks noChangeAspect="1"/>
          </p:cNvPicPr>
          <p:nvPr/>
        </p:nvPicPr>
        <p:blipFill>
          <a:blip r:embed="rId6"/>
          <a:stretch>
            <a:fillRect/>
          </a:stretch>
        </p:blipFill>
        <p:spPr>
          <a:xfrm>
            <a:off x="9883567" y="2376343"/>
            <a:ext cx="294803" cy="294803"/>
          </a:xfrm>
          <a:prstGeom prst="rect">
            <a:avLst/>
          </a:prstGeom>
        </p:spPr>
      </p:pic>
      <p:sp>
        <p:nvSpPr>
          <p:cNvPr id="49" name="Text 42"/>
          <p:cNvSpPr txBox="1"/>
          <p:nvPr/>
        </p:nvSpPr>
        <p:spPr>
          <a:xfrm>
            <a:off x="9747504" y="2944368"/>
            <a:ext cx="1783080" cy="201168"/>
          </a:xfrm>
          <a:prstGeom prst="rect">
            <a:avLst/>
          </a:prstGeom>
          <a:noFill/>
          <a:ln/>
        </p:spPr>
        <p:txBody>
          <a:bodyPr wrap="square" lIns="0" tIns="0" rIns="0" bIns="0" rtlCol="0" anchor="t"/>
          <a:lstStyle/>
          <a:p>
            <a:pPr indent="0" marL="0">
              <a:buNone/>
            </a:pPr>
            <a:r>
              <a:rPr lang="en-US" sz="750" b="1" spc="100" kern="0" dirty="0">
                <a:solidFill>
                  <a:srgbClr val="0B9468"/>
                </a:solidFill>
                <a:latin typeface="Montserrat" pitchFamily="34" charset="0"/>
                <a:ea typeface="Montserrat" pitchFamily="34" charset="-122"/>
                <a:cs typeface="Montserrat" pitchFamily="34" charset="-120"/>
              </a:rPr>
              <a:t>CADENA DE VALOR</a:t>
            </a:r>
            <a:endParaRPr lang="en-US" sz="750" dirty="0"/>
          </a:p>
        </p:txBody>
      </p:sp>
      <p:sp>
        <p:nvSpPr>
          <p:cNvPr id="50" name="Text 43"/>
          <p:cNvSpPr txBox="1"/>
          <p:nvPr/>
        </p:nvSpPr>
        <p:spPr>
          <a:xfrm>
            <a:off x="9747504" y="3163824"/>
            <a:ext cx="1737360" cy="749808"/>
          </a:xfrm>
          <a:prstGeom prst="rect">
            <a:avLst/>
          </a:prstGeom>
          <a:noFill/>
          <a:ln/>
        </p:spPr>
        <p:txBody>
          <a:bodyPr wrap="square" lIns="0" tIns="0" rIns="0" bIns="0" rtlCol="0" anchor="t"/>
          <a:lstStyle/>
          <a:p>
            <a:pPr indent="0" marL="0">
              <a:buNone/>
            </a:pPr>
            <a:r>
              <a:rPr lang="en-US" sz="1150" b="1" dirty="0">
                <a:solidFill>
                  <a:srgbClr val="0E1B3D"/>
                </a:solidFill>
                <a:latin typeface="Montserrat" pitchFamily="34" charset="0"/>
                <a:ea typeface="Montserrat" pitchFamily="34" charset="-122"/>
                <a:cs typeface="Montserrat" pitchFamily="34" charset="-120"/>
              </a:rPr>
              <a:t>Comerciantes, plantas y consumidores</a:t>
            </a:r>
            <a:endParaRPr lang="en-US" sz="1150" dirty="0"/>
          </a:p>
        </p:txBody>
      </p:sp>
      <p:sp>
        <p:nvSpPr>
          <p:cNvPr id="51" name="Text 44"/>
          <p:cNvSpPr txBox="1"/>
          <p:nvPr/>
        </p:nvSpPr>
        <p:spPr>
          <a:xfrm>
            <a:off x="9747504" y="3931920"/>
            <a:ext cx="914400" cy="182880"/>
          </a:xfrm>
          <a:prstGeom prst="rect">
            <a:avLst/>
          </a:prstGeom>
          <a:noFill/>
          <a:ln/>
        </p:spPr>
        <p:txBody>
          <a:bodyPr wrap="square" lIns="0" tIns="0" rIns="0" bIns="0" rtlCol="0" anchor="t"/>
          <a:lstStyle/>
          <a:p>
            <a:pPr indent="0" marL="0">
              <a:buNone/>
            </a:pPr>
            <a:r>
              <a:rPr lang="en-US" sz="750" b="1" spc="100" kern="0" dirty="0">
                <a:solidFill>
                  <a:srgbClr val="8A96AE"/>
                </a:solidFill>
                <a:latin typeface="Montserrat" pitchFamily="34" charset="0"/>
                <a:ea typeface="Montserrat" pitchFamily="34" charset="-122"/>
                <a:cs typeface="Montserrat" pitchFamily="34" charset="-120"/>
              </a:rPr>
              <a:t>ROL</a:t>
            </a:r>
            <a:endParaRPr lang="en-US" sz="750" dirty="0"/>
          </a:p>
        </p:txBody>
      </p:sp>
      <p:sp>
        <p:nvSpPr>
          <p:cNvPr id="52" name="Text 45"/>
          <p:cNvSpPr txBox="1"/>
          <p:nvPr/>
        </p:nvSpPr>
        <p:spPr>
          <a:xfrm>
            <a:off x="9747504" y="4114800"/>
            <a:ext cx="1737360" cy="64008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Compran, procesan y consumen la pesca artesanal.</a:t>
            </a:r>
            <a:endParaRPr lang="en-US" sz="950" dirty="0"/>
          </a:p>
        </p:txBody>
      </p:sp>
      <p:sp>
        <p:nvSpPr>
          <p:cNvPr id="53" name="Shape 46"/>
          <p:cNvSpPr/>
          <p:nvPr/>
        </p:nvSpPr>
        <p:spPr>
          <a:xfrm>
            <a:off x="9674352" y="4773168"/>
            <a:ext cx="1847088" cy="1280160"/>
          </a:xfrm>
          <a:prstGeom prst="roundRect">
            <a:avLst>
              <a:gd name="adj" fmla="val 7143"/>
            </a:avLst>
          </a:prstGeom>
          <a:solidFill>
            <a:srgbClr val="EAF1FF"/>
          </a:solidFill>
          <a:ln/>
        </p:spPr>
      </p:sp>
      <p:sp>
        <p:nvSpPr>
          <p:cNvPr id="54" name="Text 47"/>
          <p:cNvSpPr txBox="1"/>
          <p:nvPr/>
        </p:nvSpPr>
        <p:spPr>
          <a:xfrm>
            <a:off x="9784080" y="4846320"/>
            <a:ext cx="1371600" cy="182880"/>
          </a:xfrm>
          <a:prstGeom prst="rect">
            <a:avLst/>
          </a:prstGeom>
          <a:noFill/>
          <a:ln/>
        </p:spPr>
        <p:txBody>
          <a:bodyPr wrap="square" lIns="0" tIns="0" rIns="0" bIns="0" rtlCol="0" anchor="t"/>
          <a:lstStyle/>
          <a:p>
            <a:pPr indent="0" marL="0">
              <a:buNone/>
            </a:pPr>
            <a:r>
              <a:rPr lang="en-US" sz="750" b="1" spc="100" kern="0" dirty="0">
                <a:solidFill>
                  <a:srgbClr val="0B9468"/>
                </a:solidFill>
                <a:latin typeface="Montserrat" pitchFamily="34" charset="0"/>
                <a:ea typeface="Montserrat" pitchFamily="34" charset="-122"/>
                <a:cs typeface="Montserrat" pitchFamily="34" charset="-120"/>
              </a:rPr>
              <a:t>BENEFICIO</a:t>
            </a:r>
            <a:endParaRPr lang="en-US" sz="750" dirty="0"/>
          </a:p>
        </p:txBody>
      </p:sp>
      <p:sp>
        <p:nvSpPr>
          <p:cNvPr id="55" name="Text 48"/>
          <p:cNvSpPr txBox="1"/>
          <p:nvPr/>
        </p:nvSpPr>
        <p:spPr>
          <a:xfrm>
            <a:off x="9784080" y="5029200"/>
            <a:ext cx="1645920" cy="98755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Prueba verificable de procedencia legal ante inspecciones y mercados exigentes.</a:t>
            </a:r>
            <a:endParaRPr lang="en-US" sz="950" dirty="0"/>
          </a:p>
        </p:txBody>
      </p:sp>
      <p:sp>
        <p:nvSpPr>
          <p:cNvPr id="56" name="Text 49"/>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7" name="Text 50"/>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560674" cy="274320"/>
          </a:xfrm>
          <a:prstGeom prst="roundRect">
            <a:avLst>
              <a:gd name="adj" fmla="val 50000"/>
            </a:avLst>
          </a:prstGeom>
          <a:solidFill>
            <a:srgbClr val="0B5FFF"/>
          </a:solidFill>
          <a:ln/>
        </p:spPr>
      </p:sp>
      <p:sp>
        <p:nvSpPr>
          <p:cNvPr id="3" name="Text 1"/>
          <p:cNvSpPr txBox="1"/>
          <p:nvPr/>
        </p:nvSpPr>
        <p:spPr>
          <a:xfrm>
            <a:off x="548640" y="411480"/>
            <a:ext cx="356067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1.3 PROBLEMA IDENTIFICADO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900" b="1" dirty="0">
                <a:solidFill>
                  <a:srgbClr val="0E1B3D"/>
                </a:solidFill>
                <a:latin typeface="Montserrat" pitchFamily="34" charset="0"/>
                <a:ea typeface="Montserrat" pitchFamily="34" charset="-122"/>
                <a:cs typeface="Montserrat" pitchFamily="34" charset="-120"/>
              </a:rPr>
              <a:t>El desembarque artesanal aún se registra en papel</a:t>
            </a:r>
            <a:endParaRPr lang="en-US" sz="2900" dirty="0"/>
          </a:p>
        </p:txBody>
      </p:sp>
      <p:sp>
        <p:nvSpPr>
          <p:cNvPr id="5" name="Shape 3"/>
          <p:cNvSpPr/>
          <p:nvPr/>
        </p:nvSpPr>
        <p:spPr>
          <a:xfrm>
            <a:off x="548640" y="1554480"/>
            <a:ext cx="11064240" cy="1143000"/>
          </a:xfrm>
          <a:prstGeom prst="roundRect">
            <a:avLst>
              <a:gd name="adj" fmla="val 14400"/>
            </a:avLst>
          </a:prstGeom>
          <a:solidFill>
            <a:srgbClr val="0B1E4F"/>
          </a:solidFill>
          <a:ln/>
          <a:effectLst>
            <a:outerShdw sx="100000" sy="100000" kx="0" ky="0" algn="bl" rotWithShape="0" blurRad="177800" dist="38100" dir="5400000">
              <a:srgbClr val="0B1E4F">
                <a:alpha val="10000"/>
              </a:srgbClr>
            </a:outerShdw>
          </a:effectLst>
        </p:spPr>
      </p:sp>
      <p:sp>
        <p:nvSpPr>
          <p:cNvPr id="6" name="Shape 4"/>
          <p:cNvSpPr/>
          <p:nvPr/>
        </p:nvSpPr>
        <p:spPr>
          <a:xfrm>
            <a:off x="804672" y="1792224"/>
            <a:ext cx="685800" cy="685800"/>
          </a:xfrm>
          <a:prstGeom prst="ellipse">
            <a:avLst/>
          </a:prstGeom>
          <a:solidFill>
            <a:srgbClr val="FF5A5F"/>
          </a:solidFill>
          <a:ln/>
        </p:spPr>
      </p:sp>
      <p:pic>
        <p:nvPicPr>
          <p:cNvPr id="7" name="Image 0" descr="preencoded.png">    </p:cNvPr>
          <p:cNvPicPr>
            <a:picLocks noChangeAspect="1"/>
          </p:cNvPicPr>
          <p:nvPr/>
        </p:nvPicPr>
        <p:blipFill>
          <a:blip r:embed="rId2"/>
          <a:stretch>
            <a:fillRect/>
          </a:stretch>
        </p:blipFill>
        <p:spPr>
          <a:xfrm>
            <a:off x="969264" y="1956816"/>
            <a:ext cx="356616" cy="356616"/>
          </a:xfrm>
          <a:prstGeom prst="rect">
            <a:avLst/>
          </a:prstGeom>
        </p:spPr>
      </p:pic>
      <p:sp>
        <p:nvSpPr>
          <p:cNvPr id="8" name="Text 5"/>
          <p:cNvSpPr txBox="1"/>
          <p:nvPr/>
        </p:nvSpPr>
        <p:spPr>
          <a:xfrm>
            <a:off x="1737360" y="1682496"/>
            <a:ext cx="3657600" cy="219456"/>
          </a:xfrm>
          <a:prstGeom prst="rect">
            <a:avLst/>
          </a:prstGeom>
          <a:noFill/>
          <a:ln/>
        </p:spPr>
        <p:txBody>
          <a:bodyPr wrap="square" lIns="0" tIns="0" rIns="0" bIns="0" rtlCol="0" anchor="t"/>
          <a:lstStyle/>
          <a:p>
            <a:pPr indent="0" marL="0">
              <a:buNone/>
            </a:pPr>
            <a:r>
              <a:rPr lang="en-US" sz="850" b="1" spc="200" kern="0" dirty="0">
                <a:solidFill>
                  <a:srgbClr val="FFC233"/>
                </a:solidFill>
                <a:latin typeface="Montserrat" pitchFamily="34" charset="0"/>
                <a:ea typeface="Montserrat" pitchFamily="34" charset="-122"/>
                <a:cs typeface="Montserrat" pitchFamily="34" charset="-120"/>
              </a:rPr>
              <a:t>PROBLEMA CENTRAL</a:t>
            </a:r>
            <a:endParaRPr lang="en-US" sz="850" dirty="0"/>
          </a:p>
        </p:txBody>
      </p:sp>
      <p:sp>
        <p:nvSpPr>
          <p:cNvPr id="9" name="Text 6"/>
          <p:cNvSpPr txBox="1"/>
          <p:nvPr/>
        </p:nvSpPr>
        <p:spPr>
          <a:xfrm>
            <a:off x="1737360" y="1901952"/>
            <a:ext cx="9692640" cy="749808"/>
          </a:xfrm>
          <a:prstGeom prst="rect">
            <a:avLst/>
          </a:prstGeom>
          <a:noFill/>
          <a:ln/>
        </p:spPr>
        <p:txBody>
          <a:bodyPr wrap="square" lIns="0" tIns="0" rIns="0" bIns="0" rtlCol="0" anchor="t"/>
          <a:lstStyle/>
          <a:p>
            <a:pPr indent="0" marL="0">
              <a:buNone/>
            </a:pPr>
            <a:r>
              <a:rPr lang="en-US" sz="1200" dirty="0">
                <a:solidFill>
                  <a:srgbClr val="FFFFFF"/>
                </a:solidFill>
                <a:latin typeface="Open Sans" pitchFamily="34" charset="0"/>
                <a:ea typeface="Open Sans" pitchFamily="34" charset="-122"/>
                <a:cs typeface="Open Sans" pitchFamily="34" charset="-120"/>
              </a:rPr>
              <a:t>En los desembarcaderos y caletas, el registro del desembarque artesanal —qué especie, cuántos kilos, de qué embarcación, en qué zona, con qué arte y a quién se vendió— es manual, fragmentado y tardío: la información no es confiable, llega tarde y no permite trazar el origen del producto.</a:t>
            </a:r>
            <a:endParaRPr lang="en-US" sz="1200" dirty="0"/>
          </a:p>
        </p:txBody>
      </p:sp>
      <p:sp>
        <p:nvSpPr>
          <p:cNvPr id="10" name="Text 7"/>
          <p:cNvSpPr txBox="1"/>
          <p:nvPr/>
        </p:nvSpPr>
        <p:spPr>
          <a:xfrm>
            <a:off x="548640" y="2907792"/>
            <a:ext cx="5486400" cy="237744"/>
          </a:xfrm>
          <a:prstGeom prst="rect">
            <a:avLst/>
          </a:prstGeom>
          <a:noFill/>
          <a:ln/>
        </p:spPr>
        <p:txBody>
          <a:bodyPr wrap="square" lIns="0" tIns="0" rIns="0" bIns="0" rtlCol="0" anchor="ctr"/>
          <a:lstStyle/>
          <a:p>
            <a:pPr indent="0" marL="0">
              <a:buNone/>
            </a:pPr>
            <a:r>
              <a:rPr lang="en-US" sz="950" b="1" spc="200" kern="0" dirty="0">
                <a:solidFill>
                  <a:srgbClr val="E0393F"/>
                </a:solidFill>
                <a:latin typeface="Montserrat" pitchFamily="34" charset="0"/>
                <a:ea typeface="Montserrat" pitchFamily="34" charset="-122"/>
                <a:cs typeface="Montserrat" pitchFamily="34" charset="-120"/>
              </a:rPr>
              <a:t>LA EVIDENCIA [12]</a:t>
            </a:r>
            <a:endParaRPr lang="en-US" sz="950" dirty="0"/>
          </a:p>
        </p:txBody>
      </p:sp>
      <p:sp>
        <p:nvSpPr>
          <p:cNvPr id="11" name="Shape 8"/>
          <p:cNvSpPr/>
          <p:nvPr/>
        </p:nvSpPr>
        <p:spPr>
          <a:xfrm>
            <a:off x="548640" y="3246120"/>
            <a:ext cx="3584448" cy="1325880"/>
          </a:xfrm>
          <a:prstGeom prst="roundRect">
            <a:avLst>
              <a:gd name="adj" fmla="val 9655"/>
            </a:avLst>
          </a:prstGeom>
          <a:solidFill>
            <a:srgbClr val="FFE9EA"/>
          </a:solidFill>
          <a:ln/>
        </p:spPr>
      </p:sp>
      <p:pic>
        <p:nvPicPr>
          <p:cNvPr id="12" name="Image 1" descr="preencoded.png">    </p:cNvPr>
          <p:cNvPicPr>
            <a:picLocks noChangeAspect="1"/>
          </p:cNvPicPr>
          <p:nvPr/>
        </p:nvPicPr>
        <p:blipFill>
          <a:blip r:embed="rId3"/>
          <a:stretch>
            <a:fillRect/>
          </a:stretch>
        </p:blipFill>
        <p:spPr>
          <a:xfrm>
            <a:off x="3611880" y="3429000"/>
            <a:ext cx="329184" cy="329184"/>
          </a:xfrm>
          <a:prstGeom prst="rect">
            <a:avLst/>
          </a:prstGeom>
        </p:spPr>
      </p:pic>
      <p:sp>
        <p:nvSpPr>
          <p:cNvPr id="13" name="Text 9"/>
          <p:cNvSpPr txBox="1"/>
          <p:nvPr/>
        </p:nvSpPr>
        <p:spPr>
          <a:xfrm>
            <a:off x="768096" y="3374136"/>
            <a:ext cx="2743200" cy="502920"/>
          </a:xfrm>
          <a:prstGeom prst="rect">
            <a:avLst/>
          </a:prstGeom>
          <a:noFill/>
          <a:ln/>
        </p:spPr>
        <p:txBody>
          <a:bodyPr wrap="square" lIns="0" tIns="0" rIns="0" bIns="0" rtlCol="0" anchor="ctr"/>
          <a:lstStyle/>
          <a:p>
            <a:pPr indent="0" marL="0">
              <a:buNone/>
            </a:pPr>
            <a:r>
              <a:rPr lang="en-US" sz="2400" b="1" dirty="0">
                <a:solidFill>
                  <a:srgbClr val="FF5A5F"/>
                </a:solidFill>
                <a:latin typeface="Montserrat" pitchFamily="34" charset="0"/>
                <a:ea typeface="Montserrat" pitchFamily="34" charset="-122"/>
                <a:cs typeface="Montserrat" pitchFamily="34" charset="-120"/>
              </a:rPr>
              <a:t>15 vs 831</a:t>
            </a:r>
            <a:endParaRPr lang="en-US" sz="2400" dirty="0"/>
          </a:p>
        </p:txBody>
      </p:sp>
      <p:sp>
        <p:nvSpPr>
          <p:cNvPr id="14" name="Text 10"/>
          <p:cNvSpPr txBox="1"/>
          <p:nvPr/>
        </p:nvSpPr>
        <p:spPr>
          <a:xfrm>
            <a:off x="768096" y="3904488"/>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titulares artesanales vs. de mayor escala registrados en el SITRAPESCA (30/01/2025)</a:t>
            </a:r>
            <a:endParaRPr lang="en-US" sz="1050" dirty="0"/>
          </a:p>
        </p:txBody>
      </p:sp>
      <p:sp>
        <p:nvSpPr>
          <p:cNvPr id="15" name="Shape 11"/>
          <p:cNvSpPr/>
          <p:nvPr/>
        </p:nvSpPr>
        <p:spPr>
          <a:xfrm>
            <a:off x="4270248" y="3246120"/>
            <a:ext cx="3584448" cy="1325880"/>
          </a:xfrm>
          <a:prstGeom prst="roundRect">
            <a:avLst>
              <a:gd name="adj" fmla="val 9655"/>
            </a:avLst>
          </a:prstGeom>
          <a:solidFill>
            <a:srgbClr val="FFF1DE"/>
          </a:solidFill>
          <a:ln/>
        </p:spPr>
      </p:sp>
      <p:pic>
        <p:nvPicPr>
          <p:cNvPr id="16" name="Image 2" descr="preencoded.png">    </p:cNvPr>
          <p:cNvPicPr>
            <a:picLocks noChangeAspect="1"/>
          </p:cNvPicPr>
          <p:nvPr/>
        </p:nvPicPr>
        <p:blipFill>
          <a:blip r:embed="rId4"/>
          <a:stretch>
            <a:fillRect/>
          </a:stretch>
        </p:blipFill>
        <p:spPr>
          <a:xfrm>
            <a:off x="7333488" y="3429000"/>
            <a:ext cx="329184" cy="329184"/>
          </a:xfrm>
          <a:prstGeom prst="rect">
            <a:avLst/>
          </a:prstGeom>
        </p:spPr>
      </p:pic>
      <p:sp>
        <p:nvSpPr>
          <p:cNvPr id="17" name="Text 12"/>
          <p:cNvSpPr txBox="1"/>
          <p:nvPr/>
        </p:nvSpPr>
        <p:spPr>
          <a:xfrm>
            <a:off x="4489704" y="3374136"/>
            <a:ext cx="2743200" cy="502920"/>
          </a:xfrm>
          <a:prstGeom prst="rect">
            <a:avLst/>
          </a:prstGeom>
          <a:noFill/>
          <a:ln/>
        </p:spPr>
        <p:txBody>
          <a:bodyPr wrap="square" lIns="0" tIns="0" rIns="0" bIns="0" rtlCol="0" anchor="ctr"/>
          <a:lstStyle/>
          <a:p>
            <a:pPr indent="0" marL="0">
              <a:buNone/>
            </a:pPr>
            <a:r>
              <a:rPr lang="en-US" sz="2400" b="1" dirty="0">
                <a:solidFill>
                  <a:srgbClr val="E06F00"/>
                </a:solidFill>
                <a:latin typeface="Montserrat" pitchFamily="34" charset="0"/>
                <a:ea typeface="Montserrat" pitchFamily="34" charset="-122"/>
                <a:cs typeface="Montserrat" pitchFamily="34" charset="-120"/>
              </a:rPr>
              <a:t>78 de 85</a:t>
            </a:r>
            <a:endParaRPr lang="en-US" sz="2400" dirty="0"/>
          </a:p>
        </p:txBody>
      </p:sp>
      <p:sp>
        <p:nvSpPr>
          <p:cNvPr id="18" name="Text 13"/>
          <p:cNvSpPr txBox="1"/>
          <p:nvPr/>
        </p:nvSpPr>
        <p:spPr>
          <a:xfrm>
            <a:off x="4489704" y="3904488"/>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armadores, pescadores y comerciantes entrevistados nunca oyeron del sistema</a:t>
            </a:r>
            <a:endParaRPr lang="en-US" sz="1050" dirty="0"/>
          </a:p>
        </p:txBody>
      </p:sp>
      <p:sp>
        <p:nvSpPr>
          <p:cNvPr id="19" name="Shape 14"/>
          <p:cNvSpPr/>
          <p:nvPr/>
        </p:nvSpPr>
        <p:spPr>
          <a:xfrm>
            <a:off x="7991856" y="3246120"/>
            <a:ext cx="3584448" cy="1325880"/>
          </a:xfrm>
          <a:prstGeom prst="roundRect">
            <a:avLst>
              <a:gd name="adj" fmla="val 9655"/>
            </a:avLst>
          </a:prstGeom>
          <a:solidFill>
            <a:srgbClr val="EFEBFF"/>
          </a:solidFill>
          <a:ln/>
        </p:spPr>
      </p:sp>
      <p:pic>
        <p:nvPicPr>
          <p:cNvPr id="20" name="Image 3" descr="preencoded.png">    </p:cNvPr>
          <p:cNvPicPr>
            <a:picLocks noChangeAspect="1"/>
          </p:cNvPicPr>
          <p:nvPr/>
        </p:nvPicPr>
        <p:blipFill>
          <a:blip r:embed="rId5"/>
          <a:stretch>
            <a:fillRect/>
          </a:stretch>
        </p:blipFill>
        <p:spPr>
          <a:xfrm>
            <a:off x="11055096" y="3429000"/>
            <a:ext cx="329184" cy="329184"/>
          </a:xfrm>
          <a:prstGeom prst="rect">
            <a:avLst/>
          </a:prstGeom>
        </p:spPr>
      </p:pic>
      <p:sp>
        <p:nvSpPr>
          <p:cNvPr id="21" name="Text 15"/>
          <p:cNvSpPr txBox="1"/>
          <p:nvPr/>
        </p:nvSpPr>
        <p:spPr>
          <a:xfrm>
            <a:off x="8211312" y="3374136"/>
            <a:ext cx="2743200" cy="502920"/>
          </a:xfrm>
          <a:prstGeom prst="rect">
            <a:avLst/>
          </a:prstGeom>
          <a:noFill/>
          <a:ln/>
        </p:spPr>
        <p:txBody>
          <a:bodyPr wrap="square" lIns="0" tIns="0" rIns="0" bIns="0" rtlCol="0" anchor="ctr"/>
          <a:lstStyle/>
          <a:p>
            <a:pPr indent="0" marL="0">
              <a:buNone/>
            </a:pPr>
            <a:r>
              <a:rPr lang="en-US" sz="2400" b="1" dirty="0">
                <a:solidFill>
                  <a:srgbClr val="7B5CFF"/>
                </a:solidFill>
                <a:latin typeface="Montserrat" pitchFamily="34" charset="0"/>
                <a:ea typeface="Montserrat" pitchFamily="34" charset="-122"/>
                <a:cs typeface="Montserrat" pitchFamily="34" charset="-120"/>
              </a:rPr>
              <a:t>1–2 h</a:t>
            </a:r>
            <a:endParaRPr lang="en-US" sz="2400" dirty="0"/>
          </a:p>
        </p:txBody>
      </p:sp>
      <p:sp>
        <p:nvSpPr>
          <p:cNvPr id="22" name="Text 16"/>
          <p:cNvSpPr txBox="1"/>
          <p:nvPr/>
        </p:nvSpPr>
        <p:spPr>
          <a:xfrm>
            <a:off x="8211312" y="3904488"/>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puede tomar presentar o corregir documentos ante el fiscalizador</a:t>
            </a:r>
            <a:endParaRPr lang="en-US" sz="1050" dirty="0"/>
          </a:p>
        </p:txBody>
      </p:sp>
      <p:sp>
        <p:nvSpPr>
          <p:cNvPr id="23" name="Shape 17"/>
          <p:cNvSpPr/>
          <p:nvPr/>
        </p:nvSpPr>
        <p:spPr>
          <a:xfrm>
            <a:off x="548640" y="4727448"/>
            <a:ext cx="3584448" cy="1325880"/>
          </a:xfrm>
          <a:prstGeom prst="roundRect">
            <a:avLst>
              <a:gd name="adj" fmla="val 9655"/>
            </a:avLst>
          </a:prstGeom>
          <a:solidFill>
            <a:srgbClr val="EAF1FF"/>
          </a:solidFill>
          <a:ln/>
        </p:spPr>
      </p:sp>
      <p:pic>
        <p:nvPicPr>
          <p:cNvPr id="24" name="Image 4" descr="preencoded.png">    </p:cNvPr>
          <p:cNvPicPr>
            <a:picLocks noChangeAspect="1"/>
          </p:cNvPicPr>
          <p:nvPr/>
        </p:nvPicPr>
        <p:blipFill>
          <a:blip r:embed="rId6"/>
          <a:stretch>
            <a:fillRect/>
          </a:stretch>
        </p:blipFill>
        <p:spPr>
          <a:xfrm>
            <a:off x="3611880" y="4910328"/>
            <a:ext cx="329184" cy="329184"/>
          </a:xfrm>
          <a:prstGeom prst="rect">
            <a:avLst/>
          </a:prstGeom>
        </p:spPr>
      </p:pic>
      <p:sp>
        <p:nvSpPr>
          <p:cNvPr id="25" name="Text 18"/>
          <p:cNvSpPr txBox="1"/>
          <p:nvPr/>
        </p:nvSpPr>
        <p:spPr>
          <a:xfrm>
            <a:off x="768096" y="4855464"/>
            <a:ext cx="2743200" cy="502920"/>
          </a:xfrm>
          <a:prstGeom prst="rect">
            <a:avLst/>
          </a:prstGeom>
          <a:noFill/>
          <a:ln/>
        </p:spPr>
        <p:txBody>
          <a:bodyPr wrap="square" lIns="0" tIns="0" rIns="0" bIns="0" rtlCol="0" anchor="ctr"/>
          <a:lstStyle/>
          <a:p>
            <a:pPr indent="0" marL="0">
              <a:buNone/>
            </a:pPr>
            <a:r>
              <a:rPr lang="en-US" sz="2400" b="1" dirty="0">
                <a:solidFill>
                  <a:srgbClr val="0B5FFF"/>
                </a:solidFill>
                <a:latin typeface="Montserrat" pitchFamily="34" charset="0"/>
                <a:ea typeface="Montserrat" pitchFamily="34" charset="-122"/>
                <a:cs typeface="Montserrat" pitchFamily="34" charset="-120"/>
              </a:rPr>
              <a:t>+29,1 %</a:t>
            </a:r>
            <a:endParaRPr lang="en-US" sz="2400" dirty="0"/>
          </a:p>
        </p:txBody>
      </p:sp>
      <p:sp>
        <p:nvSpPr>
          <p:cNvPr id="26" name="Text 19"/>
          <p:cNvSpPr txBox="1"/>
          <p:nvPr/>
        </p:nvSpPr>
        <p:spPr>
          <a:xfrm>
            <a:off x="768096" y="5385816"/>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creció la flota artesanal entre la ENEPA III y la ENEPA IV (pescadores: +14,7 %) [5]</a:t>
            </a:r>
            <a:endParaRPr lang="en-US" sz="1050" dirty="0"/>
          </a:p>
        </p:txBody>
      </p:sp>
      <p:sp>
        <p:nvSpPr>
          <p:cNvPr id="27" name="Shape 20"/>
          <p:cNvSpPr/>
          <p:nvPr/>
        </p:nvSpPr>
        <p:spPr>
          <a:xfrm>
            <a:off x="4270248" y="4727448"/>
            <a:ext cx="3584448" cy="1325880"/>
          </a:xfrm>
          <a:prstGeom prst="roundRect">
            <a:avLst>
              <a:gd name="adj" fmla="val 9655"/>
            </a:avLst>
          </a:prstGeom>
          <a:solidFill>
            <a:srgbClr val="E0F8FB"/>
          </a:solidFill>
          <a:ln/>
        </p:spPr>
      </p:sp>
      <p:pic>
        <p:nvPicPr>
          <p:cNvPr id="28" name="Image 5" descr="preencoded.png">    </p:cNvPr>
          <p:cNvPicPr>
            <a:picLocks noChangeAspect="1"/>
          </p:cNvPicPr>
          <p:nvPr/>
        </p:nvPicPr>
        <p:blipFill>
          <a:blip r:embed="rId7"/>
          <a:stretch>
            <a:fillRect/>
          </a:stretch>
        </p:blipFill>
        <p:spPr>
          <a:xfrm>
            <a:off x="7333488" y="4910328"/>
            <a:ext cx="329184" cy="329184"/>
          </a:xfrm>
          <a:prstGeom prst="rect">
            <a:avLst/>
          </a:prstGeom>
        </p:spPr>
      </p:pic>
      <p:sp>
        <p:nvSpPr>
          <p:cNvPr id="29" name="Text 21"/>
          <p:cNvSpPr txBox="1"/>
          <p:nvPr/>
        </p:nvSpPr>
        <p:spPr>
          <a:xfrm>
            <a:off x="4489704" y="4855464"/>
            <a:ext cx="2743200" cy="502920"/>
          </a:xfrm>
          <a:prstGeom prst="rect">
            <a:avLst/>
          </a:prstGeom>
          <a:noFill/>
          <a:ln/>
        </p:spPr>
        <p:txBody>
          <a:bodyPr wrap="square" lIns="0" tIns="0" rIns="0" bIns="0" rtlCol="0" anchor="ctr"/>
          <a:lstStyle/>
          <a:p>
            <a:pPr indent="0" marL="0">
              <a:buNone/>
            </a:pPr>
            <a:r>
              <a:rPr lang="en-US" sz="2400" b="1" dirty="0">
                <a:solidFill>
                  <a:srgbClr val="008FB0"/>
                </a:solidFill>
                <a:latin typeface="Montserrat" pitchFamily="34" charset="0"/>
                <a:ea typeface="Montserrat" pitchFamily="34" charset="-122"/>
                <a:cs typeface="Montserrat" pitchFamily="34" charset="-120"/>
              </a:rPr>
              <a:t>&lt; 60 %</a:t>
            </a:r>
            <a:endParaRPr lang="en-US" sz="2400" dirty="0"/>
          </a:p>
        </p:txBody>
      </p:sp>
      <p:sp>
        <p:nvSpPr>
          <p:cNvPr id="30" name="Text 22"/>
          <p:cNvSpPr txBox="1"/>
          <p:nvPr/>
        </p:nvSpPr>
        <p:spPr>
          <a:xfrm>
            <a:off x="4489704" y="5385816"/>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 embarcaciones elegibles había completado su formalización en 2025 [6]</a:t>
            </a:r>
            <a:endParaRPr lang="en-US" sz="1050" dirty="0"/>
          </a:p>
        </p:txBody>
      </p:sp>
      <p:sp>
        <p:nvSpPr>
          <p:cNvPr id="31" name="Shape 23"/>
          <p:cNvSpPr/>
          <p:nvPr/>
        </p:nvSpPr>
        <p:spPr>
          <a:xfrm>
            <a:off x="7991856" y="4727448"/>
            <a:ext cx="3584448" cy="1325880"/>
          </a:xfrm>
          <a:prstGeom prst="roundRect">
            <a:avLst>
              <a:gd name="adj" fmla="val 9655"/>
            </a:avLst>
          </a:prstGeom>
          <a:solidFill>
            <a:srgbClr val="E2F8EF"/>
          </a:solidFill>
          <a:ln/>
        </p:spPr>
      </p:sp>
      <p:pic>
        <p:nvPicPr>
          <p:cNvPr id="32" name="Image 6" descr="preencoded.png">    </p:cNvPr>
          <p:cNvPicPr>
            <a:picLocks noChangeAspect="1"/>
          </p:cNvPicPr>
          <p:nvPr/>
        </p:nvPicPr>
        <p:blipFill>
          <a:blip r:embed="rId8"/>
          <a:stretch>
            <a:fillRect/>
          </a:stretch>
        </p:blipFill>
        <p:spPr>
          <a:xfrm>
            <a:off x="11055096" y="4910328"/>
            <a:ext cx="329184" cy="329184"/>
          </a:xfrm>
          <a:prstGeom prst="rect">
            <a:avLst/>
          </a:prstGeom>
        </p:spPr>
      </p:pic>
      <p:sp>
        <p:nvSpPr>
          <p:cNvPr id="33" name="Text 24"/>
          <p:cNvSpPr txBox="1"/>
          <p:nvPr/>
        </p:nvSpPr>
        <p:spPr>
          <a:xfrm>
            <a:off x="8211312" y="4855464"/>
            <a:ext cx="2743200" cy="502920"/>
          </a:xfrm>
          <a:prstGeom prst="rect">
            <a:avLst/>
          </a:prstGeom>
          <a:noFill/>
          <a:ln/>
        </p:spPr>
        <p:txBody>
          <a:bodyPr wrap="square" lIns="0" tIns="0" rIns="0" bIns="0" rtlCol="0" anchor="ctr"/>
          <a:lstStyle/>
          <a:p>
            <a:pPr indent="0" marL="0">
              <a:buNone/>
            </a:pPr>
            <a:r>
              <a:rPr lang="en-US" sz="2400" b="1" dirty="0">
                <a:solidFill>
                  <a:srgbClr val="0B9468"/>
                </a:solidFill>
                <a:latin typeface="Montserrat" pitchFamily="34" charset="0"/>
                <a:ea typeface="Montserrat" pitchFamily="34" charset="-122"/>
                <a:cs typeface="Montserrat" pitchFamily="34" charset="-120"/>
              </a:rPr>
              <a:t>Correo + Excel</a:t>
            </a:r>
            <a:endParaRPr lang="en-US" sz="2400" dirty="0"/>
          </a:p>
        </p:txBody>
      </p:sp>
      <p:sp>
        <p:nvSpPr>
          <p:cNvPr id="34" name="Text 25"/>
          <p:cNvSpPr txBox="1"/>
          <p:nvPr/>
        </p:nvSpPr>
        <p:spPr>
          <a:xfrm>
            <a:off x="8211312" y="5385816"/>
            <a:ext cx="3200400" cy="603504"/>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el acceso exige cuenta por correo y declaración jurada impresa y escaneada</a:t>
            </a:r>
            <a:endParaRPr lang="en-US" sz="1050" dirty="0"/>
          </a:p>
        </p:txBody>
      </p:sp>
      <p:sp>
        <p:nvSpPr>
          <p:cNvPr id="35" name="Text 2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36" name="Text 2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305556" cy="274320"/>
          </a:xfrm>
          <a:prstGeom prst="roundRect">
            <a:avLst>
              <a:gd name="adj" fmla="val 50000"/>
            </a:avLst>
          </a:prstGeom>
          <a:solidFill>
            <a:srgbClr val="0B5FFF"/>
          </a:solidFill>
          <a:ln/>
        </p:spPr>
      </p:sp>
      <p:sp>
        <p:nvSpPr>
          <p:cNvPr id="3" name="Text 1"/>
          <p:cNvSpPr txBox="1"/>
          <p:nvPr/>
        </p:nvSpPr>
        <p:spPr>
          <a:xfrm>
            <a:off x="548640" y="411480"/>
            <a:ext cx="330555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1.3 ÁRBOL DE PROBLEMAS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Causas, problema y consecuencias</a:t>
            </a:r>
            <a:endParaRPr lang="en-US" sz="3000" dirty="0"/>
          </a:p>
        </p:txBody>
      </p:sp>
      <p:sp>
        <p:nvSpPr>
          <p:cNvPr id="5" name="Shape 3"/>
          <p:cNvSpPr/>
          <p:nvPr/>
        </p:nvSpPr>
        <p:spPr>
          <a:xfrm>
            <a:off x="548640" y="1600200"/>
            <a:ext cx="6583680" cy="1097280"/>
          </a:xfrm>
          <a:prstGeom prst="roundRect">
            <a:avLst>
              <a:gd name="adj" fmla="val 11667"/>
            </a:avLst>
          </a:prstGeom>
          <a:solidFill>
            <a:srgbClr val="FFE9EA"/>
          </a:solidFill>
          <a:ln w="15875">
            <a:solidFill>
              <a:srgbClr val="FF5A5F"/>
            </a:solidFill>
            <a:prstDash val="solid"/>
          </a:ln>
        </p:spPr>
      </p:sp>
      <p:sp>
        <p:nvSpPr>
          <p:cNvPr id="6" name="Shape 4"/>
          <p:cNvSpPr/>
          <p:nvPr/>
        </p:nvSpPr>
        <p:spPr>
          <a:xfrm>
            <a:off x="777240" y="1810512"/>
            <a:ext cx="658368" cy="658368"/>
          </a:xfrm>
          <a:prstGeom prst="ellipse">
            <a:avLst/>
          </a:prstGeom>
          <a:solidFill>
            <a:srgbClr val="FF5A5F"/>
          </a:solidFill>
          <a:ln/>
        </p:spPr>
      </p:sp>
      <p:pic>
        <p:nvPicPr>
          <p:cNvPr id="7" name="Image 0" descr="preencoded.png">    </p:cNvPr>
          <p:cNvPicPr>
            <a:picLocks noChangeAspect="1"/>
          </p:cNvPicPr>
          <p:nvPr/>
        </p:nvPicPr>
        <p:blipFill>
          <a:blip r:embed="rId2"/>
          <a:stretch>
            <a:fillRect/>
          </a:stretch>
        </p:blipFill>
        <p:spPr>
          <a:xfrm>
            <a:off x="935248" y="1968520"/>
            <a:ext cx="342351" cy="342351"/>
          </a:xfrm>
          <a:prstGeom prst="rect">
            <a:avLst/>
          </a:prstGeom>
        </p:spPr>
      </p:pic>
      <p:sp>
        <p:nvSpPr>
          <p:cNvPr id="8" name="Text 5"/>
          <p:cNvSpPr txBox="1"/>
          <p:nvPr/>
        </p:nvSpPr>
        <p:spPr>
          <a:xfrm>
            <a:off x="1645920" y="1719072"/>
            <a:ext cx="2743200" cy="219456"/>
          </a:xfrm>
          <a:prstGeom prst="rect">
            <a:avLst/>
          </a:prstGeom>
          <a:noFill/>
          <a:ln/>
        </p:spPr>
        <p:txBody>
          <a:bodyPr wrap="square" lIns="0" tIns="0" rIns="0" bIns="0" rtlCol="0" anchor="t"/>
          <a:lstStyle/>
          <a:p>
            <a:pPr indent="0" marL="0">
              <a:buNone/>
            </a:pPr>
            <a:r>
              <a:rPr lang="en-US" sz="900" b="1" spc="150" kern="0" dirty="0">
                <a:solidFill>
                  <a:srgbClr val="E0393F"/>
                </a:solidFill>
                <a:latin typeface="Montserrat" pitchFamily="34" charset="0"/>
                <a:ea typeface="Montserrat" pitchFamily="34" charset="-122"/>
                <a:cs typeface="Montserrat" pitchFamily="34" charset="-120"/>
              </a:rPr>
              <a:t>EFECTO FINAL</a:t>
            </a:r>
            <a:endParaRPr lang="en-US" sz="900" dirty="0"/>
          </a:p>
        </p:txBody>
      </p:sp>
      <p:sp>
        <p:nvSpPr>
          <p:cNvPr id="9" name="Text 6"/>
          <p:cNvSpPr txBox="1"/>
          <p:nvPr/>
        </p:nvSpPr>
        <p:spPr>
          <a:xfrm>
            <a:off x="1645920" y="1938528"/>
            <a:ext cx="5303520" cy="685800"/>
          </a:xfrm>
          <a:prstGeom prst="rect">
            <a:avLst/>
          </a:prstGeom>
          <a:noFill/>
          <a:ln/>
        </p:spPr>
        <p:txBody>
          <a:bodyPr wrap="square" lIns="0" tIns="0" rIns="0" bIns="0" rtlCol="0" anchor="t"/>
          <a:lstStyle/>
          <a:p>
            <a:pPr indent="0" marL="0">
              <a:buNone/>
            </a:pPr>
            <a:r>
              <a:rPr lang="en-US" sz="1200" dirty="0">
                <a:solidFill>
                  <a:srgbClr val="0E1B3D"/>
                </a:solidFill>
                <a:latin typeface="Open Sans" pitchFamily="34" charset="0"/>
                <a:ea typeface="Open Sans" pitchFamily="34" charset="-122"/>
                <a:cs typeface="Open Sans" pitchFamily="34" charset="-120"/>
              </a:rPr>
              <a:t>Riesgo para la sostenibilidad de los recursos hidrobiológicos y para los ingresos de las comunidades pesqueras artesanales.</a:t>
            </a:r>
            <a:endParaRPr lang="en-US" sz="1200" dirty="0"/>
          </a:p>
        </p:txBody>
      </p:sp>
      <p:sp>
        <p:nvSpPr>
          <p:cNvPr id="10" name="Shape 7"/>
          <p:cNvSpPr/>
          <p:nvPr/>
        </p:nvSpPr>
        <p:spPr>
          <a:xfrm>
            <a:off x="3774643" y="2743200"/>
            <a:ext cx="131674" cy="131674"/>
          </a:xfrm>
          <a:prstGeom prst="triangle">
            <a:avLst/>
          </a:prstGeom>
          <a:solidFill>
            <a:srgbClr val="0B1E4F"/>
          </a:solidFill>
          <a:ln/>
        </p:spPr>
      </p:sp>
      <p:sp>
        <p:nvSpPr>
          <p:cNvPr id="11" name="Shape 8"/>
          <p:cNvSpPr/>
          <p:nvPr/>
        </p:nvSpPr>
        <p:spPr>
          <a:xfrm flipV="1">
            <a:off x="3840480" y="2861706"/>
            <a:ext cx="914" cy="384414"/>
          </a:xfrm>
          <a:prstGeom prst="line">
            <a:avLst/>
          </a:prstGeom>
          <a:noFill/>
          <a:ln w="25400">
            <a:solidFill>
              <a:srgbClr val="0B1E4F"/>
            </a:solidFill>
            <a:prstDash val="solid"/>
          </a:ln>
        </p:spPr>
      </p:sp>
      <p:sp>
        <p:nvSpPr>
          <p:cNvPr id="12" name="Shape 9"/>
          <p:cNvSpPr/>
          <p:nvPr/>
        </p:nvSpPr>
        <p:spPr>
          <a:xfrm>
            <a:off x="1005840" y="3246120"/>
            <a:ext cx="5669280" cy="1188720"/>
          </a:xfrm>
          <a:prstGeom prst="roundRect">
            <a:avLst>
              <a:gd name="adj" fmla="val 10769"/>
            </a:avLst>
          </a:prstGeom>
          <a:solidFill>
            <a:srgbClr val="0B1E4F"/>
          </a:solidFill>
          <a:ln/>
          <a:effectLst>
            <a:outerShdw sx="100000" sy="100000" kx="0" ky="0" algn="bl" rotWithShape="0" blurRad="177800" dist="38100" dir="5400000">
              <a:srgbClr val="0B1E4F">
                <a:alpha val="10000"/>
              </a:srgbClr>
            </a:outerShdw>
          </a:effectLst>
        </p:spPr>
      </p:sp>
      <p:sp>
        <p:nvSpPr>
          <p:cNvPr id="13" name="Shape 10"/>
          <p:cNvSpPr/>
          <p:nvPr/>
        </p:nvSpPr>
        <p:spPr>
          <a:xfrm>
            <a:off x="1234440" y="3502152"/>
            <a:ext cx="658368" cy="658368"/>
          </a:xfrm>
          <a:prstGeom prst="ellipse">
            <a:avLst/>
          </a:prstGeom>
          <a:solidFill>
            <a:srgbClr val="0B5FFF"/>
          </a:solidFill>
          <a:ln/>
        </p:spPr>
      </p:sp>
      <p:pic>
        <p:nvPicPr>
          <p:cNvPr id="14" name="Image 1" descr="preencoded.png">    </p:cNvPr>
          <p:cNvPicPr>
            <a:picLocks noChangeAspect="1"/>
          </p:cNvPicPr>
          <p:nvPr/>
        </p:nvPicPr>
        <p:blipFill>
          <a:blip r:embed="rId3"/>
          <a:stretch>
            <a:fillRect/>
          </a:stretch>
        </p:blipFill>
        <p:spPr>
          <a:xfrm>
            <a:off x="1392448" y="3660160"/>
            <a:ext cx="342351" cy="342351"/>
          </a:xfrm>
          <a:prstGeom prst="rect">
            <a:avLst/>
          </a:prstGeom>
        </p:spPr>
      </p:pic>
      <p:sp>
        <p:nvSpPr>
          <p:cNvPr id="15" name="Text 11"/>
          <p:cNvSpPr txBox="1"/>
          <p:nvPr/>
        </p:nvSpPr>
        <p:spPr>
          <a:xfrm>
            <a:off x="2103120" y="3364992"/>
            <a:ext cx="2743200" cy="219456"/>
          </a:xfrm>
          <a:prstGeom prst="rect">
            <a:avLst/>
          </a:prstGeom>
          <a:noFill/>
          <a:ln/>
        </p:spPr>
        <p:txBody>
          <a:bodyPr wrap="square" lIns="0" tIns="0" rIns="0" bIns="0" rtlCol="0" anchor="t"/>
          <a:lstStyle/>
          <a:p>
            <a:pPr indent="0" marL="0">
              <a:buNone/>
            </a:pPr>
            <a:r>
              <a:rPr lang="en-US" sz="900" b="1" spc="150" kern="0" dirty="0">
                <a:solidFill>
                  <a:srgbClr val="FFC233"/>
                </a:solidFill>
                <a:latin typeface="Montserrat" pitchFamily="34" charset="0"/>
                <a:ea typeface="Montserrat" pitchFamily="34" charset="-122"/>
                <a:cs typeface="Montserrat" pitchFamily="34" charset="-120"/>
              </a:rPr>
              <a:t>PROBLEMA CENTRAL</a:t>
            </a:r>
            <a:endParaRPr lang="en-US" sz="900" dirty="0"/>
          </a:p>
        </p:txBody>
      </p:sp>
      <p:sp>
        <p:nvSpPr>
          <p:cNvPr id="16" name="Text 12"/>
          <p:cNvSpPr txBox="1"/>
          <p:nvPr/>
        </p:nvSpPr>
        <p:spPr>
          <a:xfrm>
            <a:off x="2103120" y="3584448"/>
            <a:ext cx="4434840" cy="777240"/>
          </a:xfrm>
          <a:prstGeom prst="rect">
            <a:avLst/>
          </a:prstGeom>
          <a:noFill/>
          <a:ln/>
        </p:spPr>
        <p:txBody>
          <a:bodyPr wrap="square" lIns="0" tIns="0" rIns="0" bIns="0" rtlCol="0" anchor="t"/>
          <a:lstStyle/>
          <a:p>
            <a:pPr indent="0" marL="0">
              <a:buNone/>
            </a:pPr>
            <a:r>
              <a:rPr lang="en-US" sz="1200" dirty="0">
                <a:solidFill>
                  <a:srgbClr val="FFFFFF"/>
                </a:solidFill>
                <a:latin typeface="Open Sans" pitchFamily="34" charset="0"/>
                <a:ea typeface="Open Sans" pitchFamily="34" charset="-122"/>
                <a:cs typeface="Open Sans" pitchFamily="34" charset="-120"/>
              </a:rPr>
              <a:t>El registro del desembarque de la pesca artesanal es manual, fragmentado y tardío, por lo que no es confiable ni trazable.</a:t>
            </a:r>
            <a:endParaRPr lang="en-US" sz="1200" dirty="0"/>
          </a:p>
        </p:txBody>
      </p:sp>
      <p:sp>
        <p:nvSpPr>
          <p:cNvPr id="17" name="Shape 13"/>
          <p:cNvSpPr/>
          <p:nvPr/>
        </p:nvSpPr>
        <p:spPr>
          <a:xfrm>
            <a:off x="2083003" y="4480560"/>
            <a:ext cx="131674" cy="131674"/>
          </a:xfrm>
          <a:prstGeom prst="triangle">
            <a:avLst/>
          </a:prstGeom>
          <a:solidFill>
            <a:srgbClr val="0B1E4F"/>
          </a:solidFill>
          <a:ln/>
        </p:spPr>
      </p:sp>
      <p:sp>
        <p:nvSpPr>
          <p:cNvPr id="18" name="Shape 14"/>
          <p:cNvSpPr/>
          <p:nvPr/>
        </p:nvSpPr>
        <p:spPr>
          <a:xfrm flipV="1">
            <a:off x="2148840" y="4599066"/>
            <a:ext cx="914" cy="384414"/>
          </a:xfrm>
          <a:prstGeom prst="line">
            <a:avLst/>
          </a:prstGeom>
          <a:noFill/>
          <a:ln w="25400">
            <a:solidFill>
              <a:srgbClr val="0B1E4F"/>
            </a:solidFill>
            <a:prstDash val="solid"/>
          </a:ln>
        </p:spPr>
      </p:sp>
      <p:sp>
        <p:nvSpPr>
          <p:cNvPr id="19" name="Shape 15"/>
          <p:cNvSpPr/>
          <p:nvPr/>
        </p:nvSpPr>
        <p:spPr>
          <a:xfrm>
            <a:off x="5466283" y="4480560"/>
            <a:ext cx="131674" cy="131674"/>
          </a:xfrm>
          <a:prstGeom prst="triangle">
            <a:avLst/>
          </a:prstGeom>
          <a:solidFill>
            <a:srgbClr val="0B1E4F"/>
          </a:solidFill>
          <a:ln/>
        </p:spPr>
      </p:sp>
      <p:sp>
        <p:nvSpPr>
          <p:cNvPr id="20" name="Shape 16"/>
          <p:cNvSpPr/>
          <p:nvPr/>
        </p:nvSpPr>
        <p:spPr>
          <a:xfrm flipV="1">
            <a:off x="5532120" y="4599066"/>
            <a:ext cx="914" cy="384414"/>
          </a:xfrm>
          <a:prstGeom prst="line">
            <a:avLst/>
          </a:prstGeom>
          <a:noFill/>
          <a:ln w="25400">
            <a:solidFill>
              <a:srgbClr val="0B1E4F"/>
            </a:solidFill>
            <a:prstDash val="solid"/>
          </a:ln>
        </p:spPr>
      </p:sp>
      <p:sp>
        <p:nvSpPr>
          <p:cNvPr id="21" name="Shape 17"/>
          <p:cNvSpPr/>
          <p:nvPr/>
        </p:nvSpPr>
        <p:spPr>
          <a:xfrm>
            <a:off x="548640" y="4983480"/>
            <a:ext cx="3200400" cy="1234440"/>
          </a:xfrm>
          <a:prstGeom prst="roundRect">
            <a:avLst>
              <a:gd name="adj" fmla="val 10370"/>
            </a:avLst>
          </a:prstGeom>
          <a:solidFill>
            <a:srgbClr val="EAF1FF"/>
          </a:solidFill>
          <a:ln w="15875">
            <a:solidFill>
              <a:srgbClr val="0B5FFF"/>
            </a:solidFill>
            <a:prstDash val="solid"/>
          </a:ln>
        </p:spPr>
      </p:sp>
      <p:sp>
        <p:nvSpPr>
          <p:cNvPr id="22" name="Shape 18"/>
          <p:cNvSpPr/>
          <p:nvPr/>
        </p:nvSpPr>
        <p:spPr>
          <a:xfrm>
            <a:off x="731520" y="5166360"/>
            <a:ext cx="548640" cy="548640"/>
          </a:xfrm>
          <a:prstGeom prst="ellipse">
            <a:avLst/>
          </a:prstGeom>
          <a:solidFill>
            <a:srgbClr val="FFFFFF"/>
          </a:solidFill>
          <a:ln w="12700">
            <a:solidFill>
              <a:srgbClr val="0B5FFF"/>
            </a:solidFill>
            <a:prstDash val="solid"/>
          </a:ln>
        </p:spPr>
      </p:sp>
      <p:pic>
        <p:nvPicPr>
          <p:cNvPr id="23" name="Image 2" descr="preencoded.png">    </p:cNvPr>
          <p:cNvPicPr>
            <a:picLocks noChangeAspect="1"/>
          </p:cNvPicPr>
          <p:nvPr/>
        </p:nvPicPr>
        <p:blipFill>
          <a:blip r:embed="rId4"/>
          <a:stretch>
            <a:fillRect/>
          </a:stretch>
        </p:blipFill>
        <p:spPr>
          <a:xfrm>
            <a:off x="863194" y="5298034"/>
            <a:ext cx="285293" cy="285293"/>
          </a:xfrm>
          <a:prstGeom prst="rect">
            <a:avLst/>
          </a:prstGeom>
        </p:spPr>
      </p:pic>
      <p:sp>
        <p:nvSpPr>
          <p:cNvPr id="24" name="Text 19"/>
          <p:cNvSpPr txBox="1"/>
          <p:nvPr/>
        </p:nvSpPr>
        <p:spPr>
          <a:xfrm>
            <a:off x="1417320" y="5102352"/>
            <a:ext cx="2286000" cy="274320"/>
          </a:xfrm>
          <a:prstGeom prst="rect">
            <a:avLst/>
          </a:prstGeom>
          <a:noFill/>
          <a:ln/>
        </p:spPr>
        <p:txBody>
          <a:bodyPr wrap="square" lIns="0" tIns="0" rIns="0" bIns="0" rtlCol="0" anchor="ctr"/>
          <a:lstStyle/>
          <a:p>
            <a:pPr indent="0" marL="0">
              <a:buNone/>
            </a:pPr>
            <a:r>
              <a:rPr lang="en-US" sz="1000" b="1" dirty="0">
                <a:solidFill>
                  <a:srgbClr val="0839C4"/>
                </a:solidFill>
                <a:latin typeface="Montserrat" pitchFamily="34" charset="0"/>
                <a:ea typeface="Montserrat" pitchFamily="34" charset="-122"/>
                <a:cs typeface="Montserrat" pitchFamily="34" charset="-120"/>
              </a:rPr>
              <a:t>CAUSA · Registro en papel</a:t>
            </a:r>
            <a:endParaRPr lang="en-US" sz="1000" dirty="0"/>
          </a:p>
        </p:txBody>
      </p:sp>
      <p:sp>
        <p:nvSpPr>
          <p:cNvPr id="25" name="Text 20"/>
          <p:cNvSpPr txBox="1"/>
          <p:nvPr/>
        </p:nvSpPr>
        <p:spPr>
          <a:xfrm>
            <a:off x="1417320" y="5394960"/>
            <a:ext cx="2240280" cy="777240"/>
          </a:xfrm>
          <a:prstGeom prst="rect">
            <a:avLst/>
          </a:prstGeom>
          <a:noFill/>
          <a:ln/>
        </p:spPr>
        <p:txBody>
          <a:bodyPr wrap="square" lIns="0" tIns="0" rIns="0" bIns="0" rtlCol="0" anchor="t"/>
          <a:lstStyle/>
          <a:p>
            <a:pPr indent="0" marL="0">
              <a:buNone/>
            </a:pPr>
            <a:r>
              <a:rPr lang="en-US" sz="1000" dirty="0">
                <a:solidFill>
                  <a:srgbClr val="0E1B3D"/>
                </a:solidFill>
                <a:latin typeface="Open Sans" pitchFamily="34" charset="0"/>
                <a:ea typeface="Open Sans" pitchFamily="34" charset="-122"/>
                <a:cs typeface="Open Sans" pitchFamily="34" charset="-120"/>
              </a:rPr>
              <a:t>Se usa papel y formatos físicos, lo que genera errores y dificulta la verificación.</a:t>
            </a:r>
            <a:endParaRPr lang="en-US" sz="1000" dirty="0"/>
          </a:p>
        </p:txBody>
      </p:sp>
      <p:sp>
        <p:nvSpPr>
          <p:cNvPr id="26" name="Shape 21"/>
          <p:cNvSpPr/>
          <p:nvPr/>
        </p:nvSpPr>
        <p:spPr>
          <a:xfrm>
            <a:off x="3931920" y="4983480"/>
            <a:ext cx="3200400" cy="1234440"/>
          </a:xfrm>
          <a:prstGeom prst="roundRect">
            <a:avLst>
              <a:gd name="adj" fmla="val 10370"/>
            </a:avLst>
          </a:prstGeom>
          <a:solidFill>
            <a:srgbClr val="EAF1FF"/>
          </a:solidFill>
          <a:ln w="15875">
            <a:solidFill>
              <a:srgbClr val="0B5FFF"/>
            </a:solidFill>
            <a:prstDash val="solid"/>
          </a:ln>
        </p:spPr>
      </p:sp>
      <p:sp>
        <p:nvSpPr>
          <p:cNvPr id="27" name="Shape 22"/>
          <p:cNvSpPr/>
          <p:nvPr/>
        </p:nvSpPr>
        <p:spPr>
          <a:xfrm>
            <a:off x="4114800" y="5166360"/>
            <a:ext cx="548640" cy="548640"/>
          </a:xfrm>
          <a:prstGeom prst="ellipse">
            <a:avLst/>
          </a:prstGeom>
          <a:solidFill>
            <a:srgbClr val="FFFFFF"/>
          </a:solidFill>
          <a:ln w="12700">
            <a:solidFill>
              <a:srgbClr val="0B5FFF"/>
            </a:solidFill>
            <a:prstDash val="solid"/>
          </a:ln>
        </p:spPr>
      </p:sp>
      <p:pic>
        <p:nvPicPr>
          <p:cNvPr id="28" name="Image 3" descr="preencoded.png">    </p:cNvPr>
          <p:cNvPicPr>
            <a:picLocks noChangeAspect="1"/>
          </p:cNvPicPr>
          <p:nvPr/>
        </p:nvPicPr>
        <p:blipFill>
          <a:blip r:embed="rId5"/>
          <a:stretch>
            <a:fillRect/>
          </a:stretch>
        </p:blipFill>
        <p:spPr>
          <a:xfrm>
            <a:off x="4246474" y="5298034"/>
            <a:ext cx="285293" cy="285293"/>
          </a:xfrm>
          <a:prstGeom prst="rect">
            <a:avLst/>
          </a:prstGeom>
        </p:spPr>
      </p:pic>
      <p:sp>
        <p:nvSpPr>
          <p:cNvPr id="29" name="Text 23"/>
          <p:cNvSpPr txBox="1"/>
          <p:nvPr/>
        </p:nvSpPr>
        <p:spPr>
          <a:xfrm>
            <a:off x="4800600" y="5102352"/>
            <a:ext cx="2286000" cy="274320"/>
          </a:xfrm>
          <a:prstGeom prst="rect">
            <a:avLst/>
          </a:prstGeom>
          <a:noFill/>
          <a:ln/>
        </p:spPr>
        <p:txBody>
          <a:bodyPr wrap="square" lIns="0" tIns="0" rIns="0" bIns="0" rtlCol="0" anchor="ctr"/>
          <a:lstStyle/>
          <a:p>
            <a:pPr indent="0" marL="0">
              <a:buNone/>
            </a:pPr>
            <a:r>
              <a:rPr lang="en-US" sz="1000" b="1" dirty="0">
                <a:solidFill>
                  <a:srgbClr val="0839C4"/>
                </a:solidFill>
                <a:latin typeface="Montserrat" pitchFamily="34" charset="0"/>
                <a:ea typeface="Montserrat" pitchFamily="34" charset="-122"/>
                <a:cs typeface="Montserrat" pitchFamily="34" charset="-120"/>
              </a:rPr>
              <a:t>CAUSA · Baja adopción digital</a:t>
            </a:r>
            <a:endParaRPr lang="en-US" sz="1000" dirty="0"/>
          </a:p>
        </p:txBody>
      </p:sp>
      <p:sp>
        <p:nvSpPr>
          <p:cNvPr id="30" name="Text 24"/>
          <p:cNvSpPr txBox="1"/>
          <p:nvPr/>
        </p:nvSpPr>
        <p:spPr>
          <a:xfrm>
            <a:off x="4800600" y="5394960"/>
            <a:ext cx="2240280" cy="777240"/>
          </a:xfrm>
          <a:prstGeom prst="rect">
            <a:avLst/>
          </a:prstGeom>
          <a:noFill/>
          <a:ln/>
        </p:spPr>
        <p:txBody>
          <a:bodyPr wrap="square" lIns="0" tIns="0" rIns="0" bIns="0" rtlCol="0" anchor="t"/>
          <a:lstStyle/>
          <a:p>
            <a:pPr indent="0" marL="0">
              <a:buNone/>
            </a:pPr>
            <a:r>
              <a:rPr lang="en-US" sz="1000" dirty="0">
                <a:solidFill>
                  <a:srgbClr val="0E1B3D"/>
                </a:solidFill>
                <a:latin typeface="Open Sans" pitchFamily="34" charset="0"/>
                <a:ea typeface="Open Sans" pitchFamily="34" charset="-122"/>
                <a:cs typeface="Open Sans" pitchFamily="34" charset="-120"/>
              </a:rPr>
              <a:t>La mayoría de pescadores y comerciantes no usa herramientas digitales.</a:t>
            </a:r>
            <a:endParaRPr lang="en-US" sz="1000" dirty="0"/>
          </a:p>
        </p:txBody>
      </p:sp>
      <p:sp>
        <p:nvSpPr>
          <p:cNvPr id="31" name="Text 25"/>
          <p:cNvSpPr txBox="1"/>
          <p:nvPr/>
        </p:nvSpPr>
        <p:spPr>
          <a:xfrm>
            <a:off x="548640" y="6254496"/>
            <a:ext cx="4572000" cy="201168"/>
          </a:xfrm>
          <a:prstGeom prst="rect">
            <a:avLst/>
          </a:prstGeom>
          <a:noFill/>
          <a:ln/>
        </p:spPr>
        <p:txBody>
          <a:bodyPr wrap="square" lIns="0" tIns="0" rIns="0" bIns="0" rtlCol="0" anchor="ctr"/>
          <a:lstStyle/>
          <a:p>
            <a:pPr algn="l" indent="0" marL="0">
              <a:buNone/>
            </a:pPr>
            <a:r>
              <a:rPr lang="en-US" sz="850" i="1" dirty="0">
                <a:solidFill>
                  <a:srgbClr val="8A96AE"/>
                </a:solidFill>
                <a:latin typeface="Open Sans" pitchFamily="34" charset="0"/>
                <a:ea typeface="Open Sans" pitchFamily="34" charset="-122"/>
                <a:cs typeface="Open Sans" pitchFamily="34" charset="-120"/>
              </a:rPr>
              <a:t>Figura 1. Adaptado de Oceana Perú [12]</a:t>
            </a:r>
            <a:endParaRPr lang="en-US" sz="850" dirty="0"/>
          </a:p>
        </p:txBody>
      </p:sp>
      <p:sp>
        <p:nvSpPr>
          <p:cNvPr id="32" name="Shape 26"/>
          <p:cNvSpPr/>
          <p:nvPr/>
        </p:nvSpPr>
        <p:spPr>
          <a:xfrm>
            <a:off x="7452360" y="1600200"/>
            <a:ext cx="4160520" cy="3108960"/>
          </a:xfrm>
          <a:prstGeom prst="roundRect">
            <a:avLst>
              <a:gd name="adj" fmla="val 4118"/>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3" name="Text 27"/>
          <p:cNvSpPr txBox="1"/>
          <p:nvPr/>
        </p:nvSpPr>
        <p:spPr>
          <a:xfrm>
            <a:off x="7680960" y="1755648"/>
            <a:ext cx="3657600" cy="228600"/>
          </a:xfrm>
          <a:prstGeom prst="rect">
            <a:avLst/>
          </a:prstGeom>
          <a:noFill/>
          <a:ln/>
        </p:spPr>
        <p:txBody>
          <a:bodyPr wrap="square" lIns="0" tIns="0" rIns="0" bIns="0" rtlCol="0" anchor="t"/>
          <a:lstStyle/>
          <a:p>
            <a:pPr indent="0" marL="0">
              <a:buNone/>
            </a:pPr>
            <a:r>
              <a:rPr lang="en-US" sz="900" b="1" spc="150" kern="0" dirty="0">
                <a:solidFill>
                  <a:srgbClr val="E0393F"/>
                </a:solidFill>
                <a:latin typeface="Montserrat" pitchFamily="34" charset="0"/>
                <a:ea typeface="Montserrat" pitchFamily="34" charset="-122"/>
                <a:cs typeface="Montserrat" pitchFamily="34" charset="-120"/>
              </a:rPr>
              <a:t>CONSECUENCIAS</a:t>
            </a:r>
            <a:endParaRPr lang="en-US" sz="900" dirty="0"/>
          </a:p>
        </p:txBody>
      </p:sp>
      <p:sp>
        <p:nvSpPr>
          <p:cNvPr id="34" name="Shape 28"/>
          <p:cNvSpPr/>
          <p:nvPr/>
        </p:nvSpPr>
        <p:spPr>
          <a:xfrm>
            <a:off x="7680960" y="2103120"/>
            <a:ext cx="457200" cy="457200"/>
          </a:xfrm>
          <a:prstGeom prst="ellipse">
            <a:avLst/>
          </a:prstGeom>
          <a:solidFill>
            <a:srgbClr val="FFE9EA"/>
          </a:solidFill>
          <a:ln/>
        </p:spPr>
      </p:sp>
      <p:pic>
        <p:nvPicPr>
          <p:cNvPr id="35" name="Image 4" descr="preencoded.png">    </p:cNvPr>
          <p:cNvPicPr>
            <a:picLocks noChangeAspect="1"/>
          </p:cNvPicPr>
          <p:nvPr/>
        </p:nvPicPr>
        <p:blipFill>
          <a:blip r:embed="rId6"/>
          <a:stretch>
            <a:fillRect/>
          </a:stretch>
        </p:blipFill>
        <p:spPr>
          <a:xfrm>
            <a:off x="7790688" y="2212848"/>
            <a:ext cx="237744" cy="237744"/>
          </a:xfrm>
          <a:prstGeom prst="rect">
            <a:avLst/>
          </a:prstGeom>
        </p:spPr>
      </p:pic>
      <p:sp>
        <p:nvSpPr>
          <p:cNvPr id="36" name="Text 29"/>
          <p:cNvSpPr txBox="1"/>
          <p:nvPr/>
        </p:nvSpPr>
        <p:spPr>
          <a:xfrm>
            <a:off x="8275320" y="2057400"/>
            <a:ext cx="3200400" cy="777240"/>
          </a:xfrm>
          <a:prstGeom prst="rect">
            <a:avLst/>
          </a:prstGeom>
          <a:noFill/>
          <a:ln/>
        </p:spPr>
        <p:txBody>
          <a:bodyPr wrap="square" lIns="0" tIns="0" rIns="0" bIns="0" rtlCol="0" anchor="t"/>
          <a:lstStyle/>
          <a:p>
            <a:pPr indent="0" marL="0">
              <a:buNone/>
            </a:pPr>
            <a:r>
              <a:rPr lang="en-US" sz="1050" b="1" dirty="0">
                <a:solidFill>
                  <a:srgbClr val="0E1B3D"/>
                </a:solidFill>
                <a:latin typeface="Open Sans" pitchFamily="34" charset="0"/>
                <a:ea typeface="Open Sans" pitchFamily="34" charset="-122"/>
                <a:cs typeface="Open Sans" pitchFamily="34" charset="-120"/>
              </a:rPr>
              <a:t>Estado: </a:t>
            </a:r>
            <a:pPr indent="0" marL="0">
              <a:buNone/>
            </a:pPr>
            <a:r>
              <a:rPr lang="en-US" sz="1050" dirty="0">
                <a:solidFill>
                  <a:srgbClr val="4A5878"/>
                </a:solidFill>
                <a:latin typeface="Open Sans" pitchFamily="34" charset="0"/>
                <a:ea typeface="Open Sans" pitchFamily="34" charset="-122"/>
                <a:cs typeface="Open Sans" pitchFamily="34" charset="-120"/>
              </a:rPr>
              <a:t>Estadísticas incompletas limitan la fijación de vedas y cuotas (meta 14.4).</a:t>
            </a:r>
            <a:endParaRPr lang="en-US" sz="1050" dirty="0"/>
          </a:p>
        </p:txBody>
      </p:sp>
      <p:sp>
        <p:nvSpPr>
          <p:cNvPr id="37" name="Shape 30"/>
          <p:cNvSpPr/>
          <p:nvPr/>
        </p:nvSpPr>
        <p:spPr>
          <a:xfrm>
            <a:off x="7680960" y="2944368"/>
            <a:ext cx="457200" cy="457200"/>
          </a:xfrm>
          <a:prstGeom prst="ellipse">
            <a:avLst/>
          </a:prstGeom>
          <a:solidFill>
            <a:srgbClr val="FFE9EA"/>
          </a:solidFill>
          <a:ln/>
        </p:spPr>
      </p:sp>
      <p:pic>
        <p:nvPicPr>
          <p:cNvPr id="38" name="Image 5" descr="preencoded.png">    </p:cNvPr>
          <p:cNvPicPr>
            <a:picLocks noChangeAspect="1"/>
          </p:cNvPicPr>
          <p:nvPr/>
        </p:nvPicPr>
        <p:blipFill>
          <a:blip r:embed="rId7"/>
          <a:stretch>
            <a:fillRect/>
          </a:stretch>
        </p:blipFill>
        <p:spPr>
          <a:xfrm>
            <a:off x="7790688" y="3054096"/>
            <a:ext cx="237744" cy="237744"/>
          </a:xfrm>
          <a:prstGeom prst="rect">
            <a:avLst/>
          </a:prstGeom>
        </p:spPr>
      </p:pic>
      <p:sp>
        <p:nvSpPr>
          <p:cNvPr id="39" name="Text 31"/>
          <p:cNvSpPr txBox="1"/>
          <p:nvPr/>
        </p:nvSpPr>
        <p:spPr>
          <a:xfrm>
            <a:off x="8275320" y="2898648"/>
            <a:ext cx="3200400" cy="777240"/>
          </a:xfrm>
          <a:prstGeom prst="rect">
            <a:avLst/>
          </a:prstGeom>
          <a:noFill/>
          <a:ln/>
        </p:spPr>
        <p:txBody>
          <a:bodyPr wrap="square" lIns="0" tIns="0" rIns="0" bIns="0" rtlCol="0" anchor="t"/>
          <a:lstStyle/>
          <a:p>
            <a:pPr indent="0" marL="0">
              <a:buNone/>
            </a:pPr>
            <a:r>
              <a:rPr lang="en-US" sz="1050" b="1" dirty="0">
                <a:solidFill>
                  <a:srgbClr val="0E1B3D"/>
                </a:solidFill>
                <a:latin typeface="Open Sans" pitchFamily="34" charset="0"/>
                <a:ea typeface="Open Sans" pitchFamily="34" charset="-122"/>
                <a:cs typeface="Open Sans" pitchFamily="34" charset="-120"/>
              </a:rPr>
              <a:t>Pescador: </a:t>
            </a:r>
            <a:pPr indent="0" marL="0">
              <a:buNone/>
            </a:pPr>
            <a:r>
              <a:rPr lang="en-US" sz="1050" dirty="0">
                <a:solidFill>
                  <a:srgbClr val="4A5878"/>
                </a:solidFill>
                <a:latin typeface="Open Sans" pitchFamily="34" charset="0"/>
                <a:ea typeface="Open Sans" pitchFamily="34" charset="-122"/>
                <a:cs typeface="Open Sans" pitchFamily="34" charset="-120"/>
              </a:rPr>
              <a:t>Sin constancia ni historial pierde poder de negociación, mercados y créditos (meta 14.b).</a:t>
            </a:r>
            <a:endParaRPr lang="en-US" sz="1050" dirty="0"/>
          </a:p>
        </p:txBody>
      </p:sp>
      <p:sp>
        <p:nvSpPr>
          <p:cNvPr id="40" name="Shape 32"/>
          <p:cNvSpPr/>
          <p:nvPr/>
        </p:nvSpPr>
        <p:spPr>
          <a:xfrm>
            <a:off x="7680960" y="3785616"/>
            <a:ext cx="457200" cy="457200"/>
          </a:xfrm>
          <a:prstGeom prst="ellipse">
            <a:avLst/>
          </a:prstGeom>
          <a:solidFill>
            <a:srgbClr val="FFE9EA"/>
          </a:solidFill>
          <a:ln/>
        </p:spPr>
      </p:sp>
      <p:pic>
        <p:nvPicPr>
          <p:cNvPr id="41" name="Image 6" descr="preencoded.png">    </p:cNvPr>
          <p:cNvPicPr>
            <a:picLocks noChangeAspect="1"/>
          </p:cNvPicPr>
          <p:nvPr/>
        </p:nvPicPr>
        <p:blipFill>
          <a:blip r:embed="rId8"/>
          <a:stretch>
            <a:fillRect/>
          </a:stretch>
        </p:blipFill>
        <p:spPr>
          <a:xfrm>
            <a:off x="7790688" y="3895344"/>
            <a:ext cx="237744" cy="237744"/>
          </a:xfrm>
          <a:prstGeom prst="rect">
            <a:avLst/>
          </a:prstGeom>
        </p:spPr>
      </p:pic>
      <p:sp>
        <p:nvSpPr>
          <p:cNvPr id="42" name="Text 33"/>
          <p:cNvSpPr txBox="1"/>
          <p:nvPr/>
        </p:nvSpPr>
        <p:spPr>
          <a:xfrm>
            <a:off x="8275320" y="3739896"/>
            <a:ext cx="3200400" cy="777240"/>
          </a:xfrm>
          <a:prstGeom prst="rect">
            <a:avLst/>
          </a:prstGeom>
          <a:noFill/>
          <a:ln/>
        </p:spPr>
        <p:txBody>
          <a:bodyPr wrap="square" lIns="0" tIns="0" rIns="0" bIns="0" rtlCol="0" anchor="t"/>
          <a:lstStyle/>
          <a:p>
            <a:pPr indent="0" marL="0">
              <a:buNone/>
            </a:pPr>
            <a:r>
              <a:rPr lang="en-US" sz="1050" b="1" dirty="0">
                <a:solidFill>
                  <a:srgbClr val="0E1B3D"/>
                </a:solidFill>
                <a:latin typeface="Open Sans" pitchFamily="34" charset="0"/>
                <a:ea typeface="Open Sans" pitchFamily="34" charset="-122"/>
                <a:cs typeface="Open Sans" pitchFamily="34" charset="-120"/>
              </a:rPr>
              <a:t>Cadena de valor: </a:t>
            </a:r>
            <a:pPr indent="0" marL="0">
              <a:buNone/>
            </a:pPr>
            <a:r>
              <a:rPr lang="en-US" sz="1050" dirty="0">
                <a:solidFill>
                  <a:srgbClr val="4A5878"/>
                </a:solidFill>
                <a:latin typeface="Open Sans" pitchFamily="34" charset="0"/>
                <a:ea typeface="Open Sans" pitchFamily="34" charset="-122"/>
                <a:cs typeface="Open Sans" pitchFamily="34" charset="-120"/>
              </a:rPr>
              <a:t>Sin trazabilidad, la pesca ilegal se “blanquea” como legal.</a:t>
            </a:r>
            <a:endParaRPr lang="en-US" sz="1050" dirty="0"/>
          </a:p>
        </p:txBody>
      </p:sp>
      <p:sp>
        <p:nvSpPr>
          <p:cNvPr id="43" name="Shape 34"/>
          <p:cNvSpPr/>
          <p:nvPr/>
        </p:nvSpPr>
        <p:spPr>
          <a:xfrm>
            <a:off x="7452360" y="4892040"/>
            <a:ext cx="4160520" cy="1325880"/>
          </a:xfrm>
          <a:prstGeom prst="roundRect">
            <a:avLst>
              <a:gd name="adj" fmla="val 9655"/>
            </a:avLst>
          </a:prstGeom>
          <a:solidFill>
            <a:srgbClr val="FFF6DA"/>
          </a:solidFill>
          <a:ln w="9525">
            <a:solidFill>
              <a:srgbClr val="FFE08A"/>
            </a:solidFill>
            <a:prstDash val="solid"/>
          </a:ln>
        </p:spPr>
      </p:sp>
      <p:pic>
        <p:nvPicPr>
          <p:cNvPr id="44" name="Image 7" descr="preencoded.png">    </p:cNvPr>
          <p:cNvPicPr>
            <a:picLocks noChangeAspect="1"/>
          </p:cNvPicPr>
          <p:nvPr/>
        </p:nvPicPr>
        <p:blipFill>
          <a:blip r:embed="rId9"/>
          <a:stretch>
            <a:fillRect/>
          </a:stretch>
        </p:blipFill>
        <p:spPr>
          <a:xfrm>
            <a:off x="7662672" y="5047488"/>
            <a:ext cx="365760" cy="365760"/>
          </a:xfrm>
          <a:prstGeom prst="rect">
            <a:avLst/>
          </a:prstGeom>
        </p:spPr>
      </p:pic>
      <p:sp>
        <p:nvSpPr>
          <p:cNvPr id="45" name="Text 35"/>
          <p:cNvSpPr txBox="1"/>
          <p:nvPr/>
        </p:nvSpPr>
        <p:spPr>
          <a:xfrm>
            <a:off x="8138160" y="5029200"/>
            <a:ext cx="3200400" cy="274320"/>
          </a:xfrm>
          <a:prstGeom prst="rect">
            <a:avLst/>
          </a:prstGeom>
          <a:noFill/>
          <a:ln/>
        </p:spPr>
        <p:txBody>
          <a:bodyPr wrap="square" lIns="0" tIns="0" rIns="0" bIns="0" rtlCol="0" anchor="ctr"/>
          <a:lstStyle/>
          <a:p>
            <a:pPr indent="0" marL="0">
              <a:buNone/>
            </a:pPr>
            <a:r>
              <a:rPr lang="en-US" sz="900" b="1" spc="150" kern="0" dirty="0">
                <a:solidFill>
                  <a:srgbClr val="E06F00"/>
                </a:solidFill>
                <a:latin typeface="Montserrat" pitchFamily="34" charset="0"/>
                <a:ea typeface="Montserrat" pitchFamily="34" charset="-122"/>
                <a:cs typeface="Montserrat" pitchFamily="34" charset="-120"/>
              </a:rPr>
              <a:t>PRESIÓN NORMATIVA</a:t>
            </a:r>
            <a:endParaRPr lang="en-US" sz="900" dirty="0"/>
          </a:p>
        </p:txBody>
      </p:sp>
      <p:sp>
        <p:nvSpPr>
          <p:cNvPr id="46" name="Text 36"/>
          <p:cNvSpPr txBox="1"/>
          <p:nvPr/>
        </p:nvSpPr>
        <p:spPr>
          <a:xfrm>
            <a:off x="7662672" y="5468112"/>
            <a:ext cx="3840480" cy="731520"/>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R.M. N.° 207-2025-PRODUCE exige comunicar capturas; el D.S. N.° 006-2025-PRODUCE sanciona no acreditar el origen legal. Se exige trazabilidad, pero no hay una herramienta sencilla. [12]</a:t>
            </a:r>
            <a:endParaRPr lang="en-US" sz="950" dirty="0"/>
          </a:p>
        </p:txBody>
      </p:sp>
      <p:sp>
        <p:nvSpPr>
          <p:cNvPr id="47" name="Text 37"/>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8" name="Text 38"/>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475634" cy="274320"/>
          </a:xfrm>
          <a:prstGeom prst="roundRect">
            <a:avLst>
              <a:gd name="adj" fmla="val 50000"/>
            </a:avLst>
          </a:prstGeom>
          <a:solidFill>
            <a:srgbClr val="0B5FFF"/>
          </a:solidFill>
          <a:ln/>
        </p:spPr>
      </p:sp>
      <p:sp>
        <p:nvSpPr>
          <p:cNvPr id="3" name="Text 1"/>
          <p:cNvSpPr txBox="1"/>
          <p:nvPr/>
        </p:nvSpPr>
        <p:spPr>
          <a:xfrm>
            <a:off x="548640" y="411480"/>
            <a:ext cx="347563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1.4.1 SOLUCIÓN PROPUESTA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¿Qué es SIRDEPA?</a:t>
            </a:r>
            <a:endParaRPr lang="en-US" sz="3000" dirty="0"/>
          </a:p>
        </p:txBody>
      </p:sp>
      <p:sp>
        <p:nvSpPr>
          <p:cNvPr id="5" name="Text 3"/>
          <p:cNvSpPr txBox="1"/>
          <p:nvPr/>
        </p:nvSpPr>
        <p:spPr>
          <a:xfrm>
            <a:off x="548640" y="1572768"/>
            <a:ext cx="7315200" cy="77724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Un ecosistema digital que captura la información del desembarque en el muelle, la valida automáticamente contra la normativa vigente y emite una constancia digital con código QR.</a:t>
            </a:r>
            <a:endParaRPr lang="en-US" sz="1400" dirty="0"/>
          </a:p>
        </p:txBody>
      </p:sp>
      <p:sp>
        <p:nvSpPr>
          <p:cNvPr id="6" name="Shape 4"/>
          <p:cNvSpPr/>
          <p:nvPr/>
        </p:nvSpPr>
        <p:spPr>
          <a:xfrm>
            <a:off x="548640" y="2514600"/>
            <a:ext cx="2359152" cy="2011680"/>
          </a:xfrm>
          <a:prstGeom prst="roundRect">
            <a:avLst>
              <a:gd name="adj" fmla="val 7273"/>
            </a:avLst>
          </a:prstGeom>
          <a:solidFill>
            <a:srgbClr val="EAF1FF"/>
          </a:solidFill>
          <a:ln/>
        </p:spPr>
      </p:sp>
      <p:sp>
        <p:nvSpPr>
          <p:cNvPr id="7" name="Shape 5"/>
          <p:cNvSpPr/>
          <p:nvPr/>
        </p:nvSpPr>
        <p:spPr>
          <a:xfrm>
            <a:off x="749808" y="2734056"/>
            <a:ext cx="603504" cy="603504"/>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894649" y="2878897"/>
            <a:ext cx="313822" cy="313822"/>
          </a:xfrm>
          <a:prstGeom prst="rect">
            <a:avLst/>
          </a:prstGeom>
        </p:spPr>
      </p:pic>
      <p:sp>
        <p:nvSpPr>
          <p:cNvPr id="9" name="Text 6"/>
          <p:cNvSpPr txBox="1"/>
          <p:nvPr/>
        </p:nvSpPr>
        <p:spPr>
          <a:xfrm>
            <a:off x="749808" y="3474720"/>
            <a:ext cx="2057400" cy="457200"/>
          </a:xfrm>
          <a:prstGeom prst="rect">
            <a:avLst/>
          </a:prstGeom>
          <a:noFill/>
          <a:ln/>
        </p:spPr>
        <p:txBody>
          <a:bodyPr wrap="square" lIns="0" tIns="0" rIns="0" bIns="0" rtlCol="0" anchor="t"/>
          <a:lstStyle/>
          <a:p>
            <a:pPr indent="0" marL="0">
              <a:buNone/>
            </a:pPr>
            <a:r>
              <a:rPr lang="en-US" sz="1250" b="1" dirty="0">
                <a:solidFill>
                  <a:srgbClr val="0E1B3D"/>
                </a:solidFill>
                <a:latin typeface="Montserrat" pitchFamily="34" charset="0"/>
                <a:ea typeface="Montserrat" pitchFamily="34" charset="-122"/>
                <a:cs typeface="Montserrat" pitchFamily="34" charset="-120"/>
              </a:rPr>
              <a:t>App móvil offline-first</a:t>
            </a:r>
            <a:endParaRPr lang="en-US" sz="1250" dirty="0"/>
          </a:p>
        </p:txBody>
      </p:sp>
      <p:sp>
        <p:nvSpPr>
          <p:cNvPr id="10" name="Text 7"/>
          <p:cNvSpPr txBox="1"/>
          <p:nvPr/>
        </p:nvSpPr>
        <p:spPr>
          <a:xfrm>
            <a:off x="749808" y="3904488"/>
            <a:ext cx="2011680" cy="54864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Registro en el muelle, incluso sin señal; sincroniza después.</a:t>
            </a:r>
            <a:endParaRPr lang="en-US" sz="1000" dirty="0"/>
          </a:p>
        </p:txBody>
      </p:sp>
      <p:sp>
        <p:nvSpPr>
          <p:cNvPr id="11" name="Shape 8"/>
          <p:cNvSpPr/>
          <p:nvPr/>
        </p:nvSpPr>
        <p:spPr>
          <a:xfrm>
            <a:off x="3035808" y="2514600"/>
            <a:ext cx="2359152" cy="2011680"/>
          </a:xfrm>
          <a:prstGeom prst="roundRect">
            <a:avLst>
              <a:gd name="adj" fmla="val 7273"/>
            </a:avLst>
          </a:prstGeom>
          <a:solidFill>
            <a:srgbClr val="EFEBFF"/>
          </a:solidFill>
          <a:ln/>
        </p:spPr>
      </p:sp>
      <p:sp>
        <p:nvSpPr>
          <p:cNvPr id="12" name="Shape 9"/>
          <p:cNvSpPr/>
          <p:nvPr/>
        </p:nvSpPr>
        <p:spPr>
          <a:xfrm>
            <a:off x="3236976" y="2734056"/>
            <a:ext cx="603504" cy="603504"/>
          </a:xfrm>
          <a:prstGeom prst="roundRect">
            <a:avLst>
              <a:gd name="adj" fmla="val 28000"/>
            </a:avLst>
          </a:prstGeom>
          <a:solidFill>
            <a:srgbClr val="7B5CFF"/>
          </a:solidFill>
          <a:ln/>
        </p:spPr>
      </p:sp>
      <p:pic>
        <p:nvPicPr>
          <p:cNvPr id="13" name="Image 1" descr="preencoded.png">    </p:cNvPr>
          <p:cNvPicPr>
            <a:picLocks noChangeAspect="1"/>
          </p:cNvPicPr>
          <p:nvPr/>
        </p:nvPicPr>
        <p:blipFill>
          <a:blip r:embed="rId3"/>
          <a:stretch>
            <a:fillRect/>
          </a:stretch>
        </p:blipFill>
        <p:spPr>
          <a:xfrm>
            <a:off x="3381817" y="2878897"/>
            <a:ext cx="313822" cy="313822"/>
          </a:xfrm>
          <a:prstGeom prst="rect">
            <a:avLst/>
          </a:prstGeom>
        </p:spPr>
      </p:pic>
      <p:sp>
        <p:nvSpPr>
          <p:cNvPr id="14" name="Text 10"/>
          <p:cNvSpPr txBox="1"/>
          <p:nvPr/>
        </p:nvSpPr>
        <p:spPr>
          <a:xfrm>
            <a:off x="3236976" y="3474720"/>
            <a:ext cx="2057400" cy="457200"/>
          </a:xfrm>
          <a:prstGeom prst="rect">
            <a:avLst/>
          </a:prstGeom>
          <a:noFill/>
          <a:ln/>
        </p:spPr>
        <p:txBody>
          <a:bodyPr wrap="square" lIns="0" tIns="0" rIns="0" bIns="0" rtlCol="0" anchor="t"/>
          <a:lstStyle/>
          <a:p>
            <a:pPr indent="0" marL="0">
              <a:buNone/>
            </a:pPr>
            <a:r>
              <a:rPr lang="en-US" sz="1250" b="1" dirty="0">
                <a:solidFill>
                  <a:srgbClr val="0E1B3D"/>
                </a:solidFill>
                <a:latin typeface="Montserrat" pitchFamily="34" charset="0"/>
                <a:ea typeface="Montserrat" pitchFamily="34" charset="-122"/>
                <a:cs typeface="Montserrat" pitchFamily="34" charset="-120"/>
              </a:rPr>
              <a:t>Portal web de gestión</a:t>
            </a:r>
            <a:endParaRPr lang="en-US" sz="1250" dirty="0"/>
          </a:p>
        </p:txBody>
      </p:sp>
      <p:sp>
        <p:nvSpPr>
          <p:cNvPr id="15" name="Text 11"/>
          <p:cNvSpPr txBox="1"/>
          <p:nvPr/>
        </p:nvSpPr>
        <p:spPr>
          <a:xfrm>
            <a:off x="3236976" y="3904488"/>
            <a:ext cx="2011680" cy="54864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Catálogos, tableros, reportes y fiscalización.</a:t>
            </a:r>
            <a:endParaRPr lang="en-US" sz="1000" dirty="0"/>
          </a:p>
        </p:txBody>
      </p:sp>
      <p:sp>
        <p:nvSpPr>
          <p:cNvPr id="16" name="Shape 12"/>
          <p:cNvSpPr/>
          <p:nvPr/>
        </p:nvSpPr>
        <p:spPr>
          <a:xfrm>
            <a:off x="5522976" y="2514600"/>
            <a:ext cx="2359152" cy="2011680"/>
          </a:xfrm>
          <a:prstGeom prst="roundRect">
            <a:avLst>
              <a:gd name="adj" fmla="val 7273"/>
            </a:avLst>
          </a:prstGeom>
          <a:solidFill>
            <a:srgbClr val="E0F8FB"/>
          </a:solidFill>
          <a:ln/>
        </p:spPr>
      </p:sp>
      <p:sp>
        <p:nvSpPr>
          <p:cNvPr id="17" name="Shape 13"/>
          <p:cNvSpPr/>
          <p:nvPr/>
        </p:nvSpPr>
        <p:spPr>
          <a:xfrm>
            <a:off x="5724144" y="2734056"/>
            <a:ext cx="603504" cy="603504"/>
          </a:xfrm>
          <a:prstGeom prst="roundRect">
            <a:avLst>
              <a:gd name="adj" fmla="val 28000"/>
            </a:avLst>
          </a:prstGeom>
          <a:solidFill>
            <a:srgbClr val="008FB0"/>
          </a:solidFill>
          <a:ln/>
        </p:spPr>
      </p:sp>
      <p:pic>
        <p:nvPicPr>
          <p:cNvPr id="18" name="Image 2" descr="preencoded.png">    </p:cNvPr>
          <p:cNvPicPr>
            <a:picLocks noChangeAspect="1"/>
          </p:cNvPicPr>
          <p:nvPr/>
        </p:nvPicPr>
        <p:blipFill>
          <a:blip r:embed="rId4"/>
          <a:stretch>
            <a:fillRect/>
          </a:stretch>
        </p:blipFill>
        <p:spPr>
          <a:xfrm>
            <a:off x="5868985" y="2878897"/>
            <a:ext cx="313822" cy="313822"/>
          </a:xfrm>
          <a:prstGeom prst="rect">
            <a:avLst/>
          </a:prstGeom>
        </p:spPr>
      </p:pic>
      <p:sp>
        <p:nvSpPr>
          <p:cNvPr id="19" name="Text 14"/>
          <p:cNvSpPr txBox="1"/>
          <p:nvPr/>
        </p:nvSpPr>
        <p:spPr>
          <a:xfrm>
            <a:off x="5724144" y="3474720"/>
            <a:ext cx="2057400" cy="457200"/>
          </a:xfrm>
          <a:prstGeom prst="rect">
            <a:avLst/>
          </a:prstGeom>
          <a:noFill/>
          <a:ln/>
        </p:spPr>
        <p:txBody>
          <a:bodyPr wrap="square" lIns="0" tIns="0" rIns="0" bIns="0" rtlCol="0" anchor="t"/>
          <a:lstStyle/>
          <a:p>
            <a:pPr indent="0" marL="0">
              <a:buNone/>
            </a:pPr>
            <a:r>
              <a:rPr lang="en-US" sz="1250" b="1" dirty="0">
                <a:solidFill>
                  <a:srgbClr val="0E1B3D"/>
                </a:solidFill>
                <a:latin typeface="Montserrat" pitchFamily="34" charset="0"/>
                <a:ea typeface="Montserrat" pitchFamily="34" charset="-122"/>
                <a:cs typeface="Montserrat" pitchFamily="34" charset="-120"/>
              </a:rPr>
              <a:t>Servicios en la nube</a:t>
            </a:r>
            <a:endParaRPr lang="en-US" sz="1250" dirty="0"/>
          </a:p>
        </p:txBody>
      </p:sp>
      <p:sp>
        <p:nvSpPr>
          <p:cNvPr id="20" name="Text 15"/>
          <p:cNvSpPr txBox="1"/>
          <p:nvPr/>
        </p:nvSpPr>
        <p:spPr>
          <a:xfrm>
            <a:off x="5724144" y="3904488"/>
            <a:ext cx="2011680" cy="54864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Motor de reglas, constancias, API y SMS.</a:t>
            </a:r>
            <a:endParaRPr lang="en-US" sz="1000" dirty="0"/>
          </a:p>
        </p:txBody>
      </p:sp>
      <p:sp>
        <p:nvSpPr>
          <p:cNvPr id="21" name="Text 16"/>
          <p:cNvSpPr txBox="1"/>
          <p:nvPr/>
        </p:nvSpPr>
        <p:spPr>
          <a:xfrm>
            <a:off x="548640" y="4754880"/>
            <a:ext cx="2377440" cy="457200"/>
          </a:xfrm>
          <a:prstGeom prst="rect">
            <a:avLst/>
          </a:prstGeom>
          <a:noFill/>
          <a:ln/>
        </p:spPr>
        <p:txBody>
          <a:bodyPr wrap="square" lIns="0" tIns="0" rIns="0" bIns="0" rtlCol="0" anchor="ctr"/>
          <a:lstStyle/>
          <a:p>
            <a:pPr indent="0" marL="0">
              <a:buNone/>
            </a:pPr>
            <a:r>
              <a:rPr lang="en-US" sz="2100" b="1" dirty="0">
                <a:solidFill>
                  <a:srgbClr val="0B5FFF"/>
                </a:solidFill>
                <a:latin typeface="Montserrat" pitchFamily="34" charset="0"/>
                <a:ea typeface="Montserrat" pitchFamily="34" charset="-122"/>
                <a:cs typeface="Montserrat" pitchFamily="34" charset="-120"/>
              </a:rPr>
              <a:t>&lt; 3 min</a:t>
            </a:r>
            <a:endParaRPr lang="en-US" sz="2100" dirty="0"/>
          </a:p>
        </p:txBody>
      </p:sp>
      <p:sp>
        <p:nvSpPr>
          <p:cNvPr id="22" name="Text 17"/>
          <p:cNvSpPr txBox="1"/>
          <p:nvPr/>
        </p:nvSpPr>
        <p:spPr>
          <a:xfrm>
            <a:off x="548640" y="5212080"/>
            <a:ext cx="2377440" cy="27432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para capturar el desembarque</a:t>
            </a:r>
            <a:endParaRPr lang="en-US" sz="1050" dirty="0"/>
          </a:p>
        </p:txBody>
      </p:sp>
      <p:sp>
        <p:nvSpPr>
          <p:cNvPr id="23" name="Text 18"/>
          <p:cNvSpPr txBox="1"/>
          <p:nvPr/>
        </p:nvSpPr>
        <p:spPr>
          <a:xfrm>
            <a:off x="3035808" y="4754880"/>
            <a:ext cx="2377440" cy="457200"/>
          </a:xfrm>
          <a:prstGeom prst="rect">
            <a:avLst/>
          </a:prstGeom>
          <a:noFill/>
          <a:ln/>
        </p:spPr>
        <p:txBody>
          <a:bodyPr wrap="square" lIns="0" tIns="0" rIns="0" bIns="0" rtlCol="0" anchor="ctr"/>
          <a:lstStyle/>
          <a:p>
            <a:pPr indent="0" marL="0">
              <a:buNone/>
            </a:pPr>
            <a:r>
              <a:rPr lang="en-US" sz="2100" b="1" dirty="0">
                <a:solidFill>
                  <a:srgbClr val="7B5CFF"/>
                </a:solidFill>
                <a:latin typeface="Montserrat" pitchFamily="34" charset="0"/>
                <a:ea typeface="Montserrat" pitchFamily="34" charset="-122"/>
                <a:cs typeface="Montserrat" pitchFamily="34" charset="-120"/>
              </a:rPr>
              <a:t>Automática</a:t>
            </a:r>
            <a:endParaRPr lang="en-US" sz="2100" dirty="0"/>
          </a:p>
        </p:txBody>
      </p:sp>
      <p:sp>
        <p:nvSpPr>
          <p:cNvPr id="24" name="Text 19"/>
          <p:cNvSpPr txBox="1"/>
          <p:nvPr/>
        </p:nvSpPr>
        <p:spPr>
          <a:xfrm>
            <a:off x="3035808" y="5212080"/>
            <a:ext cx="2377440" cy="27432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validación contra la normativa</a:t>
            </a:r>
            <a:endParaRPr lang="en-US" sz="1050" dirty="0"/>
          </a:p>
        </p:txBody>
      </p:sp>
      <p:sp>
        <p:nvSpPr>
          <p:cNvPr id="25" name="Text 20"/>
          <p:cNvSpPr txBox="1"/>
          <p:nvPr/>
        </p:nvSpPr>
        <p:spPr>
          <a:xfrm>
            <a:off x="5522976" y="4754880"/>
            <a:ext cx="2377440" cy="457200"/>
          </a:xfrm>
          <a:prstGeom prst="rect">
            <a:avLst/>
          </a:prstGeom>
          <a:noFill/>
          <a:ln/>
        </p:spPr>
        <p:txBody>
          <a:bodyPr wrap="square" lIns="0" tIns="0" rIns="0" bIns="0" rtlCol="0" anchor="ctr"/>
          <a:lstStyle/>
          <a:p>
            <a:pPr indent="0" marL="0">
              <a:buNone/>
            </a:pPr>
            <a:r>
              <a:rPr lang="en-US" sz="2100" b="1" dirty="0">
                <a:solidFill>
                  <a:srgbClr val="0B9468"/>
                </a:solidFill>
                <a:latin typeface="Montserrat" pitchFamily="34" charset="0"/>
                <a:ea typeface="Montserrat" pitchFamily="34" charset="-122"/>
                <a:cs typeface="Montserrat" pitchFamily="34" charset="-120"/>
              </a:rPr>
              <a:t>QR + hash</a:t>
            </a:r>
            <a:endParaRPr lang="en-US" sz="2100" dirty="0"/>
          </a:p>
        </p:txBody>
      </p:sp>
      <p:sp>
        <p:nvSpPr>
          <p:cNvPr id="26" name="Text 21"/>
          <p:cNvSpPr txBox="1"/>
          <p:nvPr/>
        </p:nvSpPr>
        <p:spPr>
          <a:xfrm>
            <a:off x="5522976" y="5212080"/>
            <a:ext cx="2377440" cy="27432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constancia verificable</a:t>
            </a:r>
            <a:endParaRPr lang="en-US" sz="1050" dirty="0"/>
          </a:p>
        </p:txBody>
      </p:sp>
      <p:sp>
        <p:nvSpPr>
          <p:cNvPr id="27" name="Shape 22"/>
          <p:cNvSpPr/>
          <p:nvPr/>
        </p:nvSpPr>
        <p:spPr>
          <a:xfrm>
            <a:off x="548640" y="5623560"/>
            <a:ext cx="7315200" cy="594360"/>
          </a:xfrm>
          <a:prstGeom prst="roundRect">
            <a:avLst>
              <a:gd name="adj" fmla="val 18462"/>
            </a:avLst>
          </a:prstGeom>
          <a:solidFill>
            <a:srgbClr val="FFF6DA"/>
          </a:solidFill>
          <a:ln/>
        </p:spPr>
      </p:sp>
      <p:pic>
        <p:nvPicPr>
          <p:cNvPr id="28" name="Image 3" descr="preencoded.png">    </p:cNvPr>
          <p:cNvPicPr>
            <a:picLocks noChangeAspect="1"/>
          </p:cNvPicPr>
          <p:nvPr/>
        </p:nvPicPr>
        <p:blipFill>
          <a:blip r:embed="rId5"/>
          <a:stretch>
            <a:fillRect/>
          </a:stretch>
        </p:blipFill>
        <p:spPr>
          <a:xfrm>
            <a:off x="731520" y="5760720"/>
            <a:ext cx="310896" cy="310896"/>
          </a:xfrm>
          <a:prstGeom prst="rect">
            <a:avLst/>
          </a:prstGeom>
        </p:spPr>
      </p:pic>
      <p:sp>
        <p:nvSpPr>
          <p:cNvPr id="29" name="Text 23"/>
          <p:cNvSpPr txBox="1"/>
          <p:nvPr/>
        </p:nvSpPr>
        <p:spPr>
          <a:xfrm>
            <a:off x="1170432" y="5623560"/>
            <a:ext cx="6583680" cy="594360"/>
          </a:xfrm>
          <a:prstGeom prst="rect">
            <a:avLst/>
          </a:prstGeom>
          <a:noFill/>
          <a:ln/>
        </p:spPr>
        <p:txBody>
          <a:bodyPr wrap="square" lIns="0" tIns="0" rIns="0" bIns="0" rtlCol="0" anchor="ctr"/>
          <a:lstStyle/>
          <a:p>
            <a:pPr indent="0" marL="0">
              <a:buNone/>
            </a:pPr>
            <a:r>
              <a:rPr lang="en-US" sz="1050" b="1" dirty="0">
                <a:solidFill>
                  <a:srgbClr val="E06F00"/>
                </a:solidFill>
                <a:latin typeface="Open Sans" pitchFamily="34" charset="0"/>
                <a:ea typeface="Open Sans" pitchFamily="34" charset="-122"/>
                <a:cs typeface="Open Sans" pitchFamily="34" charset="-120"/>
              </a:rPr>
              <a:t>No sustituye al SITRAPESCA [18]: </a:t>
            </a:r>
            <a:pPr indent="0" marL="0">
              <a:buNone/>
            </a:pPr>
            <a:r>
              <a:rPr lang="en-US" sz="1050" dirty="0">
                <a:solidFill>
                  <a:srgbClr val="0E1B3D"/>
                </a:solidFill>
                <a:latin typeface="Open Sans" pitchFamily="34" charset="0"/>
                <a:ea typeface="Open Sans" pitchFamily="34" charset="-122"/>
                <a:cs typeface="Open Sans" pitchFamily="34" charset="-120"/>
              </a:rPr>
              <a:t>es un canal de captura descentralizado en los DPA que transmite la información requerida sin duplicar digitación.</a:t>
            </a:r>
            <a:endParaRPr lang="en-US" sz="1050" dirty="0"/>
          </a:p>
        </p:txBody>
      </p:sp>
      <p:sp>
        <p:nvSpPr>
          <p:cNvPr id="30" name="Shape 24"/>
          <p:cNvSpPr/>
          <p:nvPr/>
        </p:nvSpPr>
        <p:spPr>
          <a:xfrm>
            <a:off x="8641080" y="1234440"/>
            <a:ext cx="2606040" cy="5029200"/>
          </a:xfrm>
          <a:prstGeom prst="roundRect">
            <a:avLst>
              <a:gd name="adj" fmla="val 11228"/>
            </a:avLst>
          </a:prstGeom>
          <a:solidFill>
            <a:srgbClr val="0B1E4F"/>
          </a:solidFill>
          <a:ln/>
          <a:effectLst>
            <a:outerShdw sx="100000" sy="100000" kx="0" ky="0" algn="bl" rotWithShape="0" blurRad="355600" dist="127000" dir="5400000">
              <a:srgbClr val="031040">
                <a:alpha val="45000"/>
              </a:srgbClr>
            </a:outerShdw>
          </a:effectLst>
        </p:spPr>
      </p:sp>
      <p:sp>
        <p:nvSpPr>
          <p:cNvPr id="31" name="Shape 25"/>
          <p:cNvSpPr/>
          <p:nvPr/>
        </p:nvSpPr>
        <p:spPr>
          <a:xfrm>
            <a:off x="8732520" y="1325880"/>
            <a:ext cx="2423160" cy="4846320"/>
          </a:xfrm>
          <a:prstGeom prst="roundRect">
            <a:avLst>
              <a:gd name="adj" fmla="val 9057"/>
            </a:avLst>
          </a:prstGeom>
          <a:solidFill>
            <a:srgbClr val="FFFFFF"/>
          </a:solidFill>
          <a:ln/>
        </p:spPr>
      </p:sp>
      <p:sp>
        <p:nvSpPr>
          <p:cNvPr id="32" name="Shape 26"/>
          <p:cNvSpPr/>
          <p:nvPr/>
        </p:nvSpPr>
        <p:spPr>
          <a:xfrm>
            <a:off x="8732520" y="1325880"/>
            <a:ext cx="2423160" cy="566928"/>
          </a:xfrm>
          <a:prstGeom prst="roundRect">
            <a:avLst>
              <a:gd name="adj" fmla="val 38710"/>
            </a:avLst>
          </a:prstGeom>
          <a:solidFill>
            <a:srgbClr val="0B5FFF"/>
          </a:solidFill>
          <a:ln/>
        </p:spPr>
      </p:sp>
      <p:sp>
        <p:nvSpPr>
          <p:cNvPr id="33" name="Shape 27"/>
          <p:cNvSpPr/>
          <p:nvPr/>
        </p:nvSpPr>
        <p:spPr>
          <a:xfrm>
            <a:off x="8732520" y="1691640"/>
            <a:ext cx="2423160" cy="201168"/>
          </a:xfrm>
          <a:prstGeom prst="rect">
            <a:avLst/>
          </a:prstGeom>
          <a:solidFill>
            <a:srgbClr val="0B5FFF"/>
          </a:solidFill>
          <a:ln/>
        </p:spPr>
      </p:sp>
      <p:sp>
        <p:nvSpPr>
          <p:cNvPr id="34" name="Shape 28"/>
          <p:cNvSpPr/>
          <p:nvPr/>
        </p:nvSpPr>
        <p:spPr>
          <a:xfrm>
            <a:off x="9624060" y="1362456"/>
            <a:ext cx="640080" cy="73152"/>
          </a:xfrm>
          <a:prstGeom prst="roundRect">
            <a:avLst>
              <a:gd name="adj" fmla="val 50000"/>
            </a:avLst>
          </a:prstGeom>
          <a:solidFill>
            <a:srgbClr val="0B1E4F"/>
          </a:solidFill>
          <a:ln/>
        </p:spPr>
      </p:sp>
      <p:pic>
        <p:nvPicPr>
          <p:cNvPr id="35" name="Image 4" descr="preencoded.png">    </p:cNvPr>
          <p:cNvPicPr>
            <a:picLocks noChangeAspect="1"/>
          </p:cNvPicPr>
          <p:nvPr/>
        </p:nvPicPr>
        <p:blipFill>
          <a:blip r:embed="rId6"/>
          <a:stretch>
            <a:fillRect/>
          </a:stretch>
        </p:blipFill>
        <p:spPr>
          <a:xfrm>
            <a:off x="8897112" y="1563624"/>
            <a:ext cx="237744" cy="237744"/>
          </a:xfrm>
          <a:prstGeom prst="rect">
            <a:avLst/>
          </a:prstGeom>
        </p:spPr>
      </p:pic>
      <p:sp>
        <p:nvSpPr>
          <p:cNvPr id="36" name="Text 29"/>
          <p:cNvSpPr txBox="1"/>
          <p:nvPr/>
        </p:nvSpPr>
        <p:spPr>
          <a:xfrm>
            <a:off x="9189720" y="1545336"/>
            <a:ext cx="137160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SIRDEPA</a:t>
            </a:r>
            <a:endParaRPr lang="en-US" sz="1100" dirty="0"/>
          </a:p>
        </p:txBody>
      </p:sp>
      <p:sp>
        <p:nvSpPr>
          <p:cNvPr id="37" name="Text 30"/>
          <p:cNvSpPr txBox="1"/>
          <p:nvPr/>
        </p:nvSpPr>
        <p:spPr>
          <a:xfrm>
            <a:off x="8915400" y="2039112"/>
            <a:ext cx="2057400" cy="201168"/>
          </a:xfrm>
          <a:prstGeom prst="rect">
            <a:avLst/>
          </a:prstGeom>
          <a:noFill/>
          <a:ln/>
        </p:spPr>
        <p:txBody>
          <a:bodyPr wrap="square" lIns="0" tIns="0" rIns="0" bIns="0" rtlCol="0" anchor="t"/>
          <a:lstStyle/>
          <a:p>
            <a:pPr indent="0" marL="0">
              <a:buNone/>
            </a:pPr>
            <a:r>
              <a:rPr lang="en-US" sz="750" b="1" spc="150" kern="0" dirty="0">
                <a:solidFill>
                  <a:srgbClr val="8A96AE"/>
                </a:solidFill>
                <a:latin typeface="Montserrat" pitchFamily="34" charset="0"/>
                <a:ea typeface="Montserrat" pitchFamily="34" charset="-122"/>
                <a:cs typeface="Montserrat" pitchFamily="34" charset="-120"/>
              </a:rPr>
              <a:t>CONSTANCIA DIGITAL</a:t>
            </a:r>
            <a:endParaRPr lang="en-US" sz="750" dirty="0"/>
          </a:p>
        </p:txBody>
      </p:sp>
      <p:sp>
        <p:nvSpPr>
          <p:cNvPr id="38" name="Text 31"/>
          <p:cNvSpPr txBox="1"/>
          <p:nvPr/>
        </p:nvSpPr>
        <p:spPr>
          <a:xfrm>
            <a:off x="8915400" y="2221992"/>
            <a:ext cx="2057400" cy="274320"/>
          </a:xfrm>
          <a:prstGeom prst="rect">
            <a:avLst/>
          </a:prstGeom>
          <a:noFill/>
          <a:ln/>
        </p:spPr>
        <p:txBody>
          <a:bodyPr wrap="square" lIns="0" tIns="0" rIns="0" bIns="0" rtlCol="0" anchor="t"/>
          <a:lstStyle/>
          <a:p>
            <a:pPr indent="0" marL="0">
              <a:buNone/>
            </a:pPr>
            <a:r>
              <a:rPr lang="en-US" sz="1100" b="1" dirty="0">
                <a:solidFill>
                  <a:srgbClr val="0E1B3D"/>
                </a:solidFill>
                <a:latin typeface="Montserrat" pitchFamily="34" charset="0"/>
                <a:ea typeface="Montserrat" pitchFamily="34" charset="-122"/>
                <a:cs typeface="Montserrat" pitchFamily="34" charset="-120"/>
              </a:rPr>
              <a:t>Desembarque registrado</a:t>
            </a:r>
            <a:endParaRPr lang="en-US" sz="1100" dirty="0"/>
          </a:p>
        </p:txBody>
      </p:sp>
      <p:sp>
        <p:nvSpPr>
          <p:cNvPr id="39" name="Shape 32"/>
          <p:cNvSpPr/>
          <p:nvPr/>
        </p:nvSpPr>
        <p:spPr>
          <a:xfrm>
            <a:off x="8915400" y="2569464"/>
            <a:ext cx="1143000" cy="274320"/>
          </a:xfrm>
          <a:prstGeom prst="roundRect">
            <a:avLst>
              <a:gd name="adj" fmla="val 50000"/>
            </a:avLst>
          </a:prstGeom>
          <a:solidFill>
            <a:srgbClr val="E2F8EF"/>
          </a:solidFill>
          <a:ln/>
        </p:spPr>
      </p:sp>
      <p:pic>
        <p:nvPicPr>
          <p:cNvPr id="40" name="Image 5" descr="preencoded.png">    </p:cNvPr>
          <p:cNvPicPr>
            <a:picLocks noChangeAspect="1"/>
          </p:cNvPicPr>
          <p:nvPr/>
        </p:nvPicPr>
        <p:blipFill>
          <a:blip r:embed="rId7"/>
          <a:stretch>
            <a:fillRect/>
          </a:stretch>
        </p:blipFill>
        <p:spPr>
          <a:xfrm>
            <a:off x="8988552" y="2615184"/>
            <a:ext cx="182880" cy="182880"/>
          </a:xfrm>
          <a:prstGeom prst="rect">
            <a:avLst/>
          </a:prstGeom>
        </p:spPr>
      </p:pic>
      <p:sp>
        <p:nvSpPr>
          <p:cNvPr id="41" name="Text 33"/>
          <p:cNvSpPr txBox="1"/>
          <p:nvPr/>
        </p:nvSpPr>
        <p:spPr>
          <a:xfrm>
            <a:off x="9217152" y="2569464"/>
            <a:ext cx="822960" cy="274320"/>
          </a:xfrm>
          <a:prstGeom prst="rect">
            <a:avLst/>
          </a:prstGeom>
          <a:noFill/>
          <a:ln/>
        </p:spPr>
        <p:txBody>
          <a:bodyPr wrap="square" lIns="0" tIns="0" rIns="0" bIns="0" rtlCol="0" anchor="ctr"/>
          <a:lstStyle/>
          <a:p>
            <a:pPr indent="0" marL="0">
              <a:buNone/>
            </a:pPr>
            <a:r>
              <a:rPr lang="en-US" sz="900" b="1" dirty="0">
                <a:solidFill>
                  <a:srgbClr val="0B9468"/>
                </a:solidFill>
                <a:latin typeface="Open Sans" pitchFamily="34" charset="0"/>
                <a:ea typeface="Open Sans" pitchFamily="34" charset="-122"/>
                <a:cs typeface="Open Sans" pitchFamily="34" charset="-120"/>
              </a:rPr>
              <a:t>Conforme</a:t>
            </a:r>
            <a:endParaRPr lang="en-US" sz="900" dirty="0"/>
          </a:p>
        </p:txBody>
      </p:sp>
      <p:sp>
        <p:nvSpPr>
          <p:cNvPr id="42" name="Shape 34"/>
          <p:cNvSpPr/>
          <p:nvPr/>
        </p:nvSpPr>
        <p:spPr>
          <a:xfrm>
            <a:off x="9162288" y="2990088"/>
            <a:ext cx="1563624" cy="1563624"/>
          </a:xfrm>
          <a:prstGeom prst="roundRect">
            <a:avLst>
              <a:gd name="adj" fmla="val 5848"/>
            </a:avLst>
          </a:prstGeom>
          <a:solidFill>
            <a:srgbClr val="FFFFFF"/>
          </a:solidFill>
          <a:ln w="9525">
            <a:solidFill>
              <a:srgbClr val="DCE5F3"/>
            </a:solidFill>
            <a:prstDash val="solid"/>
          </a:ln>
        </p:spPr>
      </p:sp>
      <p:pic>
        <p:nvPicPr>
          <p:cNvPr id="43" name="Image 6" descr="assets/qr.png">    </p:cNvPr>
          <p:cNvPicPr>
            <a:picLocks noChangeAspect="1"/>
          </p:cNvPicPr>
          <p:nvPr/>
        </p:nvPicPr>
        <p:blipFill>
          <a:blip r:embed="rId8"/>
          <a:stretch>
            <a:fillRect/>
          </a:stretch>
        </p:blipFill>
        <p:spPr>
          <a:xfrm>
            <a:off x="9235440" y="3063240"/>
            <a:ext cx="1417320" cy="1417320"/>
          </a:xfrm>
          <a:prstGeom prst="rect">
            <a:avLst/>
          </a:prstGeom>
        </p:spPr>
      </p:pic>
      <p:sp>
        <p:nvSpPr>
          <p:cNvPr id="44" name="Text 35"/>
          <p:cNvSpPr txBox="1"/>
          <p:nvPr/>
        </p:nvSpPr>
        <p:spPr>
          <a:xfrm>
            <a:off x="8915400" y="463600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Especie</a:t>
            </a:r>
            <a:endParaRPr lang="en-US" sz="800" dirty="0"/>
          </a:p>
        </p:txBody>
      </p:sp>
      <p:sp>
        <p:nvSpPr>
          <p:cNvPr id="45" name="Shape 36"/>
          <p:cNvSpPr/>
          <p:nvPr/>
        </p:nvSpPr>
        <p:spPr>
          <a:xfrm>
            <a:off x="10149840" y="4700016"/>
            <a:ext cx="822960" cy="91440"/>
          </a:xfrm>
          <a:prstGeom prst="roundRect">
            <a:avLst>
              <a:gd name="adj" fmla="val 50000"/>
            </a:avLst>
          </a:prstGeom>
          <a:solidFill>
            <a:srgbClr val="D3E2FF"/>
          </a:solidFill>
          <a:ln/>
        </p:spPr>
      </p:sp>
      <p:sp>
        <p:nvSpPr>
          <p:cNvPr id="46" name="Text 37"/>
          <p:cNvSpPr txBox="1"/>
          <p:nvPr/>
        </p:nvSpPr>
        <p:spPr>
          <a:xfrm>
            <a:off x="8915400" y="491032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Kilos</a:t>
            </a:r>
            <a:endParaRPr lang="en-US" sz="800" dirty="0"/>
          </a:p>
        </p:txBody>
      </p:sp>
      <p:sp>
        <p:nvSpPr>
          <p:cNvPr id="47" name="Shape 38"/>
          <p:cNvSpPr/>
          <p:nvPr/>
        </p:nvSpPr>
        <p:spPr>
          <a:xfrm>
            <a:off x="10424160" y="4974336"/>
            <a:ext cx="548640" cy="91440"/>
          </a:xfrm>
          <a:prstGeom prst="roundRect">
            <a:avLst>
              <a:gd name="adj" fmla="val 50000"/>
            </a:avLst>
          </a:prstGeom>
          <a:solidFill>
            <a:srgbClr val="D3E2FF"/>
          </a:solidFill>
          <a:ln/>
        </p:spPr>
      </p:sp>
      <p:sp>
        <p:nvSpPr>
          <p:cNvPr id="48" name="Text 39"/>
          <p:cNvSpPr txBox="1"/>
          <p:nvPr/>
        </p:nvSpPr>
        <p:spPr>
          <a:xfrm>
            <a:off x="8915400" y="5184648"/>
            <a:ext cx="1097280" cy="219456"/>
          </a:xfrm>
          <a:prstGeom prst="rect">
            <a:avLst/>
          </a:prstGeom>
          <a:noFill/>
          <a:ln/>
        </p:spPr>
        <p:txBody>
          <a:bodyPr wrap="square" lIns="0" tIns="0" rIns="0" bIns="0" rtlCol="0" anchor="ctr"/>
          <a:lstStyle/>
          <a:p>
            <a:pPr indent="0" marL="0">
              <a:buNone/>
            </a:pPr>
            <a:r>
              <a:rPr lang="en-US" sz="800" dirty="0">
                <a:solidFill>
                  <a:srgbClr val="4A5878"/>
                </a:solidFill>
                <a:latin typeface="Open Sans" pitchFamily="34" charset="0"/>
                <a:ea typeface="Open Sans" pitchFamily="34" charset="-122"/>
                <a:cs typeface="Open Sans" pitchFamily="34" charset="-120"/>
              </a:rPr>
              <a:t>Zona (cuadrícula)</a:t>
            </a:r>
            <a:endParaRPr lang="en-US" sz="800" dirty="0"/>
          </a:p>
        </p:txBody>
      </p:sp>
      <p:sp>
        <p:nvSpPr>
          <p:cNvPr id="49" name="Shape 40"/>
          <p:cNvSpPr/>
          <p:nvPr/>
        </p:nvSpPr>
        <p:spPr>
          <a:xfrm>
            <a:off x="10287000" y="5248656"/>
            <a:ext cx="685800" cy="91440"/>
          </a:xfrm>
          <a:prstGeom prst="roundRect">
            <a:avLst>
              <a:gd name="adj" fmla="val 50000"/>
            </a:avLst>
          </a:prstGeom>
          <a:solidFill>
            <a:srgbClr val="D3E2FF"/>
          </a:solidFill>
          <a:ln/>
        </p:spPr>
      </p:sp>
      <p:sp>
        <p:nvSpPr>
          <p:cNvPr id="50" name="Shape 41"/>
          <p:cNvSpPr/>
          <p:nvPr/>
        </p:nvSpPr>
        <p:spPr>
          <a:xfrm>
            <a:off x="8915400" y="5605272"/>
            <a:ext cx="2057400" cy="384048"/>
          </a:xfrm>
          <a:prstGeom prst="roundRect">
            <a:avLst>
              <a:gd name="adj" fmla="val 50000"/>
            </a:avLst>
          </a:prstGeom>
          <a:solidFill>
            <a:srgbClr val="0B5FFF"/>
          </a:solidFill>
          <a:ln/>
        </p:spPr>
      </p:sp>
      <p:pic>
        <p:nvPicPr>
          <p:cNvPr id="51" name="Image 7" descr="preencoded.png">    </p:cNvPr>
          <p:cNvPicPr>
            <a:picLocks noChangeAspect="1"/>
          </p:cNvPicPr>
          <p:nvPr/>
        </p:nvPicPr>
        <p:blipFill>
          <a:blip r:embed="rId9"/>
          <a:stretch>
            <a:fillRect/>
          </a:stretch>
        </p:blipFill>
        <p:spPr>
          <a:xfrm>
            <a:off x="9116568" y="5696712"/>
            <a:ext cx="201168" cy="201168"/>
          </a:xfrm>
          <a:prstGeom prst="rect">
            <a:avLst/>
          </a:prstGeom>
        </p:spPr>
      </p:pic>
      <p:sp>
        <p:nvSpPr>
          <p:cNvPr id="52" name="Text 42"/>
          <p:cNvSpPr txBox="1"/>
          <p:nvPr/>
        </p:nvSpPr>
        <p:spPr>
          <a:xfrm>
            <a:off x="9372600" y="5605272"/>
            <a:ext cx="1508760" cy="384048"/>
          </a:xfrm>
          <a:prstGeom prst="rect">
            <a:avLst/>
          </a:prstGeom>
          <a:noFill/>
          <a:ln/>
        </p:spPr>
        <p:txBody>
          <a:bodyPr wrap="square" lIns="0" tIns="0" rIns="0" bIns="0" rtlCol="0" anchor="ctr"/>
          <a:lstStyle/>
          <a:p>
            <a:pPr indent="0" marL="0">
              <a:buNone/>
            </a:pPr>
            <a:r>
              <a:rPr lang="en-US" sz="950" b="1" dirty="0">
                <a:solidFill>
                  <a:srgbClr val="FFFFFF"/>
                </a:solidFill>
                <a:latin typeface="Open Sans" pitchFamily="34" charset="0"/>
                <a:ea typeface="Open Sans" pitchFamily="34" charset="-122"/>
                <a:cs typeface="Open Sans" pitchFamily="34" charset="-120"/>
              </a:rPr>
              <a:t>Enviada por SMS</a:t>
            </a:r>
            <a:endParaRPr lang="en-US" sz="950" dirty="0"/>
          </a:p>
        </p:txBody>
      </p:sp>
      <p:sp>
        <p:nvSpPr>
          <p:cNvPr id="53" name="Text 43"/>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4" name="Text 4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220517" cy="274320"/>
          </a:xfrm>
          <a:prstGeom prst="roundRect">
            <a:avLst>
              <a:gd name="adj" fmla="val 50000"/>
            </a:avLst>
          </a:prstGeom>
          <a:solidFill>
            <a:srgbClr val="0B5FFF"/>
          </a:solidFill>
          <a:ln/>
        </p:spPr>
      </p:sp>
      <p:sp>
        <p:nvSpPr>
          <p:cNvPr id="3" name="Text 1"/>
          <p:cNvSpPr txBox="1"/>
          <p:nvPr/>
        </p:nvSpPr>
        <p:spPr>
          <a:xfrm>
            <a:off x="548640" y="411480"/>
            <a:ext cx="3220517"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1.4.2 ¿CÓMO FUNCIONA?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Del arribo a la verificación en cinco pasos</a:t>
            </a:r>
            <a:endParaRPr lang="en-US" sz="3000" dirty="0"/>
          </a:p>
        </p:txBody>
      </p:sp>
      <p:sp>
        <p:nvSpPr>
          <p:cNvPr id="5" name="Shape 3"/>
          <p:cNvSpPr/>
          <p:nvPr/>
        </p:nvSpPr>
        <p:spPr>
          <a:xfrm>
            <a:off x="1097280" y="2148840"/>
            <a:ext cx="9966960" cy="914"/>
          </a:xfrm>
          <a:prstGeom prst="line">
            <a:avLst/>
          </a:prstGeom>
          <a:noFill/>
          <a:ln w="38100">
            <a:solidFill>
              <a:srgbClr val="DCE5F3"/>
            </a:solidFill>
            <a:prstDash val="solid"/>
          </a:ln>
        </p:spPr>
      </p:sp>
      <p:sp>
        <p:nvSpPr>
          <p:cNvPr id="6" name="Shape 4"/>
          <p:cNvSpPr/>
          <p:nvPr/>
        </p:nvSpPr>
        <p:spPr>
          <a:xfrm>
            <a:off x="1216152" y="1764792"/>
            <a:ext cx="768096" cy="768096"/>
          </a:xfrm>
          <a:prstGeom prst="ellipse">
            <a:avLst/>
          </a:prstGeom>
          <a:solidFill>
            <a:srgbClr val="0B5FFF"/>
          </a:solidFill>
          <a:ln/>
          <a:effectLst>
            <a:outerShdw sx="100000" sy="100000" kx="0" ky="0" algn="bl" rotWithShape="0" blurRad="177800" dist="38100" dir="5400000">
              <a:srgbClr val="0B1E4F">
                <a:alpha val="20000"/>
              </a:srgbClr>
            </a:outerShdw>
          </a:effectLst>
        </p:spPr>
      </p:sp>
      <p:sp>
        <p:nvSpPr>
          <p:cNvPr id="7" name="Shape 5"/>
          <p:cNvSpPr/>
          <p:nvPr/>
        </p:nvSpPr>
        <p:spPr>
          <a:xfrm>
            <a:off x="3465576" y="1764792"/>
            <a:ext cx="768096" cy="768096"/>
          </a:xfrm>
          <a:prstGeom prst="ellipse">
            <a:avLst/>
          </a:prstGeom>
          <a:solidFill>
            <a:srgbClr val="0B9468"/>
          </a:solidFill>
          <a:ln/>
          <a:effectLst>
            <a:outerShdw sx="100000" sy="100000" kx="0" ky="0" algn="bl" rotWithShape="0" blurRad="177800" dist="38100" dir="5400000">
              <a:srgbClr val="0B1E4F">
                <a:alpha val="20000"/>
              </a:srgbClr>
            </a:outerShdw>
          </a:effectLst>
        </p:spPr>
      </p:sp>
      <p:sp>
        <p:nvSpPr>
          <p:cNvPr id="8" name="Shape 6"/>
          <p:cNvSpPr/>
          <p:nvPr/>
        </p:nvSpPr>
        <p:spPr>
          <a:xfrm>
            <a:off x="5715000" y="1764792"/>
            <a:ext cx="768096" cy="768096"/>
          </a:xfrm>
          <a:prstGeom prst="ellipse">
            <a:avLst/>
          </a:prstGeom>
          <a:solidFill>
            <a:srgbClr val="C98A00"/>
          </a:solidFill>
          <a:ln/>
          <a:effectLst>
            <a:outerShdw sx="100000" sy="100000" kx="0" ky="0" algn="bl" rotWithShape="0" blurRad="177800" dist="38100" dir="5400000">
              <a:srgbClr val="0B1E4F">
                <a:alpha val="20000"/>
              </a:srgbClr>
            </a:outerShdw>
          </a:effectLst>
        </p:spPr>
      </p:sp>
      <p:sp>
        <p:nvSpPr>
          <p:cNvPr id="9" name="Shape 7"/>
          <p:cNvSpPr/>
          <p:nvPr/>
        </p:nvSpPr>
        <p:spPr>
          <a:xfrm>
            <a:off x="7964424" y="1764792"/>
            <a:ext cx="768096" cy="768096"/>
          </a:xfrm>
          <a:prstGeom prst="ellipse">
            <a:avLst/>
          </a:prstGeom>
          <a:solidFill>
            <a:srgbClr val="7B5CFF"/>
          </a:solidFill>
          <a:ln/>
          <a:effectLst>
            <a:outerShdw sx="100000" sy="100000" kx="0" ky="0" algn="bl" rotWithShape="0" blurRad="177800" dist="38100" dir="5400000">
              <a:srgbClr val="0B1E4F">
                <a:alpha val="20000"/>
              </a:srgbClr>
            </a:outerShdw>
          </a:effectLst>
        </p:spPr>
      </p:sp>
      <p:sp>
        <p:nvSpPr>
          <p:cNvPr id="10" name="Shape 8"/>
          <p:cNvSpPr/>
          <p:nvPr/>
        </p:nvSpPr>
        <p:spPr>
          <a:xfrm>
            <a:off x="10213848" y="1764792"/>
            <a:ext cx="768096" cy="768096"/>
          </a:xfrm>
          <a:prstGeom prst="ellipse">
            <a:avLst/>
          </a:prstGeom>
          <a:solidFill>
            <a:srgbClr val="FF5A5F"/>
          </a:solidFill>
          <a:ln/>
          <a:effectLst>
            <a:outerShdw sx="100000" sy="100000" kx="0" ky="0" algn="bl" rotWithShape="0" blurRad="177800" dist="38100" dir="5400000">
              <a:srgbClr val="0B1E4F">
                <a:alpha val="20000"/>
              </a:srgbClr>
            </a:outerShdw>
          </a:effectLst>
        </p:spPr>
      </p:sp>
      <p:pic>
        <p:nvPicPr>
          <p:cNvPr id="11" name="Image 0" descr="preencoded.png">    </p:cNvPr>
          <p:cNvPicPr>
            <a:picLocks noChangeAspect="1"/>
          </p:cNvPicPr>
          <p:nvPr/>
        </p:nvPicPr>
        <p:blipFill>
          <a:blip r:embed="rId2"/>
          <a:stretch>
            <a:fillRect/>
          </a:stretch>
        </p:blipFill>
        <p:spPr>
          <a:xfrm>
            <a:off x="1399032" y="1947672"/>
            <a:ext cx="402336" cy="402336"/>
          </a:xfrm>
          <a:prstGeom prst="rect">
            <a:avLst/>
          </a:prstGeom>
        </p:spPr>
      </p:pic>
      <p:sp>
        <p:nvSpPr>
          <p:cNvPr id="12" name="Shape 9"/>
          <p:cNvSpPr/>
          <p:nvPr/>
        </p:nvSpPr>
        <p:spPr>
          <a:xfrm>
            <a:off x="548640" y="2743200"/>
            <a:ext cx="2103120" cy="2788920"/>
          </a:xfrm>
          <a:prstGeom prst="roundRect">
            <a:avLst>
              <a:gd name="adj" fmla="val 6957"/>
            </a:avLst>
          </a:prstGeom>
          <a:solidFill>
            <a:srgbClr val="EAF1FF"/>
          </a:solidFill>
          <a:ln/>
        </p:spPr>
      </p:sp>
      <p:sp>
        <p:nvSpPr>
          <p:cNvPr id="13" name="Text 10"/>
          <p:cNvSpPr txBox="1"/>
          <p:nvPr/>
        </p:nvSpPr>
        <p:spPr>
          <a:xfrm>
            <a:off x="731520" y="2907792"/>
            <a:ext cx="1828800" cy="219456"/>
          </a:xfrm>
          <a:prstGeom prst="rect">
            <a:avLst/>
          </a:prstGeom>
          <a:noFill/>
          <a:ln/>
        </p:spPr>
        <p:txBody>
          <a:bodyPr wrap="square" lIns="0" tIns="0" rIns="0" bIns="0" rtlCol="0" anchor="t"/>
          <a:lstStyle/>
          <a:p>
            <a:pPr indent="0" marL="0">
              <a:buNone/>
            </a:pPr>
            <a:r>
              <a:rPr lang="en-US" sz="850" b="1" spc="150" kern="0" dirty="0">
                <a:solidFill>
                  <a:srgbClr val="0B5FFF"/>
                </a:solidFill>
                <a:latin typeface="Montserrat" pitchFamily="34" charset="0"/>
                <a:ea typeface="Montserrat" pitchFamily="34" charset="-122"/>
                <a:cs typeface="Montserrat" pitchFamily="34" charset="-120"/>
              </a:rPr>
              <a:t>PASO 1</a:t>
            </a:r>
            <a:endParaRPr lang="en-US" sz="850" dirty="0"/>
          </a:p>
        </p:txBody>
      </p:sp>
      <p:sp>
        <p:nvSpPr>
          <p:cNvPr id="14" name="Text 11"/>
          <p:cNvSpPr txBox="1"/>
          <p:nvPr/>
        </p:nvSpPr>
        <p:spPr>
          <a:xfrm>
            <a:off x="731520" y="3127248"/>
            <a:ext cx="1783080" cy="502920"/>
          </a:xfrm>
          <a:prstGeom prst="rect">
            <a:avLst/>
          </a:prstGeom>
          <a:noFill/>
          <a:ln/>
        </p:spPr>
        <p:txBody>
          <a:bodyPr wrap="square" lIns="0" tIns="0" rIns="0" bIns="0" rtlCol="0" anchor="t"/>
          <a:lstStyle/>
          <a:p>
            <a:pPr indent="0" marL="0">
              <a:buNone/>
            </a:pPr>
            <a:r>
              <a:rPr lang="en-US" sz="1300" b="1" dirty="0">
                <a:solidFill>
                  <a:srgbClr val="0E1B3D"/>
                </a:solidFill>
                <a:latin typeface="Montserrat" pitchFamily="34" charset="0"/>
                <a:ea typeface="Montserrat" pitchFamily="34" charset="-122"/>
                <a:cs typeface="Montserrat" pitchFamily="34" charset="-120"/>
              </a:rPr>
              <a:t>Aviso de arribo</a:t>
            </a:r>
            <a:endParaRPr lang="en-US" sz="1300" dirty="0"/>
          </a:p>
        </p:txBody>
      </p:sp>
      <p:sp>
        <p:nvSpPr>
          <p:cNvPr id="15" name="Text 12"/>
          <p:cNvSpPr txBox="1"/>
          <p:nvPr/>
        </p:nvSpPr>
        <p:spPr>
          <a:xfrm>
            <a:off x="731520" y="3657600"/>
            <a:ext cx="1783080" cy="178308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(Opcional) Desde su celular, el patrón informa su hora estimada de llegada y lo que trae.</a:t>
            </a:r>
            <a:endParaRPr lang="en-US" sz="1150" dirty="0"/>
          </a:p>
        </p:txBody>
      </p:sp>
      <p:pic>
        <p:nvPicPr>
          <p:cNvPr id="16" name="Image 1" descr="preencoded.png">    </p:cNvPr>
          <p:cNvPicPr>
            <a:picLocks noChangeAspect="1"/>
          </p:cNvPicPr>
          <p:nvPr/>
        </p:nvPicPr>
        <p:blipFill>
          <a:blip r:embed="rId3"/>
          <a:stretch>
            <a:fillRect/>
          </a:stretch>
        </p:blipFill>
        <p:spPr>
          <a:xfrm>
            <a:off x="3648456" y="1947672"/>
            <a:ext cx="402336" cy="402336"/>
          </a:xfrm>
          <a:prstGeom prst="rect">
            <a:avLst/>
          </a:prstGeom>
        </p:spPr>
      </p:pic>
      <p:sp>
        <p:nvSpPr>
          <p:cNvPr id="17" name="Shape 13"/>
          <p:cNvSpPr/>
          <p:nvPr/>
        </p:nvSpPr>
        <p:spPr>
          <a:xfrm>
            <a:off x="2798064" y="2743200"/>
            <a:ext cx="2103120" cy="2788920"/>
          </a:xfrm>
          <a:prstGeom prst="roundRect">
            <a:avLst>
              <a:gd name="adj" fmla="val 6957"/>
            </a:avLst>
          </a:prstGeom>
          <a:solidFill>
            <a:srgbClr val="E2F8EF"/>
          </a:solidFill>
          <a:ln/>
        </p:spPr>
      </p:sp>
      <p:sp>
        <p:nvSpPr>
          <p:cNvPr id="18" name="Text 14"/>
          <p:cNvSpPr txBox="1"/>
          <p:nvPr/>
        </p:nvSpPr>
        <p:spPr>
          <a:xfrm>
            <a:off x="2980944" y="2907792"/>
            <a:ext cx="1828800" cy="219456"/>
          </a:xfrm>
          <a:prstGeom prst="rect">
            <a:avLst/>
          </a:prstGeom>
          <a:noFill/>
          <a:ln/>
        </p:spPr>
        <p:txBody>
          <a:bodyPr wrap="square" lIns="0" tIns="0" rIns="0" bIns="0" rtlCol="0" anchor="t"/>
          <a:lstStyle/>
          <a:p>
            <a:pPr indent="0" marL="0">
              <a:buNone/>
            </a:pPr>
            <a:r>
              <a:rPr lang="en-US" sz="850" b="1" spc="150" kern="0" dirty="0">
                <a:solidFill>
                  <a:srgbClr val="0B9468"/>
                </a:solidFill>
                <a:latin typeface="Montserrat" pitchFamily="34" charset="0"/>
                <a:ea typeface="Montserrat" pitchFamily="34" charset="-122"/>
                <a:cs typeface="Montserrat" pitchFamily="34" charset="-120"/>
              </a:rPr>
              <a:t>PASO 2</a:t>
            </a:r>
            <a:endParaRPr lang="en-US" sz="850" dirty="0"/>
          </a:p>
        </p:txBody>
      </p:sp>
      <p:sp>
        <p:nvSpPr>
          <p:cNvPr id="19" name="Text 15"/>
          <p:cNvSpPr txBox="1"/>
          <p:nvPr/>
        </p:nvSpPr>
        <p:spPr>
          <a:xfrm>
            <a:off x="2980944" y="3127248"/>
            <a:ext cx="1783080" cy="502920"/>
          </a:xfrm>
          <a:prstGeom prst="rect">
            <a:avLst/>
          </a:prstGeom>
          <a:noFill/>
          <a:ln/>
        </p:spPr>
        <p:txBody>
          <a:bodyPr wrap="square" lIns="0" tIns="0" rIns="0" bIns="0" rtlCol="0" anchor="t"/>
          <a:lstStyle/>
          <a:p>
            <a:pPr indent="0" marL="0">
              <a:buNone/>
            </a:pPr>
            <a:r>
              <a:rPr lang="en-US" sz="1300" b="1" dirty="0">
                <a:solidFill>
                  <a:srgbClr val="0E1B3D"/>
                </a:solidFill>
                <a:latin typeface="Montserrat" pitchFamily="34" charset="0"/>
                <a:ea typeface="Montserrat" pitchFamily="34" charset="-122"/>
                <a:cs typeface="Montserrat" pitchFamily="34" charset="-120"/>
              </a:rPr>
              <a:t>Registro en el muelle</a:t>
            </a:r>
            <a:endParaRPr lang="en-US" sz="1300" dirty="0"/>
          </a:p>
        </p:txBody>
      </p:sp>
      <p:sp>
        <p:nvSpPr>
          <p:cNvPr id="20" name="Text 16"/>
          <p:cNvSpPr txBox="1"/>
          <p:nvPr/>
        </p:nvSpPr>
        <p:spPr>
          <a:xfrm>
            <a:off x="2980944" y="3657600"/>
            <a:ext cx="1783080" cy="178308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El registrador busca la embarcación por matrícula y registra faena, zona, arte y kilos por especie; sin señal, se guarda en el celular.</a:t>
            </a:r>
            <a:endParaRPr lang="en-US" sz="1150" dirty="0"/>
          </a:p>
        </p:txBody>
      </p:sp>
      <p:pic>
        <p:nvPicPr>
          <p:cNvPr id="21" name="Image 2" descr="preencoded.png">    </p:cNvPr>
          <p:cNvPicPr>
            <a:picLocks noChangeAspect="1"/>
          </p:cNvPicPr>
          <p:nvPr/>
        </p:nvPicPr>
        <p:blipFill>
          <a:blip r:embed="rId4"/>
          <a:stretch>
            <a:fillRect/>
          </a:stretch>
        </p:blipFill>
        <p:spPr>
          <a:xfrm>
            <a:off x="5897880" y="1947672"/>
            <a:ext cx="402336" cy="402336"/>
          </a:xfrm>
          <a:prstGeom prst="rect">
            <a:avLst/>
          </a:prstGeom>
        </p:spPr>
      </p:pic>
      <p:sp>
        <p:nvSpPr>
          <p:cNvPr id="22" name="Shape 17"/>
          <p:cNvSpPr/>
          <p:nvPr/>
        </p:nvSpPr>
        <p:spPr>
          <a:xfrm>
            <a:off x="5047488" y="2743200"/>
            <a:ext cx="2103120" cy="2788920"/>
          </a:xfrm>
          <a:prstGeom prst="roundRect">
            <a:avLst>
              <a:gd name="adj" fmla="val 6957"/>
            </a:avLst>
          </a:prstGeom>
          <a:solidFill>
            <a:srgbClr val="FFF6DA"/>
          </a:solidFill>
          <a:ln/>
        </p:spPr>
      </p:sp>
      <p:sp>
        <p:nvSpPr>
          <p:cNvPr id="23" name="Text 18"/>
          <p:cNvSpPr txBox="1"/>
          <p:nvPr/>
        </p:nvSpPr>
        <p:spPr>
          <a:xfrm>
            <a:off x="5230368" y="2907792"/>
            <a:ext cx="1828800" cy="219456"/>
          </a:xfrm>
          <a:prstGeom prst="rect">
            <a:avLst/>
          </a:prstGeom>
          <a:noFill/>
          <a:ln/>
        </p:spPr>
        <p:txBody>
          <a:bodyPr wrap="square" lIns="0" tIns="0" rIns="0" bIns="0" rtlCol="0" anchor="t"/>
          <a:lstStyle/>
          <a:p>
            <a:pPr indent="0" marL="0">
              <a:buNone/>
            </a:pPr>
            <a:r>
              <a:rPr lang="en-US" sz="850" b="1" spc="150" kern="0" dirty="0">
                <a:solidFill>
                  <a:srgbClr val="C98A00"/>
                </a:solidFill>
                <a:latin typeface="Montserrat" pitchFamily="34" charset="0"/>
                <a:ea typeface="Montserrat" pitchFamily="34" charset="-122"/>
                <a:cs typeface="Montserrat" pitchFamily="34" charset="-120"/>
              </a:rPr>
              <a:t>PASO 3</a:t>
            </a:r>
            <a:endParaRPr lang="en-US" sz="850" dirty="0"/>
          </a:p>
        </p:txBody>
      </p:sp>
      <p:sp>
        <p:nvSpPr>
          <p:cNvPr id="24" name="Text 19"/>
          <p:cNvSpPr txBox="1"/>
          <p:nvPr/>
        </p:nvSpPr>
        <p:spPr>
          <a:xfrm>
            <a:off x="5230368" y="3127248"/>
            <a:ext cx="1783080" cy="502920"/>
          </a:xfrm>
          <a:prstGeom prst="rect">
            <a:avLst/>
          </a:prstGeom>
          <a:noFill/>
          <a:ln/>
        </p:spPr>
        <p:txBody>
          <a:bodyPr wrap="square" lIns="0" tIns="0" rIns="0" bIns="0" rtlCol="0" anchor="t"/>
          <a:lstStyle/>
          <a:p>
            <a:pPr indent="0" marL="0">
              <a:buNone/>
            </a:pPr>
            <a:r>
              <a:rPr lang="en-US" sz="1300" b="1" dirty="0">
                <a:solidFill>
                  <a:srgbClr val="0E1B3D"/>
                </a:solidFill>
                <a:latin typeface="Montserrat" pitchFamily="34" charset="0"/>
                <a:ea typeface="Montserrat" pitchFamily="34" charset="-122"/>
                <a:cs typeface="Montserrat" pitchFamily="34" charset="-120"/>
              </a:rPr>
              <a:t>Validación automática</a:t>
            </a:r>
            <a:endParaRPr lang="en-US" sz="1300" dirty="0"/>
          </a:p>
        </p:txBody>
      </p:sp>
      <p:sp>
        <p:nvSpPr>
          <p:cNvPr id="25" name="Text 20"/>
          <p:cNvSpPr txBox="1"/>
          <p:nvPr/>
        </p:nvSpPr>
        <p:spPr>
          <a:xfrm>
            <a:off x="5230368" y="3657600"/>
            <a:ext cx="1783080" cy="178308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El motor normativo verifica permiso vigente, especie y arte autorizados, veda y tolerancia de tallas.</a:t>
            </a:r>
            <a:endParaRPr lang="en-US" sz="1150" dirty="0"/>
          </a:p>
        </p:txBody>
      </p:sp>
      <p:pic>
        <p:nvPicPr>
          <p:cNvPr id="26" name="Image 3" descr="preencoded.png">    </p:cNvPr>
          <p:cNvPicPr>
            <a:picLocks noChangeAspect="1"/>
          </p:cNvPicPr>
          <p:nvPr/>
        </p:nvPicPr>
        <p:blipFill>
          <a:blip r:embed="rId5"/>
          <a:stretch>
            <a:fillRect/>
          </a:stretch>
        </p:blipFill>
        <p:spPr>
          <a:xfrm>
            <a:off x="8147304" y="1947672"/>
            <a:ext cx="402336" cy="402336"/>
          </a:xfrm>
          <a:prstGeom prst="rect">
            <a:avLst/>
          </a:prstGeom>
        </p:spPr>
      </p:pic>
      <p:sp>
        <p:nvSpPr>
          <p:cNvPr id="27" name="Shape 21"/>
          <p:cNvSpPr/>
          <p:nvPr/>
        </p:nvSpPr>
        <p:spPr>
          <a:xfrm>
            <a:off x="7296912" y="2743200"/>
            <a:ext cx="2103120" cy="2788920"/>
          </a:xfrm>
          <a:prstGeom prst="roundRect">
            <a:avLst>
              <a:gd name="adj" fmla="val 6957"/>
            </a:avLst>
          </a:prstGeom>
          <a:solidFill>
            <a:srgbClr val="EFEBFF"/>
          </a:solidFill>
          <a:ln/>
        </p:spPr>
      </p:sp>
      <p:sp>
        <p:nvSpPr>
          <p:cNvPr id="28" name="Text 22"/>
          <p:cNvSpPr txBox="1"/>
          <p:nvPr/>
        </p:nvSpPr>
        <p:spPr>
          <a:xfrm>
            <a:off x="7479792" y="2907792"/>
            <a:ext cx="1828800" cy="219456"/>
          </a:xfrm>
          <a:prstGeom prst="rect">
            <a:avLst/>
          </a:prstGeom>
          <a:noFill/>
          <a:ln/>
        </p:spPr>
        <p:txBody>
          <a:bodyPr wrap="square" lIns="0" tIns="0" rIns="0" bIns="0" rtlCol="0" anchor="t"/>
          <a:lstStyle/>
          <a:p>
            <a:pPr indent="0" marL="0">
              <a:buNone/>
            </a:pPr>
            <a:r>
              <a:rPr lang="en-US" sz="850" b="1" spc="150" kern="0" dirty="0">
                <a:solidFill>
                  <a:srgbClr val="7B5CFF"/>
                </a:solidFill>
                <a:latin typeface="Montserrat" pitchFamily="34" charset="0"/>
                <a:ea typeface="Montserrat" pitchFamily="34" charset="-122"/>
                <a:cs typeface="Montserrat" pitchFamily="34" charset="-120"/>
              </a:rPr>
              <a:t>PASO 4</a:t>
            </a:r>
            <a:endParaRPr lang="en-US" sz="850" dirty="0"/>
          </a:p>
        </p:txBody>
      </p:sp>
      <p:sp>
        <p:nvSpPr>
          <p:cNvPr id="29" name="Text 23"/>
          <p:cNvSpPr txBox="1"/>
          <p:nvPr/>
        </p:nvSpPr>
        <p:spPr>
          <a:xfrm>
            <a:off x="7479792" y="3127248"/>
            <a:ext cx="1783080" cy="502920"/>
          </a:xfrm>
          <a:prstGeom prst="rect">
            <a:avLst/>
          </a:prstGeom>
          <a:noFill/>
          <a:ln/>
        </p:spPr>
        <p:txBody>
          <a:bodyPr wrap="square" lIns="0" tIns="0" rIns="0" bIns="0" rtlCol="0" anchor="t"/>
          <a:lstStyle/>
          <a:p>
            <a:pPr indent="0" marL="0">
              <a:buNone/>
            </a:pPr>
            <a:r>
              <a:rPr lang="en-US" sz="1300" b="1" dirty="0">
                <a:solidFill>
                  <a:srgbClr val="0E1B3D"/>
                </a:solidFill>
                <a:latin typeface="Montserrat" pitchFamily="34" charset="0"/>
                <a:ea typeface="Montserrat" pitchFamily="34" charset="-122"/>
                <a:cs typeface="Montserrat" pitchFamily="34" charset="-120"/>
              </a:rPr>
              <a:t>Constancia con QR</a:t>
            </a:r>
            <a:endParaRPr lang="en-US" sz="1300" dirty="0"/>
          </a:p>
        </p:txBody>
      </p:sp>
      <p:sp>
        <p:nvSpPr>
          <p:cNvPr id="30" name="Text 24"/>
          <p:cNvSpPr txBox="1"/>
          <p:nvPr/>
        </p:nvSpPr>
        <p:spPr>
          <a:xfrm>
            <a:off x="7479792" y="3657600"/>
            <a:ext cx="1783080" cy="178308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Constancia digital con código único y hash, enviada por SMS al armador; se asignan kilos a cada comprador.</a:t>
            </a:r>
            <a:endParaRPr lang="en-US" sz="1150" dirty="0"/>
          </a:p>
        </p:txBody>
      </p:sp>
      <p:pic>
        <p:nvPicPr>
          <p:cNvPr id="31" name="Image 4" descr="preencoded.png">    </p:cNvPr>
          <p:cNvPicPr>
            <a:picLocks noChangeAspect="1"/>
          </p:cNvPicPr>
          <p:nvPr/>
        </p:nvPicPr>
        <p:blipFill>
          <a:blip r:embed="rId6"/>
          <a:stretch>
            <a:fillRect/>
          </a:stretch>
        </p:blipFill>
        <p:spPr>
          <a:xfrm>
            <a:off x="10396728" y="1947672"/>
            <a:ext cx="402336" cy="402336"/>
          </a:xfrm>
          <a:prstGeom prst="rect">
            <a:avLst/>
          </a:prstGeom>
        </p:spPr>
      </p:pic>
      <p:sp>
        <p:nvSpPr>
          <p:cNvPr id="32" name="Shape 25"/>
          <p:cNvSpPr/>
          <p:nvPr/>
        </p:nvSpPr>
        <p:spPr>
          <a:xfrm>
            <a:off x="9546336" y="2743200"/>
            <a:ext cx="2103120" cy="2788920"/>
          </a:xfrm>
          <a:prstGeom prst="roundRect">
            <a:avLst>
              <a:gd name="adj" fmla="val 6957"/>
            </a:avLst>
          </a:prstGeom>
          <a:solidFill>
            <a:srgbClr val="FFE9EA"/>
          </a:solidFill>
          <a:ln/>
        </p:spPr>
      </p:sp>
      <p:sp>
        <p:nvSpPr>
          <p:cNvPr id="33" name="Text 26"/>
          <p:cNvSpPr txBox="1"/>
          <p:nvPr/>
        </p:nvSpPr>
        <p:spPr>
          <a:xfrm>
            <a:off x="9729216" y="2907792"/>
            <a:ext cx="1828800" cy="219456"/>
          </a:xfrm>
          <a:prstGeom prst="rect">
            <a:avLst/>
          </a:prstGeom>
          <a:noFill/>
          <a:ln/>
        </p:spPr>
        <p:txBody>
          <a:bodyPr wrap="square" lIns="0" tIns="0" rIns="0" bIns="0" rtlCol="0" anchor="t"/>
          <a:lstStyle/>
          <a:p>
            <a:pPr indent="0" marL="0">
              <a:buNone/>
            </a:pPr>
            <a:r>
              <a:rPr lang="en-US" sz="850" b="1" spc="150" kern="0" dirty="0">
                <a:solidFill>
                  <a:srgbClr val="FF5A5F"/>
                </a:solidFill>
                <a:latin typeface="Montserrat" pitchFamily="34" charset="0"/>
                <a:ea typeface="Montserrat" pitchFamily="34" charset="-122"/>
                <a:cs typeface="Montserrat" pitchFamily="34" charset="-120"/>
              </a:rPr>
              <a:t>PASO 5</a:t>
            </a:r>
            <a:endParaRPr lang="en-US" sz="850" dirty="0"/>
          </a:p>
        </p:txBody>
      </p:sp>
      <p:sp>
        <p:nvSpPr>
          <p:cNvPr id="34" name="Text 27"/>
          <p:cNvSpPr txBox="1"/>
          <p:nvPr/>
        </p:nvSpPr>
        <p:spPr>
          <a:xfrm>
            <a:off x="9729216" y="3127248"/>
            <a:ext cx="1783080" cy="502920"/>
          </a:xfrm>
          <a:prstGeom prst="rect">
            <a:avLst/>
          </a:prstGeom>
          <a:noFill/>
          <a:ln/>
        </p:spPr>
        <p:txBody>
          <a:bodyPr wrap="square" lIns="0" tIns="0" rIns="0" bIns="0" rtlCol="0" anchor="t"/>
          <a:lstStyle/>
          <a:p>
            <a:pPr indent="0" marL="0">
              <a:buNone/>
            </a:pPr>
            <a:r>
              <a:rPr lang="en-US" sz="1300" b="1" dirty="0">
                <a:solidFill>
                  <a:srgbClr val="0E1B3D"/>
                </a:solidFill>
                <a:latin typeface="Montserrat" pitchFamily="34" charset="0"/>
                <a:ea typeface="Montserrat" pitchFamily="34" charset="-122"/>
                <a:cs typeface="Montserrat" pitchFamily="34" charset="-120"/>
              </a:rPr>
              <a:t>Verificación</a:t>
            </a:r>
            <a:endParaRPr lang="en-US" sz="1300" dirty="0"/>
          </a:p>
        </p:txBody>
      </p:sp>
      <p:sp>
        <p:nvSpPr>
          <p:cNvPr id="35" name="Text 28"/>
          <p:cNvSpPr txBox="1"/>
          <p:nvPr/>
        </p:nvSpPr>
        <p:spPr>
          <a:xfrm>
            <a:off x="9729216" y="3657600"/>
            <a:ext cx="1783080" cy="178308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Comprador o fiscalizador escanea el QR y comprueba en segundos su autenticidad; los datos alimentan tableros y reportes.</a:t>
            </a:r>
            <a:endParaRPr lang="en-US" sz="1150" dirty="0"/>
          </a:p>
        </p:txBody>
      </p:sp>
      <p:sp>
        <p:nvSpPr>
          <p:cNvPr id="36" name="Text 29"/>
          <p:cNvSpPr txBox="1"/>
          <p:nvPr/>
        </p:nvSpPr>
        <p:spPr>
          <a:xfrm>
            <a:off x="548640" y="5760720"/>
            <a:ext cx="6858000" cy="274320"/>
          </a:xfrm>
          <a:prstGeom prst="rect">
            <a:avLst/>
          </a:prstGeom>
          <a:noFill/>
          <a:ln/>
        </p:spPr>
        <p:txBody>
          <a:bodyPr wrap="square" lIns="0" tIns="0" rIns="0" bIns="0" rtlCol="0" anchor="ctr"/>
          <a:lstStyle/>
          <a:p>
            <a:pPr indent="0" marL="0">
              <a:buNone/>
            </a:pPr>
            <a:r>
              <a:rPr lang="en-US" sz="850" b="1" spc="100" kern="0" dirty="0">
                <a:solidFill>
                  <a:srgbClr val="0E1B3D"/>
                </a:solidFill>
                <a:latin typeface="Montserrat" pitchFamily="34" charset="0"/>
                <a:ea typeface="Montserrat" pitchFamily="34" charset="-122"/>
                <a:cs typeface="Montserrat" pitchFamily="34" charset="-120"/>
              </a:rPr>
              <a:t>RESULTADO DE LA VALIDACIÓN (PASO 3), EXPLICADO EN LENGUAJE SENCILLO:</a:t>
            </a:r>
            <a:endParaRPr lang="en-US" sz="850" dirty="0"/>
          </a:p>
        </p:txBody>
      </p:sp>
      <p:sp>
        <p:nvSpPr>
          <p:cNvPr id="37" name="Shape 30"/>
          <p:cNvSpPr/>
          <p:nvPr/>
        </p:nvSpPr>
        <p:spPr>
          <a:xfrm>
            <a:off x="6583680" y="5715000"/>
            <a:ext cx="1249680" cy="365760"/>
          </a:xfrm>
          <a:prstGeom prst="roundRect">
            <a:avLst>
              <a:gd name="adj" fmla="val 50000"/>
            </a:avLst>
          </a:prstGeom>
          <a:solidFill>
            <a:srgbClr val="E2F8EF"/>
          </a:solidFill>
          <a:ln/>
        </p:spPr>
      </p:sp>
      <p:pic>
        <p:nvPicPr>
          <p:cNvPr id="38" name="Image 5" descr="preencoded.png">    </p:cNvPr>
          <p:cNvPicPr>
            <a:picLocks noChangeAspect="1"/>
          </p:cNvPicPr>
          <p:nvPr/>
        </p:nvPicPr>
        <p:blipFill>
          <a:blip r:embed="rId7"/>
          <a:stretch>
            <a:fillRect/>
          </a:stretch>
        </p:blipFill>
        <p:spPr>
          <a:xfrm>
            <a:off x="6711696" y="5788152"/>
            <a:ext cx="219456" cy="219456"/>
          </a:xfrm>
          <a:prstGeom prst="rect">
            <a:avLst/>
          </a:prstGeom>
        </p:spPr>
      </p:pic>
      <p:sp>
        <p:nvSpPr>
          <p:cNvPr id="39" name="Text 31"/>
          <p:cNvSpPr txBox="1"/>
          <p:nvPr/>
        </p:nvSpPr>
        <p:spPr>
          <a:xfrm>
            <a:off x="6995160" y="5715000"/>
            <a:ext cx="792480" cy="365760"/>
          </a:xfrm>
          <a:prstGeom prst="rect">
            <a:avLst/>
          </a:prstGeom>
          <a:noFill/>
          <a:ln/>
        </p:spPr>
        <p:txBody>
          <a:bodyPr wrap="square" lIns="0" tIns="0" rIns="0" bIns="0" rtlCol="0" anchor="ctr"/>
          <a:lstStyle/>
          <a:p>
            <a:pPr indent="0" marL="0">
              <a:buNone/>
            </a:pPr>
            <a:r>
              <a:rPr lang="en-US" sz="1000" b="1" dirty="0">
                <a:solidFill>
                  <a:srgbClr val="0B9468"/>
                </a:solidFill>
                <a:latin typeface="Open Sans" pitchFamily="34" charset="0"/>
                <a:ea typeface="Open Sans" pitchFamily="34" charset="-122"/>
                <a:cs typeface="Open Sans" pitchFamily="34" charset="-120"/>
              </a:rPr>
              <a:t>Conforme</a:t>
            </a:r>
            <a:endParaRPr lang="en-US" sz="1000" dirty="0"/>
          </a:p>
        </p:txBody>
      </p:sp>
      <p:sp>
        <p:nvSpPr>
          <p:cNvPr id="40" name="Shape 32"/>
          <p:cNvSpPr/>
          <p:nvPr/>
        </p:nvSpPr>
        <p:spPr>
          <a:xfrm>
            <a:off x="7970520" y="5715000"/>
            <a:ext cx="1325880" cy="365760"/>
          </a:xfrm>
          <a:prstGeom prst="roundRect">
            <a:avLst>
              <a:gd name="adj" fmla="val 50000"/>
            </a:avLst>
          </a:prstGeom>
          <a:solidFill>
            <a:srgbClr val="FFF6DA"/>
          </a:solidFill>
          <a:ln/>
        </p:spPr>
      </p:sp>
      <p:pic>
        <p:nvPicPr>
          <p:cNvPr id="41" name="Image 6" descr="preencoded.png">    </p:cNvPr>
          <p:cNvPicPr>
            <a:picLocks noChangeAspect="1"/>
          </p:cNvPicPr>
          <p:nvPr/>
        </p:nvPicPr>
        <p:blipFill>
          <a:blip r:embed="rId8"/>
          <a:stretch>
            <a:fillRect/>
          </a:stretch>
        </p:blipFill>
        <p:spPr>
          <a:xfrm>
            <a:off x="8098536" y="5788152"/>
            <a:ext cx="219456" cy="219456"/>
          </a:xfrm>
          <a:prstGeom prst="rect">
            <a:avLst/>
          </a:prstGeom>
        </p:spPr>
      </p:pic>
      <p:sp>
        <p:nvSpPr>
          <p:cNvPr id="42" name="Text 33"/>
          <p:cNvSpPr txBox="1"/>
          <p:nvPr/>
        </p:nvSpPr>
        <p:spPr>
          <a:xfrm>
            <a:off x="8382000" y="5715000"/>
            <a:ext cx="868680" cy="365760"/>
          </a:xfrm>
          <a:prstGeom prst="rect">
            <a:avLst/>
          </a:prstGeom>
          <a:noFill/>
          <a:ln/>
        </p:spPr>
        <p:txBody>
          <a:bodyPr wrap="square" lIns="0" tIns="0" rIns="0" bIns="0" rtlCol="0" anchor="ctr"/>
          <a:lstStyle/>
          <a:p>
            <a:pPr indent="0" marL="0">
              <a:buNone/>
            </a:pPr>
            <a:r>
              <a:rPr lang="en-US" sz="1000" b="1" dirty="0">
                <a:solidFill>
                  <a:srgbClr val="C98A00"/>
                </a:solidFill>
                <a:latin typeface="Open Sans" pitchFamily="34" charset="0"/>
                <a:ea typeface="Open Sans" pitchFamily="34" charset="-122"/>
                <a:cs typeface="Open Sans" pitchFamily="34" charset="-120"/>
              </a:rPr>
              <a:t>Observado</a:t>
            </a:r>
            <a:endParaRPr lang="en-US" sz="1000" dirty="0"/>
          </a:p>
        </p:txBody>
      </p:sp>
      <p:sp>
        <p:nvSpPr>
          <p:cNvPr id="43" name="Shape 34"/>
          <p:cNvSpPr/>
          <p:nvPr/>
        </p:nvSpPr>
        <p:spPr>
          <a:xfrm>
            <a:off x="9433560" y="5715000"/>
            <a:ext cx="1478280" cy="365760"/>
          </a:xfrm>
          <a:prstGeom prst="roundRect">
            <a:avLst>
              <a:gd name="adj" fmla="val 50000"/>
            </a:avLst>
          </a:prstGeom>
          <a:solidFill>
            <a:srgbClr val="FFE9EA"/>
          </a:solidFill>
          <a:ln/>
        </p:spPr>
      </p:sp>
      <p:pic>
        <p:nvPicPr>
          <p:cNvPr id="44" name="Image 7" descr="preencoded.png">    </p:cNvPr>
          <p:cNvPicPr>
            <a:picLocks noChangeAspect="1"/>
          </p:cNvPicPr>
          <p:nvPr/>
        </p:nvPicPr>
        <p:blipFill>
          <a:blip r:embed="rId9"/>
          <a:stretch>
            <a:fillRect/>
          </a:stretch>
        </p:blipFill>
        <p:spPr>
          <a:xfrm>
            <a:off x="9561576" y="5788152"/>
            <a:ext cx="219456" cy="219456"/>
          </a:xfrm>
          <a:prstGeom prst="rect">
            <a:avLst/>
          </a:prstGeom>
        </p:spPr>
      </p:pic>
      <p:sp>
        <p:nvSpPr>
          <p:cNvPr id="45" name="Text 35"/>
          <p:cNvSpPr txBox="1"/>
          <p:nvPr/>
        </p:nvSpPr>
        <p:spPr>
          <a:xfrm>
            <a:off x="9845040" y="5715000"/>
            <a:ext cx="1021080" cy="365760"/>
          </a:xfrm>
          <a:prstGeom prst="rect">
            <a:avLst/>
          </a:prstGeom>
          <a:noFill/>
          <a:ln/>
        </p:spPr>
        <p:txBody>
          <a:bodyPr wrap="square" lIns="0" tIns="0" rIns="0" bIns="0" rtlCol="0" anchor="ctr"/>
          <a:lstStyle/>
          <a:p>
            <a:pPr indent="0" marL="0">
              <a:buNone/>
            </a:pPr>
            <a:r>
              <a:rPr lang="en-US" sz="1000" b="1" dirty="0">
                <a:solidFill>
                  <a:srgbClr val="E0393F"/>
                </a:solidFill>
                <a:latin typeface="Open Sans" pitchFamily="34" charset="0"/>
                <a:ea typeface="Open Sans" pitchFamily="34" charset="-122"/>
                <a:cs typeface="Open Sans" pitchFamily="34" charset="-120"/>
              </a:rPr>
              <a:t>No conforme</a:t>
            </a:r>
            <a:endParaRPr lang="en-US" sz="1000" dirty="0"/>
          </a:p>
        </p:txBody>
      </p:sp>
      <p:sp>
        <p:nvSpPr>
          <p:cNvPr id="46" name="Text 3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7" name="Text 3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560674" cy="274320"/>
          </a:xfrm>
          <a:prstGeom prst="roundRect">
            <a:avLst>
              <a:gd name="adj" fmla="val 50000"/>
            </a:avLst>
          </a:prstGeom>
          <a:solidFill>
            <a:srgbClr val="0B5FFF"/>
          </a:solidFill>
          <a:ln/>
        </p:spPr>
      </p:sp>
      <p:sp>
        <p:nvSpPr>
          <p:cNvPr id="3" name="Text 1"/>
          <p:cNvSpPr txBox="1"/>
          <p:nvPr/>
        </p:nvSpPr>
        <p:spPr>
          <a:xfrm>
            <a:off x="548640" y="411480"/>
            <a:ext cx="356067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1.4.3 MÓDULOS DEL SISTEMA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Ocho módulos funcionales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3 del informe. Fuente: adaptado de Oceana Perú [12] y PRODUCE [15], [16].</a:t>
            </a:r>
            <a:endParaRPr lang="en-US" sz="1300" dirty="0"/>
          </a:p>
        </p:txBody>
      </p:sp>
      <p:sp>
        <p:nvSpPr>
          <p:cNvPr id="6" name="Shape 4"/>
          <p:cNvSpPr/>
          <p:nvPr/>
        </p:nvSpPr>
        <p:spPr>
          <a:xfrm>
            <a:off x="548640" y="1993392"/>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31520" y="2176272"/>
            <a:ext cx="512064" cy="512064"/>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854415" y="2299167"/>
            <a:ext cx="266273" cy="266273"/>
          </a:xfrm>
          <a:prstGeom prst="rect">
            <a:avLst/>
          </a:prstGeom>
        </p:spPr>
      </p:pic>
      <p:sp>
        <p:nvSpPr>
          <p:cNvPr id="9" name="Text 6"/>
          <p:cNvSpPr txBox="1"/>
          <p:nvPr/>
        </p:nvSpPr>
        <p:spPr>
          <a:xfrm>
            <a:off x="2468880" y="2194560"/>
            <a:ext cx="548640" cy="320040"/>
          </a:xfrm>
          <a:prstGeom prst="rect">
            <a:avLst/>
          </a:prstGeom>
          <a:noFill/>
          <a:ln/>
        </p:spPr>
        <p:txBody>
          <a:bodyPr wrap="square" lIns="0" tIns="0" rIns="0" bIns="0" rtlCol="0" anchor="ctr"/>
          <a:lstStyle/>
          <a:p>
            <a:pPr algn="r" indent="0" marL="0">
              <a:buNone/>
            </a:pPr>
            <a:r>
              <a:rPr lang="en-US" sz="1500" b="1" dirty="0">
                <a:solidFill>
                  <a:srgbClr val="0B5FFF"/>
                </a:solidFill>
                <a:latin typeface="Montserrat" pitchFamily="34" charset="0"/>
                <a:ea typeface="Montserrat" pitchFamily="34" charset="-122"/>
                <a:cs typeface="Montserrat" pitchFamily="34" charset="-120"/>
              </a:rPr>
              <a:t>M1</a:t>
            </a:r>
            <a:endParaRPr lang="en-US" sz="1500" dirty="0"/>
          </a:p>
        </p:txBody>
      </p:sp>
      <p:sp>
        <p:nvSpPr>
          <p:cNvPr id="10" name="Text 7"/>
          <p:cNvSpPr txBox="1"/>
          <p:nvPr/>
        </p:nvSpPr>
        <p:spPr>
          <a:xfrm>
            <a:off x="731520" y="2779776"/>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Acceso y seguridad</a:t>
            </a:r>
            <a:endParaRPr lang="en-US" sz="1200" dirty="0"/>
          </a:p>
        </p:txBody>
      </p:sp>
      <p:sp>
        <p:nvSpPr>
          <p:cNvPr id="11" name="Text 8"/>
          <p:cNvSpPr txBox="1"/>
          <p:nvPr/>
        </p:nvSpPr>
        <p:spPr>
          <a:xfrm>
            <a:off x="731520" y="3072384"/>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Ingreso con DNI, PIN y código por SMS (sin correo), control por roles y bitácora de auditoría.</a:t>
            </a:r>
            <a:endParaRPr lang="en-US" sz="950" dirty="0"/>
          </a:p>
        </p:txBody>
      </p:sp>
      <p:sp>
        <p:nvSpPr>
          <p:cNvPr id="12" name="Text 9"/>
          <p:cNvSpPr txBox="1"/>
          <p:nvPr/>
        </p:nvSpPr>
        <p:spPr>
          <a:xfrm>
            <a:off x="731520" y="3602736"/>
            <a:ext cx="2331720" cy="365760"/>
          </a:xfrm>
          <a:prstGeom prst="rect">
            <a:avLst/>
          </a:prstGeom>
          <a:noFill/>
          <a:ln/>
        </p:spPr>
        <p:txBody>
          <a:bodyPr wrap="square" lIns="0" tIns="0" rIns="0" bIns="0" rtlCol="0" anchor="b"/>
          <a:lstStyle/>
          <a:p>
            <a:pPr indent="0" marL="0">
              <a:buNone/>
            </a:pPr>
            <a:r>
              <a:rPr lang="en-US" sz="850" b="1" dirty="0">
                <a:solidFill>
                  <a:srgbClr val="0B5FFF"/>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Todos</a:t>
            </a:r>
            <a:endParaRPr lang="en-US" sz="850" dirty="0"/>
          </a:p>
        </p:txBody>
      </p:sp>
      <p:sp>
        <p:nvSpPr>
          <p:cNvPr id="13" name="Shape 10"/>
          <p:cNvSpPr/>
          <p:nvPr/>
        </p:nvSpPr>
        <p:spPr>
          <a:xfrm>
            <a:off x="3355848" y="1993392"/>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4" name="Shape 11"/>
          <p:cNvSpPr/>
          <p:nvPr/>
        </p:nvSpPr>
        <p:spPr>
          <a:xfrm>
            <a:off x="3538728" y="2176272"/>
            <a:ext cx="512064" cy="512064"/>
          </a:xfrm>
          <a:prstGeom prst="roundRect">
            <a:avLst>
              <a:gd name="adj" fmla="val 28000"/>
            </a:avLst>
          </a:prstGeom>
          <a:solidFill>
            <a:srgbClr val="7B5CFF"/>
          </a:solidFill>
          <a:ln/>
        </p:spPr>
      </p:sp>
      <p:pic>
        <p:nvPicPr>
          <p:cNvPr id="15" name="Image 1" descr="preencoded.png">    </p:cNvPr>
          <p:cNvPicPr>
            <a:picLocks noChangeAspect="1"/>
          </p:cNvPicPr>
          <p:nvPr/>
        </p:nvPicPr>
        <p:blipFill>
          <a:blip r:embed="rId3"/>
          <a:stretch>
            <a:fillRect/>
          </a:stretch>
        </p:blipFill>
        <p:spPr>
          <a:xfrm>
            <a:off x="3661623" y="2299167"/>
            <a:ext cx="266273" cy="266273"/>
          </a:xfrm>
          <a:prstGeom prst="rect">
            <a:avLst/>
          </a:prstGeom>
        </p:spPr>
      </p:pic>
      <p:sp>
        <p:nvSpPr>
          <p:cNvPr id="16" name="Text 12"/>
          <p:cNvSpPr txBox="1"/>
          <p:nvPr/>
        </p:nvSpPr>
        <p:spPr>
          <a:xfrm>
            <a:off x="5276088" y="2194560"/>
            <a:ext cx="548640" cy="320040"/>
          </a:xfrm>
          <a:prstGeom prst="rect">
            <a:avLst/>
          </a:prstGeom>
          <a:noFill/>
          <a:ln/>
        </p:spPr>
        <p:txBody>
          <a:bodyPr wrap="square" lIns="0" tIns="0" rIns="0" bIns="0" rtlCol="0" anchor="ctr"/>
          <a:lstStyle/>
          <a:p>
            <a:pPr algn="r" indent="0" marL="0">
              <a:buNone/>
            </a:pPr>
            <a:r>
              <a:rPr lang="en-US" sz="1500" b="1" dirty="0">
                <a:solidFill>
                  <a:srgbClr val="7B5CFF"/>
                </a:solidFill>
                <a:latin typeface="Montserrat" pitchFamily="34" charset="0"/>
                <a:ea typeface="Montserrat" pitchFamily="34" charset="-122"/>
                <a:cs typeface="Montserrat" pitchFamily="34" charset="-120"/>
              </a:rPr>
              <a:t>M2</a:t>
            </a:r>
            <a:endParaRPr lang="en-US" sz="1500" dirty="0"/>
          </a:p>
        </p:txBody>
      </p:sp>
      <p:sp>
        <p:nvSpPr>
          <p:cNvPr id="17" name="Text 13"/>
          <p:cNvSpPr txBox="1"/>
          <p:nvPr/>
        </p:nvSpPr>
        <p:spPr>
          <a:xfrm>
            <a:off x="3538728" y="2779776"/>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Maestros</a:t>
            </a:r>
            <a:endParaRPr lang="en-US" sz="1200" dirty="0"/>
          </a:p>
        </p:txBody>
      </p:sp>
      <p:sp>
        <p:nvSpPr>
          <p:cNvPr id="18" name="Text 14"/>
          <p:cNvSpPr txBox="1"/>
          <p:nvPr/>
        </p:nvSpPr>
        <p:spPr>
          <a:xfrm>
            <a:off x="3538728" y="3072384"/>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Embarcaciones, armadores, permisos de pesca, compradores y lugares de desembarque.</a:t>
            </a:r>
            <a:endParaRPr lang="en-US" sz="950" dirty="0"/>
          </a:p>
        </p:txBody>
      </p:sp>
      <p:sp>
        <p:nvSpPr>
          <p:cNvPr id="19" name="Text 15"/>
          <p:cNvSpPr txBox="1"/>
          <p:nvPr/>
        </p:nvSpPr>
        <p:spPr>
          <a:xfrm>
            <a:off x="3538728" y="3602736"/>
            <a:ext cx="2331720" cy="365760"/>
          </a:xfrm>
          <a:prstGeom prst="rect">
            <a:avLst/>
          </a:prstGeom>
          <a:noFill/>
          <a:ln/>
        </p:spPr>
        <p:txBody>
          <a:bodyPr wrap="square" lIns="0" tIns="0" rIns="0" bIns="0" rtlCol="0" anchor="b"/>
          <a:lstStyle/>
          <a:p>
            <a:pPr indent="0" marL="0">
              <a:buNone/>
            </a:pPr>
            <a:r>
              <a:rPr lang="en-US" sz="850" b="1" dirty="0">
                <a:solidFill>
                  <a:srgbClr val="7B5CFF"/>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Administrador del DPA</a:t>
            </a:r>
            <a:endParaRPr lang="en-US" sz="850" dirty="0"/>
          </a:p>
        </p:txBody>
      </p:sp>
      <p:sp>
        <p:nvSpPr>
          <p:cNvPr id="20" name="Shape 16"/>
          <p:cNvSpPr/>
          <p:nvPr/>
        </p:nvSpPr>
        <p:spPr>
          <a:xfrm>
            <a:off x="6163056" y="1993392"/>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1" name="Shape 17"/>
          <p:cNvSpPr/>
          <p:nvPr/>
        </p:nvSpPr>
        <p:spPr>
          <a:xfrm>
            <a:off x="6345936" y="2176272"/>
            <a:ext cx="512064" cy="512064"/>
          </a:xfrm>
          <a:prstGeom prst="roundRect">
            <a:avLst>
              <a:gd name="adj" fmla="val 28000"/>
            </a:avLst>
          </a:prstGeom>
          <a:solidFill>
            <a:srgbClr val="008FB0"/>
          </a:solidFill>
          <a:ln/>
        </p:spPr>
      </p:sp>
      <p:pic>
        <p:nvPicPr>
          <p:cNvPr id="22" name="Image 2" descr="preencoded.png">    </p:cNvPr>
          <p:cNvPicPr>
            <a:picLocks noChangeAspect="1"/>
          </p:cNvPicPr>
          <p:nvPr/>
        </p:nvPicPr>
        <p:blipFill>
          <a:blip r:embed="rId4"/>
          <a:stretch>
            <a:fillRect/>
          </a:stretch>
        </p:blipFill>
        <p:spPr>
          <a:xfrm>
            <a:off x="6468831" y="2299167"/>
            <a:ext cx="266273" cy="266273"/>
          </a:xfrm>
          <a:prstGeom prst="rect">
            <a:avLst/>
          </a:prstGeom>
        </p:spPr>
      </p:pic>
      <p:sp>
        <p:nvSpPr>
          <p:cNvPr id="23" name="Text 18"/>
          <p:cNvSpPr txBox="1"/>
          <p:nvPr/>
        </p:nvSpPr>
        <p:spPr>
          <a:xfrm>
            <a:off x="8083296" y="2194560"/>
            <a:ext cx="548640" cy="320040"/>
          </a:xfrm>
          <a:prstGeom prst="rect">
            <a:avLst/>
          </a:prstGeom>
          <a:noFill/>
          <a:ln/>
        </p:spPr>
        <p:txBody>
          <a:bodyPr wrap="square" lIns="0" tIns="0" rIns="0" bIns="0" rtlCol="0" anchor="ctr"/>
          <a:lstStyle/>
          <a:p>
            <a:pPr algn="r" indent="0" marL="0">
              <a:buNone/>
            </a:pPr>
            <a:r>
              <a:rPr lang="en-US" sz="1500" b="1" dirty="0">
                <a:solidFill>
                  <a:srgbClr val="008FB0"/>
                </a:solidFill>
                <a:latin typeface="Montserrat" pitchFamily="34" charset="0"/>
                <a:ea typeface="Montserrat" pitchFamily="34" charset="-122"/>
                <a:cs typeface="Montserrat" pitchFamily="34" charset="-120"/>
              </a:rPr>
              <a:t>M3</a:t>
            </a:r>
            <a:endParaRPr lang="en-US" sz="1500" dirty="0"/>
          </a:p>
        </p:txBody>
      </p:sp>
      <p:sp>
        <p:nvSpPr>
          <p:cNvPr id="24" name="Text 19"/>
          <p:cNvSpPr txBox="1"/>
          <p:nvPr/>
        </p:nvSpPr>
        <p:spPr>
          <a:xfrm>
            <a:off x="6345936" y="2779776"/>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Catálogo normativo</a:t>
            </a:r>
            <a:endParaRPr lang="en-US" sz="1200" dirty="0"/>
          </a:p>
        </p:txBody>
      </p:sp>
      <p:sp>
        <p:nvSpPr>
          <p:cNvPr id="25" name="Text 20"/>
          <p:cNvSpPr txBox="1"/>
          <p:nvPr/>
        </p:nvSpPr>
        <p:spPr>
          <a:xfrm>
            <a:off x="6345936" y="3072384"/>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Especies con talla mínima y tolerancia, artes, cuadrículas y vedas, cada regla con su norma.</a:t>
            </a:r>
            <a:endParaRPr lang="en-US" sz="950" dirty="0"/>
          </a:p>
        </p:txBody>
      </p:sp>
      <p:sp>
        <p:nvSpPr>
          <p:cNvPr id="26" name="Text 21"/>
          <p:cNvSpPr txBox="1"/>
          <p:nvPr/>
        </p:nvSpPr>
        <p:spPr>
          <a:xfrm>
            <a:off x="6345936" y="3602736"/>
            <a:ext cx="2331720" cy="365760"/>
          </a:xfrm>
          <a:prstGeom prst="rect">
            <a:avLst/>
          </a:prstGeom>
          <a:noFill/>
          <a:ln/>
        </p:spPr>
        <p:txBody>
          <a:bodyPr wrap="square" lIns="0" tIns="0" rIns="0" bIns="0" rtlCol="0" anchor="b"/>
          <a:lstStyle/>
          <a:p>
            <a:pPr indent="0" marL="0">
              <a:buNone/>
            </a:pPr>
            <a:r>
              <a:rPr lang="en-US" sz="850" b="1" dirty="0">
                <a:solidFill>
                  <a:srgbClr val="008FB0"/>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Administrador del DPA</a:t>
            </a:r>
            <a:endParaRPr lang="en-US" sz="850" dirty="0"/>
          </a:p>
        </p:txBody>
      </p:sp>
      <p:sp>
        <p:nvSpPr>
          <p:cNvPr id="27" name="Shape 22"/>
          <p:cNvSpPr/>
          <p:nvPr/>
        </p:nvSpPr>
        <p:spPr>
          <a:xfrm>
            <a:off x="8970264" y="1993392"/>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8" name="Shape 23"/>
          <p:cNvSpPr/>
          <p:nvPr/>
        </p:nvSpPr>
        <p:spPr>
          <a:xfrm>
            <a:off x="9153144" y="2176272"/>
            <a:ext cx="512064" cy="512064"/>
          </a:xfrm>
          <a:prstGeom prst="roundRect">
            <a:avLst>
              <a:gd name="adj" fmla="val 28000"/>
            </a:avLst>
          </a:prstGeom>
          <a:solidFill>
            <a:srgbClr val="0B9468"/>
          </a:solidFill>
          <a:ln/>
        </p:spPr>
      </p:sp>
      <p:pic>
        <p:nvPicPr>
          <p:cNvPr id="29" name="Image 3" descr="preencoded.png">    </p:cNvPr>
          <p:cNvPicPr>
            <a:picLocks noChangeAspect="1"/>
          </p:cNvPicPr>
          <p:nvPr/>
        </p:nvPicPr>
        <p:blipFill>
          <a:blip r:embed="rId5"/>
          <a:stretch>
            <a:fillRect/>
          </a:stretch>
        </p:blipFill>
        <p:spPr>
          <a:xfrm>
            <a:off x="9276039" y="2299167"/>
            <a:ext cx="266273" cy="266273"/>
          </a:xfrm>
          <a:prstGeom prst="rect">
            <a:avLst/>
          </a:prstGeom>
        </p:spPr>
      </p:pic>
      <p:sp>
        <p:nvSpPr>
          <p:cNvPr id="30" name="Text 24"/>
          <p:cNvSpPr txBox="1"/>
          <p:nvPr/>
        </p:nvSpPr>
        <p:spPr>
          <a:xfrm>
            <a:off x="10890504" y="2194560"/>
            <a:ext cx="548640" cy="320040"/>
          </a:xfrm>
          <a:prstGeom prst="rect">
            <a:avLst/>
          </a:prstGeom>
          <a:noFill/>
          <a:ln/>
        </p:spPr>
        <p:txBody>
          <a:bodyPr wrap="square" lIns="0" tIns="0" rIns="0" bIns="0" rtlCol="0" anchor="ctr"/>
          <a:lstStyle/>
          <a:p>
            <a:pPr algn="r" indent="0" marL="0">
              <a:buNone/>
            </a:pPr>
            <a:r>
              <a:rPr lang="en-US" sz="1500" b="1" dirty="0">
                <a:solidFill>
                  <a:srgbClr val="0B9468"/>
                </a:solidFill>
                <a:latin typeface="Montserrat" pitchFamily="34" charset="0"/>
                <a:ea typeface="Montserrat" pitchFamily="34" charset="-122"/>
                <a:cs typeface="Montserrat" pitchFamily="34" charset="-120"/>
              </a:rPr>
              <a:t>M4</a:t>
            </a:r>
            <a:endParaRPr lang="en-US" sz="1500" dirty="0"/>
          </a:p>
        </p:txBody>
      </p:sp>
      <p:sp>
        <p:nvSpPr>
          <p:cNvPr id="31" name="Text 25"/>
          <p:cNvSpPr txBox="1"/>
          <p:nvPr/>
        </p:nvSpPr>
        <p:spPr>
          <a:xfrm>
            <a:off x="9153144" y="2779776"/>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Registro de desembarque</a:t>
            </a:r>
            <a:endParaRPr lang="en-US" sz="1200" dirty="0"/>
          </a:p>
        </p:txBody>
      </p:sp>
      <p:sp>
        <p:nvSpPr>
          <p:cNvPr id="32" name="Text 26"/>
          <p:cNvSpPr txBox="1"/>
          <p:nvPr/>
        </p:nvSpPr>
        <p:spPr>
          <a:xfrm>
            <a:off x="9153144" y="3072384"/>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Aviso de arribo, faena, especies y kilos, muestreo de tallas, fotos, balanza y modo sin conexión.</a:t>
            </a:r>
            <a:endParaRPr lang="en-US" sz="950" dirty="0"/>
          </a:p>
        </p:txBody>
      </p:sp>
      <p:sp>
        <p:nvSpPr>
          <p:cNvPr id="33" name="Text 27"/>
          <p:cNvSpPr txBox="1"/>
          <p:nvPr/>
        </p:nvSpPr>
        <p:spPr>
          <a:xfrm>
            <a:off x="9153144" y="3602736"/>
            <a:ext cx="2331720" cy="365760"/>
          </a:xfrm>
          <a:prstGeom prst="rect">
            <a:avLst/>
          </a:prstGeom>
          <a:noFill/>
          <a:ln/>
        </p:spPr>
        <p:txBody>
          <a:bodyPr wrap="square" lIns="0" tIns="0" rIns="0" bIns="0" rtlCol="0" anchor="b"/>
          <a:lstStyle/>
          <a:p>
            <a:pPr indent="0" marL="0">
              <a:buNone/>
            </a:pPr>
            <a:r>
              <a:rPr lang="en-US" sz="850" b="1" dirty="0">
                <a:solidFill>
                  <a:srgbClr val="0B9468"/>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Registrador, patrón</a:t>
            </a:r>
            <a:endParaRPr lang="en-US" sz="850" dirty="0"/>
          </a:p>
        </p:txBody>
      </p:sp>
      <p:sp>
        <p:nvSpPr>
          <p:cNvPr id="34" name="Shape 28"/>
          <p:cNvSpPr/>
          <p:nvPr/>
        </p:nvSpPr>
        <p:spPr>
          <a:xfrm>
            <a:off x="548640" y="4169664"/>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5" name="Shape 29"/>
          <p:cNvSpPr/>
          <p:nvPr/>
        </p:nvSpPr>
        <p:spPr>
          <a:xfrm>
            <a:off x="731520" y="4352544"/>
            <a:ext cx="512064" cy="512064"/>
          </a:xfrm>
          <a:prstGeom prst="roundRect">
            <a:avLst>
              <a:gd name="adj" fmla="val 28000"/>
            </a:avLst>
          </a:prstGeom>
          <a:solidFill>
            <a:srgbClr val="E06F00"/>
          </a:solidFill>
          <a:ln/>
        </p:spPr>
      </p:sp>
      <p:pic>
        <p:nvPicPr>
          <p:cNvPr id="36" name="Image 4" descr="preencoded.png">    </p:cNvPr>
          <p:cNvPicPr>
            <a:picLocks noChangeAspect="1"/>
          </p:cNvPicPr>
          <p:nvPr/>
        </p:nvPicPr>
        <p:blipFill>
          <a:blip r:embed="rId6"/>
          <a:stretch>
            <a:fillRect/>
          </a:stretch>
        </p:blipFill>
        <p:spPr>
          <a:xfrm>
            <a:off x="854415" y="4475439"/>
            <a:ext cx="266273" cy="266273"/>
          </a:xfrm>
          <a:prstGeom prst="rect">
            <a:avLst/>
          </a:prstGeom>
        </p:spPr>
      </p:pic>
      <p:sp>
        <p:nvSpPr>
          <p:cNvPr id="37" name="Text 30"/>
          <p:cNvSpPr txBox="1"/>
          <p:nvPr/>
        </p:nvSpPr>
        <p:spPr>
          <a:xfrm>
            <a:off x="2468880" y="4370832"/>
            <a:ext cx="548640" cy="320040"/>
          </a:xfrm>
          <a:prstGeom prst="rect">
            <a:avLst/>
          </a:prstGeom>
          <a:noFill/>
          <a:ln/>
        </p:spPr>
        <p:txBody>
          <a:bodyPr wrap="square" lIns="0" tIns="0" rIns="0" bIns="0" rtlCol="0" anchor="ctr"/>
          <a:lstStyle/>
          <a:p>
            <a:pPr algn="r" indent="0" marL="0">
              <a:buNone/>
            </a:pPr>
            <a:r>
              <a:rPr lang="en-US" sz="1500" b="1" dirty="0">
                <a:solidFill>
                  <a:srgbClr val="E06F00"/>
                </a:solidFill>
                <a:latin typeface="Montserrat" pitchFamily="34" charset="0"/>
                <a:ea typeface="Montserrat" pitchFamily="34" charset="-122"/>
                <a:cs typeface="Montserrat" pitchFamily="34" charset="-120"/>
              </a:rPr>
              <a:t>M5</a:t>
            </a:r>
            <a:endParaRPr lang="en-US" sz="1500" dirty="0"/>
          </a:p>
        </p:txBody>
      </p:sp>
      <p:sp>
        <p:nvSpPr>
          <p:cNvPr id="38" name="Text 31"/>
          <p:cNvSpPr txBox="1"/>
          <p:nvPr/>
        </p:nvSpPr>
        <p:spPr>
          <a:xfrm>
            <a:off x="731520" y="4956048"/>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Validación normativa</a:t>
            </a:r>
            <a:endParaRPr lang="en-US" sz="1200" dirty="0"/>
          </a:p>
        </p:txBody>
      </p:sp>
      <p:sp>
        <p:nvSpPr>
          <p:cNvPr id="39" name="Text 32"/>
          <p:cNvSpPr txBox="1"/>
          <p:nvPr/>
        </p:nvSpPr>
        <p:spPr>
          <a:xfrm>
            <a:off x="731520" y="5248656"/>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Motor de reglas configurable que clasifica cada desembarque y genera alertas.</a:t>
            </a:r>
            <a:endParaRPr lang="en-US" sz="950" dirty="0"/>
          </a:p>
        </p:txBody>
      </p:sp>
      <p:sp>
        <p:nvSpPr>
          <p:cNvPr id="40" name="Text 33"/>
          <p:cNvSpPr txBox="1"/>
          <p:nvPr/>
        </p:nvSpPr>
        <p:spPr>
          <a:xfrm>
            <a:off x="731520" y="5779008"/>
            <a:ext cx="2331720" cy="365760"/>
          </a:xfrm>
          <a:prstGeom prst="rect">
            <a:avLst/>
          </a:prstGeom>
          <a:noFill/>
          <a:ln/>
        </p:spPr>
        <p:txBody>
          <a:bodyPr wrap="square" lIns="0" tIns="0" rIns="0" bIns="0" rtlCol="0" anchor="b"/>
          <a:lstStyle/>
          <a:p>
            <a:pPr indent="0" marL="0">
              <a:buNone/>
            </a:pPr>
            <a:r>
              <a:rPr lang="en-US" sz="850" b="1" dirty="0">
                <a:solidFill>
                  <a:srgbClr val="E06F00"/>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Automático</a:t>
            </a:r>
            <a:endParaRPr lang="en-US" sz="850" dirty="0"/>
          </a:p>
        </p:txBody>
      </p:sp>
      <p:sp>
        <p:nvSpPr>
          <p:cNvPr id="41" name="Shape 34"/>
          <p:cNvSpPr/>
          <p:nvPr/>
        </p:nvSpPr>
        <p:spPr>
          <a:xfrm>
            <a:off x="3355848" y="4169664"/>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2" name="Shape 35"/>
          <p:cNvSpPr/>
          <p:nvPr/>
        </p:nvSpPr>
        <p:spPr>
          <a:xfrm>
            <a:off x="3538728" y="4352544"/>
            <a:ext cx="512064" cy="512064"/>
          </a:xfrm>
          <a:prstGeom prst="roundRect">
            <a:avLst>
              <a:gd name="adj" fmla="val 28000"/>
            </a:avLst>
          </a:prstGeom>
          <a:solidFill>
            <a:srgbClr val="FF5A5F"/>
          </a:solidFill>
          <a:ln/>
        </p:spPr>
      </p:sp>
      <p:pic>
        <p:nvPicPr>
          <p:cNvPr id="43" name="Image 5" descr="preencoded.png">    </p:cNvPr>
          <p:cNvPicPr>
            <a:picLocks noChangeAspect="1"/>
          </p:cNvPicPr>
          <p:nvPr/>
        </p:nvPicPr>
        <p:blipFill>
          <a:blip r:embed="rId7"/>
          <a:stretch>
            <a:fillRect/>
          </a:stretch>
        </p:blipFill>
        <p:spPr>
          <a:xfrm>
            <a:off x="3661623" y="4475439"/>
            <a:ext cx="266273" cy="266273"/>
          </a:xfrm>
          <a:prstGeom prst="rect">
            <a:avLst/>
          </a:prstGeom>
        </p:spPr>
      </p:pic>
      <p:sp>
        <p:nvSpPr>
          <p:cNvPr id="44" name="Text 36"/>
          <p:cNvSpPr txBox="1"/>
          <p:nvPr/>
        </p:nvSpPr>
        <p:spPr>
          <a:xfrm>
            <a:off x="5276088" y="4370832"/>
            <a:ext cx="548640" cy="320040"/>
          </a:xfrm>
          <a:prstGeom prst="rect">
            <a:avLst/>
          </a:prstGeom>
          <a:noFill/>
          <a:ln/>
        </p:spPr>
        <p:txBody>
          <a:bodyPr wrap="square" lIns="0" tIns="0" rIns="0" bIns="0" rtlCol="0" anchor="ctr"/>
          <a:lstStyle/>
          <a:p>
            <a:pPr algn="r" indent="0" marL="0">
              <a:buNone/>
            </a:pPr>
            <a:r>
              <a:rPr lang="en-US" sz="1500" b="1" dirty="0">
                <a:solidFill>
                  <a:srgbClr val="FF5A5F"/>
                </a:solidFill>
                <a:latin typeface="Montserrat" pitchFamily="34" charset="0"/>
                <a:ea typeface="Montserrat" pitchFamily="34" charset="-122"/>
                <a:cs typeface="Montserrat" pitchFamily="34" charset="-120"/>
              </a:rPr>
              <a:t>M6</a:t>
            </a:r>
            <a:endParaRPr lang="en-US" sz="1500" dirty="0"/>
          </a:p>
        </p:txBody>
      </p:sp>
      <p:sp>
        <p:nvSpPr>
          <p:cNvPr id="45" name="Text 37"/>
          <p:cNvSpPr txBox="1"/>
          <p:nvPr/>
        </p:nvSpPr>
        <p:spPr>
          <a:xfrm>
            <a:off x="3538728" y="4956048"/>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Constancia y trazabilidad</a:t>
            </a:r>
            <a:endParaRPr lang="en-US" sz="1200" dirty="0"/>
          </a:p>
        </p:txBody>
      </p:sp>
      <p:sp>
        <p:nvSpPr>
          <p:cNvPr id="46" name="Text 38"/>
          <p:cNvSpPr txBox="1"/>
          <p:nvPr/>
        </p:nvSpPr>
        <p:spPr>
          <a:xfrm>
            <a:off x="3538728" y="5248656"/>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PDF con QR y hash, lotes por comprador, confirmación de recepción y verificación pública.</a:t>
            </a:r>
            <a:endParaRPr lang="en-US" sz="950" dirty="0"/>
          </a:p>
        </p:txBody>
      </p:sp>
      <p:sp>
        <p:nvSpPr>
          <p:cNvPr id="47" name="Text 39"/>
          <p:cNvSpPr txBox="1"/>
          <p:nvPr/>
        </p:nvSpPr>
        <p:spPr>
          <a:xfrm>
            <a:off x="3538728" y="5779008"/>
            <a:ext cx="2331720" cy="365760"/>
          </a:xfrm>
          <a:prstGeom prst="rect">
            <a:avLst/>
          </a:prstGeom>
          <a:noFill/>
          <a:ln/>
        </p:spPr>
        <p:txBody>
          <a:bodyPr wrap="square" lIns="0" tIns="0" rIns="0" bIns="0" rtlCol="0" anchor="b"/>
          <a:lstStyle/>
          <a:p>
            <a:pPr indent="0" marL="0">
              <a:buNone/>
            </a:pPr>
            <a:r>
              <a:rPr lang="en-US" sz="850" b="1" dirty="0">
                <a:solidFill>
                  <a:srgbClr val="FF5A5F"/>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Registrador, comerciante, fiscalizador</a:t>
            </a:r>
            <a:endParaRPr lang="en-US" sz="850" dirty="0"/>
          </a:p>
        </p:txBody>
      </p:sp>
      <p:sp>
        <p:nvSpPr>
          <p:cNvPr id="48" name="Shape 40"/>
          <p:cNvSpPr/>
          <p:nvPr/>
        </p:nvSpPr>
        <p:spPr>
          <a:xfrm>
            <a:off x="6163056" y="4169664"/>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9" name="Shape 41"/>
          <p:cNvSpPr/>
          <p:nvPr/>
        </p:nvSpPr>
        <p:spPr>
          <a:xfrm>
            <a:off x="6345936" y="4352544"/>
            <a:ext cx="512064" cy="512064"/>
          </a:xfrm>
          <a:prstGeom prst="roundRect">
            <a:avLst>
              <a:gd name="adj" fmla="val 28000"/>
            </a:avLst>
          </a:prstGeom>
          <a:solidFill>
            <a:srgbClr val="0839C4"/>
          </a:solidFill>
          <a:ln/>
        </p:spPr>
      </p:sp>
      <p:pic>
        <p:nvPicPr>
          <p:cNvPr id="50" name="Image 6" descr="preencoded.png">    </p:cNvPr>
          <p:cNvPicPr>
            <a:picLocks noChangeAspect="1"/>
          </p:cNvPicPr>
          <p:nvPr/>
        </p:nvPicPr>
        <p:blipFill>
          <a:blip r:embed="rId8"/>
          <a:stretch>
            <a:fillRect/>
          </a:stretch>
        </p:blipFill>
        <p:spPr>
          <a:xfrm>
            <a:off x="6468831" y="4475439"/>
            <a:ext cx="266273" cy="266273"/>
          </a:xfrm>
          <a:prstGeom prst="rect">
            <a:avLst/>
          </a:prstGeom>
        </p:spPr>
      </p:pic>
      <p:sp>
        <p:nvSpPr>
          <p:cNvPr id="51" name="Text 42"/>
          <p:cNvSpPr txBox="1"/>
          <p:nvPr/>
        </p:nvSpPr>
        <p:spPr>
          <a:xfrm>
            <a:off x="8083296" y="4370832"/>
            <a:ext cx="548640" cy="320040"/>
          </a:xfrm>
          <a:prstGeom prst="rect">
            <a:avLst/>
          </a:prstGeom>
          <a:noFill/>
          <a:ln/>
        </p:spPr>
        <p:txBody>
          <a:bodyPr wrap="square" lIns="0" tIns="0" rIns="0" bIns="0" rtlCol="0" anchor="ctr"/>
          <a:lstStyle/>
          <a:p>
            <a:pPr algn="r" indent="0" marL="0">
              <a:buNone/>
            </a:pPr>
            <a:r>
              <a:rPr lang="en-US" sz="1500" b="1" dirty="0">
                <a:solidFill>
                  <a:srgbClr val="0839C4"/>
                </a:solidFill>
                <a:latin typeface="Montserrat" pitchFamily="34" charset="0"/>
                <a:ea typeface="Montserrat" pitchFamily="34" charset="-122"/>
                <a:cs typeface="Montserrat" pitchFamily="34" charset="-120"/>
              </a:rPr>
              <a:t>M7</a:t>
            </a:r>
            <a:endParaRPr lang="en-US" sz="1500" dirty="0"/>
          </a:p>
        </p:txBody>
      </p:sp>
      <p:sp>
        <p:nvSpPr>
          <p:cNvPr id="52" name="Text 43"/>
          <p:cNvSpPr txBox="1"/>
          <p:nvPr/>
        </p:nvSpPr>
        <p:spPr>
          <a:xfrm>
            <a:off x="6345936" y="4956048"/>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Fiscalización</a:t>
            </a:r>
            <a:endParaRPr lang="en-US" sz="1200" dirty="0"/>
          </a:p>
        </p:txBody>
      </p:sp>
      <p:sp>
        <p:nvSpPr>
          <p:cNvPr id="53" name="Text 44"/>
          <p:cNvSpPr txBox="1"/>
          <p:nvPr/>
        </p:nvSpPr>
        <p:spPr>
          <a:xfrm>
            <a:off x="6345936" y="5248656"/>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Bandeja de alertas, verificación por QR y registro de observaciones o actas.</a:t>
            </a:r>
            <a:endParaRPr lang="en-US" sz="950" dirty="0"/>
          </a:p>
        </p:txBody>
      </p:sp>
      <p:sp>
        <p:nvSpPr>
          <p:cNvPr id="54" name="Text 45"/>
          <p:cNvSpPr txBox="1"/>
          <p:nvPr/>
        </p:nvSpPr>
        <p:spPr>
          <a:xfrm>
            <a:off x="6345936" y="5779008"/>
            <a:ext cx="2331720" cy="365760"/>
          </a:xfrm>
          <a:prstGeom prst="rect">
            <a:avLst/>
          </a:prstGeom>
          <a:noFill/>
          <a:ln/>
        </p:spPr>
        <p:txBody>
          <a:bodyPr wrap="square" lIns="0" tIns="0" rIns="0" bIns="0" rtlCol="0" anchor="b"/>
          <a:lstStyle/>
          <a:p>
            <a:pPr indent="0" marL="0">
              <a:buNone/>
            </a:pPr>
            <a:r>
              <a:rPr lang="en-US" sz="850" b="1" dirty="0">
                <a:solidFill>
                  <a:srgbClr val="0839C4"/>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Fiscalizador</a:t>
            </a:r>
            <a:endParaRPr lang="en-US" sz="850" dirty="0"/>
          </a:p>
        </p:txBody>
      </p:sp>
      <p:sp>
        <p:nvSpPr>
          <p:cNvPr id="55" name="Shape 46"/>
          <p:cNvSpPr/>
          <p:nvPr/>
        </p:nvSpPr>
        <p:spPr>
          <a:xfrm>
            <a:off x="8970264" y="4169664"/>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6" name="Shape 47"/>
          <p:cNvSpPr/>
          <p:nvPr/>
        </p:nvSpPr>
        <p:spPr>
          <a:xfrm>
            <a:off x="9153144" y="4352544"/>
            <a:ext cx="512064" cy="512064"/>
          </a:xfrm>
          <a:prstGeom prst="roundRect">
            <a:avLst>
              <a:gd name="adj" fmla="val 28000"/>
            </a:avLst>
          </a:prstGeom>
          <a:solidFill>
            <a:srgbClr val="5B3EE0"/>
          </a:solidFill>
          <a:ln/>
        </p:spPr>
      </p:sp>
      <p:pic>
        <p:nvPicPr>
          <p:cNvPr id="57" name="Image 7" descr="preencoded.png">    </p:cNvPr>
          <p:cNvPicPr>
            <a:picLocks noChangeAspect="1"/>
          </p:cNvPicPr>
          <p:nvPr/>
        </p:nvPicPr>
        <p:blipFill>
          <a:blip r:embed="rId9"/>
          <a:stretch>
            <a:fillRect/>
          </a:stretch>
        </p:blipFill>
        <p:spPr>
          <a:xfrm>
            <a:off x="9276039" y="4475439"/>
            <a:ext cx="266273" cy="266273"/>
          </a:xfrm>
          <a:prstGeom prst="rect">
            <a:avLst/>
          </a:prstGeom>
        </p:spPr>
      </p:pic>
      <p:sp>
        <p:nvSpPr>
          <p:cNvPr id="58" name="Text 48"/>
          <p:cNvSpPr txBox="1"/>
          <p:nvPr/>
        </p:nvSpPr>
        <p:spPr>
          <a:xfrm>
            <a:off x="10890504" y="4370832"/>
            <a:ext cx="548640" cy="320040"/>
          </a:xfrm>
          <a:prstGeom prst="rect">
            <a:avLst/>
          </a:prstGeom>
          <a:noFill/>
          <a:ln/>
        </p:spPr>
        <p:txBody>
          <a:bodyPr wrap="square" lIns="0" tIns="0" rIns="0" bIns="0" rtlCol="0" anchor="ctr"/>
          <a:lstStyle/>
          <a:p>
            <a:pPr algn="r" indent="0" marL="0">
              <a:buNone/>
            </a:pPr>
            <a:r>
              <a:rPr lang="en-US" sz="1500" b="1" dirty="0">
                <a:solidFill>
                  <a:srgbClr val="5B3EE0"/>
                </a:solidFill>
                <a:latin typeface="Montserrat" pitchFamily="34" charset="0"/>
                <a:ea typeface="Montserrat" pitchFamily="34" charset="-122"/>
                <a:cs typeface="Montserrat" pitchFamily="34" charset="-120"/>
              </a:rPr>
              <a:t>M8</a:t>
            </a:r>
            <a:endParaRPr lang="en-US" sz="1500" dirty="0"/>
          </a:p>
        </p:txBody>
      </p:sp>
      <p:sp>
        <p:nvSpPr>
          <p:cNvPr id="59" name="Text 49"/>
          <p:cNvSpPr txBox="1"/>
          <p:nvPr/>
        </p:nvSpPr>
        <p:spPr>
          <a:xfrm>
            <a:off x="9153144" y="4956048"/>
            <a:ext cx="233172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Información</a:t>
            </a:r>
            <a:endParaRPr lang="en-US" sz="1200" dirty="0"/>
          </a:p>
        </p:txBody>
      </p:sp>
      <p:sp>
        <p:nvSpPr>
          <p:cNvPr id="60" name="Text 50"/>
          <p:cNvSpPr txBox="1"/>
          <p:nvPr/>
        </p:nvSpPr>
        <p:spPr>
          <a:xfrm>
            <a:off x="9153144" y="5248656"/>
            <a:ext cx="2331720" cy="54864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Tablero de indicadores, reportes, exportación Excel/CSV y al SITRAPESCA, API documentada.</a:t>
            </a:r>
            <a:endParaRPr lang="en-US" sz="950" dirty="0"/>
          </a:p>
        </p:txBody>
      </p:sp>
      <p:sp>
        <p:nvSpPr>
          <p:cNvPr id="61" name="Text 51"/>
          <p:cNvSpPr txBox="1"/>
          <p:nvPr/>
        </p:nvSpPr>
        <p:spPr>
          <a:xfrm>
            <a:off x="9153144" y="5779008"/>
            <a:ext cx="2331720" cy="365760"/>
          </a:xfrm>
          <a:prstGeom prst="rect">
            <a:avLst/>
          </a:prstGeom>
          <a:noFill/>
          <a:ln/>
        </p:spPr>
        <p:txBody>
          <a:bodyPr wrap="square" lIns="0" tIns="0" rIns="0" bIns="0" rtlCol="0" anchor="b"/>
          <a:lstStyle/>
          <a:p>
            <a:pPr indent="0" marL="0">
              <a:buNone/>
            </a:pPr>
            <a:r>
              <a:rPr lang="en-US" sz="850" b="1" dirty="0">
                <a:solidFill>
                  <a:srgbClr val="5B3EE0"/>
                </a:solidFill>
                <a:latin typeface="Open Sans" pitchFamily="34" charset="0"/>
                <a:ea typeface="Open Sans" pitchFamily="34" charset="-122"/>
                <a:cs typeface="Open Sans" pitchFamily="34" charset="-120"/>
              </a:rPr>
              <a:t>Usuarios: </a:t>
            </a:r>
            <a:pPr indent="0" marL="0">
              <a:buNone/>
            </a:pPr>
            <a:r>
              <a:rPr lang="en-US" sz="850" dirty="0">
                <a:solidFill>
                  <a:srgbClr val="0E1B3D"/>
                </a:solidFill>
                <a:latin typeface="Open Sans" pitchFamily="34" charset="0"/>
                <a:ea typeface="Open Sans" pitchFamily="34" charset="-122"/>
                <a:cs typeface="Open Sans" pitchFamily="34" charset="-120"/>
              </a:rPr>
              <a:t>Administrador del DPA, analista</a:t>
            </a:r>
            <a:endParaRPr lang="en-US" sz="850" dirty="0"/>
          </a:p>
        </p:txBody>
      </p:sp>
      <p:sp>
        <p:nvSpPr>
          <p:cNvPr id="62" name="Text 52"/>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63" name="Text 53"/>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4836262"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3" name="Text 1"/>
          <p:cNvSpPr txBox="1"/>
          <p:nvPr/>
        </p:nvSpPr>
        <p:spPr>
          <a:xfrm>
            <a:off x="548640" y="411480"/>
            <a:ext cx="4836262"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1.4.4 DIFERENCIALES BASADOS EN EVIDENCIA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Diseñado para el muelle, no para la oficina</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DCE9FF"/>
                </a:solidFill>
                <a:latin typeface="Open Sans" pitchFamily="34" charset="0"/>
                <a:ea typeface="Open Sans" pitchFamily="34" charset="-122"/>
                <a:cs typeface="Open Sans" pitchFamily="34" charset="-120"/>
              </a:rPr>
              <a:t>Cada decisión responde a un cuello de botella documentado en el sector artesanal. [12]</a:t>
            </a:r>
            <a:endParaRPr lang="en-US" sz="1300" dirty="0"/>
          </a:p>
        </p:txBody>
      </p:sp>
      <p:sp>
        <p:nvSpPr>
          <p:cNvPr id="6" name="Shape 4"/>
          <p:cNvSpPr/>
          <p:nvPr/>
        </p:nvSpPr>
        <p:spPr>
          <a:xfrm>
            <a:off x="548640"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7" name="Shape 5"/>
          <p:cNvSpPr/>
          <p:nvPr/>
        </p:nvSpPr>
        <p:spPr>
          <a:xfrm>
            <a:off x="804672" y="2377440"/>
            <a:ext cx="731520" cy="731520"/>
          </a:xfrm>
          <a:prstGeom prst="ellipse">
            <a:avLst/>
          </a:prstGeom>
          <a:solidFill>
            <a:srgbClr val="FFC233"/>
          </a:solidFill>
          <a:ln/>
        </p:spPr>
      </p:sp>
      <p:pic>
        <p:nvPicPr>
          <p:cNvPr id="8" name="Image 0" descr="preencoded.png">    </p:cNvPr>
          <p:cNvPicPr>
            <a:picLocks noChangeAspect="1"/>
          </p:cNvPicPr>
          <p:nvPr/>
        </p:nvPicPr>
        <p:blipFill>
          <a:blip r:embed="rId2"/>
          <a:stretch>
            <a:fillRect/>
          </a:stretch>
        </p:blipFill>
        <p:spPr>
          <a:xfrm>
            <a:off x="980237" y="2553005"/>
            <a:ext cx="380390" cy="380390"/>
          </a:xfrm>
          <a:prstGeom prst="rect">
            <a:avLst/>
          </a:prstGeom>
        </p:spPr>
      </p:pic>
      <p:sp>
        <p:nvSpPr>
          <p:cNvPr id="9" name="Text 6"/>
          <p:cNvSpPr txBox="1"/>
          <p:nvPr/>
        </p:nvSpPr>
        <p:spPr>
          <a:xfrm>
            <a:off x="2423160" y="2395728"/>
            <a:ext cx="548640" cy="457200"/>
          </a:xfrm>
          <a:prstGeom prst="rect">
            <a:avLst/>
          </a:prstGeom>
          <a:noFill/>
          <a:ln/>
        </p:spPr>
        <p:txBody>
          <a:bodyPr wrap="square" lIns="0" tIns="0" rIns="0" bIns="0" rtlCol="0" anchor="t"/>
          <a:lstStyle/>
          <a:p>
            <a:pPr algn="r" indent="0" marL="0">
              <a:buNone/>
            </a:pPr>
            <a:r>
              <a:rPr lang="en-US" sz="2200" b="1" dirty="0">
                <a:solidFill>
                  <a:srgbClr val="FFFFFF">
                    <a:alpha val="60000"/>
                  </a:srgbClr>
                </a:solidFill>
                <a:latin typeface="Montserrat" pitchFamily="34" charset="0"/>
                <a:ea typeface="Montserrat" pitchFamily="34" charset="-122"/>
                <a:cs typeface="Montserrat" pitchFamily="34" charset="-120"/>
              </a:rPr>
              <a:t>01</a:t>
            </a:r>
            <a:endParaRPr lang="en-US" sz="2200" dirty="0"/>
          </a:p>
        </p:txBody>
      </p:sp>
      <p:sp>
        <p:nvSpPr>
          <p:cNvPr id="10" name="Text 7"/>
          <p:cNvSpPr txBox="1"/>
          <p:nvPr/>
        </p:nvSpPr>
        <p:spPr>
          <a:xfrm>
            <a:off x="804672" y="3337560"/>
            <a:ext cx="2240280" cy="64008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Sin barreras digitales</a:t>
            </a:r>
            <a:endParaRPr lang="en-US" sz="1500" dirty="0"/>
          </a:p>
        </p:txBody>
      </p:sp>
      <p:sp>
        <p:nvSpPr>
          <p:cNvPr id="11" name="Text 8"/>
          <p:cNvSpPr txBox="1"/>
          <p:nvPr/>
        </p:nvSpPr>
        <p:spPr>
          <a:xfrm>
            <a:off x="804672" y="4023360"/>
            <a:ext cx="2194560" cy="201168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El registro lo gestiona el personal del DPA; el armador recibe su constancia por SMS, sin correo ni instalar aplicaciones.</a:t>
            </a:r>
            <a:endParaRPr lang="en-US" sz="1300" dirty="0"/>
          </a:p>
        </p:txBody>
      </p:sp>
      <p:sp>
        <p:nvSpPr>
          <p:cNvPr id="12" name="Shape 9"/>
          <p:cNvSpPr/>
          <p:nvPr/>
        </p:nvSpPr>
        <p:spPr>
          <a:xfrm>
            <a:off x="3364992"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13" name="Shape 10"/>
          <p:cNvSpPr/>
          <p:nvPr/>
        </p:nvSpPr>
        <p:spPr>
          <a:xfrm>
            <a:off x="3621024" y="2377440"/>
            <a:ext cx="731520" cy="731520"/>
          </a:xfrm>
          <a:prstGeom prst="ellipse">
            <a:avLst/>
          </a:prstGeom>
          <a:solidFill>
            <a:srgbClr val="7CF0F5"/>
          </a:solidFill>
          <a:ln/>
        </p:spPr>
      </p:sp>
      <p:pic>
        <p:nvPicPr>
          <p:cNvPr id="14" name="Image 1" descr="preencoded.png">    </p:cNvPr>
          <p:cNvPicPr>
            <a:picLocks noChangeAspect="1"/>
          </p:cNvPicPr>
          <p:nvPr/>
        </p:nvPicPr>
        <p:blipFill>
          <a:blip r:embed="rId3"/>
          <a:stretch>
            <a:fillRect/>
          </a:stretch>
        </p:blipFill>
        <p:spPr>
          <a:xfrm>
            <a:off x="3796589" y="2553005"/>
            <a:ext cx="380390" cy="380390"/>
          </a:xfrm>
          <a:prstGeom prst="rect">
            <a:avLst/>
          </a:prstGeom>
        </p:spPr>
      </p:pic>
      <p:sp>
        <p:nvSpPr>
          <p:cNvPr id="15" name="Text 11"/>
          <p:cNvSpPr txBox="1"/>
          <p:nvPr/>
        </p:nvSpPr>
        <p:spPr>
          <a:xfrm>
            <a:off x="5239512" y="2395728"/>
            <a:ext cx="548640" cy="457200"/>
          </a:xfrm>
          <a:prstGeom prst="rect">
            <a:avLst/>
          </a:prstGeom>
          <a:noFill/>
          <a:ln/>
        </p:spPr>
        <p:txBody>
          <a:bodyPr wrap="square" lIns="0" tIns="0" rIns="0" bIns="0" rtlCol="0" anchor="t"/>
          <a:lstStyle/>
          <a:p>
            <a:pPr algn="r" indent="0" marL="0">
              <a:buNone/>
            </a:pPr>
            <a:r>
              <a:rPr lang="en-US" sz="2200" b="1" dirty="0">
                <a:solidFill>
                  <a:srgbClr val="FFFFFF">
                    <a:alpha val="60000"/>
                  </a:srgbClr>
                </a:solidFill>
                <a:latin typeface="Montserrat" pitchFamily="34" charset="0"/>
                <a:ea typeface="Montserrat" pitchFamily="34" charset="-122"/>
                <a:cs typeface="Montserrat" pitchFamily="34" charset="-120"/>
              </a:rPr>
              <a:t>02</a:t>
            </a:r>
            <a:endParaRPr lang="en-US" sz="2200" dirty="0"/>
          </a:p>
        </p:txBody>
      </p:sp>
      <p:sp>
        <p:nvSpPr>
          <p:cNvPr id="16" name="Text 12"/>
          <p:cNvSpPr txBox="1"/>
          <p:nvPr/>
        </p:nvSpPr>
        <p:spPr>
          <a:xfrm>
            <a:off x="3621024" y="3337560"/>
            <a:ext cx="2240280" cy="64008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Offline-first</a:t>
            </a:r>
            <a:endParaRPr lang="en-US" sz="1500" dirty="0"/>
          </a:p>
        </p:txBody>
      </p:sp>
      <p:sp>
        <p:nvSpPr>
          <p:cNvPr id="17" name="Text 13"/>
          <p:cNvSpPr txBox="1"/>
          <p:nvPr/>
        </p:nvSpPr>
        <p:spPr>
          <a:xfrm>
            <a:off x="3621024" y="4023360"/>
            <a:ext cx="2194560" cy="201168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Almacenamiento local e integración idempotente: no hay registros duplicados aunque la cobertura sea inestable.</a:t>
            </a:r>
            <a:endParaRPr lang="en-US" sz="1300" dirty="0"/>
          </a:p>
        </p:txBody>
      </p:sp>
      <p:sp>
        <p:nvSpPr>
          <p:cNvPr id="18" name="Shape 14"/>
          <p:cNvSpPr/>
          <p:nvPr/>
        </p:nvSpPr>
        <p:spPr>
          <a:xfrm>
            <a:off x="6181344"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19" name="Shape 15"/>
          <p:cNvSpPr/>
          <p:nvPr/>
        </p:nvSpPr>
        <p:spPr>
          <a:xfrm>
            <a:off x="6437376" y="2377440"/>
            <a:ext cx="731520" cy="731520"/>
          </a:xfrm>
          <a:prstGeom prst="ellipse">
            <a:avLst/>
          </a:prstGeom>
          <a:solidFill>
            <a:srgbClr val="A9FFD6"/>
          </a:solidFill>
          <a:ln/>
        </p:spPr>
      </p:sp>
      <p:pic>
        <p:nvPicPr>
          <p:cNvPr id="20" name="Image 2" descr="preencoded.png">    </p:cNvPr>
          <p:cNvPicPr>
            <a:picLocks noChangeAspect="1"/>
          </p:cNvPicPr>
          <p:nvPr/>
        </p:nvPicPr>
        <p:blipFill>
          <a:blip r:embed="rId4"/>
          <a:stretch>
            <a:fillRect/>
          </a:stretch>
        </p:blipFill>
        <p:spPr>
          <a:xfrm>
            <a:off x="6612941" y="2553005"/>
            <a:ext cx="380390" cy="380390"/>
          </a:xfrm>
          <a:prstGeom prst="rect">
            <a:avLst/>
          </a:prstGeom>
        </p:spPr>
      </p:pic>
      <p:sp>
        <p:nvSpPr>
          <p:cNvPr id="21" name="Text 16"/>
          <p:cNvSpPr txBox="1"/>
          <p:nvPr/>
        </p:nvSpPr>
        <p:spPr>
          <a:xfrm>
            <a:off x="8055864" y="2395728"/>
            <a:ext cx="548640" cy="457200"/>
          </a:xfrm>
          <a:prstGeom prst="rect">
            <a:avLst/>
          </a:prstGeom>
          <a:noFill/>
          <a:ln/>
        </p:spPr>
        <p:txBody>
          <a:bodyPr wrap="square" lIns="0" tIns="0" rIns="0" bIns="0" rtlCol="0" anchor="t"/>
          <a:lstStyle/>
          <a:p>
            <a:pPr algn="r" indent="0" marL="0">
              <a:buNone/>
            </a:pPr>
            <a:r>
              <a:rPr lang="en-US" sz="2200" b="1" dirty="0">
                <a:solidFill>
                  <a:srgbClr val="FFFFFF">
                    <a:alpha val="60000"/>
                  </a:srgbClr>
                </a:solidFill>
                <a:latin typeface="Montserrat" pitchFamily="34" charset="0"/>
                <a:ea typeface="Montserrat" pitchFamily="34" charset="-122"/>
                <a:cs typeface="Montserrat" pitchFamily="34" charset="-120"/>
              </a:rPr>
              <a:t>03</a:t>
            </a:r>
            <a:endParaRPr lang="en-US" sz="2200" dirty="0"/>
          </a:p>
        </p:txBody>
      </p:sp>
      <p:sp>
        <p:nvSpPr>
          <p:cNvPr id="22" name="Text 17"/>
          <p:cNvSpPr txBox="1"/>
          <p:nvPr/>
        </p:nvSpPr>
        <p:spPr>
          <a:xfrm>
            <a:off x="6437376" y="3337560"/>
            <a:ext cx="2240280" cy="64008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Protección de datos sensibles</a:t>
            </a:r>
            <a:endParaRPr lang="en-US" sz="1500" dirty="0"/>
          </a:p>
        </p:txBody>
      </p:sp>
      <p:sp>
        <p:nvSpPr>
          <p:cNvPr id="23" name="Text 18"/>
          <p:cNvSpPr txBox="1"/>
          <p:nvPr/>
        </p:nvSpPr>
        <p:spPr>
          <a:xfrm>
            <a:off x="6437376" y="4023360"/>
            <a:ext cx="2194560" cy="201168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La zona de pesca se registra por cuadrículas marinas, no por coordenadas exactas, para proteger el caladero ante extorsión o filtraciones.</a:t>
            </a:r>
            <a:endParaRPr lang="en-US" sz="1300" dirty="0"/>
          </a:p>
        </p:txBody>
      </p:sp>
      <p:sp>
        <p:nvSpPr>
          <p:cNvPr id="24" name="Shape 19"/>
          <p:cNvSpPr/>
          <p:nvPr/>
        </p:nvSpPr>
        <p:spPr>
          <a:xfrm>
            <a:off x="8997696"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25" name="Shape 20"/>
          <p:cNvSpPr/>
          <p:nvPr/>
        </p:nvSpPr>
        <p:spPr>
          <a:xfrm>
            <a:off x="9253728" y="2377440"/>
            <a:ext cx="731520" cy="731520"/>
          </a:xfrm>
          <a:prstGeom prst="ellipse">
            <a:avLst/>
          </a:prstGeom>
          <a:solidFill>
            <a:srgbClr val="FFB3B6"/>
          </a:solidFill>
          <a:ln/>
        </p:spPr>
      </p:sp>
      <p:pic>
        <p:nvPicPr>
          <p:cNvPr id="26" name="Image 3" descr="preencoded.png">    </p:cNvPr>
          <p:cNvPicPr>
            <a:picLocks noChangeAspect="1"/>
          </p:cNvPicPr>
          <p:nvPr/>
        </p:nvPicPr>
        <p:blipFill>
          <a:blip r:embed="rId5"/>
          <a:stretch>
            <a:fillRect/>
          </a:stretch>
        </p:blipFill>
        <p:spPr>
          <a:xfrm>
            <a:off x="9429293" y="2553005"/>
            <a:ext cx="380390" cy="380390"/>
          </a:xfrm>
          <a:prstGeom prst="rect">
            <a:avLst/>
          </a:prstGeom>
        </p:spPr>
      </p:pic>
      <p:sp>
        <p:nvSpPr>
          <p:cNvPr id="27" name="Text 21"/>
          <p:cNvSpPr txBox="1"/>
          <p:nvPr/>
        </p:nvSpPr>
        <p:spPr>
          <a:xfrm>
            <a:off x="10872216" y="2395728"/>
            <a:ext cx="548640" cy="457200"/>
          </a:xfrm>
          <a:prstGeom prst="rect">
            <a:avLst/>
          </a:prstGeom>
          <a:noFill/>
          <a:ln/>
        </p:spPr>
        <p:txBody>
          <a:bodyPr wrap="square" lIns="0" tIns="0" rIns="0" bIns="0" rtlCol="0" anchor="t"/>
          <a:lstStyle/>
          <a:p>
            <a:pPr algn="r" indent="0" marL="0">
              <a:buNone/>
            </a:pPr>
            <a:r>
              <a:rPr lang="en-US" sz="2200" b="1" dirty="0">
                <a:solidFill>
                  <a:srgbClr val="FFFFFF">
                    <a:alpha val="60000"/>
                  </a:srgbClr>
                </a:solidFill>
                <a:latin typeface="Montserrat" pitchFamily="34" charset="0"/>
                <a:ea typeface="Montserrat" pitchFamily="34" charset="-122"/>
                <a:cs typeface="Montserrat" pitchFamily="34" charset="-120"/>
              </a:rPr>
              <a:t>04</a:t>
            </a:r>
            <a:endParaRPr lang="en-US" sz="2200" dirty="0"/>
          </a:p>
        </p:txBody>
      </p:sp>
      <p:sp>
        <p:nvSpPr>
          <p:cNvPr id="28" name="Text 22"/>
          <p:cNvSpPr txBox="1"/>
          <p:nvPr/>
        </p:nvSpPr>
        <p:spPr>
          <a:xfrm>
            <a:off x="9253728" y="3337560"/>
            <a:ext cx="2240280" cy="64008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Adaptabilidad normativa</a:t>
            </a:r>
            <a:endParaRPr lang="en-US" sz="1500" dirty="0"/>
          </a:p>
        </p:txBody>
      </p:sp>
      <p:sp>
        <p:nvSpPr>
          <p:cNvPr id="29" name="Text 23"/>
          <p:cNvSpPr txBox="1"/>
          <p:nvPr/>
        </p:nvSpPr>
        <p:spPr>
          <a:xfrm>
            <a:off x="9253728" y="4023360"/>
            <a:ext cx="2194560" cy="201168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Vedas y tallas mínimas se actualizan desde el catálogo, sin tocar el código (p. ej., cambios de 2025 para lorna y cabrilla [15], [16]).</a:t>
            </a:r>
            <a:endParaRPr lang="en-US" sz="1300" dirty="0"/>
          </a:p>
        </p:txBody>
      </p:sp>
      <p:sp>
        <p:nvSpPr>
          <p:cNvPr id="30" name="Text 2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31" name="Text 2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475634" cy="274320"/>
          </a:xfrm>
          <a:prstGeom prst="roundRect">
            <a:avLst>
              <a:gd name="adj" fmla="val 50000"/>
            </a:avLst>
          </a:prstGeom>
          <a:solidFill>
            <a:srgbClr val="0B5FFF"/>
          </a:solidFill>
          <a:ln/>
        </p:spPr>
      </p:sp>
      <p:sp>
        <p:nvSpPr>
          <p:cNvPr id="3" name="Text 1"/>
          <p:cNvSpPr txBox="1"/>
          <p:nvPr/>
        </p:nvSpPr>
        <p:spPr>
          <a:xfrm>
            <a:off x="548640" y="411480"/>
            <a:ext cx="347563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1.4.5 PROPUESTA DE VALOR</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Beneficios por actor</a:t>
            </a:r>
            <a:endParaRPr lang="en-US" sz="3000" dirty="0"/>
          </a:p>
        </p:txBody>
      </p:sp>
      <p:sp>
        <p:nvSpPr>
          <p:cNvPr id="5" name="Shape 3"/>
          <p:cNvSpPr/>
          <p:nvPr/>
        </p:nvSpPr>
        <p:spPr>
          <a:xfrm>
            <a:off x="548640" y="1572768"/>
            <a:ext cx="11064240" cy="1051560"/>
          </a:xfrm>
          <a:prstGeom prst="roundRect">
            <a:avLst>
              <a:gd name="adj" fmla="val 15652"/>
            </a:avLst>
          </a:prstGeom>
          <a:solidFill>
            <a:srgbClr val="0B5FFF"/>
          </a:solidFill>
          <a:ln/>
          <a:effectLst>
            <a:outerShdw sx="100000" sy="100000" kx="0" ky="0" algn="bl" rotWithShape="0" blurRad="228600" dist="63500" dir="5400000">
              <a:srgbClr val="0B5FFF">
                <a:alpha val="30000"/>
              </a:srgbClr>
            </a:outerShdw>
          </a:effectLst>
        </p:spPr>
      </p:sp>
      <p:pic>
        <p:nvPicPr>
          <p:cNvPr id="6" name="Image 0" descr="preencoded.png">    </p:cNvPr>
          <p:cNvPicPr>
            <a:picLocks noChangeAspect="1"/>
          </p:cNvPicPr>
          <p:nvPr/>
        </p:nvPicPr>
        <p:blipFill>
          <a:blip r:embed="rId2"/>
          <a:stretch>
            <a:fillRect/>
          </a:stretch>
        </p:blipFill>
        <p:spPr>
          <a:xfrm>
            <a:off x="822960" y="1783080"/>
            <a:ext cx="548640" cy="548640"/>
          </a:xfrm>
          <a:prstGeom prst="rect">
            <a:avLst/>
          </a:prstGeom>
        </p:spPr>
      </p:pic>
      <p:sp>
        <p:nvSpPr>
          <p:cNvPr id="7" name="Text 4"/>
          <p:cNvSpPr txBox="1"/>
          <p:nvPr/>
        </p:nvSpPr>
        <p:spPr>
          <a:xfrm>
            <a:off x="1554480" y="1572768"/>
            <a:ext cx="6400800" cy="105156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Del muelle al dato, en minutos</a:t>
            </a:r>
            <a:endParaRPr lang="en-US" sz="2800" dirty="0"/>
          </a:p>
        </p:txBody>
      </p:sp>
      <p:sp>
        <p:nvSpPr>
          <p:cNvPr id="8" name="Text 5"/>
          <p:cNvSpPr txBox="1"/>
          <p:nvPr/>
        </p:nvSpPr>
        <p:spPr>
          <a:xfrm>
            <a:off x="7863840" y="1572768"/>
            <a:ext cx="3566160" cy="1051560"/>
          </a:xfrm>
          <a:prstGeom prst="rect">
            <a:avLst/>
          </a:prstGeom>
          <a:noFill/>
          <a:ln/>
        </p:spPr>
        <p:txBody>
          <a:bodyPr wrap="square" lIns="0" tIns="0" rIns="0" bIns="0" rtlCol="0" anchor="ctr"/>
          <a:lstStyle/>
          <a:p>
            <a:pPr indent="0" marL="0">
              <a:buNone/>
            </a:pPr>
            <a:r>
              <a:rPr lang="en-US" sz="1200" dirty="0">
                <a:solidFill>
                  <a:srgbClr val="E6EEFF"/>
                </a:solidFill>
                <a:latin typeface="Open Sans" pitchFamily="34" charset="0"/>
                <a:ea typeface="Open Sans" pitchFamily="34" charset="-122"/>
                <a:cs typeface="Open Sans" pitchFamily="34" charset="-120"/>
              </a:rPr>
              <a:t>Sustituimos la informalidad del papel por información digital verificable.</a:t>
            </a:r>
            <a:endParaRPr lang="en-US" sz="1200" dirty="0"/>
          </a:p>
        </p:txBody>
      </p:sp>
      <p:sp>
        <p:nvSpPr>
          <p:cNvPr id="9" name="Shape 6"/>
          <p:cNvSpPr/>
          <p:nvPr/>
        </p:nvSpPr>
        <p:spPr>
          <a:xfrm>
            <a:off x="548640" y="2834640"/>
            <a:ext cx="2651760" cy="3364992"/>
          </a:xfrm>
          <a:prstGeom prst="roundRect">
            <a:avLst>
              <a:gd name="adj" fmla="val 4828"/>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0" name="Shape 7"/>
          <p:cNvSpPr/>
          <p:nvPr/>
        </p:nvSpPr>
        <p:spPr>
          <a:xfrm>
            <a:off x="749808" y="3054096"/>
            <a:ext cx="548640" cy="548640"/>
          </a:xfrm>
          <a:prstGeom prst="roundRect">
            <a:avLst>
              <a:gd name="adj" fmla="val 28000"/>
            </a:avLst>
          </a:prstGeom>
          <a:solidFill>
            <a:srgbClr val="E06F00"/>
          </a:solidFill>
          <a:ln/>
        </p:spPr>
      </p:sp>
      <p:pic>
        <p:nvPicPr>
          <p:cNvPr id="11" name="Image 1" descr="preencoded.png">    </p:cNvPr>
          <p:cNvPicPr>
            <a:picLocks noChangeAspect="1"/>
          </p:cNvPicPr>
          <p:nvPr/>
        </p:nvPicPr>
        <p:blipFill>
          <a:blip r:embed="rId3"/>
          <a:stretch>
            <a:fillRect/>
          </a:stretch>
        </p:blipFill>
        <p:spPr>
          <a:xfrm>
            <a:off x="881482" y="3185770"/>
            <a:ext cx="285293" cy="285293"/>
          </a:xfrm>
          <a:prstGeom prst="rect">
            <a:avLst/>
          </a:prstGeom>
        </p:spPr>
      </p:pic>
      <p:sp>
        <p:nvSpPr>
          <p:cNvPr id="12" name="Text 8"/>
          <p:cNvSpPr txBox="1"/>
          <p:nvPr/>
        </p:nvSpPr>
        <p:spPr>
          <a:xfrm>
            <a:off x="1417320" y="3054096"/>
            <a:ext cx="1645920" cy="54864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Pescador y armador</a:t>
            </a:r>
            <a:endParaRPr lang="en-US" sz="1250" dirty="0"/>
          </a:p>
        </p:txBody>
      </p:sp>
      <p:sp>
        <p:nvSpPr>
          <p:cNvPr id="13" name="Text 9"/>
          <p:cNvSpPr txBox="1"/>
          <p:nvPr/>
        </p:nvSpPr>
        <p:spPr>
          <a:xfrm>
            <a:off x="749808" y="3749040"/>
            <a:ext cx="2286000" cy="141732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Historial digital oficial recibido por SMS que respalda la legalidad de su captura y sirve para solicitar créditos y cuotas.</a:t>
            </a:r>
            <a:endParaRPr lang="en-US" sz="1150" dirty="0"/>
          </a:p>
        </p:txBody>
      </p:sp>
      <p:sp>
        <p:nvSpPr>
          <p:cNvPr id="14" name="Shape 10"/>
          <p:cNvSpPr/>
          <p:nvPr/>
        </p:nvSpPr>
        <p:spPr>
          <a:xfrm>
            <a:off x="694944" y="5212080"/>
            <a:ext cx="2359152" cy="841248"/>
          </a:xfrm>
          <a:prstGeom prst="roundRect">
            <a:avLst>
              <a:gd name="adj" fmla="val 13043"/>
            </a:avLst>
          </a:prstGeom>
          <a:solidFill>
            <a:srgbClr val="FFF1DE"/>
          </a:solidFill>
          <a:ln/>
        </p:spPr>
      </p:sp>
      <p:sp>
        <p:nvSpPr>
          <p:cNvPr id="15" name="Text 11"/>
          <p:cNvSpPr txBox="1"/>
          <p:nvPr/>
        </p:nvSpPr>
        <p:spPr>
          <a:xfrm>
            <a:off x="822960" y="5248656"/>
            <a:ext cx="2194560" cy="438912"/>
          </a:xfrm>
          <a:prstGeom prst="rect">
            <a:avLst/>
          </a:prstGeom>
          <a:noFill/>
          <a:ln/>
        </p:spPr>
        <p:txBody>
          <a:bodyPr wrap="square" lIns="0" tIns="0" rIns="0" bIns="0" rtlCol="0" anchor="ctr"/>
          <a:lstStyle/>
          <a:p>
            <a:pPr indent="0" marL="0">
              <a:buNone/>
            </a:pPr>
            <a:r>
              <a:rPr lang="en-US" sz="1600" b="1" dirty="0">
                <a:solidFill>
                  <a:srgbClr val="E06F00"/>
                </a:solidFill>
                <a:latin typeface="Montserrat" pitchFamily="34" charset="0"/>
                <a:ea typeface="Montserrat" pitchFamily="34" charset="-122"/>
                <a:cs typeface="Montserrat" pitchFamily="34" charset="-120"/>
              </a:rPr>
              <a:t>2 h → segundos</a:t>
            </a:r>
            <a:endParaRPr lang="en-US" sz="1600" dirty="0"/>
          </a:p>
        </p:txBody>
      </p:sp>
      <p:sp>
        <p:nvSpPr>
          <p:cNvPr id="16" name="Text 12"/>
          <p:cNvSpPr txBox="1"/>
          <p:nvPr/>
        </p:nvSpPr>
        <p:spPr>
          <a:xfrm>
            <a:off x="822960" y="5669280"/>
            <a:ext cx="2194560" cy="274320"/>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en las inspecciones [12]</a:t>
            </a:r>
            <a:endParaRPr lang="en-US" sz="900" dirty="0"/>
          </a:p>
        </p:txBody>
      </p:sp>
      <p:sp>
        <p:nvSpPr>
          <p:cNvPr id="17" name="Shape 13"/>
          <p:cNvSpPr/>
          <p:nvPr/>
        </p:nvSpPr>
        <p:spPr>
          <a:xfrm>
            <a:off x="3355848" y="2834640"/>
            <a:ext cx="2651760" cy="3364992"/>
          </a:xfrm>
          <a:prstGeom prst="roundRect">
            <a:avLst>
              <a:gd name="adj" fmla="val 4828"/>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8" name="Shape 14"/>
          <p:cNvSpPr/>
          <p:nvPr/>
        </p:nvSpPr>
        <p:spPr>
          <a:xfrm>
            <a:off x="3557016" y="3054096"/>
            <a:ext cx="548640" cy="548640"/>
          </a:xfrm>
          <a:prstGeom prst="roundRect">
            <a:avLst>
              <a:gd name="adj" fmla="val 28000"/>
            </a:avLst>
          </a:prstGeom>
          <a:solidFill>
            <a:srgbClr val="0B5FFF"/>
          </a:solidFill>
          <a:ln/>
        </p:spPr>
      </p:sp>
      <p:pic>
        <p:nvPicPr>
          <p:cNvPr id="19" name="Image 2" descr="preencoded.png">    </p:cNvPr>
          <p:cNvPicPr>
            <a:picLocks noChangeAspect="1"/>
          </p:cNvPicPr>
          <p:nvPr/>
        </p:nvPicPr>
        <p:blipFill>
          <a:blip r:embed="rId4"/>
          <a:stretch>
            <a:fillRect/>
          </a:stretch>
        </p:blipFill>
        <p:spPr>
          <a:xfrm>
            <a:off x="3688690" y="3185770"/>
            <a:ext cx="285293" cy="285293"/>
          </a:xfrm>
          <a:prstGeom prst="rect">
            <a:avLst/>
          </a:prstGeom>
        </p:spPr>
      </p:pic>
      <p:sp>
        <p:nvSpPr>
          <p:cNvPr id="20" name="Text 15"/>
          <p:cNvSpPr txBox="1"/>
          <p:nvPr/>
        </p:nvSpPr>
        <p:spPr>
          <a:xfrm>
            <a:off x="4224528" y="3054096"/>
            <a:ext cx="1645920" cy="54864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Administración del DPA</a:t>
            </a:r>
            <a:endParaRPr lang="en-US" sz="1250" dirty="0"/>
          </a:p>
        </p:txBody>
      </p:sp>
      <p:sp>
        <p:nvSpPr>
          <p:cNvPr id="21" name="Text 16"/>
          <p:cNvSpPr txBox="1"/>
          <p:nvPr/>
        </p:nvSpPr>
        <p:spPr>
          <a:xfrm>
            <a:off x="3557016" y="3749040"/>
            <a:ext cx="2286000" cy="141732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Cierre diario automático, sin doble digitación, y tablero en tiempo real de kilos por especie y comprador.</a:t>
            </a:r>
            <a:endParaRPr lang="en-US" sz="1150" dirty="0"/>
          </a:p>
        </p:txBody>
      </p:sp>
      <p:sp>
        <p:nvSpPr>
          <p:cNvPr id="22" name="Shape 17"/>
          <p:cNvSpPr/>
          <p:nvPr/>
        </p:nvSpPr>
        <p:spPr>
          <a:xfrm>
            <a:off x="3502152" y="5212080"/>
            <a:ext cx="2359152" cy="841248"/>
          </a:xfrm>
          <a:prstGeom prst="roundRect">
            <a:avLst>
              <a:gd name="adj" fmla="val 13043"/>
            </a:avLst>
          </a:prstGeom>
          <a:solidFill>
            <a:srgbClr val="EAF1FF"/>
          </a:solidFill>
          <a:ln/>
        </p:spPr>
      </p:sp>
      <p:sp>
        <p:nvSpPr>
          <p:cNvPr id="23" name="Text 18"/>
          <p:cNvSpPr txBox="1"/>
          <p:nvPr/>
        </p:nvSpPr>
        <p:spPr>
          <a:xfrm>
            <a:off x="3630168" y="5248656"/>
            <a:ext cx="2194560" cy="438912"/>
          </a:xfrm>
          <a:prstGeom prst="rect">
            <a:avLst/>
          </a:prstGeom>
          <a:noFill/>
          <a:ln/>
        </p:spPr>
        <p:txBody>
          <a:bodyPr wrap="square" lIns="0" tIns="0" rIns="0" bIns="0" rtlCol="0" anchor="ctr"/>
          <a:lstStyle/>
          <a:p>
            <a:pPr indent="0" marL="0">
              <a:buNone/>
            </a:pPr>
            <a:r>
              <a:rPr lang="en-US" sz="1600" b="1" dirty="0">
                <a:solidFill>
                  <a:srgbClr val="0B5FFF"/>
                </a:solidFill>
                <a:latin typeface="Montserrat" pitchFamily="34" charset="0"/>
                <a:ea typeface="Montserrat" pitchFamily="34" charset="-122"/>
                <a:cs typeface="Montserrat" pitchFamily="34" charset="-120"/>
              </a:rPr>
              <a:t>Tiempo real</a:t>
            </a:r>
            <a:endParaRPr lang="en-US" sz="1600" dirty="0"/>
          </a:p>
        </p:txBody>
      </p:sp>
      <p:sp>
        <p:nvSpPr>
          <p:cNvPr id="24" name="Text 19"/>
          <p:cNvSpPr txBox="1"/>
          <p:nvPr/>
        </p:nvSpPr>
        <p:spPr>
          <a:xfrm>
            <a:off x="3630168" y="5669280"/>
            <a:ext cx="2194560" cy="274320"/>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estadística del muelle</a:t>
            </a:r>
            <a:endParaRPr lang="en-US" sz="900" dirty="0"/>
          </a:p>
        </p:txBody>
      </p:sp>
      <p:sp>
        <p:nvSpPr>
          <p:cNvPr id="25" name="Shape 20"/>
          <p:cNvSpPr/>
          <p:nvPr/>
        </p:nvSpPr>
        <p:spPr>
          <a:xfrm>
            <a:off x="6163056" y="2834640"/>
            <a:ext cx="2651760" cy="3364992"/>
          </a:xfrm>
          <a:prstGeom prst="roundRect">
            <a:avLst>
              <a:gd name="adj" fmla="val 4828"/>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6" name="Shape 21"/>
          <p:cNvSpPr/>
          <p:nvPr/>
        </p:nvSpPr>
        <p:spPr>
          <a:xfrm>
            <a:off x="6364224" y="3054096"/>
            <a:ext cx="548640" cy="548640"/>
          </a:xfrm>
          <a:prstGeom prst="roundRect">
            <a:avLst>
              <a:gd name="adj" fmla="val 28000"/>
            </a:avLst>
          </a:prstGeom>
          <a:solidFill>
            <a:srgbClr val="0B9468"/>
          </a:solidFill>
          <a:ln/>
        </p:spPr>
      </p:sp>
      <p:pic>
        <p:nvPicPr>
          <p:cNvPr id="27" name="Image 3" descr="preencoded.png">    </p:cNvPr>
          <p:cNvPicPr>
            <a:picLocks noChangeAspect="1"/>
          </p:cNvPicPr>
          <p:nvPr/>
        </p:nvPicPr>
        <p:blipFill>
          <a:blip r:embed="rId5"/>
          <a:stretch>
            <a:fillRect/>
          </a:stretch>
        </p:blipFill>
        <p:spPr>
          <a:xfrm>
            <a:off x="6495898" y="3185770"/>
            <a:ext cx="285293" cy="285293"/>
          </a:xfrm>
          <a:prstGeom prst="rect">
            <a:avLst/>
          </a:prstGeom>
        </p:spPr>
      </p:pic>
      <p:sp>
        <p:nvSpPr>
          <p:cNvPr id="28" name="Text 22"/>
          <p:cNvSpPr txBox="1"/>
          <p:nvPr/>
        </p:nvSpPr>
        <p:spPr>
          <a:xfrm>
            <a:off x="7031736" y="3054096"/>
            <a:ext cx="1645920" cy="54864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Comerciantes y plantas</a:t>
            </a:r>
            <a:endParaRPr lang="en-US" sz="1250" dirty="0"/>
          </a:p>
        </p:txBody>
      </p:sp>
      <p:sp>
        <p:nvSpPr>
          <p:cNvPr id="29" name="Text 23"/>
          <p:cNvSpPr txBox="1"/>
          <p:nvPr/>
        </p:nvSpPr>
        <p:spPr>
          <a:xfrm>
            <a:off x="6364224" y="3749040"/>
            <a:ext cx="2286000" cy="141732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Garantía con respaldo normativo mediante la constancia QR: sin riesgo de comprar pesca de origen desconocido.</a:t>
            </a:r>
            <a:endParaRPr lang="en-US" sz="1150" dirty="0"/>
          </a:p>
        </p:txBody>
      </p:sp>
      <p:sp>
        <p:nvSpPr>
          <p:cNvPr id="30" name="Shape 24"/>
          <p:cNvSpPr/>
          <p:nvPr/>
        </p:nvSpPr>
        <p:spPr>
          <a:xfrm>
            <a:off x="6309360" y="5212080"/>
            <a:ext cx="2359152" cy="841248"/>
          </a:xfrm>
          <a:prstGeom prst="roundRect">
            <a:avLst>
              <a:gd name="adj" fmla="val 13043"/>
            </a:avLst>
          </a:prstGeom>
          <a:solidFill>
            <a:srgbClr val="E2F8EF"/>
          </a:solidFill>
          <a:ln/>
        </p:spPr>
      </p:sp>
      <p:sp>
        <p:nvSpPr>
          <p:cNvPr id="31" name="Text 25"/>
          <p:cNvSpPr txBox="1"/>
          <p:nvPr/>
        </p:nvSpPr>
        <p:spPr>
          <a:xfrm>
            <a:off x="6437376" y="5248656"/>
            <a:ext cx="2194560" cy="438912"/>
          </a:xfrm>
          <a:prstGeom prst="rect">
            <a:avLst/>
          </a:prstGeom>
          <a:noFill/>
          <a:ln/>
        </p:spPr>
        <p:txBody>
          <a:bodyPr wrap="square" lIns="0" tIns="0" rIns="0" bIns="0" rtlCol="0" anchor="ctr"/>
          <a:lstStyle/>
          <a:p>
            <a:pPr indent="0" marL="0">
              <a:buNone/>
            </a:pPr>
            <a:r>
              <a:rPr lang="en-US" sz="1600" b="1" dirty="0">
                <a:solidFill>
                  <a:srgbClr val="0B9468"/>
                </a:solidFill>
                <a:latin typeface="Montserrat" pitchFamily="34" charset="0"/>
                <a:ea typeface="Montserrat" pitchFamily="34" charset="-122"/>
                <a:cs typeface="Montserrat" pitchFamily="34" charset="-120"/>
              </a:rPr>
              <a:t>QR</a:t>
            </a:r>
            <a:endParaRPr lang="en-US" sz="1600" dirty="0"/>
          </a:p>
        </p:txBody>
      </p:sp>
      <p:sp>
        <p:nvSpPr>
          <p:cNvPr id="32" name="Text 26"/>
          <p:cNvSpPr txBox="1"/>
          <p:nvPr/>
        </p:nvSpPr>
        <p:spPr>
          <a:xfrm>
            <a:off x="6437376" y="5669280"/>
            <a:ext cx="2194560" cy="274320"/>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prueba de origen legal [12]</a:t>
            </a:r>
            <a:endParaRPr lang="en-US" sz="900" dirty="0"/>
          </a:p>
        </p:txBody>
      </p:sp>
      <p:sp>
        <p:nvSpPr>
          <p:cNvPr id="33" name="Shape 27"/>
          <p:cNvSpPr/>
          <p:nvPr/>
        </p:nvSpPr>
        <p:spPr>
          <a:xfrm>
            <a:off x="8970264" y="2834640"/>
            <a:ext cx="2651760" cy="3364992"/>
          </a:xfrm>
          <a:prstGeom prst="roundRect">
            <a:avLst>
              <a:gd name="adj" fmla="val 4828"/>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4" name="Shape 28"/>
          <p:cNvSpPr/>
          <p:nvPr/>
        </p:nvSpPr>
        <p:spPr>
          <a:xfrm>
            <a:off x="9171432" y="3054096"/>
            <a:ext cx="548640" cy="548640"/>
          </a:xfrm>
          <a:prstGeom prst="roundRect">
            <a:avLst>
              <a:gd name="adj" fmla="val 28000"/>
            </a:avLst>
          </a:prstGeom>
          <a:solidFill>
            <a:srgbClr val="7B5CFF"/>
          </a:solidFill>
          <a:ln/>
        </p:spPr>
      </p:sp>
      <p:pic>
        <p:nvPicPr>
          <p:cNvPr id="35" name="Image 4" descr="preencoded.png">    </p:cNvPr>
          <p:cNvPicPr>
            <a:picLocks noChangeAspect="1"/>
          </p:cNvPicPr>
          <p:nvPr/>
        </p:nvPicPr>
        <p:blipFill>
          <a:blip r:embed="rId6"/>
          <a:stretch>
            <a:fillRect/>
          </a:stretch>
        </p:blipFill>
        <p:spPr>
          <a:xfrm>
            <a:off x="9303106" y="3185770"/>
            <a:ext cx="285293" cy="285293"/>
          </a:xfrm>
          <a:prstGeom prst="rect">
            <a:avLst/>
          </a:prstGeom>
        </p:spPr>
      </p:pic>
      <p:sp>
        <p:nvSpPr>
          <p:cNvPr id="36" name="Text 29"/>
          <p:cNvSpPr txBox="1"/>
          <p:nvPr/>
        </p:nvSpPr>
        <p:spPr>
          <a:xfrm>
            <a:off x="9838944" y="3054096"/>
            <a:ext cx="1645920" cy="54864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IMARPE y PRODUCE</a:t>
            </a:r>
            <a:endParaRPr lang="en-US" sz="1250" dirty="0"/>
          </a:p>
        </p:txBody>
      </p:sp>
      <p:sp>
        <p:nvSpPr>
          <p:cNvPr id="37" name="Text 30"/>
          <p:cNvSpPr txBox="1"/>
          <p:nvPr/>
        </p:nvSpPr>
        <p:spPr>
          <a:xfrm>
            <a:off x="9171432" y="3749040"/>
            <a:ext cx="2286000" cy="1417320"/>
          </a:xfrm>
          <a:prstGeom prst="rect">
            <a:avLst/>
          </a:prstGeom>
          <a:noFill/>
          <a:ln/>
        </p:spPr>
        <p:txBody>
          <a:bodyPr wrap="square" lIns="0" tIns="0" rIns="0" bIns="0" rtlCol="0" anchor="t"/>
          <a:lstStyle/>
          <a:p>
            <a:pPr indent="0" marL="0">
              <a:buNone/>
            </a:pPr>
            <a:r>
              <a:rPr lang="en-US" sz="1150" dirty="0">
                <a:solidFill>
                  <a:srgbClr val="4A5878"/>
                </a:solidFill>
                <a:latin typeface="Open Sans" pitchFamily="34" charset="0"/>
                <a:ea typeface="Open Sans" pitchFamily="34" charset="-122"/>
                <a:cs typeface="Open Sans" pitchFamily="34" charset="-120"/>
              </a:rPr>
              <a:t>Datos estructurados e inmediatos del esfuerzo pesquero en lugar de formatos manuales procesados tarde [14].</a:t>
            </a:r>
            <a:endParaRPr lang="en-US" sz="1150" dirty="0"/>
          </a:p>
        </p:txBody>
      </p:sp>
      <p:sp>
        <p:nvSpPr>
          <p:cNvPr id="38" name="Shape 31"/>
          <p:cNvSpPr/>
          <p:nvPr/>
        </p:nvSpPr>
        <p:spPr>
          <a:xfrm>
            <a:off x="9116568" y="5212080"/>
            <a:ext cx="2359152" cy="841248"/>
          </a:xfrm>
          <a:prstGeom prst="roundRect">
            <a:avLst>
              <a:gd name="adj" fmla="val 13043"/>
            </a:avLst>
          </a:prstGeom>
          <a:solidFill>
            <a:srgbClr val="EFEBFF"/>
          </a:solidFill>
          <a:ln/>
        </p:spPr>
      </p:sp>
      <p:sp>
        <p:nvSpPr>
          <p:cNvPr id="39" name="Text 32"/>
          <p:cNvSpPr txBox="1"/>
          <p:nvPr/>
        </p:nvSpPr>
        <p:spPr>
          <a:xfrm>
            <a:off x="9244584" y="5248656"/>
            <a:ext cx="2194560" cy="438912"/>
          </a:xfrm>
          <a:prstGeom prst="rect">
            <a:avLst/>
          </a:prstGeom>
          <a:noFill/>
          <a:ln/>
        </p:spPr>
        <p:txBody>
          <a:bodyPr wrap="square" lIns="0" tIns="0" rIns="0" bIns="0" rtlCol="0" anchor="ctr"/>
          <a:lstStyle/>
          <a:p>
            <a:pPr indent="0" marL="0">
              <a:buNone/>
            </a:pPr>
            <a:r>
              <a:rPr lang="en-US" sz="1600" b="1" dirty="0">
                <a:solidFill>
                  <a:srgbClr val="7B5CFF"/>
                </a:solidFill>
                <a:latin typeface="Montserrat" pitchFamily="34" charset="0"/>
                <a:ea typeface="Montserrat" pitchFamily="34" charset="-122"/>
                <a:cs typeface="Montserrat" pitchFamily="34" charset="-120"/>
              </a:rPr>
              <a:t>Meta 14.4</a:t>
            </a:r>
            <a:endParaRPr lang="en-US" sz="1600" dirty="0"/>
          </a:p>
        </p:txBody>
      </p:sp>
      <p:sp>
        <p:nvSpPr>
          <p:cNvPr id="40" name="Text 33"/>
          <p:cNvSpPr txBox="1"/>
          <p:nvPr/>
        </p:nvSpPr>
        <p:spPr>
          <a:xfrm>
            <a:off x="9244584" y="5669280"/>
            <a:ext cx="2194560" cy="274320"/>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control de vedas y decisiones [2]</a:t>
            </a:r>
            <a:endParaRPr lang="en-US" sz="900" dirty="0"/>
          </a:p>
        </p:txBody>
      </p:sp>
      <p:sp>
        <p:nvSpPr>
          <p:cNvPr id="41" name="Text 3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2" name="Text 3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815791" cy="274320"/>
          </a:xfrm>
          <a:prstGeom prst="roundRect">
            <a:avLst>
              <a:gd name="adj" fmla="val 50000"/>
            </a:avLst>
          </a:prstGeom>
          <a:solidFill>
            <a:srgbClr val="0B5FFF"/>
          </a:solidFill>
          <a:ln/>
        </p:spPr>
      </p:sp>
      <p:sp>
        <p:nvSpPr>
          <p:cNvPr id="3" name="Text 1"/>
          <p:cNvSpPr txBox="1"/>
          <p:nvPr/>
        </p:nvSpPr>
        <p:spPr>
          <a:xfrm>
            <a:off x="548640" y="411480"/>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1 · 1.4.6 ALCANCE Y DELIMITACIÓN</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¿Qué hace y qué no hace SIRDEPA?</a:t>
            </a:r>
            <a:endParaRPr lang="en-US" sz="3000" dirty="0"/>
          </a:p>
        </p:txBody>
      </p:sp>
      <p:sp>
        <p:nvSpPr>
          <p:cNvPr id="5" name="Shape 3"/>
          <p:cNvSpPr/>
          <p:nvPr/>
        </p:nvSpPr>
        <p:spPr>
          <a:xfrm>
            <a:off x="548640" y="1600200"/>
            <a:ext cx="5486400" cy="4572000"/>
          </a:xfrm>
          <a:prstGeom prst="roundRect">
            <a:avLst>
              <a:gd name="adj" fmla="val 4000"/>
            </a:avLst>
          </a:prstGeom>
          <a:solidFill>
            <a:srgbClr val="E2F8EF"/>
          </a:solidFill>
          <a:ln/>
        </p:spPr>
      </p:sp>
      <p:sp>
        <p:nvSpPr>
          <p:cNvPr id="6" name="Shape 4"/>
          <p:cNvSpPr/>
          <p:nvPr/>
        </p:nvSpPr>
        <p:spPr>
          <a:xfrm>
            <a:off x="822960" y="1828800"/>
            <a:ext cx="640080" cy="640080"/>
          </a:xfrm>
          <a:prstGeom prst="ellipse">
            <a:avLst/>
          </a:prstGeom>
          <a:solidFill>
            <a:srgbClr val="10B981"/>
          </a:solidFill>
          <a:ln/>
        </p:spPr>
      </p:sp>
      <p:pic>
        <p:nvPicPr>
          <p:cNvPr id="7" name="Image 0" descr="preencoded.png">    </p:cNvPr>
          <p:cNvPicPr>
            <a:picLocks noChangeAspect="1"/>
          </p:cNvPicPr>
          <p:nvPr/>
        </p:nvPicPr>
        <p:blipFill>
          <a:blip r:embed="rId2"/>
          <a:stretch>
            <a:fillRect/>
          </a:stretch>
        </p:blipFill>
        <p:spPr>
          <a:xfrm>
            <a:off x="976579" y="1982419"/>
            <a:ext cx="332842" cy="332842"/>
          </a:xfrm>
          <a:prstGeom prst="rect">
            <a:avLst/>
          </a:prstGeom>
        </p:spPr>
      </p:pic>
      <p:sp>
        <p:nvSpPr>
          <p:cNvPr id="8" name="Text 5"/>
          <p:cNvSpPr txBox="1"/>
          <p:nvPr/>
        </p:nvSpPr>
        <p:spPr>
          <a:xfrm>
            <a:off x="1645920" y="1828800"/>
            <a:ext cx="4114800" cy="640080"/>
          </a:xfrm>
          <a:prstGeom prst="rect">
            <a:avLst/>
          </a:prstGeom>
          <a:noFill/>
          <a:ln/>
        </p:spPr>
        <p:txBody>
          <a:bodyPr wrap="square" lIns="0" tIns="0" rIns="0" bIns="0" rtlCol="0" anchor="ctr"/>
          <a:lstStyle/>
          <a:p>
            <a:pPr indent="0" marL="0">
              <a:buNone/>
            </a:pPr>
            <a:r>
              <a:rPr lang="en-US" sz="2000" b="1" dirty="0">
                <a:solidFill>
                  <a:srgbClr val="0B9468"/>
                </a:solidFill>
                <a:latin typeface="Montserrat" pitchFamily="34" charset="0"/>
                <a:ea typeface="Montserrat" pitchFamily="34" charset="-122"/>
                <a:cs typeface="Montserrat" pitchFamily="34" charset="-120"/>
              </a:rPr>
              <a:t>Dentro del alcance</a:t>
            </a:r>
            <a:endParaRPr lang="en-US" sz="2000" dirty="0"/>
          </a:p>
        </p:txBody>
      </p:sp>
      <p:pic>
        <p:nvPicPr>
          <p:cNvPr id="9" name="Image 1" descr="preencoded.png">    </p:cNvPr>
          <p:cNvPicPr>
            <a:picLocks noChangeAspect="1"/>
          </p:cNvPicPr>
          <p:nvPr/>
        </p:nvPicPr>
        <p:blipFill>
          <a:blip r:embed="rId3"/>
          <a:stretch>
            <a:fillRect/>
          </a:stretch>
        </p:blipFill>
        <p:spPr>
          <a:xfrm>
            <a:off x="868680" y="2788920"/>
            <a:ext cx="292608" cy="292608"/>
          </a:xfrm>
          <a:prstGeom prst="rect">
            <a:avLst/>
          </a:prstGeom>
        </p:spPr>
      </p:pic>
      <p:sp>
        <p:nvSpPr>
          <p:cNvPr id="10" name="Text 6"/>
          <p:cNvSpPr txBox="1"/>
          <p:nvPr/>
        </p:nvSpPr>
        <p:spPr>
          <a:xfrm>
            <a:off x="1325880" y="2743200"/>
            <a:ext cx="4480560" cy="77724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Registro de desembarques de embarcaciones artesanales y de menor escala (hasta 32,6 m³ de capacidad de bodega).</a:t>
            </a:r>
            <a:endParaRPr lang="en-US" sz="1400" dirty="0"/>
          </a:p>
        </p:txBody>
      </p:sp>
      <p:pic>
        <p:nvPicPr>
          <p:cNvPr id="11" name="Image 2" descr="preencoded.png">    </p:cNvPr>
          <p:cNvPicPr>
            <a:picLocks noChangeAspect="1"/>
          </p:cNvPicPr>
          <p:nvPr/>
        </p:nvPicPr>
        <p:blipFill>
          <a:blip r:embed="rId4"/>
          <a:stretch>
            <a:fillRect/>
          </a:stretch>
        </p:blipFill>
        <p:spPr>
          <a:xfrm>
            <a:off x="868680" y="3630168"/>
            <a:ext cx="292608" cy="292608"/>
          </a:xfrm>
          <a:prstGeom prst="rect">
            <a:avLst/>
          </a:prstGeom>
        </p:spPr>
      </p:pic>
      <p:sp>
        <p:nvSpPr>
          <p:cNvPr id="12" name="Text 7"/>
          <p:cNvSpPr txBox="1"/>
          <p:nvPr/>
        </p:nvSpPr>
        <p:spPr>
          <a:xfrm>
            <a:off x="1325880" y="3584448"/>
            <a:ext cx="4480560" cy="77724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Validación del cumplimiento normativo.</a:t>
            </a:r>
            <a:endParaRPr lang="en-US" sz="1400" dirty="0"/>
          </a:p>
        </p:txBody>
      </p:sp>
      <p:pic>
        <p:nvPicPr>
          <p:cNvPr id="13" name="Image 3" descr="preencoded.png">    </p:cNvPr>
          <p:cNvPicPr>
            <a:picLocks noChangeAspect="1"/>
          </p:cNvPicPr>
          <p:nvPr/>
        </p:nvPicPr>
        <p:blipFill>
          <a:blip r:embed="rId5"/>
          <a:stretch>
            <a:fillRect/>
          </a:stretch>
        </p:blipFill>
        <p:spPr>
          <a:xfrm>
            <a:off x="868680" y="4471416"/>
            <a:ext cx="292608" cy="292608"/>
          </a:xfrm>
          <a:prstGeom prst="rect">
            <a:avLst/>
          </a:prstGeom>
        </p:spPr>
      </p:pic>
      <p:sp>
        <p:nvSpPr>
          <p:cNvPr id="14" name="Text 8"/>
          <p:cNvSpPr txBox="1"/>
          <p:nvPr/>
        </p:nvSpPr>
        <p:spPr>
          <a:xfrm>
            <a:off x="1325880" y="4425696"/>
            <a:ext cx="4480560" cy="77724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Constancias QR de trazabilidad hasta el primer comprador.</a:t>
            </a:r>
            <a:endParaRPr lang="en-US" sz="1400" dirty="0"/>
          </a:p>
        </p:txBody>
      </p:sp>
      <p:pic>
        <p:nvPicPr>
          <p:cNvPr id="15" name="Image 4" descr="preencoded.png">    </p:cNvPr>
          <p:cNvPicPr>
            <a:picLocks noChangeAspect="1"/>
          </p:cNvPicPr>
          <p:nvPr/>
        </p:nvPicPr>
        <p:blipFill>
          <a:blip r:embed="rId6"/>
          <a:stretch>
            <a:fillRect/>
          </a:stretch>
        </p:blipFill>
        <p:spPr>
          <a:xfrm>
            <a:off x="868680" y="5312664"/>
            <a:ext cx="292608" cy="292608"/>
          </a:xfrm>
          <a:prstGeom prst="rect">
            <a:avLst/>
          </a:prstGeom>
        </p:spPr>
      </p:pic>
      <p:sp>
        <p:nvSpPr>
          <p:cNvPr id="16" name="Text 9"/>
          <p:cNvSpPr txBox="1"/>
          <p:nvPr/>
        </p:nvSpPr>
        <p:spPr>
          <a:xfrm>
            <a:off x="1325880" y="5266944"/>
            <a:ext cx="4480560" cy="77724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Exportación de datos al IMARPE y a PRODUCE. [12]</a:t>
            </a:r>
            <a:endParaRPr lang="en-US" sz="1400" dirty="0"/>
          </a:p>
        </p:txBody>
      </p:sp>
      <p:sp>
        <p:nvSpPr>
          <p:cNvPr id="17" name="Shape 10"/>
          <p:cNvSpPr/>
          <p:nvPr/>
        </p:nvSpPr>
        <p:spPr>
          <a:xfrm>
            <a:off x="6172200" y="1600200"/>
            <a:ext cx="5440680" cy="4572000"/>
          </a:xfrm>
          <a:prstGeom prst="roundRect">
            <a:avLst>
              <a:gd name="adj" fmla="val 4000"/>
            </a:avLst>
          </a:prstGeom>
          <a:solidFill>
            <a:srgbClr val="FFE9EA"/>
          </a:solidFill>
          <a:ln/>
        </p:spPr>
      </p:sp>
      <p:sp>
        <p:nvSpPr>
          <p:cNvPr id="18" name="Shape 11"/>
          <p:cNvSpPr/>
          <p:nvPr/>
        </p:nvSpPr>
        <p:spPr>
          <a:xfrm>
            <a:off x="6446520" y="1828800"/>
            <a:ext cx="640080" cy="640080"/>
          </a:xfrm>
          <a:prstGeom prst="ellipse">
            <a:avLst/>
          </a:prstGeom>
          <a:solidFill>
            <a:srgbClr val="FF5A5F"/>
          </a:solidFill>
          <a:ln/>
        </p:spPr>
      </p:sp>
      <p:pic>
        <p:nvPicPr>
          <p:cNvPr id="19" name="Image 5" descr="preencoded.png">    </p:cNvPr>
          <p:cNvPicPr>
            <a:picLocks noChangeAspect="1"/>
          </p:cNvPicPr>
          <p:nvPr/>
        </p:nvPicPr>
        <p:blipFill>
          <a:blip r:embed="rId7"/>
          <a:stretch>
            <a:fillRect/>
          </a:stretch>
        </p:blipFill>
        <p:spPr>
          <a:xfrm>
            <a:off x="6600139" y="1982419"/>
            <a:ext cx="332842" cy="332842"/>
          </a:xfrm>
          <a:prstGeom prst="rect">
            <a:avLst/>
          </a:prstGeom>
        </p:spPr>
      </p:pic>
      <p:sp>
        <p:nvSpPr>
          <p:cNvPr id="20" name="Text 12"/>
          <p:cNvSpPr txBox="1"/>
          <p:nvPr/>
        </p:nvSpPr>
        <p:spPr>
          <a:xfrm>
            <a:off x="7269480" y="1828800"/>
            <a:ext cx="4114800" cy="640080"/>
          </a:xfrm>
          <a:prstGeom prst="rect">
            <a:avLst/>
          </a:prstGeom>
          <a:noFill/>
          <a:ln/>
        </p:spPr>
        <p:txBody>
          <a:bodyPr wrap="square" lIns="0" tIns="0" rIns="0" bIns="0" rtlCol="0" anchor="ctr"/>
          <a:lstStyle/>
          <a:p>
            <a:pPr indent="0" marL="0">
              <a:buNone/>
            </a:pPr>
            <a:r>
              <a:rPr lang="en-US" sz="2000" b="1" dirty="0">
                <a:solidFill>
                  <a:srgbClr val="E0393F"/>
                </a:solidFill>
                <a:latin typeface="Montserrat" pitchFamily="34" charset="0"/>
                <a:ea typeface="Montserrat" pitchFamily="34" charset="-122"/>
                <a:cs typeface="Montserrat" pitchFamily="34" charset="-120"/>
              </a:rPr>
              <a:t>Fuera del alcance</a:t>
            </a:r>
            <a:endParaRPr lang="en-US" sz="2000" dirty="0"/>
          </a:p>
        </p:txBody>
      </p:sp>
      <p:pic>
        <p:nvPicPr>
          <p:cNvPr id="21" name="Image 6" descr="preencoded.png">    </p:cNvPr>
          <p:cNvPicPr>
            <a:picLocks noChangeAspect="1"/>
          </p:cNvPicPr>
          <p:nvPr/>
        </p:nvPicPr>
        <p:blipFill>
          <a:blip r:embed="rId8"/>
          <a:stretch>
            <a:fillRect/>
          </a:stretch>
        </p:blipFill>
        <p:spPr>
          <a:xfrm>
            <a:off x="6492240" y="2788920"/>
            <a:ext cx="292608" cy="292608"/>
          </a:xfrm>
          <a:prstGeom prst="rect">
            <a:avLst/>
          </a:prstGeom>
        </p:spPr>
      </p:pic>
      <p:sp>
        <p:nvSpPr>
          <p:cNvPr id="22" name="Text 13"/>
          <p:cNvSpPr txBox="1"/>
          <p:nvPr/>
        </p:nvSpPr>
        <p:spPr>
          <a:xfrm>
            <a:off x="6949440" y="2743200"/>
            <a:ext cx="4434840" cy="91440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Monitoreo satelital de flotas: competencia exclusiva del SISESAT, cuya exigencia artesanal está prorrogada. [17]</a:t>
            </a:r>
            <a:endParaRPr lang="en-US" sz="1400" dirty="0"/>
          </a:p>
        </p:txBody>
      </p:sp>
      <p:pic>
        <p:nvPicPr>
          <p:cNvPr id="23" name="Image 7" descr="preencoded.png">    </p:cNvPr>
          <p:cNvPicPr>
            <a:picLocks noChangeAspect="1"/>
          </p:cNvPicPr>
          <p:nvPr/>
        </p:nvPicPr>
        <p:blipFill>
          <a:blip r:embed="rId9"/>
          <a:stretch>
            <a:fillRect/>
          </a:stretch>
        </p:blipFill>
        <p:spPr>
          <a:xfrm>
            <a:off x="6492240" y="3794760"/>
            <a:ext cx="292608" cy="292608"/>
          </a:xfrm>
          <a:prstGeom prst="rect">
            <a:avLst/>
          </a:prstGeom>
        </p:spPr>
      </p:pic>
      <p:sp>
        <p:nvSpPr>
          <p:cNvPr id="24" name="Text 14"/>
          <p:cNvSpPr txBox="1"/>
          <p:nvPr/>
        </p:nvSpPr>
        <p:spPr>
          <a:xfrm>
            <a:off x="6949440" y="3749040"/>
            <a:ext cx="4434840" cy="91440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Facturación electrónica tributaria.</a:t>
            </a:r>
            <a:endParaRPr lang="en-US" sz="1400" dirty="0"/>
          </a:p>
        </p:txBody>
      </p:sp>
      <p:pic>
        <p:nvPicPr>
          <p:cNvPr id="25" name="Image 8" descr="preencoded.png">    </p:cNvPr>
          <p:cNvPicPr>
            <a:picLocks noChangeAspect="1"/>
          </p:cNvPicPr>
          <p:nvPr/>
        </p:nvPicPr>
        <p:blipFill>
          <a:blip r:embed="rId10"/>
          <a:stretch>
            <a:fillRect/>
          </a:stretch>
        </p:blipFill>
        <p:spPr>
          <a:xfrm>
            <a:off x="6492240" y="4800600"/>
            <a:ext cx="292608" cy="292608"/>
          </a:xfrm>
          <a:prstGeom prst="rect">
            <a:avLst/>
          </a:prstGeom>
        </p:spPr>
      </p:pic>
      <p:sp>
        <p:nvSpPr>
          <p:cNvPr id="26" name="Text 15"/>
          <p:cNvSpPr txBox="1"/>
          <p:nvPr/>
        </p:nvSpPr>
        <p:spPr>
          <a:xfrm>
            <a:off x="6949440" y="4754880"/>
            <a:ext cx="4434840" cy="914400"/>
          </a:xfrm>
          <a:prstGeom prst="rect">
            <a:avLst/>
          </a:prstGeom>
          <a:noFill/>
          <a:ln/>
        </p:spPr>
        <p:txBody>
          <a:bodyPr wrap="square" lIns="0" tIns="0" rIns="0" bIns="0" rtlCol="0" anchor="t"/>
          <a:lstStyle/>
          <a:p>
            <a:pPr indent="0" marL="0">
              <a:buNone/>
            </a:pPr>
            <a:r>
              <a:rPr lang="en-US" sz="1400" dirty="0">
                <a:solidFill>
                  <a:srgbClr val="0E1B3D"/>
                </a:solidFill>
                <a:latin typeface="Open Sans" pitchFamily="34" charset="0"/>
                <a:ea typeface="Open Sans" pitchFamily="34" charset="-122"/>
                <a:cs typeface="Open Sans" pitchFamily="34" charset="-120"/>
              </a:rPr>
              <a:t>Reemplazo de la plataforma central del SITRAPESCA. [18]</a:t>
            </a:r>
            <a:endParaRPr lang="en-US" sz="1400" dirty="0"/>
          </a:p>
        </p:txBody>
      </p:sp>
      <p:sp>
        <p:nvSpPr>
          <p:cNvPr id="27" name="Text 1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28" name="Text 1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B5FFF"/>
                </a:solidFill>
                <a:latin typeface="Montserrat" pitchFamily="34" charset="0"/>
                <a:ea typeface="Montserrat" pitchFamily="34" charset="-122"/>
                <a:cs typeface="Montserrat"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815791" cy="274320"/>
          </a:xfrm>
          <a:prstGeom prst="roundRect">
            <a:avLst>
              <a:gd name="adj" fmla="val 50000"/>
            </a:avLst>
          </a:prstGeom>
          <a:solidFill>
            <a:srgbClr val="7B5CFF"/>
          </a:solidFill>
          <a:ln/>
        </p:spPr>
      </p:sp>
      <p:sp>
        <p:nvSpPr>
          <p:cNvPr id="3" name="Text 1"/>
          <p:cNvSpPr txBox="1"/>
          <p:nvPr/>
        </p:nvSpPr>
        <p:spPr>
          <a:xfrm>
            <a:off x="548640" y="411480"/>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2.1 DESCRIPCIÓN DEL PROBLEMA</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900" b="1" dirty="0">
                <a:solidFill>
                  <a:srgbClr val="0E1B3D"/>
                </a:solidFill>
                <a:latin typeface="Montserrat" pitchFamily="34" charset="0"/>
                <a:ea typeface="Montserrat" pitchFamily="34" charset="-122"/>
                <a:cs typeface="Montserrat" pitchFamily="34" charset="-120"/>
              </a:rPr>
              <a:t>El proceso actual (AS-IS) tiene cinco deficiencias</a:t>
            </a:r>
            <a:endParaRPr lang="en-US" sz="29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La captura de datos es manual, fragmentada y tardía. [12], [14]</a:t>
            </a:r>
            <a:endParaRPr lang="en-US" sz="1300" dirty="0"/>
          </a:p>
        </p:txBody>
      </p:sp>
      <p:sp>
        <p:nvSpPr>
          <p:cNvPr id="6" name="Shape 4"/>
          <p:cNvSpPr/>
          <p:nvPr/>
        </p:nvSpPr>
        <p:spPr>
          <a:xfrm>
            <a:off x="548640" y="2011680"/>
            <a:ext cx="2103120" cy="269748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31520" y="2212848"/>
            <a:ext cx="457200" cy="457200"/>
          </a:xfrm>
          <a:prstGeom prst="ellipse">
            <a:avLst/>
          </a:prstGeom>
          <a:solidFill>
            <a:srgbClr val="7B5CFF"/>
          </a:solidFill>
          <a:ln/>
        </p:spPr>
      </p:sp>
      <p:sp>
        <p:nvSpPr>
          <p:cNvPr id="8" name="Text 6"/>
          <p:cNvSpPr txBox="1"/>
          <p:nvPr/>
        </p:nvSpPr>
        <p:spPr>
          <a:xfrm>
            <a:off x="73152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1</a:t>
            </a:r>
            <a:endParaRPr lang="en-US" sz="1400" dirty="0"/>
          </a:p>
        </p:txBody>
      </p:sp>
      <p:pic>
        <p:nvPicPr>
          <p:cNvPr id="9" name="Image 0" descr="preencoded.png">    </p:cNvPr>
          <p:cNvPicPr>
            <a:picLocks noChangeAspect="1"/>
          </p:cNvPicPr>
          <p:nvPr/>
        </p:nvPicPr>
        <p:blipFill>
          <a:blip r:embed="rId2"/>
          <a:stretch>
            <a:fillRect/>
          </a:stretch>
        </p:blipFill>
        <p:spPr>
          <a:xfrm>
            <a:off x="2103120" y="2286000"/>
            <a:ext cx="329184" cy="329184"/>
          </a:xfrm>
          <a:prstGeom prst="rect">
            <a:avLst/>
          </a:prstGeom>
        </p:spPr>
      </p:pic>
      <p:sp>
        <p:nvSpPr>
          <p:cNvPr id="10" name="Text 7"/>
          <p:cNvSpPr txBox="1"/>
          <p:nvPr/>
        </p:nvSpPr>
        <p:spPr>
          <a:xfrm>
            <a:off x="731520" y="2788920"/>
            <a:ext cx="1783080" cy="548640"/>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Captura extemporánea y duplicada</a:t>
            </a:r>
            <a:endParaRPr lang="en-US" sz="1200" dirty="0"/>
          </a:p>
        </p:txBody>
      </p:sp>
      <p:sp>
        <p:nvSpPr>
          <p:cNvPr id="11" name="Text 8"/>
          <p:cNvSpPr txBox="1"/>
          <p:nvPr/>
        </p:nvSpPr>
        <p:spPr>
          <a:xfrm>
            <a:off x="731520" y="3429000"/>
            <a:ext cx="1783080" cy="100584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Comerciantes, observadores y fiscalizadores registran por separado en papel, sin un origen digital único.</a:t>
            </a:r>
            <a:endParaRPr lang="en-US" sz="1050" dirty="0"/>
          </a:p>
        </p:txBody>
      </p:sp>
      <p:sp>
        <p:nvSpPr>
          <p:cNvPr id="12" name="Text 9"/>
          <p:cNvSpPr txBox="1"/>
          <p:nvPr/>
        </p:nvSpPr>
        <p:spPr>
          <a:xfrm>
            <a:off x="731520" y="4416552"/>
            <a:ext cx="1783080" cy="201168"/>
          </a:xfrm>
          <a:prstGeom prst="rect">
            <a:avLst/>
          </a:prstGeom>
          <a:noFill/>
          <a:ln/>
        </p:spPr>
        <p:txBody>
          <a:bodyPr wrap="square" lIns="0" tIns="0" rIns="0" bIns="0" rtlCol="0" anchor="t"/>
          <a:lstStyle/>
          <a:p>
            <a:pPr indent="0" marL="0">
              <a:buNone/>
            </a:pPr>
            <a:r>
              <a:rPr lang="en-US" sz="850" i="1" dirty="0">
                <a:solidFill>
                  <a:srgbClr val="8A96AE"/>
                </a:solidFill>
                <a:latin typeface="Open Sans" pitchFamily="34" charset="0"/>
                <a:ea typeface="Open Sans" pitchFamily="34" charset="-122"/>
                <a:cs typeface="Open Sans" pitchFamily="34" charset="-120"/>
              </a:rPr>
              <a:t>[12], [14]</a:t>
            </a:r>
            <a:endParaRPr lang="en-US" sz="850" dirty="0"/>
          </a:p>
        </p:txBody>
      </p:sp>
      <p:sp>
        <p:nvSpPr>
          <p:cNvPr id="13" name="Shape 10"/>
          <p:cNvSpPr/>
          <p:nvPr/>
        </p:nvSpPr>
        <p:spPr>
          <a:xfrm>
            <a:off x="2798064" y="2011680"/>
            <a:ext cx="2103120" cy="269748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4" name="Shape 11"/>
          <p:cNvSpPr/>
          <p:nvPr/>
        </p:nvSpPr>
        <p:spPr>
          <a:xfrm>
            <a:off x="2980944" y="2212848"/>
            <a:ext cx="457200" cy="457200"/>
          </a:xfrm>
          <a:prstGeom prst="ellipse">
            <a:avLst/>
          </a:prstGeom>
          <a:solidFill>
            <a:srgbClr val="7B5CFF"/>
          </a:solidFill>
          <a:ln/>
        </p:spPr>
      </p:sp>
      <p:sp>
        <p:nvSpPr>
          <p:cNvPr id="15" name="Text 12"/>
          <p:cNvSpPr txBox="1"/>
          <p:nvPr/>
        </p:nvSpPr>
        <p:spPr>
          <a:xfrm>
            <a:off x="2980944"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2</a:t>
            </a:r>
            <a:endParaRPr lang="en-US" sz="1400" dirty="0"/>
          </a:p>
        </p:txBody>
      </p:sp>
      <p:pic>
        <p:nvPicPr>
          <p:cNvPr id="16" name="Image 1" descr="preencoded.png">    </p:cNvPr>
          <p:cNvPicPr>
            <a:picLocks noChangeAspect="1"/>
          </p:cNvPicPr>
          <p:nvPr/>
        </p:nvPicPr>
        <p:blipFill>
          <a:blip r:embed="rId3"/>
          <a:stretch>
            <a:fillRect/>
          </a:stretch>
        </p:blipFill>
        <p:spPr>
          <a:xfrm>
            <a:off x="4352544" y="2286000"/>
            <a:ext cx="329184" cy="329184"/>
          </a:xfrm>
          <a:prstGeom prst="rect">
            <a:avLst/>
          </a:prstGeom>
        </p:spPr>
      </p:pic>
      <p:sp>
        <p:nvSpPr>
          <p:cNvPr id="17" name="Text 13"/>
          <p:cNvSpPr txBox="1"/>
          <p:nvPr/>
        </p:nvSpPr>
        <p:spPr>
          <a:xfrm>
            <a:off x="2980944" y="2788920"/>
            <a:ext cx="1783080" cy="548640"/>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Cobertura de monitoreo limitada</a:t>
            </a:r>
            <a:endParaRPr lang="en-US" sz="1200" dirty="0"/>
          </a:p>
        </p:txBody>
      </p:sp>
      <p:sp>
        <p:nvSpPr>
          <p:cNvPr id="18" name="Text 14"/>
          <p:cNvSpPr txBox="1"/>
          <p:nvPr/>
        </p:nvSpPr>
        <p:spPr>
          <a:xfrm>
            <a:off x="2980944" y="3429000"/>
            <a:ext cx="1783080" cy="100584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Observadores presenciales en solo 63 puntos del litoral; se omiten descargas en caletas.</a:t>
            </a:r>
            <a:endParaRPr lang="en-US" sz="1050" dirty="0"/>
          </a:p>
        </p:txBody>
      </p:sp>
      <p:sp>
        <p:nvSpPr>
          <p:cNvPr id="19" name="Text 15"/>
          <p:cNvSpPr txBox="1"/>
          <p:nvPr/>
        </p:nvSpPr>
        <p:spPr>
          <a:xfrm>
            <a:off x="2980944" y="4416552"/>
            <a:ext cx="1783080" cy="201168"/>
          </a:xfrm>
          <a:prstGeom prst="rect">
            <a:avLst/>
          </a:prstGeom>
          <a:noFill/>
          <a:ln/>
        </p:spPr>
        <p:txBody>
          <a:bodyPr wrap="square" lIns="0" tIns="0" rIns="0" bIns="0" rtlCol="0" anchor="t"/>
          <a:lstStyle/>
          <a:p>
            <a:pPr indent="0" marL="0">
              <a:buNone/>
            </a:pPr>
            <a:r>
              <a:rPr lang="en-US" sz="850" i="1" dirty="0">
                <a:solidFill>
                  <a:srgbClr val="8A96AE"/>
                </a:solidFill>
                <a:latin typeface="Open Sans" pitchFamily="34" charset="0"/>
                <a:ea typeface="Open Sans" pitchFamily="34" charset="-122"/>
                <a:cs typeface="Open Sans" pitchFamily="34" charset="-120"/>
              </a:rPr>
              <a:t>[5]</a:t>
            </a:r>
            <a:endParaRPr lang="en-US" sz="850" dirty="0"/>
          </a:p>
        </p:txBody>
      </p:sp>
      <p:sp>
        <p:nvSpPr>
          <p:cNvPr id="20" name="Shape 16"/>
          <p:cNvSpPr/>
          <p:nvPr/>
        </p:nvSpPr>
        <p:spPr>
          <a:xfrm>
            <a:off x="5047488" y="2011680"/>
            <a:ext cx="2103120" cy="269748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1" name="Shape 17"/>
          <p:cNvSpPr/>
          <p:nvPr/>
        </p:nvSpPr>
        <p:spPr>
          <a:xfrm>
            <a:off x="5230368" y="2212848"/>
            <a:ext cx="457200" cy="457200"/>
          </a:xfrm>
          <a:prstGeom prst="ellipse">
            <a:avLst/>
          </a:prstGeom>
          <a:solidFill>
            <a:srgbClr val="7B5CFF"/>
          </a:solidFill>
          <a:ln/>
        </p:spPr>
      </p:sp>
      <p:sp>
        <p:nvSpPr>
          <p:cNvPr id="22" name="Text 18"/>
          <p:cNvSpPr txBox="1"/>
          <p:nvPr/>
        </p:nvSpPr>
        <p:spPr>
          <a:xfrm>
            <a:off x="5230368"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3</a:t>
            </a:r>
            <a:endParaRPr lang="en-US" sz="1400" dirty="0"/>
          </a:p>
        </p:txBody>
      </p:sp>
      <p:pic>
        <p:nvPicPr>
          <p:cNvPr id="23" name="Image 2" descr="preencoded.png">    </p:cNvPr>
          <p:cNvPicPr>
            <a:picLocks noChangeAspect="1"/>
          </p:cNvPicPr>
          <p:nvPr/>
        </p:nvPicPr>
        <p:blipFill>
          <a:blip r:embed="rId4"/>
          <a:stretch>
            <a:fillRect/>
          </a:stretch>
        </p:blipFill>
        <p:spPr>
          <a:xfrm>
            <a:off x="6601968" y="2286000"/>
            <a:ext cx="329184" cy="329184"/>
          </a:xfrm>
          <a:prstGeom prst="rect">
            <a:avLst/>
          </a:prstGeom>
        </p:spPr>
      </p:pic>
      <p:sp>
        <p:nvSpPr>
          <p:cNvPr id="24" name="Text 19"/>
          <p:cNvSpPr txBox="1"/>
          <p:nvPr/>
        </p:nvSpPr>
        <p:spPr>
          <a:xfrm>
            <a:off x="5230368" y="2788920"/>
            <a:ext cx="1783080" cy="548640"/>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Falta de validación inmediata</a:t>
            </a:r>
            <a:endParaRPr lang="en-US" sz="1200" dirty="0"/>
          </a:p>
        </p:txBody>
      </p:sp>
      <p:sp>
        <p:nvSpPr>
          <p:cNvPr id="25" name="Text 20"/>
          <p:cNvSpPr txBox="1"/>
          <p:nvPr/>
        </p:nvSpPr>
        <p:spPr>
          <a:xfrm>
            <a:off x="5230368" y="3429000"/>
            <a:ext cx="1783080" cy="100584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No hay controles automáticos al desembarcar para verificar permisos, vedas o tallas mínimas.</a:t>
            </a:r>
            <a:endParaRPr lang="en-US" sz="1050" dirty="0"/>
          </a:p>
        </p:txBody>
      </p:sp>
      <p:sp>
        <p:nvSpPr>
          <p:cNvPr id="26" name="Shape 21"/>
          <p:cNvSpPr/>
          <p:nvPr/>
        </p:nvSpPr>
        <p:spPr>
          <a:xfrm>
            <a:off x="7296912" y="2011680"/>
            <a:ext cx="2103120" cy="269748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7" name="Shape 22"/>
          <p:cNvSpPr/>
          <p:nvPr/>
        </p:nvSpPr>
        <p:spPr>
          <a:xfrm>
            <a:off x="7479792" y="2212848"/>
            <a:ext cx="457200" cy="457200"/>
          </a:xfrm>
          <a:prstGeom prst="ellipse">
            <a:avLst/>
          </a:prstGeom>
          <a:solidFill>
            <a:srgbClr val="7B5CFF"/>
          </a:solidFill>
          <a:ln/>
        </p:spPr>
      </p:sp>
      <p:sp>
        <p:nvSpPr>
          <p:cNvPr id="28" name="Text 23"/>
          <p:cNvSpPr txBox="1"/>
          <p:nvPr/>
        </p:nvSpPr>
        <p:spPr>
          <a:xfrm>
            <a:off x="7479792"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4</a:t>
            </a:r>
            <a:endParaRPr lang="en-US" sz="1400" dirty="0"/>
          </a:p>
        </p:txBody>
      </p:sp>
      <p:pic>
        <p:nvPicPr>
          <p:cNvPr id="29" name="Image 3" descr="preencoded.png">    </p:cNvPr>
          <p:cNvPicPr>
            <a:picLocks noChangeAspect="1"/>
          </p:cNvPicPr>
          <p:nvPr/>
        </p:nvPicPr>
        <p:blipFill>
          <a:blip r:embed="rId5"/>
          <a:stretch>
            <a:fillRect/>
          </a:stretch>
        </p:blipFill>
        <p:spPr>
          <a:xfrm>
            <a:off x="8851392" y="2286000"/>
            <a:ext cx="329184" cy="329184"/>
          </a:xfrm>
          <a:prstGeom prst="rect">
            <a:avLst/>
          </a:prstGeom>
        </p:spPr>
      </p:pic>
      <p:sp>
        <p:nvSpPr>
          <p:cNvPr id="30" name="Text 24"/>
          <p:cNvSpPr txBox="1"/>
          <p:nvPr/>
        </p:nvSpPr>
        <p:spPr>
          <a:xfrm>
            <a:off x="7479792" y="2788920"/>
            <a:ext cx="1783080" cy="548640"/>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Sin trazabilidad comercial</a:t>
            </a:r>
            <a:endParaRPr lang="en-US" sz="1200" dirty="0"/>
          </a:p>
        </p:txBody>
      </p:sp>
      <p:sp>
        <p:nvSpPr>
          <p:cNvPr id="31" name="Text 25"/>
          <p:cNvSpPr txBox="1"/>
          <p:nvPr/>
        </p:nvSpPr>
        <p:spPr>
          <a:xfrm>
            <a:off x="7479792" y="3429000"/>
            <a:ext cx="1783080" cy="100584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Los documentos físicos no se vinculan de forma verificable con el lote vendido.</a:t>
            </a:r>
            <a:endParaRPr lang="en-US" sz="1050" dirty="0"/>
          </a:p>
        </p:txBody>
      </p:sp>
      <p:sp>
        <p:nvSpPr>
          <p:cNvPr id="32" name="Text 26"/>
          <p:cNvSpPr txBox="1"/>
          <p:nvPr/>
        </p:nvSpPr>
        <p:spPr>
          <a:xfrm>
            <a:off x="7479792" y="4416552"/>
            <a:ext cx="1783080" cy="201168"/>
          </a:xfrm>
          <a:prstGeom prst="rect">
            <a:avLst/>
          </a:prstGeom>
          <a:noFill/>
          <a:ln/>
        </p:spPr>
        <p:txBody>
          <a:bodyPr wrap="square" lIns="0" tIns="0" rIns="0" bIns="0" rtlCol="0" anchor="t"/>
          <a:lstStyle/>
          <a:p>
            <a:pPr indent="0" marL="0">
              <a:buNone/>
            </a:pPr>
            <a:r>
              <a:rPr lang="en-US" sz="850" i="1" dirty="0">
                <a:solidFill>
                  <a:srgbClr val="8A96AE"/>
                </a:solidFill>
                <a:latin typeface="Open Sans" pitchFamily="34" charset="0"/>
                <a:ea typeface="Open Sans" pitchFamily="34" charset="-122"/>
                <a:cs typeface="Open Sans" pitchFamily="34" charset="-120"/>
              </a:rPr>
              <a:t>[12]</a:t>
            </a:r>
            <a:endParaRPr lang="en-US" sz="850" dirty="0"/>
          </a:p>
        </p:txBody>
      </p:sp>
      <p:sp>
        <p:nvSpPr>
          <p:cNvPr id="33" name="Shape 27"/>
          <p:cNvSpPr/>
          <p:nvPr/>
        </p:nvSpPr>
        <p:spPr>
          <a:xfrm>
            <a:off x="9546336" y="2011680"/>
            <a:ext cx="2103120" cy="269748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4" name="Shape 28"/>
          <p:cNvSpPr/>
          <p:nvPr/>
        </p:nvSpPr>
        <p:spPr>
          <a:xfrm>
            <a:off x="9729216" y="2212848"/>
            <a:ext cx="457200" cy="457200"/>
          </a:xfrm>
          <a:prstGeom prst="ellipse">
            <a:avLst/>
          </a:prstGeom>
          <a:solidFill>
            <a:srgbClr val="7B5CFF"/>
          </a:solidFill>
          <a:ln/>
        </p:spPr>
      </p:sp>
      <p:sp>
        <p:nvSpPr>
          <p:cNvPr id="35" name="Text 29"/>
          <p:cNvSpPr txBox="1"/>
          <p:nvPr/>
        </p:nvSpPr>
        <p:spPr>
          <a:xfrm>
            <a:off x="9729216"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5</a:t>
            </a:r>
            <a:endParaRPr lang="en-US" sz="1400" dirty="0"/>
          </a:p>
        </p:txBody>
      </p:sp>
      <p:pic>
        <p:nvPicPr>
          <p:cNvPr id="36" name="Image 4" descr="preencoded.png">    </p:cNvPr>
          <p:cNvPicPr>
            <a:picLocks noChangeAspect="1"/>
          </p:cNvPicPr>
          <p:nvPr/>
        </p:nvPicPr>
        <p:blipFill>
          <a:blip r:embed="rId6"/>
          <a:stretch>
            <a:fillRect/>
          </a:stretch>
        </p:blipFill>
        <p:spPr>
          <a:xfrm>
            <a:off x="11100816" y="2286000"/>
            <a:ext cx="329184" cy="329184"/>
          </a:xfrm>
          <a:prstGeom prst="rect">
            <a:avLst/>
          </a:prstGeom>
        </p:spPr>
      </p:pic>
      <p:sp>
        <p:nvSpPr>
          <p:cNvPr id="37" name="Text 30"/>
          <p:cNvSpPr txBox="1"/>
          <p:nvPr/>
        </p:nvSpPr>
        <p:spPr>
          <a:xfrm>
            <a:off x="9729216" y="2788920"/>
            <a:ext cx="1783080" cy="548640"/>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Barrera tecnológica</a:t>
            </a:r>
            <a:endParaRPr lang="en-US" sz="1200" dirty="0"/>
          </a:p>
        </p:txBody>
      </p:sp>
      <p:sp>
        <p:nvSpPr>
          <p:cNvPr id="38" name="Text 31"/>
          <p:cNvSpPr txBox="1"/>
          <p:nvPr/>
        </p:nvSpPr>
        <p:spPr>
          <a:xfrm>
            <a:off x="9729216" y="3429000"/>
            <a:ext cx="1783080" cy="1005840"/>
          </a:xfrm>
          <a:prstGeom prst="rect">
            <a:avLst/>
          </a:prstGeom>
          <a:noFill/>
          <a:ln/>
        </p:spPr>
        <p:txBody>
          <a:bodyPr wrap="square" lIns="0" tIns="0" rIns="0" bIns="0" rtlCol="0" anchor="t"/>
          <a:lstStyle/>
          <a:p>
            <a:pPr indent="0" marL="0">
              <a:buNone/>
            </a:pPr>
            <a:r>
              <a:rPr lang="en-US" sz="1050" dirty="0">
                <a:solidFill>
                  <a:srgbClr val="4A5878"/>
                </a:solidFill>
                <a:latin typeface="Open Sans" pitchFamily="34" charset="0"/>
                <a:ea typeface="Open Sans" pitchFamily="34" charset="-122"/>
                <a:cs typeface="Open Sans" pitchFamily="34" charset="-120"/>
              </a:rPr>
              <a:t>Los sistemas actuales, pensados para la pesca industrial, exigen correo y PC.</a:t>
            </a:r>
            <a:endParaRPr lang="en-US" sz="1050" dirty="0"/>
          </a:p>
        </p:txBody>
      </p:sp>
      <p:sp>
        <p:nvSpPr>
          <p:cNvPr id="39" name="Text 32"/>
          <p:cNvSpPr txBox="1"/>
          <p:nvPr/>
        </p:nvSpPr>
        <p:spPr>
          <a:xfrm>
            <a:off x="9729216" y="4416552"/>
            <a:ext cx="1783080" cy="201168"/>
          </a:xfrm>
          <a:prstGeom prst="rect">
            <a:avLst/>
          </a:prstGeom>
          <a:noFill/>
          <a:ln/>
        </p:spPr>
        <p:txBody>
          <a:bodyPr wrap="square" lIns="0" tIns="0" rIns="0" bIns="0" rtlCol="0" anchor="t"/>
          <a:lstStyle/>
          <a:p>
            <a:pPr indent="0" marL="0">
              <a:buNone/>
            </a:pPr>
            <a:r>
              <a:rPr lang="en-US" sz="850" i="1" dirty="0">
                <a:solidFill>
                  <a:srgbClr val="8A96AE"/>
                </a:solidFill>
                <a:latin typeface="Open Sans" pitchFamily="34" charset="0"/>
                <a:ea typeface="Open Sans" pitchFamily="34" charset="-122"/>
                <a:cs typeface="Open Sans" pitchFamily="34" charset="-120"/>
              </a:rPr>
              <a:t>[12]</a:t>
            </a:r>
            <a:endParaRPr lang="en-US" sz="850" dirty="0"/>
          </a:p>
        </p:txBody>
      </p:sp>
      <p:sp>
        <p:nvSpPr>
          <p:cNvPr id="40" name="Text 33"/>
          <p:cNvSpPr txBox="1"/>
          <p:nvPr/>
        </p:nvSpPr>
        <p:spPr>
          <a:xfrm>
            <a:off x="548640" y="4937760"/>
            <a:ext cx="7315200" cy="256032"/>
          </a:xfrm>
          <a:prstGeom prst="rect">
            <a:avLst/>
          </a:prstGeom>
          <a:noFill/>
          <a:ln/>
        </p:spPr>
        <p:txBody>
          <a:bodyPr wrap="square" lIns="0" tIns="0" rIns="0" bIns="0" rtlCol="0" anchor="ctr"/>
          <a:lstStyle/>
          <a:p>
            <a:pPr indent="0" marL="0">
              <a:buNone/>
            </a:pPr>
            <a:r>
              <a:rPr lang="en-US" sz="950" b="1" spc="150" kern="0" dirty="0">
                <a:solidFill>
                  <a:srgbClr val="5B3EE0"/>
                </a:solidFill>
                <a:latin typeface="Montserrat" pitchFamily="34" charset="0"/>
                <a:ea typeface="Montserrat" pitchFamily="34" charset="-122"/>
                <a:cs typeface="Montserrat" pitchFamily="34" charset="-120"/>
              </a:rPr>
              <a:t>TÉCNICAS DE LEVANTAMIENTO DE INFORMACIÓN</a:t>
            </a:r>
            <a:endParaRPr lang="en-US" sz="950" dirty="0"/>
          </a:p>
        </p:txBody>
      </p:sp>
      <p:sp>
        <p:nvSpPr>
          <p:cNvPr id="41" name="Shape 34"/>
          <p:cNvSpPr/>
          <p:nvPr/>
        </p:nvSpPr>
        <p:spPr>
          <a:xfrm>
            <a:off x="548640" y="5285232"/>
            <a:ext cx="3584448" cy="914400"/>
          </a:xfrm>
          <a:prstGeom prst="roundRect">
            <a:avLst>
              <a:gd name="adj" fmla="val 14000"/>
            </a:avLst>
          </a:prstGeom>
          <a:solidFill>
            <a:srgbClr val="EFEBFF"/>
          </a:solidFill>
          <a:ln/>
        </p:spPr>
      </p:sp>
      <p:sp>
        <p:nvSpPr>
          <p:cNvPr id="42" name="Shape 35"/>
          <p:cNvSpPr/>
          <p:nvPr/>
        </p:nvSpPr>
        <p:spPr>
          <a:xfrm>
            <a:off x="713232" y="5468112"/>
            <a:ext cx="548640" cy="548640"/>
          </a:xfrm>
          <a:prstGeom prst="ellipse">
            <a:avLst/>
          </a:prstGeom>
          <a:solidFill>
            <a:srgbClr val="FFFFFF"/>
          </a:solidFill>
          <a:ln/>
        </p:spPr>
      </p:sp>
      <p:pic>
        <p:nvPicPr>
          <p:cNvPr id="43" name="Image 5" descr="preencoded.png">    </p:cNvPr>
          <p:cNvPicPr>
            <a:picLocks noChangeAspect="1"/>
          </p:cNvPicPr>
          <p:nvPr/>
        </p:nvPicPr>
        <p:blipFill>
          <a:blip r:embed="rId7"/>
          <a:stretch>
            <a:fillRect/>
          </a:stretch>
        </p:blipFill>
        <p:spPr>
          <a:xfrm>
            <a:off x="844906" y="5599786"/>
            <a:ext cx="285293" cy="285293"/>
          </a:xfrm>
          <a:prstGeom prst="rect">
            <a:avLst/>
          </a:prstGeom>
        </p:spPr>
      </p:pic>
      <p:sp>
        <p:nvSpPr>
          <p:cNvPr id="44" name="Text 36"/>
          <p:cNvSpPr txBox="1"/>
          <p:nvPr/>
        </p:nvSpPr>
        <p:spPr>
          <a:xfrm>
            <a:off x="1389888" y="5358384"/>
            <a:ext cx="2651760" cy="786384"/>
          </a:xfrm>
          <a:prstGeom prst="rect">
            <a:avLst/>
          </a:prstGeom>
          <a:noFill/>
          <a:ln/>
        </p:spPr>
        <p:txBody>
          <a:bodyPr wrap="square" lIns="0" tIns="0" rIns="0" bIns="0" rtlCol="0" anchor="ctr"/>
          <a:lstStyle/>
          <a:p>
            <a:pPr indent="0" marL="0">
              <a:buNone/>
            </a:pPr>
            <a:r>
              <a:rPr lang="en-US" sz="1100" b="1" dirty="0">
                <a:solidFill>
                  <a:srgbClr val="0E1B3D"/>
                </a:solidFill>
                <a:latin typeface="Open Sans" pitchFamily="34" charset="0"/>
                <a:ea typeface="Open Sans" pitchFamily="34" charset="-122"/>
                <a:cs typeface="Open Sans" pitchFamily="34" charset="-120"/>
              </a:rPr>
              <a:t>Revisión documental</a:t>
            </a:r>
            <a:endParaRPr lang="en-US" sz="1100" dirty="0"/>
          </a:p>
          <a:p>
            <a:pPr indent="0" marL="0">
              <a:buNone/>
            </a:pPr>
            <a:r>
              <a:rPr lang="en-US" sz="950" dirty="0">
                <a:solidFill>
                  <a:srgbClr val="4A5878"/>
                </a:solidFill>
                <a:latin typeface="Open Sans" pitchFamily="34" charset="0"/>
                <a:ea typeface="Open Sans" pitchFamily="34" charset="-122"/>
                <a:cs typeface="Open Sans" pitchFamily="34" charset="-120"/>
              </a:rPr>
              <a:t>Normativa e informes oficiales de PRODUCE, IMARPE, FONDEPES y FAO.</a:t>
            </a:r>
            <a:endParaRPr lang="en-US" sz="1100" dirty="0"/>
          </a:p>
        </p:txBody>
      </p:sp>
      <p:sp>
        <p:nvSpPr>
          <p:cNvPr id="45" name="Shape 37"/>
          <p:cNvSpPr/>
          <p:nvPr/>
        </p:nvSpPr>
        <p:spPr>
          <a:xfrm>
            <a:off x="4270248" y="5285232"/>
            <a:ext cx="3584448" cy="914400"/>
          </a:xfrm>
          <a:prstGeom prst="roundRect">
            <a:avLst>
              <a:gd name="adj" fmla="val 14000"/>
            </a:avLst>
          </a:prstGeom>
          <a:solidFill>
            <a:srgbClr val="EFEBFF"/>
          </a:solidFill>
          <a:ln/>
        </p:spPr>
      </p:sp>
      <p:sp>
        <p:nvSpPr>
          <p:cNvPr id="46" name="Shape 38"/>
          <p:cNvSpPr/>
          <p:nvPr/>
        </p:nvSpPr>
        <p:spPr>
          <a:xfrm>
            <a:off x="4434840" y="5468112"/>
            <a:ext cx="548640" cy="548640"/>
          </a:xfrm>
          <a:prstGeom prst="ellipse">
            <a:avLst/>
          </a:prstGeom>
          <a:solidFill>
            <a:srgbClr val="FFFFFF"/>
          </a:solidFill>
          <a:ln/>
        </p:spPr>
      </p:sp>
      <p:pic>
        <p:nvPicPr>
          <p:cNvPr id="47" name="Image 6" descr="preencoded.png">    </p:cNvPr>
          <p:cNvPicPr>
            <a:picLocks noChangeAspect="1"/>
          </p:cNvPicPr>
          <p:nvPr/>
        </p:nvPicPr>
        <p:blipFill>
          <a:blip r:embed="rId8"/>
          <a:stretch>
            <a:fillRect/>
          </a:stretch>
        </p:blipFill>
        <p:spPr>
          <a:xfrm>
            <a:off x="4566514" y="5599786"/>
            <a:ext cx="285293" cy="285293"/>
          </a:xfrm>
          <a:prstGeom prst="rect">
            <a:avLst/>
          </a:prstGeom>
        </p:spPr>
      </p:pic>
      <p:sp>
        <p:nvSpPr>
          <p:cNvPr id="48" name="Text 39"/>
          <p:cNvSpPr txBox="1"/>
          <p:nvPr/>
        </p:nvSpPr>
        <p:spPr>
          <a:xfrm>
            <a:off x="5111496" y="5358384"/>
            <a:ext cx="2651760" cy="786384"/>
          </a:xfrm>
          <a:prstGeom prst="rect">
            <a:avLst/>
          </a:prstGeom>
          <a:noFill/>
          <a:ln/>
        </p:spPr>
        <p:txBody>
          <a:bodyPr wrap="square" lIns="0" tIns="0" rIns="0" bIns="0" rtlCol="0" anchor="ctr"/>
          <a:lstStyle/>
          <a:p>
            <a:pPr indent="0" marL="0">
              <a:buNone/>
            </a:pPr>
            <a:r>
              <a:rPr lang="en-US" sz="1100" b="1" dirty="0">
                <a:solidFill>
                  <a:srgbClr val="0E1B3D"/>
                </a:solidFill>
                <a:latin typeface="Open Sans" pitchFamily="34" charset="0"/>
                <a:ea typeface="Open Sans" pitchFamily="34" charset="-122"/>
                <a:cs typeface="Open Sans" pitchFamily="34" charset="-120"/>
              </a:rPr>
              <a:t>Evidencia de campo</a:t>
            </a:r>
            <a:endParaRPr lang="en-US" sz="1100" dirty="0"/>
          </a:p>
          <a:p>
            <a:pPr indent="0" marL="0">
              <a:buNone/>
            </a:pPr>
            <a:r>
              <a:rPr lang="en-US" sz="950" dirty="0">
                <a:solidFill>
                  <a:srgbClr val="4A5878"/>
                </a:solidFill>
                <a:latin typeface="Open Sans" pitchFamily="34" charset="0"/>
                <a:ea typeface="Open Sans" pitchFamily="34" charset="-122"/>
                <a:cs typeface="Open Sans" pitchFamily="34" charset="-120"/>
              </a:rPr>
              <a:t>Estudio de Oceana sobre 85 armadores y comerciantes. [12]</a:t>
            </a:r>
            <a:endParaRPr lang="en-US" sz="1100" dirty="0"/>
          </a:p>
        </p:txBody>
      </p:sp>
      <p:sp>
        <p:nvSpPr>
          <p:cNvPr id="49" name="Shape 40"/>
          <p:cNvSpPr/>
          <p:nvPr/>
        </p:nvSpPr>
        <p:spPr>
          <a:xfrm>
            <a:off x="7991856" y="5285232"/>
            <a:ext cx="3584448" cy="914400"/>
          </a:xfrm>
          <a:prstGeom prst="roundRect">
            <a:avLst>
              <a:gd name="adj" fmla="val 14000"/>
            </a:avLst>
          </a:prstGeom>
          <a:solidFill>
            <a:srgbClr val="EFEBFF"/>
          </a:solidFill>
          <a:ln/>
        </p:spPr>
      </p:sp>
      <p:sp>
        <p:nvSpPr>
          <p:cNvPr id="50" name="Shape 41"/>
          <p:cNvSpPr/>
          <p:nvPr/>
        </p:nvSpPr>
        <p:spPr>
          <a:xfrm>
            <a:off x="8156448" y="5468112"/>
            <a:ext cx="548640" cy="548640"/>
          </a:xfrm>
          <a:prstGeom prst="ellipse">
            <a:avLst/>
          </a:prstGeom>
          <a:solidFill>
            <a:srgbClr val="FFFFFF"/>
          </a:solidFill>
          <a:ln/>
        </p:spPr>
      </p:sp>
      <p:pic>
        <p:nvPicPr>
          <p:cNvPr id="51" name="Image 7" descr="preencoded.png">    </p:cNvPr>
          <p:cNvPicPr>
            <a:picLocks noChangeAspect="1"/>
          </p:cNvPicPr>
          <p:nvPr/>
        </p:nvPicPr>
        <p:blipFill>
          <a:blip r:embed="rId9"/>
          <a:stretch>
            <a:fillRect/>
          </a:stretch>
        </p:blipFill>
        <p:spPr>
          <a:xfrm>
            <a:off x="8288122" y="5599786"/>
            <a:ext cx="285293" cy="285293"/>
          </a:xfrm>
          <a:prstGeom prst="rect">
            <a:avLst/>
          </a:prstGeom>
        </p:spPr>
      </p:pic>
      <p:sp>
        <p:nvSpPr>
          <p:cNvPr id="52" name="Text 42"/>
          <p:cNvSpPr txBox="1"/>
          <p:nvPr/>
        </p:nvSpPr>
        <p:spPr>
          <a:xfrm>
            <a:off x="8833104" y="5358384"/>
            <a:ext cx="2651760" cy="786384"/>
          </a:xfrm>
          <a:prstGeom prst="rect">
            <a:avLst/>
          </a:prstGeom>
          <a:noFill/>
          <a:ln/>
        </p:spPr>
        <p:txBody>
          <a:bodyPr wrap="square" lIns="0" tIns="0" rIns="0" bIns="0" rtlCol="0" anchor="ctr"/>
          <a:lstStyle/>
          <a:p>
            <a:pPr indent="0" marL="0">
              <a:buNone/>
            </a:pPr>
            <a:r>
              <a:rPr lang="en-US" sz="1100" b="1" dirty="0">
                <a:solidFill>
                  <a:srgbClr val="0E1B3D"/>
                </a:solidFill>
                <a:latin typeface="Open Sans" pitchFamily="34" charset="0"/>
                <a:ea typeface="Open Sans" pitchFamily="34" charset="-122"/>
                <a:cs typeface="Open Sans" pitchFamily="34" charset="-120"/>
              </a:rPr>
              <a:t>Prototipado</a:t>
            </a:r>
            <a:endParaRPr lang="en-US" sz="1100" dirty="0"/>
          </a:p>
          <a:p>
            <a:pPr indent="0" marL="0">
              <a:buNone/>
            </a:pPr>
            <a:r>
              <a:rPr lang="en-US" sz="950" dirty="0">
                <a:solidFill>
                  <a:srgbClr val="4A5878"/>
                </a:solidFill>
                <a:latin typeface="Open Sans" pitchFamily="34" charset="0"/>
                <a:ea typeface="Open Sans" pitchFamily="34" charset="-122"/>
                <a:cs typeface="Open Sans" pitchFamily="34" charset="-120"/>
              </a:rPr>
              <a:t>Interfaces para validar requerimientos (Anexo B). A futuro: entrevistas en el DPA piloto (Anexo C).</a:t>
            </a:r>
            <a:endParaRPr lang="en-US" sz="1100" dirty="0"/>
          </a:p>
        </p:txBody>
      </p:sp>
      <p:sp>
        <p:nvSpPr>
          <p:cNvPr id="53" name="Text 43"/>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4" name="Text 4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475634" cy="274320"/>
          </a:xfrm>
          <a:prstGeom prst="roundRect">
            <a:avLst>
              <a:gd name="adj" fmla="val 50000"/>
            </a:avLst>
          </a:prstGeom>
          <a:solidFill>
            <a:srgbClr val="7B5CFF"/>
          </a:solidFill>
          <a:ln/>
        </p:spPr>
      </p:sp>
      <p:sp>
        <p:nvSpPr>
          <p:cNvPr id="3" name="Text 1"/>
          <p:cNvSpPr txBox="1"/>
          <p:nvPr/>
        </p:nvSpPr>
        <p:spPr>
          <a:xfrm>
            <a:off x="548640" y="411480"/>
            <a:ext cx="347563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INTERESADOS DEL PROYECTO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Siete interesados, siete intereses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4 del informe. Fuente: adaptado de Oceana Perú [12], FONDEPES [9] e IMARPE [14].</a:t>
            </a:r>
            <a:endParaRPr lang="en-US" sz="1300" dirty="0"/>
          </a:p>
        </p:txBody>
      </p:sp>
      <p:sp>
        <p:nvSpPr>
          <p:cNvPr id="6" name="Shape 4"/>
          <p:cNvSpPr/>
          <p:nvPr/>
        </p:nvSpPr>
        <p:spPr>
          <a:xfrm>
            <a:off x="548640" y="2011680"/>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13232" y="2194560"/>
            <a:ext cx="548640" cy="548640"/>
          </a:xfrm>
          <a:prstGeom prst="roundRect">
            <a:avLst>
              <a:gd name="adj" fmla="val 28000"/>
            </a:avLst>
          </a:prstGeom>
          <a:solidFill>
            <a:srgbClr val="7B5CFF"/>
          </a:solidFill>
          <a:ln/>
        </p:spPr>
      </p:sp>
      <p:pic>
        <p:nvPicPr>
          <p:cNvPr id="8" name="Image 0" descr="preencoded.png">    </p:cNvPr>
          <p:cNvPicPr>
            <a:picLocks noChangeAspect="1"/>
          </p:cNvPicPr>
          <p:nvPr/>
        </p:nvPicPr>
        <p:blipFill>
          <a:blip r:embed="rId2"/>
          <a:stretch>
            <a:fillRect/>
          </a:stretch>
        </p:blipFill>
        <p:spPr>
          <a:xfrm>
            <a:off x="844906" y="2326234"/>
            <a:ext cx="285293" cy="285293"/>
          </a:xfrm>
          <a:prstGeom prst="rect">
            <a:avLst/>
          </a:prstGeom>
        </p:spPr>
      </p:pic>
      <p:sp>
        <p:nvSpPr>
          <p:cNvPr id="9" name="Text 6"/>
          <p:cNvSpPr txBox="1"/>
          <p:nvPr/>
        </p:nvSpPr>
        <p:spPr>
          <a:xfrm>
            <a:off x="1417320" y="2103120"/>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Registrador del DPA</a:t>
            </a:r>
            <a:endParaRPr lang="en-US" sz="1200" dirty="0"/>
          </a:p>
        </p:txBody>
      </p:sp>
      <p:sp>
        <p:nvSpPr>
          <p:cNvPr id="10" name="Text 7"/>
          <p:cNvSpPr txBox="1"/>
          <p:nvPr/>
        </p:nvSpPr>
        <p:spPr>
          <a:xfrm>
            <a:off x="1417320" y="2377440"/>
            <a:ext cx="3200400" cy="201168"/>
          </a:xfrm>
          <a:prstGeom prst="rect">
            <a:avLst/>
          </a:prstGeom>
          <a:noFill/>
          <a:ln/>
        </p:spPr>
        <p:txBody>
          <a:bodyPr wrap="square" lIns="0" tIns="0" rIns="0" bIns="0" rtlCol="0" anchor="ctr"/>
          <a:lstStyle/>
          <a:p>
            <a:pPr indent="0" marL="0">
              <a:buNone/>
            </a:pPr>
            <a:r>
              <a:rPr lang="en-US" sz="850" b="1" dirty="0">
                <a:solidFill>
                  <a:srgbClr val="5B3EE0"/>
                </a:solidFill>
                <a:latin typeface="Open Sans" pitchFamily="34" charset="0"/>
                <a:ea typeface="Open Sans" pitchFamily="34" charset="-122"/>
                <a:cs typeface="Open Sans" pitchFamily="34" charset="-120"/>
              </a:rPr>
              <a:t>Usuario directo</a:t>
            </a:r>
            <a:endParaRPr lang="en-US" sz="850" dirty="0"/>
          </a:p>
        </p:txBody>
      </p:sp>
      <p:sp>
        <p:nvSpPr>
          <p:cNvPr id="11" name="Text 8"/>
          <p:cNvSpPr txBox="1"/>
          <p:nvPr/>
        </p:nvSpPr>
        <p:spPr>
          <a:xfrm>
            <a:off x="1417320" y="2578608"/>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Registrar rápido, sin errores ni papeles.</a:t>
            </a:r>
            <a:endParaRPr lang="en-US" sz="1000" dirty="0"/>
          </a:p>
        </p:txBody>
      </p:sp>
      <p:sp>
        <p:nvSpPr>
          <p:cNvPr id="12" name="Shape 9"/>
          <p:cNvSpPr/>
          <p:nvPr/>
        </p:nvSpPr>
        <p:spPr>
          <a:xfrm>
            <a:off x="4526280" y="2331720"/>
            <a:ext cx="1298448" cy="274320"/>
          </a:xfrm>
          <a:prstGeom prst="roundRect">
            <a:avLst>
              <a:gd name="adj" fmla="val 50000"/>
            </a:avLst>
          </a:prstGeom>
          <a:solidFill>
            <a:srgbClr val="7B5CFF"/>
          </a:solidFill>
          <a:ln/>
        </p:spPr>
      </p:sp>
      <p:sp>
        <p:nvSpPr>
          <p:cNvPr id="13" name="Text 10"/>
          <p:cNvSpPr txBox="1"/>
          <p:nvPr/>
        </p:nvSpPr>
        <p:spPr>
          <a:xfrm>
            <a:off x="4526280" y="2331720"/>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Influencia alta</a:t>
            </a:r>
            <a:endParaRPr lang="en-US" sz="850" dirty="0"/>
          </a:p>
        </p:txBody>
      </p:sp>
      <p:sp>
        <p:nvSpPr>
          <p:cNvPr id="14" name="Shape 11"/>
          <p:cNvSpPr/>
          <p:nvPr/>
        </p:nvSpPr>
        <p:spPr>
          <a:xfrm>
            <a:off x="548640" y="3044952"/>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 name="Shape 12"/>
          <p:cNvSpPr/>
          <p:nvPr/>
        </p:nvSpPr>
        <p:spPr>
          <a:xfrm>
            <a:off x="713232" y="3227832"/>
            <a:ext cx="548640" cy="548640"/>
          </a:xfrm>
          <a:prstGeom prst="roundRect">
            <a:avLst>
              <a:gd name="adj" fmla="val 28000"/>
            </a:avLst>
          </a:prstGeom>
          <a:solidFill>
            <a:srgbClr val="7B5CFF"/>
          </a:solidFill>
          <a:ln/>
        </p:spPr>
      </p:sp>
      <p:pic>
        <p:nvPicPr>
          <p:cNvPr id="16" name="Image 1" descr="preencoded.png">    </p:cNvPr>
          <p:cNvPicPr>
            <a:picLocks noChangeAspect="1"/>
          </p:cNvPicPr>
          <p:nvPr/>
        </p:nvPicPr>
        <p:blipFill>
          <a:blip r:embed="rId3"/>
          <a:stretch>
            <a:fillRect/>
          </a:stretch>
        </p:blipFill>
        <p:spPr>
          <a:xfrm>
            <a:off x="844906" y="3359506"/>
            <a:ext cx="285293" cy="285293"/>
          </a:xfrm>
          <a:prstGeom prst="rect">
            <a:avLst/>
          </a:prstGeom>
        </p:spPr>
      </p:pic>
      <p:sp>
        <p:nvSpPr>
          <p:cNvPr id="17" name="Text 13"/>
          <p:cNvSpPr txBox="1"/>
          <p:nvPr/>
        </p:nvSpPr>
        <p:spPr>
          <a:xfrm>
            <a:off x="1417320" y="3136392"/>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Administrador del DPA / FONDEPES</a:t>
            </a:r>
            <a:endParaRPr lang="en-US" sz="1200" dirty="0"/>
          </a:p>
        </p:txBody>
      </p:sp>
      <p:sp>
        <p:nvSpPr>
          <p:cNvPr id="18" name="Text 14"/>
          <p:cNvSpPr txBox="1"/>
          <p:nvPr/>
        </p:nvSpPr>
        <p:spPr>
          <a:xfrm>
            <a:off x="1417320" y="3410712"/>
            <a:ext cx="3200400" cy="201168"/>
          </a:xfrm>
          <a:prstGeom prst="rect">
            <a:avLst/>
          </a:prstGeom>
          <a:noFill/>
          <a:ln/>
        </p:spPr>
        <p:txBody>
          <a:bodyPr wrap="square" lIns="0" tIns="0" rIns="0" bIns="0" rtlCol="0" anchor="ctr"/>
          <a:lstStyle/>
          <a:p>
            <a:pPr indent="0" marL="0">
              <a:buNone/>
            </a:pPr>
            <a:r>
              <a:rPr lang="en-US" sz="850" b="1" dirty="0">
                <a:solidFill>
                  <a:srgbClr val="5B3EE0"/>
                </a:solidFill>
                <a:latin typeface="Open Sans" pitchFamily="34" charset="0"/>
                <a:ea typeface="Open Sans" pitchFamily="34" charset="-122"/>
                <a:cs typeface="Open Sans" pitchFamily="34" charset="-120"/>
              </a:rPr>
              <a:t>Usuario directo y patrocinador</a:t>
            </a:r>
            <a:endParaRPr lang="en-US" sz="850" dirty="0"/>
          </a:p>
        </p:txBody>
      </p:sp>
      <p:sp>
        <p:nvSpPr>
          <p:cNvPr id="19" name="Text 15"/>
          <p:cNvSpPr txBox="1"/>
          <p:nvPr/>
        </p:nvSpPr>
        <p:spPr>
          <a:xfrm>
            <a:off x="1417320" y="3611880"/>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Estadística del muelle y control de la infraestructura.</a:t>
            </a:r>
            <a:endParaRPr lang="en-US" sz="1000" dirty="0"/>
          </a:p>
        </p:txBody>
      </p:sp>
      <p:sp>
        <p:nvSpPr>
          <p:cNvPr id="20" name="Shape 16"/>
          <p:cNvSpPr/>
          <p:nvPr/>
        </p:nvSpPr>
        <p:spPr>
          <a:xfrm>
            <a:off x="4526280" y="3364992"/>
            <a:ext cx="1298448" cy="274320"/>
          </a:xfrm>
          <a:prstGeom prst="roundRect">
            <a:avLst>
              <a:gd name="adj" fmla="val 50000"/>
            </a:avLst>
          </a:prstGeom>
          <a:solidFill>
            <a:srgbClr val="7B5CFF"/>
          </a:solidFill>
          <a:ln/>
        </p:spPr>
      </p:sp>
      <p:sp>
        <p:nvSpPr>
          <p:cNvPr id="21" name="Text 17"/>
          <p:cNvSpPr txBox="1"/>
          <p:nvPr/>
        </p:nvSpPr>
        <p:spPr>
          <a:xfrm>
            <a:off x="4526280" y="3364992"/>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Influencia alta</a:t>
            </a:r>
            <a:endParaRPr lang="en-US" sz="850" dirty="0"/>
          </a:p>
        </p:txBody>
      </p:sp>
      <p:sp>
        <p:nvSpPr>
          <p:cNvPr id="22" name="Shape 18"/>
          <p:cNvSpPr/>
          <p:nvPr/>
        </p:nvSpPr>
        <p:spPr>
          <a:xfrm>
            <a:off x="548640" y="4078224"/>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3" name="Shape 19"/>
          <p:cNvSpPr/>
          <p:nvPr/>
        </p:nvSpPr>
        <p:spPr>
          <a:xfrm>
            <a:off x="713232" y="4261104"/>
            <a:ext cx="548640" cy="548640"/>
          </a:xfrm>
          <a:prstGeom prst="roundRect">
            <a:avLst>
              <a:gd name="adj" fmla="val 28000"/>
            </a:avLst>
          </a:prstGeom>
          <a:solidFill>
            <a:srgbClr val="7B5CFF"/>
          </a:solidFill>
          <a:ln/>
        </p:spPr>
      </p:sp>
      <p:pic>
        <p:nvPicPr>
          <p:cNvPr id="24" name="Image 2" descr="preencoded.png">    </p:cNvPr>
          <p:cNvPicPr>
            <a:picLocks noChangeAspect="1"/>
          </p:cNvPicPr>
          <p:nvPr/>
        </p:nvPicPr>
        <p:blipFill>
          <a:blip r:embed="rId4"/>
          <a:stretch>
            <a:fillRect/>
          </a:stretch>
        </p:blipFill>
        <p:spPr>
          <a:xfrm>
            <a:off x="844906" y="4392778"/>
            <a:ext cx="285293" cy="285293"/>
          </a:xfrm>
          <a:prstGeom prst="rect">
            <a:avLst/>
          </a:prstGeom>
        </p:spPr>
      </p:pic>
      <p:sp>
        <p:nvSpPr>
          <p:cNvPr id="25" name="Text 20"/>
          <p:cNvSpPr txBox="1"/>
          <p:nvPr/>
        </p:nvSpPr>
        <p:spPr>
          <a:xfrm>
            <a:off x="1417320" y="4169664"/>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Patrón / armador</a:t>
            </a:r>
            <a:endParaRPr lang="en-US" sz="1200" dirty="0"/>
          </a:p>
        </p:txBody>
      </p:sp>
      <p:sp>
        <p:nvSpPr>
          <p:cNvPr id="26" name="Text 21"/>
          <p:cNvSpPr txBox="1"/>
          <p:nvPr/>
        </p:nvSpPr>
        <p:spPr>
          <a:xfrm>
            <a:off x="1417320" y="4443984"/>
            <a:ext cx="3200400" cy="201168"/>
          </a:xfrm>
          <a:prstGeom prst="rect">
            <a:avLst/>
          </a:prstGeom>
          <a:noFill/>
          <a:ln/>
        </p:spPr>
        <p:txBody>
          <a:bodyPr wrap="square" lIns="0" tIns="0" rIns="0" bIns="0" rtlCol="0" anchor="ctr"/>
          <a:lstStyle/>
          <a:p>
            <a:pPr indent="0" marL="0">
              <a:buNone/>
            </a:pPr>
            <a:r>
              <a:rPr lang="en-US" sz="850" b="1" dirty="0">
                <a:solidFill>
                  <a:srgbClr val="5B3EE0"/>
                </a:solidFill>
                <a:latin typeface="Open Sans" pitchFamily="34" charset="0"/>
                <a:ea typeface="Open Sans" pitchFamily="34" charset="-122"/>
                <a:cs typeface="Open Sans" pitchFamily="34" charset="-120"/>
              </a:rPr>
              <a:t>Usuario directo</a:t>
            </a:r>
            <a:endParaRPr lang="en-US" sz="850" dirty="0"/>
          </a:p>
        </p:txBody>
      </p:sp>
      <p:sp>
        <p:nvSpPr>
          <p:cNvPr id="27" name="Text 22"/>
          <p:cNvSpPr txBox="1"/>
          <p:nvPr/>
        </p:nvSpPr>
        <p:spPr>
          <a:xfrm>
            <a:off x="1417320" y="4645152"/>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Constancia rápida y confidencialidad del caladero.</a:t>
            </a:r>
            <a:endParaRPr lang="en-US" sz="1000" dirty="0"/>
          </a:p>
        </p:txBody>
      </p:sp>
      <p:sp>
        <p:nvSpPr>
          <p:cNvPr id="28" name="Shape 23"/>
          <p:cNvSpPr/>
          <p:nvPr/>
        </p:nvSpPr>
        <p:spPr>
          <a:xfrm>
            <a:off x="4526280" y="4398264"/>
            <a:ext cx="1298448" cy="274320"/>
          </a:xfrm>
          <a:prstGeom prst="roundRect">
            <a:avLst>
              <a:gd name="adj" fmla="val 50000"/>
            </a:avLst>
          </a:prstGeom>
          <a:solidFill>
            <a:srgbClr val="7B5CFF"/>
          </a:solidFill>
          <a:ln/>
        </p:spPr>
      </p:sp>
      <p:sp>
        <p:nvSpPr>
          <p:cNvPr id="29" name="Text 24"/>
          <p:cNvSpPr txBox="1"/>
          <p:nvPr/>
        </p:nvSpPr>
        <p:spPr>
          <a:xfrm>
            <a:off x="4526280" y="4398264"/>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Influencia alta</a:t>
            </a:r>
            <a:endParaRPr lang="en-US" sz="850" dirty="0"/>
          </a:p>
        </p:txBody>
      </p:sp>
      <p:sp>
        <p:nvSpPr>
          <p:cNvPr id="30" name="Shape 25"/>
          <p:cNvSpPr/>
          <p:nvPr/>
        </p:nvSpPr>
        <p:spPr>
          <a:xfrm>
            <a:off x="548640" y="5111496"/>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1" name="Shape 26"/>
          <p:cNvSpPr/>
          <p:nvPr/>
        </p:nvSpPr>
        <p:spPr>
          <a:xfrm>
            <a:off x="713232" y="5294376"/>
            <a:ext cx="548640" cy="548640"/>
          </a:xfrm>
          <a:prstGeom prst="roundRect">
            <a:avLst>
              <a:gd name="adj" fmla="val 28000"/>
            </a:avLst>
          </a:prstGeom>
          <a:solidFill>
            <a:srgbClr val="7B5CFF"/>
          </a:solidFill>
          <a:ln/>
        </p:spPr>
      </p:sp>
      <p:pic>
        <p:nvPicPr>
          <p:cNvPr id="32" name="Image 3" descr="preencoded.png">    </p:cNvPr>
          <p:cNvPicPr>
            <a:picLocks noChangeAspect="1"/>
          </p:cNvPicPr>
          <p:nvPr/>
        </p:nvPicPr>
        <p:blipFill>
          <a:blip r:embed="rId5"/>
          <a:stretch>
            <a:fillRect/>
          </a:stretch>
        </p:blipFill>
        <p:spPr>
          <a:xfrm>
            <a:off x="844906" y="5426050"/>
            <a:ext cx="285293" cy="285293"/>
          </a:xfrm>
          <a:prstGeom prst="rect">
            <a:avLst/>
          </a:prstGeom>
        </p:spPr>
      </p:pic>
      <p:sp>
        <p:nvSpPr>
          <p:cNvPr id="33" name="Text 27"/>
          <p:cNvSpPr txBox="1"/>
          <p:nvPr/>
        </p:nvSpPr>
        <p:spPr>
          <a:xfrm>
            <a:off x="1417320" y="5202936"/>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Fiscalizador (PRODUCE / DIREPRO)</a:t>
            </a:r>
            <a:endParaRPr lang="en-US" sz="1200" dirty="0"/>
          </a:p>
        </p:txBody>
      </p:sp>
      <p:sp>
        <p:nvSpPr>
          <p:cNvPr id="34" name="Text 28"/>
          <p:cNvSpPr txBox="1"/>
          <p:nvPr/>
        </p:nvSpPr>
        <p:spPr>
          <a:xfrm>
            <a:off x="1417320" y="5477256"/>
            <a:ext cx="3200400" cy="201168"/>
          </a:xfrm>
          <a:prstGeom prst="rect">
            <a:avLst/>
          </a:prstGeom>
          <a:noFill/>
          <a:ln/>
        </p:spPr>
        <p:txBody>
          <a:bodyPr wrap="square" lIns="0" tIns="0" rIns="0" bIns="0" rtlCol="0" anchor="ctr"/>
          <a:lstStyle/>
          <a:p>
            <a:pPr indent="0" marL="0">
              <a:buNone/>
            </a:pPr>
            <a:r>
              <a:rPr lang="en-US" sz="850" b="1" dirty="0">
                <a:solidFill>
                  <a:srgbClr val="5B3EE0"/>
                </a:solidFill>
                <a:latin typeface="Open Sans" pitchFamily="34" charset="0"/>
                <a:ea typeface="Open Sans" pitchFamily="34" charset="-122"/>
                <a:cs typeface="Open Sans" pitchFamily="34" charset="-120"/>
              </a:rPr>
              <a:t>Usuario directo</a:t>
            </a:r>
            <a:endParaRPr lang="en-US" sz="850" dirty="0"/>
          </a:p>
        </p:txBody>
      </p:sp>
      <p:sp>
        <p:nvSpPr>
          <p:cNvPr id="35" name="Text 29"/>
          <p:cNvSpPr txBox="1"/>
          <p:nvPr/>
        </p:nvSpPr>
        <p:spPr>
          <a:xfrm>
            <a:off x="1417320" y="5678424"/>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Verificar el origen y priorizar inspecciones.</a:t>
            </a:r>
            <a:endParaRPr lang="en-US" sz="1000" dirty="0"/>
          </a:p>
        </p:txBody>
      </p:sp>
      <p:sp>
        <p:nvSpPr>
          <p:cNvPr id="36" name="Shape 30"/>
          <p:cNvSpPr/>
          <p:nvPr/>
        </p:nvSpPr>
        <p:spPr>
          <a:xfrm>
            <a:off x="4526280" y="5431536"/>
            <a:ext cx="1298448" cy="274320"/>
          </a:xfrm>
          <a:prstGeom prst="roundRect">
            <a:avLst>
              <a:gd name="adj" fmla="val 50000"/>
            </a:avLst>
          </a:prstGeom>
          <a:solidFill>
            <a:srgbClr val="7B5CFF"/>
          </a:solidFill>
          <a:ln/>
        </p:spPr>
      </p:sp>
      <p:sp>
        <p:nvSpPr>
          <p:cNvPr id="37" name="Text 31"/>
          <p:cNvSpPr txBox="1"/>
          <p:nvPr/>
        </p:nvSpPr>
        <p:spPr>
          <a:xfrm>
            <a:off x="4526280" y="5431536"/>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Influencia alta</a:t>
            </a:r>
            <a:endParaRPr lang="en-US" sz="850" dirty="0"/>
          </a:p>
        </p:txBody>
      </p:sp>
      <p:sp>
        <p:nvSpPr>
          <p:cNvPr id="38" name="Shape 32"/>
          <p:cNvSpPr/>
          <p:nvPr/>
        </p:nvSpPr>
        <p:spPr>
          <a:xfrm>
            <a:off x="6172200" y="2011680"/>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9" name="Shape 33"/>
          <p:cNvSpPr/>
          <p:nvPr/>
        </p:nvSpPr>
        <p:spPr>
          <a:xfrm>
            <a:off x="6336792" y="2194560"/>
            <a:ext cx="548640" cy="548640"/>
          </a:xfrm>
          <a:prstGeom prst="roundRect">
            <a:avLst>
              <a:gd name="adj" fmla="val 28000"/>
            </a:avLst>
          </a:prstGeom>
          <a:solidFill>
            <a:srgbClr val="008FB0"/>
          </a:solidFill>
          <a:ln/>
        </p:spPr>
      </p:sp>
      <p:pic>
        <p:nvPicPr>
          <p:cNvPr id="40" name="Image 4" descr="preencoded.png">    </p:cNvPr>
          <p:cNvPicPr>
            <a:picLocks noChangeAspect="1"/>
          </p:cNvPicPr>
          <p:nvPr/>
        </p:nvPicPr>
        <p:blipFill>
          <a:blip r:embed="rId6"/>
          <a:stretch>
            <a:fillRect/>
          </a:stretch>
        </p:blipFill>
        <p:spPr>
          <a:xfrm>
            <a:off x="6468466" y="2326234"/>
            <a:ext cx="285293" cy="285293"/>
          </a:xfrm>
          <a:prstGeom prst="rect">
            <a:avLst/>
          </a:prstGeom>
        </p:spPr>
      </p:pic>
      <p:sp>
        <p:nvSpPr>
          <p:cNvPr id="41" name="Text 34"/>
          <p:cNvSpPr txBox="1"/>
          <p:nvPr/>
        </p:nvSpPr>
        <p:spPr>
          <a:xfrm>
            <a:off x="7040880" y="2103120"/>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Comerciante / planta</a:t>
            </a:r>
            <a:endParaRPr lang="en-US" sz="1200" dirty="0"/>
          </a:p>
        </p:txBody>
      </p:sp>
      <p:sp>
        <p:nvSpPr>
          <p:cNvPr id="42" name="Text 35"/>
          <p:cNvSpPr txBox="1"/>
          <p:nvPr/>
        </p:nvSpPr>
        <p:spPr>
          <a:xfrm>
            <a:off x="7040880" y="2377440"/>
            <a:ext cx="3200400" cy="201168"/>
          </a:xfrm>
          <a:prstGeom prst="rect">
            <a:avLst/>
          </a:prstGeom>
          <a:noFill/>
          <a:ln/>
        </p:spPr>
        <p:txBody>
          <a:bodyPr wrap="square" lIns="0" tIns="0" rIns="0" bIns="0" rtlCol="0" anchor="ctr"/>
          <a:lstStyle/>
          <a:p>
            <a:pPr indent="0" marL="0">
              <a:buNone/>
            </a:pPr>
            <a:r>
              <a:rPr lang="en-US" sz="850" b="1" dirty="0">
                <a:solidFill>
                  <a:srgbClr val="008FB0"/>
                </a:solidFill>
                <a:latin typeface="Open Sans" pitchFamily="34" charset="0"/>
                <a:ea typeface="Open Sans" pitchFamily="34" charset="-122"/>
                <a:cs typeface="Open Sans" pitchFamily="34" charset="-120"/>
              </a:rPr>
              <a:t>Usuario directo</a:t>
            </a:r>
            <a:endParaRPr lang="en-US" sz="850" dirty="0"/>
          </a:p>
        </p:txBody>
      </p:sp>
      <p:sp>
        <p:nvSpPr>
          <p:cNvPr id="43" name="Text 36"/>
          <p:cNvSpPr txBox="1"/>
          <p:nvPr/>
        </p:nvSpPr>
        <p:spPr>
          <a:xfrm>
            <a:off x="7040880" y="2578608"/>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Comprar con prueba de origen legal.</a:t>
            </a:r>
            <a:endParaRPr lang="en-US" sz="1000" dirty="0"/>
          </a:p>
        </p:txBody>
      </p:sp>
      <p:sp>
        <p:nvSpPr>
          <p:cNvPr id="44" name="Shape 37"/>
          <p:cNvSpPr/>
          <p:nvPr/>
        </p:nvSpPr>
        <p:spPr>
          <a:xfrm>
            <a:off x="10149840" y="2331720"/>
            <a:ext cx="1298448" cy="274320"/>
          </a:xfrm>
          <a:prstGeom prst="roundRect">
            <a:avLst>
              <a:gd name="adj" fmla="val 50000"/>
            </a:avLst>
          </a:prstGeom>
          <a:solidFill>
            <a:srgbClr val="E0F8FB"/>
          </a:solidFill>
          <a:ln/>
        </p:spPr>
      </p:sp>
      <p:sp>
        <p:nvSpPr>
          <p:cNvPr id="45" name="Text 38"/>
          <p:cNvSpPr txBox="1"/>
          <p:nvPr/>
        </p:nvSpPr>
        <p:spPr>
          <a:xfrm>
            <a:off x="10149840" y="2331720"/>
            <a:ext cx="1298448" cy="274320"/>
          </a:xfrm>
          <a:prstGeom prst="rect">
            <a:avLst/>
          </a:prstGeom>
          <a:noFill/>
          <a:ln/>
        </p:spPr>
        <p:txBody>
          <a:bodyPr wrap="square" lIns="0" tIns="0" rIns="0" bIns="0" rtlCol="0" anchor="ctr"/>
          <a:lstStyle/>
          <a:p>
            <a:pPr algn="ctr" indent="0" marL="0">
              <a:buNone/>
            </a:pPr>
            <a:r>
              <a:rPr lang="en-US" sz="850" b="1" dirty="0">
                <a:solidFill>
                  <a:srgbClr val="008FB0"/>
                </a:solidFill>
                <a:latin typeface="Montserrat" pitchFamily="34" charset="0"/>
                <a:ea typeface="Montserrat" pitchFamily="34" charset="-122"/>
                <a:cs typeface="Montserrat" pitchFamily="34" charset="-120"/>
              </a:rPr>
              <a:t>Influencia media</a:t>
            </a:r>
            <a:endParaRPr lang="en-US" sz="850" dirty="0"/>
          </a:p>
        </p:txBody>
      </p:sp>
      <p:sp>
        <p:nvSpPr>
          <p:cNvPr id="46" name="Shape 39"/>
          <p:cNvSpPr/>
          <p:nvPr/>
        </p:nvSpPr>
        <p:spPr>
          <a:xfrm>
            <a:off x="6172200" y="3044952"/>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7" name="Shape 40"/>
          <p:cNvSpPr/>
          <p:nvPr/>
        </p:nvSpPr>
        <p:spPr>
          <a:xfrm>
            <a:off x="6336792" y="3227832"/>
            <a:ext cx="548640" cy="548640"/>
          </a:xfrm>
          <a:prstGeom prst="roundRect">
            <a:avLst>
              <a:gd name="adj" fmla="val 28000"/>
            </a:avLst>
          </a:prstGeom>
          <a:solidFill>
            <a:srgbClr val="008FB0"/>
          </a:solidFill>
          <a:ln/>
        </p:spPr>
      </p:sp>
      <p:pic>
        <p:nvPicPr>
          <p:cNvPr id="48" name="Image 5" descr="preencoded.png">    </p:cNvPr>
          <p:cNvPicPr>
            <a:picLocks noChangeAspect="1"/>
          </p:cNvPicPr>
          <p:nvPr/>
        </p:nvPicPr>
        <p:blipFill>
          <a:blip r:embed="rId7"/>
          <a:stretch>
            <a:fillRect/>
          </a:stretch>
        </p:blipFill>
        <p:spPr>
          <a:xfrm>
            <a:off x="6468466" y="3359506"/>
            <a:ext cx="285293" cy="285293"/>
          </a:xfrm>
          <a:prstGeom prst="rect">
            <a:avLst/>
          </a:prstGeom>
        </p:spPr>
      </p:pic>
      <p:sp>
        <p:nvSpPr>
          <p:cNvPr id="49" name="Text 41"/>
          <p:cNvSpPr txBox="1"/>
          <p:nvPr/>
        </p:nvSpPr>
        <p:spPr>
          <a:xfrm>
            <a:off x="7040880" y="3136392"/>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Analista (IMARPE / PRODUCE)</a:t>
            </a:r>
            <a:endParaRPr lang="en-US" sz="1200" dirty="0"/>
          </a:p>
        </p:txBody>
      </p:sp>
      <p:sp>
        <p:nvSpPr>
          <p:cNvPr id="50" name="Text 42"/>
          <p:cNvSpPr txBox="1"/>
          <p:nvPr/>
        </p:nvSpPr>
        <p:spPr>
          <a:xfrm>
            <a:off x="7040880" y="3410712"/>
            <a:ext cx="3200400" cy="201168"/>
          </a:xfrm>
          <a:prstGeom prst="rect">
            <a:avLst/>
          </a:prstGeom>
          <a:noFill/>
          <a:ln/>
        </p:spPr>
        <p:txBody>
          <a:bodyPr wrap="square" lIns="0" tIns="0" rIns="0" bIns="0" rtlCol="0" anchor="ctr"/>
          <a:lstStyle/>
          <a:p>
            <a:pPr indent="0" marL="0">
              <a:buNone/>
            </a:pPr>
            <a:r>
              <a:rPr lang="en-US" sz="850" b="1" dirty="0">
                <a:solidFill>
                  <a:srgbClr val="008FB0"/>
                </a:solidFill>
                <a:latin typeface="Open Sans" pitchFamily="34" charset="0"/>
                <a:ea typeface="Open Sans" pitchFamily="34" charset="-122"/>
                <a:cs typeface="Open Sans" pitchFamily="34" charset="-120"/>
              </a:rPr>
              <a:t>Usuario indirecto</a:t>
            </a:r>
            <a:endParaRPr lang="en-US" sz="850" dirty="0"/>
          </a:p>
        </p:txBody>
      </p:sp>
      <p:sp>
        <p:nvSpPr>
          <p:cNvPr id="51" name="Text 43"/>
          <p:cNvSpPr txBox="1"/>
          <p:nvPr/>
        </p:nvSpPr>
        <p:spPr>
          <a:xfrm>
            <a:off x="7040880" y="3611880"/>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Datos oportunos, completos y comparables.</a:t>
            </a:r>
            <a:endParaRPr lang="en-US" sz="1000" dirty="0"/>
          </a:p>
        </p:txBody>
      </p:sp>
      <p:sp>
        <p:nvSpPr>
          <p:cNvPr id="52" name="Shape 44"/>
          <p:cNvSpPr/>
          <p:nvPr/>
        </p:nvSpPr>
        <p:spPr>
          <a:xfrm>
            <a:off x="10149840" y="3364992"/>
            <a:ext cx="1298448" cy="274320"/>
          </a:xfrm>
          <a:prstGeom prst="roundRect">
            <a:avLst>
              <a:gd name="adj" fmla="val 50000"/>
            </a:avLst>
          </a:prstGeom>
          <a:solidFill>
            <a:srgbClr val="E0F8FB"/>
          </a:solidFill>
          <a:ln/>
        </p:spPr>
      </p:sp>
      <p:sp>
        <p:nvSpPr>
          <p:cNvPr id="53" name="Text 45"/>
          <p:cNvSpPr txBox="1"/>
          <p:nvPr/>
        </p:nvSpPr>
        <p:spPr>
          <a:xfrm>
            <a:off x="10149840" y="3364992"/>
            <a:ext cx="1298448" cy="274320"/>
          </a:xfrm>
          <a:prstGeom prst="rect">
            <a:avLst/>
          </a:prstGeom>
          <a:noFill/>
          <a:ln/>
        </p:spPr>
        <p:txBody>
          <a:bodyPr wrap="square" lIns="0" tIns="0" rIns="0" bIns="0" rtlCol="0" anchor="ctr"/>
          <a:lstStyle/>
          <a:p>
            <a:pPr algn="ctr" indent="0" marL="0">
              <a:buNone/>
            </a:pPr>
            <a:r>
              <a:rPr lang="en-US" sz="850" b="1" dirty="0">
                <a:solidFill>
                  <a:srgbClr val="008FB0"/>
                </a:solidFill>
                <a:latin typeface="Montserrat" pitchFamily="34" charset="0"/>
                <a:ea typeface="Montserrat" pitchFamily="34" charset="-122"/>
                <a:cs typeface="Montserrat" pitchFamily="34" charset="-120"/>
              </a:rPr>
              <a:t>Influencia media</a:t>
            </a:r>
            <a:endParaRPr lang="en-US" sz="850" dirty="0"/>
          </a:p>
        </p:txBody>
      </p:sp>
      <p:sp>
        <p:nvSpPr>
          <p:cNvPr id="54" name="Shape 46"/>
          <p:cNvSpPr/>
          <p:nvPr/>
        </p:nvSpPr>
        <p:spPr>
          <a:xfrm>
            <a:off x="6172200" y="4078224"/>
            <a:ext cx="5440680" cy="914400"/>
          </a:xfrm>
          <a:prstGeom prst="roundRect">
            <a:avLst>
              <a:gd name="adj" fmla="val 120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5" name="Shape 47"/>
          <p:cNvSpPr/>
          <p:nvPr/>
        </p:nvSpPr>
        <p:spPr>
          <a:xfrm>
            <a:off x="6336792" y="4261104"/>
            <a:ext cx="548640" cy="548640"/>
          </a:xfrm>
          <a:prstGeom prst="roundRect">
            <a:avLst>
              <a:gd name="adj" fmla="val 28000"/>
            </a:avLst>
          </a:prstGeom>
          <a:solidFill>
            <a:srgbClr val="008FB0"/>
          </a:solidFill>
          <a:ln/>
        </p:spPr>
      </p:sp>
      <p:pic>
        <p:nvPicPr>
          <p:cNvPr id="56" name="Image 6" descr="preencoded.png">    </p:cNvPr>
          <p:cNvPicPr>
            <a:picLocks noChangeAspect="1"/>
          </p:cNvPicPr>
          <p:nvPr/>
        </p:nvPicPr>
        <p:blipFill>
          <a:blip r:embed="rId8"/>
          <a:stretch>
            <a:fillRect/>
          </a:stretch>
        </p:blipFill>
        <p:spPr>
          <a:xfrm>
            <a:off x="6468466" y="4392778"/>
            <a:ext cx="285293" cy="285293"/>
          </a:xfrm>
          <a:prstGeom prst="rect">
            <a:avLst/>
          </a:prstGeom>
        </p:spPr>
      </p:pic>
      <p:sp>
        <p:nvSpPr>
          <p:cNvPr id="57" name="Text 48"/>
          <p:cNvSpPr txBox="1"/>
          <p:nvPr/>
        </p:nvSpPr>
        <p:spPr>
          <a:xfrm>
            <a:off x="7040880" y="4169664"/>
            <a:ext cx="3200400" cy="292608"/>
          </a:xfrm>
          <a:prstGeom prst="rect">
            <a:avLst/>
          </a:prstGeom>
          <a:noFill/>
          <a:ln/>
        </p:spPr>
        <p:txBody>
          <a:bodyPr wrap="square" lIns="0" tIns="0" rIns="0" bIns="0" rtlCol="0" anchor="ctr"/>
          <a:lstStyle/>
          <a:p>
            <a:pPr indent="0" marL="0">
              <a:buNone/>
            </a:pPr>
            <a:r>
              <a:rPr lang="en-US" sz="1200" b="1" dirty="0">
                <a:solidFill>
                  <a:srgbClr val="0E1B3D"/>
                </a:solidFill>
                <a:latin typeface="Montserrat" pitchFamily="34" charset="0"/>
                <a:ea typeface="Montserrat" pitchFamily="34" charset="-122"/>
                <a:cs typeface="Montserrat" pitchFamily="34" charset="-120"/>
              </a:rPr>
              <a:t>Equipo de desarrollo</a:t>
            </a:r>
            <a:endParaRPr lang="en-US" sz="1200" dirty="0"/>
          </a:p>
        </p:txBody>
      </p:sp>
      <p:sp>
        <p:nvSpPr>
          <p:cNvPr id="58" name="Text 49"/>
          <p:cNvSpPr txBox="1"/>
          <p:nvPr/>
        </p:nvSpPr>
        <p:spPr>
          <a:xfrm>
            <a:off x="7040880" y="4443984"/>
            <a:ext cx="3200400" cy="201168"/>
          </a:xfrm>
          <a:prstGeom prst="rect">
            <a:avLst/>
          </a:prstGeom>
          <a:noFill/>
          <a:ln/>
        </p:spPr>
        <p:txBody>
          <a:bodyPr wrap="square" lIns="0" tIns="0" rIns="0" bIns="0" rtlCol="0" anchor="ctr"/>
          <a:lstStyle/>
          <a:p>
            <a:pPr indent="0" marL="0">
              <a:buNone/>
            </a:pPr>
            <a:r>
              <a:rPr lang="en-US" sz="850" b="1" dirty="0">
                <a:solidFill>
                  <a:srgbClr val="008FB0"/>
                </a:solidFill>
                <a:latin typeface="Open Sans" pitchFamily="34" charset="0"/>
                <a:ea typeface="Open Sans" pitchFamily="34" charset="-122"/>
                <a:cs typeface="Open Sans" pitchFamily="34" charset="-120"/>
              </a:rPr>
              <a:t>Proveedor</a:t>
            </a:r>
            <a:endParaRPr lang="en-US" sz="850" dirty="0"/>
          </a:p>
        </p:txBody>
      </p:sp>
      <p:sp>
        <p:nvSpPr>
          <p:cNvPr id="59" name="Text 50"/>
          <p:cNvSpPr txBox="1"/>
          <p:nvPr/>
        </p:nvSpPr>
        <p:spPr>
          <a:xfrm>
            <a:off x="7040880" y="4645152"/>
            <a:ext cx="3291840" cy="274320"/>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Requerimientos claros y priorizados.</a:t>
            </a:r>
            <a:endParaRPr lang="en-US" sz="1000" dirty="0"/>
          </a:p>
        </p:txBody>
      </p:sp>
      <p:sp>
        <p:nvSpPr>
          <p:cNvPr id="60" name="Shape 51"/>
          <p:cNvSpPr/>
          <p:nvPr/>
        </p:nvSpPr>
        <p:spPr>
          <a:xfrm>
            <a:off x="10149840" y="4398264"/>
            <a:ext cx="1298448" cy="274320"/>
          </a:xfrm>
          <a:prstGeom prst="roundRect">
            <a:avLst>
              <a:gd name="adj" fmla="val 50000"/>
            </a:avLst>
          </a:prstGeom>
          <a:solidFill>
            <a:srgbClr val="E0F8FB"/>
          </a:solidFill>
          <a:ln/>
        </p:spPr>
      </p:sp>
      <p:sp>
        <p:nvSpPr>
          <p:cNvPr id="61" name="Text 52"/>
          <p:cNvSpPr txBox="1"/>
          <p:nvPr/>
        </p:nvSpPr>
        <p:spPr>
          <a:xfrm>
            <a:off x="10149840" y="4398264"/>
            <a:ext cx="1298448" cy="274320"/>
          </a:xfrm>
          <a:prstGeom prst="rect">
            <a:avLst/>
          </a:prstGeom>
          <a:noFill/>
          <a:ln/>
        </p:spPr>
        <p:txBody>
          <a:bodyPr wrap="square" lIns="0" tIns="0" rIns="0" bIns="0" rtlCol="0" anchor="ctr"/>
          <a:lstStyle/>
          <a:p>
            <a:pPr algn="ctr" indent="0" marL="0">
              <a:buNone/>
            </a:pPr>
            <a:r>
              <a:rPr lang="en-US" sz="850" b="1" dirty="0">
                <a:solidFill>
                  <a:srgbClr val="008FB0"/>
                </a:solidFill>
                <a:latin typeface="Montserrat" pitchFamily="34" charset="0"/>
                <a:ea typeface="Montserrat" pitchFamily="34" charset="-122"/>
                <a:cs typeface="Montserrat" pitchFamily="34" charset="-120"/>
              </a:rPr>
              <a:t>Influencia media</a:t>
            </a:r>
            <a:endParaRPr lang="en-US" sz="850" dirty="0"/>
          </a:p>
        </p:txBody>
      </p:sp>
      <p:sp>
        <p:nvSpPr>
          <p:cNvPr id="62" name="Shape 53"/>
          <p:cNvSpPr/>
          <p:nvPr/>
        </p:nvSpPr>
        <p:spPr>
          <a:xfrm>
            <a:off x="6172200" y="5111496"/>
            <a:ext cx="5440680" cy="914400"/>
          </a:xfrm>
          <a:prstGeom prst="roundRect">
            <a:avLst>
              <a:gd name="adj" fmla="val 12000"/>
            </a:avLst>
          </a:prstGeom>
          <a:solidFill>
            <a:srgbClr val="EFEBFF"/>
          </a:solidFill>
          <a:ln/>
        </p:spPr>
      </p:sp>
      <p:sp>
        <p:nvSpPr>
          <p:cNvPr id="63" name="Text 54"/>
          <p:cNvSpPr txBox="1"/>
          <p:nvPr/>
        </p:nvSpPr>
        <p:spPr>
          <a:xfrm>
            <a:off x="6355080" y="5111496"/>
            <a:ext cx="5120640" cy="914400"/>
          </a:xfrm>
          <a:prstGeom prst="rect">
            <a:avLst/>
          </a:prstGeom>
          <a:noFill/>
          <a:ln/>
        </p:spPr>
        <p:txBody>
          <a:bodyPr wrap="square" lIns="0" tIns="0" rIns="0" bIns="0" rtlCol="0" anchor="ctr"/>
          <a:lstStyle/>
          <a:p>
            <a:pPr indent="0" marL="0">
              <a:buNone/>
            </a:pPr>
            <a:r>
              <a:rPr lang="en-US" sz="2200" b="1" dirty="0">
                <a:solidFill>
                  <a:srgbClr val="7B5CFF"/>
                </a:solidFill>
                <a:latin typeface="Montserrat" pitchFamily="34" charset="0"/>
                <a:ea typeface="Montserrat" pitchFamily="34" charset="-122"/>
                <a:cs typeface="Montserrat" pitchFamily="34" charset="-120"/>
              </a:rPr>
              <a:t>4 de 7</a:t>
            </a:r>
            <a:pPr indent="0" marL="0">
              <a:buNone/>
            </a:pPr>
            <a:r>
              <a:rPr lang="en-US" sz="1100" dirty="0">
                <a:solidFill>
                  <a:srgbClr val="0E1B3D"/>
                </a:solidFill>
                <a:latin typeface="Open Sans" pitchFamily="34" charset="0"/>
                <a:ea typeface="Open Sans" pitchFamily="34" charset="-122"/>
                <a:cs typeface="Open Sans" pitchFamily="34" charset="-120"/>
              </a:rPr>
              <a:t>   interesados tienen influencia alta: el diseño se centra en quienes trabajan en el muelle.</a:t>
            </a:r>
            <a:endParaRPr lang="en-US" sz="1200" dirty="0"/>
          </a:p>
        </p:txBody>
      </p:sp>
      <p:sp>
        <p:nvSpPr>
          <p:cNvPr id="64" name="Text 5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65" name="Text 5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4070909" cy="274320"/>
          </a:xfrm>
          <a:prstGeom prst="roundRect">
            <a:avLst>
              <a:gd name="adj" fmla="val 50000"/>
            </a:avLst>
          </a:prstGeom>
          <a:solidFill>
            <a:srgbClr val="7B5CFF"/>
          </a:solidFill>
          <a:ln/>
        </p:spPr>
      </p:sp>
      <p:sp>
        <p:nvSpPr>
          <p:cNvPr id="3" name="Text 1"/>
          <p:cNvSpPr txBox="1"/>
          <p:nvPr/>
        </p:nvSpPr>
        <p:spPr>
          <a:xfrm>
            <a:off x="548640" y="411480"/>
            <a:ext cx="4070909"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2.2 NECESIDADES DE LOS USUARIOS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Once necesidades, cada una con su evidencia</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5 del informe. Cada necesidad se traza luego a requerimientos, casos de uso e historias (2.6).</a:t>
            </a:r>
            <a:endParaRPr lang="en-US" sz="1300" dirty="0"/>
          </a:p>
        </p:txBody>
      </p:sp>
      <p:sp>
        <p:nvSpPr>
          <p:cNvPr id="6" name="Shape 4"/>
          <p:cNvSpPr/>
          <p:nvPr/>
        </p:nvSpPr>
        <p:spPr>
          <a:xfrm>
            <a:off x="548640" y="201168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694944" y="2157984"/>
            <a:ext cx="566928" cy="256032"/>
          </a:xfrm>
          <a:prstGeom prst="roundRect">
            <a:avLst>
              <a:gd name="adj" fmla="val 50000"/>
            </a:avLst>
          </a:prstGeom>
          <a:solidFill>
            <a:srgbClr val="7B5CFF"/>
          </a:solidFill>
          <a:ln/>
        </p:spPr>
      </p:sp>
      <p:sp>
        <p:nvSpPr>
          <p:cNvPr id="8" name="Text 6"/>
          <p:cNvSpPr txBox="1"/>
          <p:nvPr/>
        </p:nvSpPr>
        <p:spPr>
          <a:xfrm>
            <a:off x="694944" y="215798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N01</a:t>
            </a:r>
            <a:endParaRPr lang="en-US" sz="900" dirty="0"/>
          </a:p>
        </p:txBody>
      </p:sp>
      <p:sp>
        <p:nvSpPr>
          <p:cNvPr id="9" name="Text 7"/>
          <p:cNvSpPr txBox="1"/>
          <p:nvPr/>
        </p:nvSpPr>
        <p:spPr>
          <a:xfrm>
            <a:off x="1353312" y="2157984"/>
            <a:ext cx="1737360" cy="256032"/>
          </a:xfrm>
          <a:prstGeom prst="rect">
            <a:avLst/>
          </a:prstGeom>
          <a:noFill/>
          <a:ln/>
        </p:spPr>
        <p:txBody>
          <a:bodyPr wrap="square" lIns="0" tIns="0" rIns="0" bIns="0" rtlCol="0" anchor="ctr"/>
          <a:lstStyle/>
          <a:p>
            <a:pPr indent="0" marL="0">
              <a:buNone/>
            </a:pPr>
            <a:r>
              <a:rPr lang="en-US" sz="900" b="1" dirty="0">
                <a:solidFill>
                  <a:srgbClr val="7B5CFF"/>
                </a:solidFill>
                <a:latin typeface="Open Sans" pitchFamily="34" charset="0"/>
                <a:ea typeface="Open Sans" pitchFamily="34" charset="-122"/>
                <a:cs typeface="Open Sans" pitchFamily="34" charset="-120"/>
              </a:rPr>
              <a:t>Registrador</a:t>
            </a:r>
            <a:endParaRPr lang="en-US" sz="900" dirty="0"/>
          </a:p>
        </p:txBody>
      </p:sp>
      <p:sp>
        <p:nvSpPr>
          <p:cNvPr id="10" name="Text 8"/>
          <p:cNvSpPr txBox="1"/>
          <p:nvPr/>
        </p:nvSpPr>
        <p:spPr>
          <a:xfrm>
            <a:off x="694944" y="246888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Registrar un desembarque en pocos minutos, incluso sin señal.</a:t>
            </a:r>
            <a:endParaRPr lang="en-US" sz="1050" dirty="0"/>
          </a:p>
        </p:txBody>
      </p:sp>
      <p:sp>
        <p:nvSpPr>
          <p:cNvPr id="11" name="Text 9"/>
          <p:cNvSpPr txBox="1"/>
          <p:nvPr/>
        </p:nvSpPr>
        <p:spPr>
          <a:xfrm>
            <a:off x="694944" y="299923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Cobertura de internet variable en caletas [12]</a:t>
            </a:r>
            <a:endParaRPr lang="en-US" sz="800" dirty="0"/>
          </a:p>
        </p:txBody>
      </p:sp>
      <p:sp>
        <p:nvSpPr>
          <p:cNvPr id="12" name="Shape 10"/>
          <p:cNvSpPr/>
          <p:nvPr/>
        </p:nvSpPr>
        <p:spPr>
          <a:xfrm>
            <a:off x="3355848" y="201168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3" name="Shape 11"/>
          <p:cNvSpPr/>
          <p:nvPr/>
        </p:nvSpPr>
        <p:spPr>
          <a:xfrm>
            <a:off x="3502152" y="2157984"/>
            <a:ext cx="566928" cy="256032"/>
          </a:xfrm>
          <a:prstGeom prst="roundRect">
            <a:avLst>
              <a:gd name="adj" fmla="val 50000"/>
            </a:avLst>
          </a:prstGeom>
          <a:solidFill>
            <a:srgbClr val="7B5CFF"/>
          </a:solidFill>
          <a:ln/>
        </p:spPr>
      </p:sp>
      <p:sp>
        <p:nvSpPr>
          <p:cNvPr id="14" name="Text 12"/>
          <p:cNvSpPr txBox="1"/>
          <p:nvPr/>
        </p:nvSpPr>
        <p:spPr>
          <a:xfrm>
            <a:off x="3502152" y="215798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N02</a:t>
            </a:r>
            <a:endParaRPr lang="en-US" sz="900" dirty="0"/>
          </a:p>
        </p:txBody>
      </p:sp>
      <p:sp>
        <p:nvSpPr>
          <p:cNvPr id="15" name="Text 13"/>
          <p:cNvSpPr txBox="1"/>
          <p:nvPr/>
        </p:nvSpPr>
        <p:spPr>
          <a:xfrm>
            <a:off x="4160520" y="2157984"/>
            <a:ext cx="1737360" cy="256032"/>
          </a:xfrm>
          <a:prstGeom prst="rect">
            <a:avLst/>
          </a:prstGeom>
          <a:noFill/>
          <a:ln/>
        </p:spPr>
        <p:txBody>
          <a:bodyPr wrap="square" lIns="0" tIns="0" rIns="0" bIns="0" rtlCol="0" anchor="ctr"/>
          <a:lstStyle/>
          <a:p>
            <a:pPr indent="0" marL="0">
              <a:buNone/>
            </a:pPr>
            <a:r>
              <a:rPr lang="en-US" sz="900" b="1" dirty="0">
                <a:solidFill>
                  <a:srgbClr val="7B5CFF"/>
                </a:solidFill>
                <a:latin typeface="Open Sans" pitchFamily="34" charset="0"/>
                <a:ea typeface="Open Sans" pitchFamily="34" charset="-122"/>
                <a:cs typeface="Open Sans" pitchFamily="34" charset="-120"/>
              </a:rPr>
              <a:t>Registrador</a:t>
            </a:r>
            <a:endParaRPr lang="en-US" sz="900" dirty="0"/>
          </a:p>
        </p:txBody>
      </p:sp>
      <p:sp>
        <p:nvSpPr>
          <p:cNvPr id="16" name="Text 14"/>
          <p:cNvSpPr txBox="1"/>
          <p:nvPr/>
        </p:nvSpPr>
        <p:spPr>
          <a:xfrm>
            <a:off x="3502152" y="246888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No volver a digitar embarcaciones, compradores ni vehículos frecuentes.</a:t>
            </a:r>
            <a:endParaRPr lang="en-US" sz="1050" dirty="0"/>
          </a:p>
        </p:txBody>
      </p:sp>
      <p:sp>
        <p:nvSpPr>
          <p:cNvPr id="17" name="Text 15"/>
          <p:cNvSpPr txBox="1"/>
          <p:nvPr/>
        </p:nvSpPr>
        <p:spPr>
          <a:xfrm>
            <a:off x="3502152" y="299923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Mejora solicitada por armadores [12]</a:t>
            </a:r>
            <a:endParaRPr lang="en-US" sz="800" dirty="0"/>
          </a:p>
        </p:txBody>
      </p:sp>
      <p:sp>
        <p:nvSpPr>
          <p:cNvPr id="18" name="Shape 16"/>
          <p:cNvSpPr/>
          <p:nvPr/>
        </p:nvSpPr>
        <p:spPr>
          <a:xfrm>
            <a:off x="6163056" y="201168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9" name="Shape 17"/>
          <p:cNvSpPr/>
          <p:nvPr/>
        </p:nvSpPr>
        <p:spPr>
          <a:xfrm>
            <a:off x="6309360" y="2157984"/>
            <a:ext cx="566928" cy="256032"/>
          </a:xfrm>
          <a:prstGeom prst="roundRect">
            <a:avLst>
              <a:gd name="adj" fmla="val 50000"/>
            </a:avLst>
          </a:prstGeom>
          <a:solidFill>
            <a:srgbClr val="E06F00"/>
          </a:solidFill>
          <a:ln/>
        </p:spPr>
      </p:sp>
      <p:sp>
        <p:nvSpPr>
          <p:cNvPr id="20" name="Text 18"/>
          <p:cNvSpPr txBox="1"/>
          <p:nvPr/>
        </p:nvSpPr>
        <p:spPr>
          <a:xfrm>
            <a:off x="6309360" y="215798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N03</a:t>
            </a:r>
            <a:endParaRPr lang="en-US" sz="900" dirty="0"/>
          </a:p>
        </p:txBody>
      </p:sp>
      <p:sp>
        <p:nvSpPr>
          <p:cNvPr id="21" name="Text 19"/>
          <p:cNvSpPr txBox="1"/>
          <p:nvPr/>
        </p:nvSpPr>
        <p:spPr>
          <a:xfrm>
            <a:off x="6967728" y="2157984"/>
            <a:ext cx="1737360" cy="256032"/>
          </a:xfrm>
          <a:prstGeom prst="rect">
            <a:avLst/>
          </a:prstGeom>
          <a:noFill/>
          <a:ln/>
        </p:spPr>
        <p:txBody>
          <a:bodyPr wrap="square" lIns="0" tIns="0" rIns="0" bIns="0" rtlCol="0" anchor="ctr"/>
          <a:lstStyle/>
          <a:p>
            <a:pPr indent="0" marL="0">
              <a:buNone/>
            </a:pPr>
            <a:r>
              <a:rPr lang="en-US" sz="900" b="1" dirty="0">
                <a:solidFill>
                  <a:srgbClr val="E06F00"/>
                </a:solidFill>
                <a:latin typeface="Open Sans" pitchFamily="34" charset="0"/>
                <a:ea typeface="Open Sans" pitchFamily="34" charset="-122"/>
                <a:cs typeface="Open Sans" pitchFamily="34" charset="-120"/>
              </a:rPr>
              <a:t>Patrón / armador</a:t>
            </a:r>
            <a:endParaRPr lang="en-US" sz="900" dirty="0"/>
          </a:p>
        </p:txBody>
      </p:sp>
      <p:sp>
        <p:nvSpPr>
          <p:cNvPr id="22" name="Text 20"/>
          <p:cNvSpPr txBox="1"/>
          <p:nvPr/>
        </p:nvSpPr>
        <p:spPr>
          <a:xfrm>
            <a:off x="6309360" y="246888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Probar el origen legal de su pesca sin trámites ni correo.</a:t>
            </a:r>
            <a:endParaRPr lang="en-US" sz="1050" dirty="0"/>
          </a:p>
        </p:txBody>
      </p:sp>
      <p:sp>
        <p:nvSpPr>
          <p:cNvPr id="23" name="Text 21"/>
          <p:cNvSpPr txBox="1"/>
          <p:nvPr/>
        </p:nvSpPr>
        <p:spPr>
          <a:xfrm>
            <a:off x="6309360" y="299923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D.S. 006-2025-PRODUCE; barrera del correo [12]</a:t>
            </a:r>
            <a:endParaRPr lang="en-US" sz="800" dirty="0"/>
          </a:p>
        </p:txBody>
      </p:sp>
      <p:sp>
        <p:nvSpPr>
          <p:cNvPr id="24" name="Shape 22"/>
          <p:cNvSpPr/>
          <p:nvPr/>
        </p:nvSpPr>
        <p:spPr>
          <a:xfrm>
            <a:off x="8970264" y="201168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5" name="Shape 23"/>
          <p:cNvSpPr/>
          <p:nvPr/>
        </p:nvSpPr>
        <p:spPr>
          <a:xfrm>
            <a:off x="9116568" y="2157984"/>
            <a:ext cx="566928" cy="256032"/>
          </a:xfrm>
          <a:prstGeom prst="roundRect">
            <a:avLst>
              <a:gd name="adj" fmla="val 50000"/>
            </a:avLst>
          </a:prstGeom>
          <a:solidFill>
            <a:srgbClr val="E06F00"/>
          </a:solidFill>
          <a:ln/>
        </p:spPr>
      </p:sp>
      <p:sp>
        <p:nvSpPr>
          <p:cNvPr id="26" name="Text 24"/>
          <p:cNvSpPr txBox="1"/>
          <p:nvPr/>
        </p:nvSpPr>
        <p:spPr>
          <a:xfrm>
            <a:off x="9116568" y="215798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N04</a:t>
            </a:r>
            <a:endParaRPr lang="en-US" sz="900" dirty="0"/>
          </a:p>
        </p:txBody>
      </p:sp>
      <p:sp>
        <p:nvSpPr>
          <p:cNvPr id="27" name="Text 25"/>
          <p:cNvSpPr txBox="1"/>
          <p:nvPr/>
        </p:nvSpPr>
        <p:spPr>
          <a:xfrm>
            <a:off x="9774936" y="2157984"/>
            <a:ext cx="1737360" cy="256032"/>
          </a:xfrm>
          <a:prstGeom prst="rect">
            <a:avLst/>
          </a:prstGeom>
          <a:noFill/>
          <a:ln/>
        </p:spPr>
        <p:txBody>
          <a:bodyPr wrap="square" lIns="0" tIns="0" rIns="0" bIns="0" rtlCol="0" anchor="ctr"/>
          <a:lstStyle/>
          <a:p>
            <a:pPr indent="0" marL="0">
              <a:buNone/>
            </a:pPr>
            <a:r>
              <a:rPr lang="en-US" sz="900" b="1" dirty="0">
                <a:solidFill>
                  <a:srgbClr val="E06F00"/>
                </a:solidFill>
                <a:latin typeface="Open Sans" pitchFamily="34" charset="0"/>
                <a:ea typeface="Open Sans" pitchFamily="34" charset="-122"/>
                <a:cs typeface="Open Sans" pitchFamily="34" charset="-120"/>
              </a:rPr>
              <a:t>Patrón / armador</a:t>
            </a:r>
            <a:endParaRPr lang="en-US" sz="900" dirty="0"/>
          </a:p>
        </p:txBody>
      </p:sp>
      <p:sp>
        <p:nvSpPr>
          <p:cNvPr id="28" name="Text 26"/>
          <p:cNvSpPr txBox="1"/>
          <p:nvPr/>
        </p:nvSpPr>
        <p:spPr>
          <a:xfrm>
            <a:off x="9116568" y="246888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Proteger la ubicación de sus caladeros.</a:t>
            </a:r>
            <a:endParaRPr lang="en-US" sz="1050" dirty="0"/>
          </a:p>
        </p:txBody>
      </p:sp>
      <p:sp>
        <p:nvSpPr>
          <p:cNvPr id="29" name="Text 27"/>
          <p:cNvSpPr txBox="1"/>
          <p:nvPr/>
        </p:nvSpPr>
        <p:spPr>
          <a:xfrm>
            <a:off x="9116568" y="299923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Temor a filtraciones, robos y extorsión [12]</a:t>
            </a:r>
            <a:endParaRPr lang="en-US" sz="800" dirty="0"/>
          </a:p>
        </p:txBody>
      </p:sp>
      <p:sp>
        <p:nvSpPr>
          <p:cNvPr id="30" name="Shape 28"/>
          <p:cNvSpPr/>
          <p:nvPr/>
        </p:nvSpPr>
        <p:spPr>
          <a:xfrm>
            <a:off x="548640" y="342900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1" name="Shape 29"/>
          <p:cNvSpPr/>
          <p:nvPr/>
        </p:nvSpPr>
        <p:spPr>
          <a:xfrm>
            <a:off x="694944" y="3575304"/>
            <a:ext cx="566928" cy="256032"/>
          </a:xfrm>
          <a:prstGeom prst="roundRect">
            <a:avLst>
              <a:gd name="adj" fmla="val 50000"/>
            </a:avLst>
          </a:prstGeom>
          <a:solidFill>
            <a:srgbClr val="E06F00"/>
          </a:solidFill>
          <a:ln/>
        </p:spPr>
      </p:sp>
      <p:sp>
        <p:nvSpPr>
          <p:cNvPr id="32" name="Text 30"/>
          <p:cNvSpPr txBox="1"/>
          <p:nvPr/>
        </p:nvSpPr>
        <p:spPr>
          <a:xfrm>
            <a:off x="694944" y="357530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N05</a:t>
            </a:r>
            <a:endParaRPr lang="en-US" sz="900" dirty="0"/>
          </a:p>
        </p:txBody>
      </p:sp>
      <p:sp>
        <p:nvSpPr>
          <p:cNvPr id="33" name="Text 31"/>
          <p:cNvSpPr txBox="1"/>
          <p:nvPr/>
        </p:nvSpPr>
        <p:spPr>
          <a:xfrm>
            <a:off x="1353312" y="3575304"/>
            <a:ext cx="1737360" cy="256032"/>
          </a:xfrm>
          <a:prstGeom prst="rect">
            <a:avLst/>
          </a:prstGeom>
          <a:noFill/>
          <a:ln/>
        </p:spPr>
        <p:txBody>
          <a:bodyPr wrap="square" lIns="0" tIns="0" rIns="0" bIns="0" rtlCol="0" anchor="ctr"/>
          <a:lstStyle/>
          <a:p>
            <a:pPr indent="0" marL="0">
              <a:buNone/>
            </a:pPr>
            <a:r>
              <a:rPr lang="en-US" sz="900" b="1" dirty="0">
                <a:solidFill>
                  <a:srgbClr val="E06F00"/>
                </a:solidFill>
                <a:latin typeface="Open Sans" pitchFamily="34" charset="0"/>
                <a:ea typeface="Open Sans" pitchFamily="34" charset="-122"/>
                <a:cs typeface="Open Sans" pitchFamily="34" charset="-120"/>
              </a:rPr>
              <a:t>Patrón / armador</a:t>
            </a:r>
            <a:endParaRPr lang="en-US" sz="900" dirty="0"/>
          </a:p>
        </p:txBody>
      </p:sp>
      <p:sp>
        <p:nvSpPr>
          <p:cNvPr id="34" name="Text 32"/>
          <p:cNvSpPr txBox="1"/>
          <p:nvPr/>
        </p:nvSpPr>
        <p:spPr>
          <a:xfrm>
            <a:off x="694944" y="388620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Contar con un historial de su esfuerzo pesquero.</a:t>
            </a:r>
            <a:endParaRPr lang="en-US" sz="1050" dirty="0"/>
          </a:p>
        </p:txBody>
      </p:sp>
      <p:sp>
        <p:nvSpPr>
          <p:cNvPr id="35" name="Text 33"/>
          <p:cNvSpPr txBox="1"/>
          <p:nvPr/>
        </p:nvSpPr>
        <p:spPr>
          <a:xfrm>
            <a:off x="694944" y="441655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Necesario para cuotas y créditos [12]</a:t>
            </a:r>
            <a:endParaRPr lang="en-US" sz="800" dirty="0"/>
          </a:p>
        </p:txBody>
      </p:sp>
      <p:sp>
        <p:nvSpPr>
          <p:cNvPr id="36" name="Shape 34"/>
          <p:cNvSpPr/>
          <p:nvPr/>
        </p:nvSpPr>
        <p:spPr>
          <a:xfrm>
            <a:off x="3355848" y="342900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7" name="Shape 35"/>
          <p:cNvSpPr/>
          <p:nvPr/>
        </p:nvSpPr>
        <p:spPr>
          <a:xfrm>
            <a:off x="3502152" y="3575304"/>
            <a:ext cx="566928" cy="256032"/>
          </a:xfrm>
          <a:prstGeom prst="roundRect">
            <a:avLst>
              <a:gd name="adj" fmla="val 50000"/>
            </a:avLst>
          </a:prstGeom>
          <a:solidFill>
            <a:srgbClr val="0B5FFF"/>
          </a:solidFill>
          <a:ln/>
        </p:spPr>
      </p:sp>
      <p:sp>
        <p:nvSpPr>
          <p:cNvPr id="38" name="Text 36"/>
          <p:cNvSpPr txBox="1"/>
          <p:nvPr/>
        </p:nvSpPr>
        <p:spPr>
          <a:xfrm>
            <a:off x="3502152" y="357530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N06</a:t>
            </a:r>
            <a:endParaRPr lang="en-US" sz="900" dirty="0"/>
          </a:p>
        </p:txBody>
      </p:sp>
      <p:sp>
        <p:nvSpPr>
          <p:cNvPr id="39" name="Text 37"/>
          <p:cNvSpPr txBox="1"/>
          <p:nvPr/>
        </p:nvSpPr>
        <p:spPr>
          <a:xfrm>
            <a:off x="4160520" y="3575304"/>
            <a:ext cx="1737360" cy="256032"/>
          </a:xfrm>
          <a:prstGeom prst="rect">
            <a:avLst/>
          </a:prstGeom>
          <a:noFill/>
          <a:ln/>
        </p:spPr>
        <p:txBody>
          <a:bodyPr wrap="square" lIns="0" tIns="0" rIns="0" bIns="0" rtlCol="0" anchor="ctr"/>
          <a:lstStyle/>
          <a:p>
            <a:pPr indent="0" marL="0">
              <a:buNone/>
            </a:pPr>
            <a:r>
              <a:rPr lang="en-US" sz="900" b="1" dirty="0">
                <a:solidFill>
                  <a:srgbClr val="0B5FFF"/>
                </a:solidFill>
                <a:latin typeface="Open Sans" pitchFamily="34" charset="0"/>
                <a:ea typeface="Open Sans" pitchFamily="34" charset="-122"/>
                <a:cs typeface="Open Sans" pitchFamily="34" charset="-120"/>
              </a:rPr>
              <a:t>Administrador del DPA</a:t>
            </a:r>
            <a:endParaRPr lang="en-US" sz="900" dirty="0"/>
          </a:p>
        </p:txBody>
      </p:sp>
      <p:sp>
        <p:nvSpPr>
          <p:cNvPr id="40" name="Text 38"/>
          <p:cNvSpPr txBox="1"/>
          <p:nvPr/>
        </p:nvSpPr>
        <p:spPr>
          <a:xfrm>
            <a:off x="3502152" y="388620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Saber cada día cuánto, qué y quién desembarca.</a:t>
            </a:r>
            <a:endParaRPr lang="en-US" sz="1050" dirty="0"/>
          </a:p>
        </p:txBody>
      </p:sp>
      <p:sp>
        <p:nvSpPr>
          <p:cNvPr id="41" name="Text 39"/>
          <p:cNvSpPr txBox="1"/>
          <p:nvPr/>
        </p:nvSpPr>
        <p:spPr>
          <a:xfrm>
            <a:off x="3502152" y="441655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Brechas de información de FONDEPES [9]</a:t>
            </a:r>
            <a:endParaRPr lang="en-US" sz="800" dirty="0"/>
          </a:p>
        </p:txBody>
      </p:sp>
      <p:sp>
        <p:nvSpPr>
          <p:cNvPr id="42" name="Shape 40"/>
          <p:cNvSpPr/>
          <p:nvPr/>
        </p:nvSpPr>
        <p:spPr>
          <a:xfrm>
            <a:off x="6163056" y="342900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3" name="Shape 41"/>
          <p:cNvSpPr/>
          <p:nvPr/>
        </p:nvSpPr>
        <p:spPr>
          <a:xfrm>
            <a:off x="6309360" y="3575304"/>
            <a:ext cx="566928" cy="256032"/>
          </a:xfrm>
          <a:prstGeom prst="roundRect">
            <a:avLst>
              <a:gd name="adj" fmla="val 50000"/>
            </a:avLst>
          </a:prstGeom>
          <a:solidFill>
            <a:srgbClr val="FF5A5F"/>
          </a:solidFill>
          <a:ln/>
        </p:spPr>
      </p:sp>
      <p:sp>
        <p:nvSpPr>
          <p:cNvPr id="44" name="Text 42"/>
          <p:cNvSpPr txBox="1"/>
          <p:nvPr/>
        </p:nvSpPr>
        <p:spPr>
          <a:xfrm>
            <a:off x="6309360" y="357530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N07</a:t>
            </a:r>
            <a:endParaRPr lang="en-US" sz="900" dirty="0"/>
          </a:p>
        </p:txBody>
      </p:sp>
      <p:sp>
        <p:nvSpPr>
          <p:cNvPr id="45" name="Text 43"/>
          <p:cNvSpPr txBox="1"/>
          <p:nvPr/>
        </p:nvSpPr>
        <p:spPr>
          <a:xfrm>
            <a:off x="6967728" y="3575304"/>
            <a:ext cx="1737360" cy="256032"/>
          </a:xfrm>
          <a:prstGeom prst="rect">
            <a:avLst/>
          </a:prstGeom>
          <a:noFill/>
          <a:ln/>
        </p:spPr>
        <p:txBody>
          <a:bodyPr wrap="square" lIns="0" tIns="0" rIns="0" bIns="0" rtlCol="0" anchor="ctr"/>
          <a:lstStyle/>
          <a:p>
            <a:pPr indent="0" marL="0">
              <a:buNone/>
            </a:pPr>
            <a:r>
              <a:rPr lang="en-US" sz="900" b="1" dirty="0">
                <a:solidFill>
                  <a:srgbClr val="FF5A5F"/>
                </a:solidFill>
                <a:latin typeface="Open Sans" pitchFamily="34" charset="0"/>
                <a:ea typeface="Open Sans" pitchFamily="34" charset="-122"/>
                <a:cs typeface="Open Sans" pitchFamily="34" charset="-120"/>
              </a:rPr>
              <a:t>Fiscalizador</a:t>
            </a:r>
            <a:endParaRPr lang="en-US" sz="900" dirty="0"/>
          </a:p>
        </p:txBody>
      </p:sp>
      <p:sp>
        <p:nvSpPr>
          <p:cNvPr id="46" name="Text 44"/>
          <p:cNvSpPr txBox="1"/>
          <p:nvPr/>
        </p:nvSpPr>
        <p:spPr>
          <a:xfrm>
            <a:off x="6309360" y="388620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Verificar el origen en segundos y priorizar inspecciones.</a:t>
            </a:r>
            <a:endParaRPr lang="en-US" sz="1050" dirty="0"/>
          </a:p>
        </p:txBody>
      </p:sp>
      <p:sp>
        <p:nvSpPr>
          <p:cNvPr id="47" name="Text 45"/>
          <p:cNvSpPr txBox="1"/>
          <p:nvPr/>
        </p:nvSpPr>
        <p:spPr>
          <a:xfrm>
            <a:off x="6309360" y="441655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Hasta 1–2 h de revisión documental [12]</a:t>
            </a:r>
            <a:endParaRPr lang="en-US" sz="800" dirty="0"/>
          </a:p>
        </p:txBody>
      </p:sp>
      <p:sp>
        <p:nvSpPr>
          <p:cNvPr id="48" name="Shape 46"/>
          <p:cNvSpPr/>
          <p:nvPr/>
        </p:nvSpPr>
        <p:spPr>
          <a:xfrm>
            <a:off x="8970264" y="342900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9" name="Shape 47"/>
          <p:cNvSpPr/>
          <p:nvPr/>
        </p:nvSpPr>
        <p:spPr>
          <a:xfrm>
            <a:off x="9116568" y="3575304"/>
            <a:ext cx="566928" cy="256032"/>
          </a:xfrm>
          <a:prstGeom prst="roundRect">
            <a:avLst>
              <a:gd name="adj" fmla="val 50000"/>
            </a:avLst>
          </a:prstGeom>
          <a:solidFill>
            <a:srgbClr val="0B9468"/>
          </a:solidFill>
          <a:ln/>
        </p:spPr>
      </p:sp>
      <p:sp>
        <p:nvSpPr>
          <p:cNvPr id="50" name="Text 48"/>
          <p:cNvSpPr txBox="1"/>
          <p:nvPr/>
        </p:nvSpPr>
        <p:spPr>
          <a:xfrm>
            <a:off x="9116568" y="357530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N08</a:t>
            </a:r>
            <a:endParaRPr lang="en-US" sz="900" dirty="0"/>
          </a:p>
        </p:txBody>
      </p:sp>
      <p:sp>
        <p:nvSpPr>
          <p:cNvPr id="51" name="Text 49"/>
          <p:cNvSpPr txBox="1"/>
          <p:nvPr/>
        </p:nvSpPr>
        <p:spPr>
          <a:xfrm>
            <a:off x="9774936" y="3575304"/>
            <a:ext cx="1737360" cy="256032"/>
          </a:xfrm>
          <a:prstGeom prst="rect">
            <a:avLst/>
          </a:prstGeom>
          <a:noFill/>
          <a:ln/>
        </p:spPr>
        <p:txBody>
          <a:bodyPr wrap="square" lIns="0" tIns="0" rIns="0" bIns="0" rtlCol="0" anchor="ctr"/>
          <a:lstStyle/>
          <a:p>
            <a:pPr indent="0" marL="0">
              <a:buNone/>
            </a:pPr>
            <a:r>
              <a:rPr lang="en-US" sz="900" b="1" dirty="0">
                <a:solidFill>
                  <a:srgbClr val="0B9468"/>
                </a:solidFill>
                <a:latin typeface="Open Sans" pitchFamily="34" charset="0"/>
                <a:ea typeface="Open Sans" pitchFamily="34" charset="-122"/>
                <a:cs typeface="Open Sans" pitchFamily="34" charset="-120"/>
              </a:rPr>
              <a:t>Comerciante / planta</a:t>
            </a:r>
            <a:endParaRPr lang="en-US" sz="900" dirty="0"/>
          </a:p>
        </p:txBody>
      </p:sp>
      <p:sp>
        <p:nvSpPr>
          <p:cNvPr id="52" name="Text 50"/>
          <p:cNvSpPr txBox="1"/>
          <p:nvPr/>
        </p:nvSpPr>
        <p:spPr>
          <a:xfrm>
            <a:off x="9116568" y="388620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Demostrar que compró pesca de origen legal.</a:t>
            </a:r>
            <a:endParaRPr lang="en-US" sz="1050" dirty="0"/>
          </a:p>
        </p:txBody>
      </p:sp>
      <p:sp>
        <p:nvSpPr>
          <p:cNvPr id="53" name="Text 51"/>
          <p:cNvSpPr txBox="1"/>
          <p:nvPr/>
        </p:nvSpPr>
        <p:spPr>
          <a:xfrm>
            <a:off x="9116568" y="441655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D.S. 006-2025-PRODUCE [12]</a:t>
            </a:r>
            <a:endParaRPr lang="en-US" sz="800" dirty="0"/>
          </a:p>
        </p:txBody>
      </p:sp>
      <p:sp>
        <p:nvSpPr>
          <p:cNvPr id="54" name="Shape 52"/>
          <p:cNvSpPr/>
          <p:nvPr/>
        </p:nvSpPr>
        <p:spPr>
          <a:xfrm>
            <a:off x="548640" y="484632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5" name="Shape 53"/>
          <p:cNvSpPr/>
          <p:nvPr/>
        </p:nvSpPr>
        <p:spPr>
          <a:xfrm>
            <a:off x="694944" y="4992624"/>
            <a:ext cx="566928" cy="256032"/>
          </a:xfrm>
          <a:prstGeom prst="roundRect">
            <a:avLst>
              <a:gd name="adj" fmla="val 50000"/>
            </a:avLst>
          </a:prstGeom>
          <a:solidFill>
            <a:srgbClr val="008FB0"/>
          </a:solidFill>
          <a:ln/>
        </p:spPr>
      </p:sp>
      <p:sp>
        <p:nvSpPr>
          <p:cNvPr id="56" name="Text 54"/>
          <p:cNvSpPr txBox="1"/>
          <p:nvPr/>
        </p:nvSpPr>
        <p:spPr>
          <a:xfrm>
            <a:off x="694944" y="499262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N09</a:t>
            </a:r>
            <a:endParaRPr lang="en-US" sz="900" dirty="0"/>
          </a:p>
        </p:txBody>
      </p:sp>
      <p:sp>
        <p:nvSpPr>
          <p:cNvPr id="57" name="Text 55"/>
          <p:cNvSpPr txBox="1"/>
          <p:nvPr/>
        </p:nvSpPr>
        <p:spPr>
          <a:xfrm>
            <a:off x="1353312" y="4992624"/>
            <a:ext cx="1737360" cy="256032"/>
          </a:xfrm>
          <a:prstGeom prst="rect">
            <a:avLst/>
          </a:prstGeom>
          <a:noFill/>
          <a:ln/>
        </p:spPr>
        <p:txBody>
          <a:bodyPr wrap="square" lIns="0" tIns="0" rIns="0" bIns="0" rtlCol="0" anchor="ctr"/>
          <a:lstStyle/>
          <a:p>
            <a:pPr indent="0" marL="0">
              <a:buNone/>
            </a:pPr>
            <a:r>
              <a:rPr lang="en-US" sz="900" b="1" dirty="0">
                <a:solidFill>
                  <a:srgbClr val="008FB0"/>
                </a:solidFill>
                <a:latin typeface="Open Sans" pitchFamily="34" charset="0"/>
                <a:ea typeface="Open Sans" pitchFamily="34" charset="-122"/>
                <a:cs typeface="Open Sans" pitchFamily="34" charset="-120"/>
              </a:rPr>
              <a:t>Analista IMARPE</a:t>
            </a:r>
            <a:endParaRPr lang="en-US" sz="900" dirty="0"/>
          </a:p>
        </p:txBody>
      </p:sp>
      <p:sp>
        <p:nvSpPr>
          <p:cNvPr id="58" name="Text 56"/>
          <p:cNvSpPr txBox="1"/>
          <p:nvPr/>
        </p:nvSpPr>
        <p:spPr>
          <a:xfrm>
            <a:off x="694944" y="530352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Recibir datos de captura y esfuerzo estructurados y oportunos.</a:t>
            </a:r>
            <a:endParaRPr lang="en-US" sz="1050" dirty="0"/>
          </a:p>
        </p:txBody>
      </p:sp>
      <p:sp>
        <p:nvSpPr>
          <p:cNvPr id="59" name="Text 57"/>
          <p:cNvSpPr txBox="1"/>
          <p:nvPr/>
        </p:nvSpPr>
        <p:spPr>
          <a:xfrm>
            <a:off x="694944" y="583387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Formatos digitados después [14]</a:t>
            </a:r>
            <a:endParaRPr lang="en-US" sz="800" dirty="0"/>
          </a:p>
        </p:txBody>
      </p:sp>
      <p:sp>
        <p:nvSpPr>
          <p:cNvPr id="60" name="Shape 58"/>
          <p:cNvSpPr/>
          <p:nvPr/>
        </p:nvSpPr>
        <p:spPr>
          <a:xfrm>
            <a:off x="3355848" y="484632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1" name="Shape 59"/>
          <p:cNvSpPr/>
          <p:nvPr/>
        </p:nvSpPr>
        <p:spPr>
          <a:xfrm>
            <a:off x="3502152" y="4992624"/>
            <a:ext cx="566928" cy="256032"/>
          </a:xfrm>
          <a:prstGeom prst="roundRect">
            <a:avLst>
              <a:gd name="adj" fmla="val 50000"/>
            </a:avLst>
          </a:prstGeom>
          <a:solidFill>
            <a:srgbClr val="0839C4"/>
          </a:solidFill>
          <a:ln/>
        </p:spPr>
      </p:sp>
      <p:sp>
        <p:nvSpPr>
          <p:cNvPr id="62" name="Text 60"/>
          <p:cNvSpPr txBox="1"/>
          <p:nvPr/>
        </p:nvSpPr>
        <p:spPr>
          <a:xfrm>
            <a:off x="3502152" y="499262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N10</a:t>
            </a:r>
            <a:endParaRPr lang="en-US" sz="900" dirty="0"/>
          </a:p>
        </p:txBody>
      </p:sp>
      <p:sp>
        <p:nvSpPr>
          <p:cNvPr id="63" name="Text 61"/>
          <p:cNvSpPr txBox="1"/>
          <p:nvPr/>
        </p:nvSpPr>
        <p:spPr>
          <a:xfrm>
            <a:off x="4160520" y="4992624"/>
            <a:ext cx="1737360" cy="256032"/>
          </a:xfrm>
          <a:prstGeom prst="rect">
            <a:avLst/>
          </a:prstGeom>
          <a:noFill/>
          <a:ln/>
        </p:spPr>
        <p:txBody>
          <a:bodyPr wrap="square" lIns="0" tIns="0" rIns="0" bIns="0" rtlCol="0" anchor="ctr"/>
          <a:lstStyle/>
          <a:p>
            <a:pPr indent="0" marL="0">
              <a:buNone/>
            </a:pPr>
            <a:r>
              <a:rPr lang="en-US" sz="900" b="1" dirty="0">
                <a:solidFill>
                  <a:srgbClr val="0839C4"/>
                </a:solidFill>
                <a:latin typeface="Open Sans" pitchFamily="34" charset="0"/>
                <a:ea typeface="Open Sans" pitchFamily="34" charset="-122"/>
                <a:cs typeface="Open Sans" pitchFamily="34" charset="-120"/>
              </a:rPr>
              <a:t>PRODUCE</a:t>
            </a:r>
            <a:endParaRPr lang="en-US" sz="900" dirty="0"/>
          </a:p>
        </p:txBody>
      </p:sp>
      <p:sp>
        <p:nvSpPr>
          <p:cNvPr id="64" name="Text 62"/>
          <p:cNvSpPr txBox="1"/>
          <p:nvPr/>
        </p:nvSpPr>
        <p:spPr>
          <a:xfrm>
            <a:off x="3502152" y="530352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Integrar la información con el SITRAPESCA sin doble digitación.</a:t>
            </a:r>
            <a:endParaRPr lang="en-US" sz="1050" dirty="0"/>
          </a:p>
        </p:txBody>
      </p:sp>
      <p:sp>
        <p:nvSpPr>
          <p:cNvPr id="65" name="Text 63"/>
          <p:cNvSpPr txBox="1"/>
          <p:nvPr/>
        </p:nvSpPr>
        <p:spPr>
          <a:xfrm>
            <a:off x="3502152" y="583387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D.S. 024-2021-PRODUCE [18]</a:t>
            </a:r>
            <a:endParaRPr lang="en-US" sz="800" dirty="0"/>
          </a:p>
        </p:txBody>
      </p:sp>
      <p:sp>
        <p:nvSpPr>
          <p:cNvPr id="66" name="Shape 64"/>
          <p:cNvSpPr/>
          <p:nvPr/>
        </p:nvSpPr>
        <p:spPr>
          <a:xfrm>
            <a:off x="6163056" y="4846320"/>
            <a:ext cx="2651760" cy="1280160"/>
          </a:xfrm>
          <a:prstGeom prst="roundRect">
            <a:avLst>
              <a:gd name="adj" fmla="val 8571"/>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7" name="Shape 65"/>
          <p:cNvSpPr/>
          <p:nvPr/>
        </p:nvSpPr>
        <p:spPr>
          <a:xfrm>
            <a:off x="6309360" y="4992624"/>
            <a:ext cx="566928" cy="256032"/>
          </a:xfrm>
          <a:prstGeom prst="roundRect">
            <a:avLst>
              <a:gd name="adj" fmla="val 50000"/>
            </a:avLst>
          </a:prstGeom>
          <a:solidFill>
            <a:srgbClr val="5B3EE0"/>
          </a:solidFill>
          <a:ln/>
        </p:spPr>
      </p:sp>
      <p:sp>
        <p:nvSpPr>
          <p:cNvPr id="68" name="Text 66"/>
          <p:cNvSpPr txBox="1"/>
          <p:nvPr/>
        </p:nvSpPr>
        <p:spPr>
          <a:xfrm>
            <a:off x="6309360" y="4992624"/>
            <a:ext cx="56692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N11</a:t>
            </a:r>
            <a:endParaRPr lang="en-US" sz="900" dirty="0"/>
          </a:p>
        </p:txBody>
      </p:sp>
      <p:sp>
        <p:nvSpPr>
          <p:cNvPr id="69" name="Text 67"/>
          <p:cNvSpPr txBox="1"/>
          <p:nvPr/>
        </p:nvSpPr>
        <p:spPr>
          <a:xfrm>
            <a:off x="6967728" y="4992624"/>
            <a:ext cx="1737360" cy="256032"/>
          </a:xfrm>
          <a:prstGeom prst="rect">
            <a:avLst/>
          </a:prstGeom>
          <a:noFill/>
          <a:ln/>
        </p:spPr>
        <p:txBody>
          <a:bodyPr wrap="square" lIns="0" tIns="0" rIns="0" bIns="0" rtlCol="0" anchor="ctr"/>
          <a:lstStyle/>
          <a:p>
            <a:pPr indent="0" marL="0">
              <a:buNone/>
            </a:pPr>
            <a:r>
              <a:rPr lang="en-US" sz="900" b="1" dirty="0">
                <a:solidFill>
                  <a:srgbClr val="5B3EE0"/>
                </a:solidFill>
                <a:latin typeface="Open Sans" pitchFamily="34" charset="0"/>
                <a:ea typeface="Open Sans" pitchFamily="34" charset="-122"/>
                <a:cs typeface="Open Sans" pitchFamily="34" charset="-120"/>
              </a:rPr>
              <a:t>Todos</a:t>
            </a:r>
            <a:endParaRPr lang="en-US" sz="900" dirty="0"/>
          </a:p>
        </p:txBody>
      </p:sp>
      <p:sp>
        <p:nvSpPr>
          <p:cNvPr id="70" name="Text 68"/>
          <p:cNvSpPr txBox="1"/>
          <p:nvPr/>
        </p:nvSpPr>
        <p:spPr>
          <a:xfrm>
            <a:off x="6309360" y="5303520"/>
            <a:ext cx="2377440" cy="50292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Usar una interfaz con el lenguaje propio del sector.</a:t>
            </a:r>
            <a:endParaRPr lang="en-US" sz="1050" dirty="0"/>
          </a:p>
        </p:txBody>
      </p:sp>
      <p:sp>
        <p:nvSpPr>
          <p:cNvPr id="71" name="Text 69"/>
          <p:cNvSpPr txBox="1"/>
          <p:nvPr/>
        </p:nvSpPr>
        <p:spPr>
          <a:xfrm>
            <a:off x="6309360" y="5833872"/>
            <a:ext cx="2377440" cy="237744"/>
          </a:xfrm>
          <a:prstGeom prst="rect">
            <a:avLst/>
          </a:prstGeom>
          <a:noFill/>
          <a:ln/>
        </p:spPr>
        <p:txBody>
          <a:bodyPr wrap="square" lIns="0" tIns="0" rIns="0" bIns="0" rtlCol="0" anchor="ctr"/>
          <a:lstStyle/>
          <a:p>
            <a:pPr indent="0" marL="0">
              <a:buNone/>
            </a:pPr>
            <a:r>
              <a:rPr lang="en-US" sz="800" i="1" dirty="0">
                <a:solidFill>
                  <a:srgbClr val="8A96AE"/>
                </a:solidFill>
                <a:latin typeface="Open Sans" pitchFamily="34" charset="0"/>
                <a:ea typeface="Open Sans" pitchFamily="34" charset="-122"/>
                <a:cs typeface="Open Sans" pitchFamily="34" charset="-120"/>
              </a:rPr>
              <a:t>Confusión con siglas y nombres de artes [12]</a:t>
            </a:r>
            <a:endParaRPr lang="en-US" sz="800" dirty="0"/>
          </a:p>
        </p:txBody>
      </p:sp>
      <p:sp>
        <p:nvSpPr>
          <p:cNvPr id="72" name="Shape 70"/>
          <p:cNvSpPr/>
          <p:nvPr/>
        </p:nvSpPr>
        <p:spPr>
          <a:xfrm>
            <a:off x="8970264" y="4846320"/>
            <a:ext cx="2651760" cy="1280160"/>
          </a:xfrm>
          <a:prstGeom prst="roundRect">
            <a:avLst>
              <a:gd name="adj" fmla="val 8571"/>
            </a:avLst>
          </a:prstGeom>
          <a:solidFill>
            <a:srgbClr val="7B5CFF"/>
          </a:solidFill>
          <a:ln/>
        </p:spPr>
      </p:sp>
      <p:sp>
        <p:nvSpPr>
          <p:cNvPr id="73" name="Text 71"/>
          <p:cNvSpPr txBox="1"/>
          <p:nvPr/>
        </p:nvSpPr>
        <p:spPr>
          <a:xfrm>
            <a:off x="9153144" y="4937760"/>
            <a:ext cx="2286000" cy="1097280"/>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11</a:t>
            </a:r>
            <a:endParaRPr lang="en-US" sz="1200" dirty="0"/>
          </a:p>
          <a:p>
            <a:pPr indent="0" marL="0">
              <a:buNone/>
            </a:pPr>
            <a:r>
              <a:rPr lang="en-US" sz="1000" b="1" dirty="0">
                <a:solidFill>
                  <a:srgbClr val="FFFFFF"/>
                </a:solidFill>
                <a:latin typeface="Open Sans" pitchFamily="34" charset="0"/>
                <a:ea typeface="Open Sans" pitchFamily="34" charset="-122"/>
                <a:cs typeface="Open Sans" pitchFamily="34" charset="-120"/>
              </a:rPr>
              <a:t>necesidades → 24 RF → 16 CU → HU</a:t>
            </a:r>
            <a:endParaRPr lang="en-US" sz="1200" dirty="0"/>
          </a:p>
        </p:txBody>
      </p:sp>
      <p:sp>
        <p:nvSpPr>
          <p:cNvPr id="74" name="Text 72"/>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75" name="Text 73"/>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985870" cy="274320"/>
          </a:xfrm>
          <a:prstGeom prst="roundRect">
            <a:avLst>
              <a:gd name="adj" fmla="val 50000"/>
            </a:avLst>
          </a:prstGeom>
          <a:solidFill>
            <a:srgbClr val="7B5CFF"/>
          </a:solidFill>
          <a:ln/>
        </p:spPr>
      </p:sp>
      <p:sp>
        <p:nvSpPr>
          <p:cNvPr id="3" name="Text 1"/>
          <p:cNvSpPr txBox="1"/>
          <p:nvPr/>
        </p:nvSpPr>
        <p:spPr>
          <a:xfrm>
            <a:off x="548640" y="411480"/>
            <a:ext cx="398587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2.3 REQUERIMIENTOS FUNCIONALES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700" b="1" dirty="0">
                <a:solidFill>
                  <a:srgbClr val="0E1B3D"/>
                </a:solidFill>
                <a:latin typeface="Montserrat" pitchFamily="34" charset="0"/>
                <a:ea typeface="Montserrat" pitchFamily="34" charset="-122"/>
                <a:cs typeface="Montserrat" pitchFamily="34" charset="-120"/>
              </a:rPr>
              <a:t>24 requerimientos funcionales, priorizados con MoSCoW</a:t>
            </a:r>
            <a:endParaRPr lang="en-US" sz="2700" dirty="0"/>
          </a:p>
        </p:txBody>
      </p:sp>
      <p:sp>
        <p:nvSpPr>
          <p:cNvPr id="5" name="Text 3"/>
          <p:cNvSpPr txBox="1"/>
          <p:nvPr/>
        </p:nvSpPr>
        <p:spPr>
          <a:xfrm>
            <a:off x="548640" y="1399032"/>
            <a:ext cx="576072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6 del informe · metodología de Sommerville [19].</a:t>
            </a:r>
            <a:endParaRPr lang="en-US" sz="1300" dirty="0"/>
          </a:p>
        </p:txBody>
      </p:sp>
      <p:sp>
        <p:nvSpPr>
          <p:cNvPr id="6" name="Shape 4"/>
          <p:cNvSpPr/>
          <p:nvPr/>
        </p:nvSpPr>
        <p:spPr>
          <a:xfrm>
            <a:off x="548640" y="2057400"/>
            <a:ext cx="1783080" cy="960120"/>
          </a:xfrm>
          <a:prstGeom prst="roundRect">
            <a:avLst>
              <a:gd name="adj" fmla="val 11429"/>
            </a:avLst>
          </a:prstGeom>
          <a:solidFill>
            <a:srgbClr val="EFEBFF"/>
          </a:solidFill>
          <a:ln w="9525">
            <a:solidFill>
              <a:srgbClr val="D9CFFF"/>
            </a:solidFill>
            <a:prstDash val="solid"/>
          </a:ln>
        </p:spPr>
      </p:sp>
      <p:sp>
        <p:nvSpPr>
          <p:cNvPr id="7" name="Text 5"/>
          <p:cNvSpPr txBox="1"/>
          <p:nvPr/>
        </p:nvSpPr>
        <p:spPr>
          <a:xfrm>
            <a:off x="676656"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RF01</a:t>
            </a:r>
            <a:endParaRPr lang="en-US" sz="1200" dirty="0"/>
          </a:p>
        </p:txBody>
      </p:sp>
      <p:sp>
        <p:nvSpPr>
          <p:cNvPr id="8" name="Shape 6"/>
          <p:cNvSpPr/>
          <p:nvPr/>
        </p:nvSpPr>
        <p:spPr>
          <a:xfrm>
            <a:off x="1892808" y="2167128"/>
            <a:ext cx="310896" cy="237744"/>
          </a:xfrm>
          <a:prstGeom prst="roundRect">
            <a:avLst>
              <a:gd name="adj" fmla="val 50000"/>
            </a:avLst>
          </a:prstGeom>
          <a:solidFill>
            <a:srgbClr val="7B5CFF"/>
          </a:solidFill>
          <a:ln/>
        </p:spPr>
      </p:sp>
      <p:sp>
        <p:nvSpPr>
          <p:cNvPr id="9" name="Text 7"/>
          <p:cNvSpPr txBox="1"/>
          <p:nvPr/>
        </p:nvSpPr>
        <p:spPr>
          <a:xfrm>
            <a:off x="1892808" y="216712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10" name="Text 8"/>
          <p:cNvSpPr txBox="1"/>
          <p:nvPr/>
        </p:nvSpPr>
        <p:spPr>
          <a:xfrm>
            <a:off x="676656"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Autenticación y roles</a:t>
            </a:r>
            <a:endParaRPr lang="en-US" sz="1050" dirty="0"/>
          </a:p>
        </p:txBody>
      </p:sp>
      <p:sp>
        <p:nvSpPr>
          <p:cNvPr id="11" name="Shape 9"/>
          <p:cNvSpPr/>
          <p:nvPr/>
        </p:nvSpPr>
        <p:spPr>
          <a:xfrm>
            <a:off x="2404872" y="2057400"/>
            <a:ext cx="1783080" cy="960120"/>
          </a:xfrm>
          <a:prstGeom prst="roundRect">
            <a:avLst>
              <a:gd name="adj" fmla="val 11429"/>
            </a:avLst>
          </a:prstGeom>
          <a:solidFill>
            <a:srgbClr val="EFEBFF"/>
          </a:solidFill>
          <a:ln w="9525">
            <a:solidFill>
              <a:srgbClr val="D9CFFF"/>
            </a:solidFill>
            <a:prstDash val="solid"/>
          </a:ln>
        </p:spPr>
      </p:sp>
      <p:sp>
        <p:nvSpPr>
          <p:cNvPr id="12" name="Text 10"/>
          <p:cNvSpPr txBox="1"/>
          <p:nvPr/>
        </p:nvSpPr>
        <p:spPr>
          <a:xfrm>
            <a:off x="2532888"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RF02</a:t>
            </a:r>
            <a:endParaRPr lang="en-US" sz="1200" dirty="0"/>
          </a:p>
        </p:txBody>
      </p:sp>
      <p:sp>
        <p:nvSpPr>
          <p:cNvPr id="13" name="Shape 11"/>
          <p:cNvSpPr/>
          <p:nvPr/>
        </p:nvSpPr>
        <p:spPr>
          <a:xfrm>
            <a:off x="3749040" y="2167128"/>
            <a:ext cx="310896" cy="237744"/>
          </a:xfrm>
          <a:prstGeom prst="roundRect">
            <a:avLst>
              <a:gd name="adj" fmla="val 50000"/>
            </a:avLst>
          </a:prstGeom>
          <a:solidFill>
            <a:srgbClr val="7B5CFF"/>
          </a:solidFill>
          <a:ln/>
        </p:spPr>
      </p:sp>
      <p:sp>
        <p:nvSpPr>
          <p:cNvPr id="14" name="Text 12"/>
          <p:cNvSpPr txBox="1"/>
          <p:nvPr/>
        </p:nvSpPr>
        <p:spPr>
          <a:xfrm>
            <a:off x="3749040" y="216712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15" name="Text 13"/>
          <p:cNvSpPr txBox="1"/>
          <p:nvPr/>
        </p:nvSpPr>
        <p:spPr>
          <a:xfrm>
            <a:off x="2532888"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Gestión de embarcaciones</a:t>
            </a:r>
            <a:endParaRPr lang="en-US" sz="1050" dirty="0"/>
          </a:p>
        </p:txBody>
      </p:sp>
      <p:sp>
        <p:nvSpPr>
          <p:cNvPr id="16" name="Shape 14"/>
          <p:cNvSpPr/>
          <p:nvPr/>
        </p:nvSpPr>
        <p:spPr>
          <a:xfrm>
            <a:off x="4261104" y="2057400"/>
            <a:ext cx="1783080" cy="960120"/>
          </a:xfrm>
          <a:prstGeom prst="roundRect">
            <a:avLst>
              <a:gd name="adj" fmla="val 11429"/>
            </a:avLst>
          </a:prstGeom>
          <a:solidFill>
            <a:srgbClr val="EFEBFF"/>
          </a:solidFill>
          <a:ln w="9525">
            <a:solidFill>
              <a:srgbClr val="D9CFFF"/>
            </a:solidFill>
            <a:prstDash val="solid"/>
          </a:ln>
        </p:spPr>
      </p:sp>
      <p:sp>
        <p:nvSpPr>
          <p:cNvPr id="17" name="Text 15"/>
          <p:cNvSpPr txBox="1"/>
          <p:nvPr/>
        </p:nvSpPr>
        <p:spPr>
          <a:xfrm>
            <a:off x="4389120"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RF03</a:t>
            </a:r>
            <a:endParaRPr lang="en-US" sz="1200" dirty="0"/>
          </a:p>
        </p:txBody>
      </p:sp>
      <p:sp>
        <p:nvSpPr>
          <p:cNvPr id="18" name="Shape 16"/>
          <p:cNvSpPr/>
          <p:nvPr/>
        </p:nvSpPr>
        <p:spPr>
          <a:xfrm>
            <a:off x="5605272" y="2167128"/>
            <a:ext cx="310896" cy="237744"/>
          </a:xfrm>
          <a:prstGeom prst="roundRect">
            <a:avLst>
              <a:gd name="adj" fmla="val 50000"/>
            </a:avLst>
          </a:prstGeom>
          <a:solidFill>
            <a:srgbClr val="7B5CFF"/>
          </a:solidFill>
          <a:ln/>
        </p:spPr>
      </p:sp>
      <p:sp>
        <p:nvSpPr>
          <p:cNvPr id="19" name="Text 17"/>
          <p:cNvSpPr txBox="1"/>
          <p:nvPr/>
        </p:nvSpPr>
        <p:spPr>
          <a:xfrm>
            <a:off x="5605272" y="216712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20" name="Text 18"/>
          <p:cNvSpPr txBox="1"/>
          <p:nvPr/>
        </p:nvSpPr>
        <p:spPr>
          <a:xfrm>
            <a:off x="4389120"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Gestión de permisos</a:t>
            </a:r>
            <a:endParaRPr lang="en-US" sz="1050" dirty="0"/>
          </a:p>
        </p:txBody>
      </p:sp>
      <p:sp>
        <p:nvSpPr>
          <p:cNvPr id="21" name="Shape 19"/>
          <p:cNvSpPr/>
          <p:nvPr/>
        </p:nvSpPr>
        <p:spPr>
          <a:xfrm>
            <a:off x="6117336" y="2057400"/>
            <a:ext cx="1783080" cy="960120"/>
          </a:xfrm>
          <a:prstGeom prst="roundRect">
            <a:avLst>
              <a:gd name="adj" fmla="val 11429"/>
            </a:avLst>
          </a:prstGeom>
          <a:solidFill>
            <a:srgbClr val="EFEBFF"/>
          </a:solidFill>
          <a:ln w="9525">
            <a:solidFill>
              <a:srgbClr val="D9CFFF"/>
            </a:solidFill>
            <a:prstDash val="solid"/>
          </a:ln>
        </p:spPr>
      </p:sp>
      <p:sp>
        <p:nvSpPr>
          <p:cNvPr id="22" name="Text 20"/>
          <p:cNvSpPr txBox="1"/>
          <p:nvPr/>
        </p:nvSpPr>
        <p:spPr>
          <a:xfrm>
            <a:off x="6245352"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RF04</a:t>
            </a:r>
            <a:endParaRPr lang="en-US" sz="1200" dirty="0"/>
          </a:p>
        </p:txBody>
      </p:sp>
      <p:sp>
        <p:nvSpPr>
          <p:cNvPr id="23" name="Shape 21"/>
          <p:cNvSpPr/>
          <p:nvPr/>
        </p:nvSpPr>
        <p:spPr>
          <a:xfrm>
            <a:off x="7461504" y="2167128"/>
            <a:ext cx="310896" cy="237744"/>
          </a:xfrm>
          <a:prstGeom prst="roundRect">
            <a:avLst>
              <a:gd name="adj" fmla="val 50000"/>
            </a:avLst>
          </a:prstGeom>
          <a:solidFill>
            <a:srgbClr val="7B5CFF"/>
          </a:solidFill>
          <a:ln/>
        </p:spPr>
      </p:sp>
      <p:sp>
        <p:nvSpPr>
          <p:cNvPr id="24" name="Text 22"/>
          <p:cNvSpPr txBox="1"/>
          <p:nvPr/>
        </p:nvSpPr>
        <p:spPr>
          <a:xfrm>
            <a:off x="7461504" y="216712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25" name="Text 23"/>
          <p:cNvSpPr txBox="1"/>
          <p:nvPr/>
        </p:nvSpPr>
        <p:spPr>
          <a:xfrm>
            <a:off x="6245352"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Catálogo normativo</a:t>
            </a:r>
            <a:endParaRPr lang="en-US" sz="1050" dirty="0"/>
          </a:p>
        </p:txBody>
      </p:sp>
      <p:sp>
        <p:nvSpPr>
          <p:cNvPr id="26" name="Shape 24"/>
          <p:cNvSpPr/>
          <p:nvPr/>
        </p:nvSpPr>
        <p:spPr>
          <a:xfrm>
            <a:off x="7973568" y="2057400"/>
            <a:ext cx="1783080" cy="960120"/>
          </a:xfrm>
          <a:prstGeom prst="roundRect">
            <a:avLst>
              <a:gd name="adj" fmla="val 11429"/>
            </a:avLst>
          </a:prstGeom>
          <a:solidFill>
            <a:srgbClr val="FFFFFF"/>
          </a:solidFill>
          <a:ln w="9525">
            <a:solidFill>
              <a:srgbClr val="DCE5F3"/>
            </a:solidFill>
            <a:prstDash val="solid"/>
          </a:ln>
        </p:spPr>
      </p:sp>
      <p:sp>
        <p:nvSpPr>
          <p:cNvPr id="27" name="Text 25"/>
          <p:cNvSpPr txBox="1"/>
          <p:nvPr/>
        </p:nvSpPr>
        <p:spPr>
          <a:xfrm>
            <a:off x="8101584"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RF05</a:t>
            </a:r>
            <a:endParaRPr lang="en-US" sz="1200" dirty="0"/>
          </a:p>
        </p:txBody>
      </p:sp>
      <p:sp>
        <p:nvSpPr>
          <p:cNvPr id="28" name="Shape 26"/>
          <p:cNvSpPr/>
          <p:nvPr/>
        </p:nvSpPr>
        <p:spPr>
          <a:xfrm>
            <a:off x="9317736" y="2167128"/>
            <a:ext cx="310896" cy="237744"/>
          </a:xfrm>
          <a:prstGeom prst="roundRect">
            <a:avLst>
              <a:gd name="adj" fmla="val 50000"/>
            </a:avLst>
          </a:prstGeom>
          <a:solidFill>
            <a:srgbClr val="E0F8FB"/>
          </a:solidFill>
          <a:ln/>
        </p:spPr>
      </p:sp>
      <p:sp>
        <p:nvSpPr>
          <p:cNvPr id="29" name="Text 27"/>
          <p:cNvSpPr txBox="1"/>
          <p:nvPr/>
        </p:nvSpPr>
        <p:spPr>
          <a:xfrm>
            <a:off x="9317736" y="216712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30" name="Text 28"/>
          <p:cNvSpPr txBox="1"/>
          <p:nvPr/>
        </p:nvSpPr>
        <p:spPr>
          <a:xfrm>
            <a:off x="8101584"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Aviso de arribo</a:t>
            </a:r>
            <a:endParaRPr lang="en-US" sz="1050" dirty="0"/>
          </a:p>
        </p:txBody>
      </p:sp>
      <p:sp>
        <p:nvSpPr>
          <p:cNvPr id="31" name="Shape 29"/>
          <p:cNvSpPr/>
          <p:nvPr/>
        </p:nvSpPr>
        <p:spPr>
          <a:xfrm>
            <a:off x="9829800" y="2057400"/>
            <a:ext cx="1783080" cy="960120"/>
          </a:xfrm>
          <a:prstGeom prst="roundRect">
            <a:avLst>
              <a:gd name="adj" fmla="val 11429"/>
            </a:avLst>
          </a:prstGeom>
          <a:solidFill>
            <a:srgbClr val="EFEBFF"/>
          </a:solidFill>
          <a:ln w="9525">
            <a:solidFill>
              <a:srgbClr val="D9CFFF"/>
            </a:solidFill>
            <a:prstDash val="solid"/>
          </a:ln>
        </p:spPr>
      </p:sp>
      <p:sp>
        <p:nvSpPr>
          <p:cNvPr id="32" name="Text 30"/>
          <p:cNvSpPr txBox="1"/>
          <p:nvPr/>
        </p:nvSpPr>
        <p:spPr>
          <a:xfrm>
            <a:off x="9957816" y="214884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RF06</a:t>
            </a:r>
            <a:endParaRPr lang="en-US" sz="1200" dirty="0"/>
          </a:p>
        </p:txBody>
      </p:sp>
      <p:sp>
        <p:nvSpPr>
          <p:cNvPr id="33" name="Shape 31"/>
          <p:cNvSpPr/>
          <p:nvPr/>
        </p:nvSpPr>
        <p:spPr>
          <a:xfrm>
            <a:off x="11173968" y="2167128"/>
            <a:ext cx="310896" cy="237744"/>
          </a:xfrm>
          <a:prstGeom prst="roundRect">
            <a:avLst>
              <a:gd name="adj" fmla="val 50000"/>
            </a:avLst>
          </a:prstGeom>
          <a:solidFill>
            <a:srgbClr val="7B5CFF"/>
          </a:solidFill>
          <a:ln/>
        </p:spPr>
      </p:sp>
      <p:sp>
        <p:nvSpPr>
          <p:cNvPr id="34" name="Text 32"/>
          <p:cNvSpPr txBox="1"/>
          <p:nvPr/>
        </p:nvSpPr>
        <p:spPr>
          <a:xfrm>
            <a:off x="11173968" y="216712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35" name="Text 33"/>
          <p:cNvSpPr txBox="1"/>
          <p:nvPr/>
        </p:nvSpPr>
        <p:spPr>
          <a:xfrm>
            <a:off x="9957816" y="247802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Registro de desembarque</a:t>
            </a:r>
            <a:endParaRPr lang="en-US" sz="1050" dirty="0"/>
          </a:p>
        </p:txBody>
      </p:sp>
      <p:sp>
        <p:nvSpPr>
          <p:cNvPr id="36" name="Shape 34"/>
          <p:cNvSpPr/>
          <p:nvPr/>
        </p:nvSpPr>
        <p:spPr>
          <a:xfrm>
            <a:off x="548640" y="3108960"/>
            <a:ext cx="1783080" cy="960120"/>
          </a:xfrm>
          <a:prstGeom prst="roundRect">
            <a:avLst>
              <a:gd name="adj" fmla="val 11429"/>
            </a:avLst>
          </a:prstGeom>
          <a:solidFill>
            <a:srgbClr val="EFEBFF"/>
          </a:solidFill>
          <a:ln w="9525">
            <a:solidFill>
              <a:srgbClr val="D9CFFF"/>
            </a:solidFill>
            <a:prstDash val="solid"/>
          </a:ln>
        </p:spPr>
      </p:sp>
      <p:sp>
        <p:nvSpPr>
          <p:cNvPr id="37" name="Text 35"/>
          <p:cNvSpPr txBox="1"/>
          <p:nvPr/>
        </p:nvSpPr>
        <p:spPr>
          <a:xfrm>
            <a:off x="676656"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RF07</a:t>
            </a:r>
            <a:endParaRPr lang="en-US" sz="1200" dirty="0"/>
          </a:p>
        </p:txBody>
      </p:sp>
      <p:sp>
        <p:nvSpPr>
          <p:cNvPr id="38" name="Shape 36"/>
          <p:cNvSpPr/>
          <p:nvPr/>
        </p:nvSpPr>
        <p:spPr>
          <a:xfrm>
            <a:off x="1892808" y="3218688"/>
            <a:ext cx="310896" cy="237744"/>
          </a:xfrm>
          <a:prstGeom prst="roundRect">
            <a:avLst>
              <a:gd name="adj" fmla="val 50000"/>
            </a:avLst>
          </a:prstGeom>
          <a:solidFill>
            <a:srgbClr val="7B5CFF"/>
          </a:solidFill>
          <a:ln/>
        </p:spPr>
      </p:sp>
      <p:sp>
        <p:nvSpPr>
          <p:cNvPr id="39" name="Text 37"/>
          <p:cNvSpPr txBox="1"/>
          <p:nvPr/>
        </p:nvSpPr>
        <p:spPr>
          <a:xfrm>
            <a:off x="1892808" y="321868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40" name="Text 38"/>
          <p:cNvSpPr txBox="1"/>
          <p:nvPr/>
        </p:nvSpPr>
        <p:spPr>
          <a:xfrm>
            <a:off x="676656"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Detalle por especie</a:t>
            </a:r>
            <a:endParaRPr lang="en-US" sz="1050" dirty="0"/>
          </a:p>
        </p:txBody>
      </p:sp>
      <p:sp>
        <p:nvSpPr>
          <p:cNvPr id="41" name="Shape 39"/>
          <p:cNvSpPr/>
          <p:nvPr/>
        </p:nvSpPr>
        <p:spPr>
          <a:xfrm>
            <a:off x="2404872" y="3108960"/>
            <a:ext cx="1783080" cy="960120"/>
          </a:xfrm>
          <a:prstGeom prst="roundRect">
            <a:avLst>
              <a:gd name="adj" fmla="val 11429"/>
            </a:avLst>
          </a:prstGeom>
          <a:solidFill>
            <a:srgbClr val="FFFFFF"/>
          </a:solidFill>
          <a:ln w="9525">
            <a:solidFill>
              <a:srgbClr val="DCE5F3"/>
            </a:solidFill>
            <a:prstDash val="solid"/>
          </a:ln>
        </p:spPr>
      </p:sp>
      <p:sp>
        <p:nvSpPr>
          <p:cNvPr id="42" name="Text 40"/>
          <p:cNvSpPr txBox="1"/>
          <p:nvPr/>
        </p:nvSpPr>
        <p:spPr>
          <a:xfrm>
            <a:off x="2532888"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RF08</a:t>
            </a:r>
            <a:endParaRPr lang="en-US" sz="1200" dirty="0"/>
          </a:p>
        </p:txBody>
      </p:sp>
      <p:sp>
        <p:nvSpPr>
          <p:cNvPr id="43" name="Shape 41"/>
          <p:cNvSpPr/>
          <p:nvPr/>
        </p:nvSpPr>
        <p:spPr>
          <a:xfrm>
            <a:off x="3749040" y="3218688"/>
            <a:ext cx="310896" cy="237744"/>
          </a:xfrm>
          <a:prstGeom prst="roundRect">
            <a:avLst>
              <a:gd name="adj" fmla="val 50000"/>
            </a:avLst>
          </a:prstGeom>
          <a:solidFill>
            <a:srgbClr val="FFF6DA"/>
          </a:solidFill>
          <a:ln/>
        </p:spPr>
      </p:sp>
      <p:sp>
        <p:nvSpPr>
          <p:cNvPr id="44" name="Text 42"/>
          <p:cNvSpPr txBox="1"/>
          <p:nvPr/>
        </p:nvSpPr>
        <p:spPr>
          <a:xfrm>
            <a:off x="3749040" y="3218688"/>
            <a:ext cx="310896" cy="237744"/>
          </a:xfrm>
          <a:prstGeom prst="rect">
            <a:avLst/>
          </a:prstGeom>
          <a:noFill/>
          <a:ln/>
        </p:spPr>
        <p:txBody>
          <a:bodyPr wrap="square" lIns="0" tIns="0" rIns="0" bIns="0" rtlCol="0" anchor="ctr"/>
          <a:lstStyle/>
          <a:p>
            <a:pPr algn="ctr" indent="0" marL="0">
              <a:buNone/>
            </a:pPr>
            <a:r>
              <a:rPr lang="en-US" sz="900" b="1" dirty="0">
                <a:solidFill>
                  <a:srgbClr val="C98A00"/>
                </a:solidFill>
                <a:latin typeface="Montserrat" pitchFamily="34" charset="0"/>
                <a:ea typeface="Montserrat" pitchFamily="34" charset="-122"/>
                <a:cs typeface="Montserrat" pitchFamily="34" charset="-120"/>
              </a:rPr>
              <a:t>C</a:t>
            </a:r>
            <a:endParaRPr lang="en-US" sz="900" dirty="0"/>
          </a:p>
        </p:txBody>
      </p:sp>
      <p:sp>
        <p:nvSpPr>
          <p:cNvPr id="45" name="Text 43"/>
          <p:cNvSpPr txBox="1"/>
          <p:nvPr/>
        </p:nvSpPr>
        <p:spPr>
          <a:xfrm>
            <a:off x="2532888"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Lectura de balanza</a:t>
            </a:r>
            <a:endParaRPr lang="en-US" sz="1050" dirty="0"/>
          </a:p>
        </p:txBody>
      </p:sp>
      <p:sp>
        <p:nvSpPr>
          <p:cNvPr id="46" name="Shape 44"/>
          <p:cNvSpPr/>
          <p:nvPr/>
        </p:nvSpPr>
        <p:spPr>
          <a:xfrm>
            <a:off x="4261104" y="3108960"/>
            <a:ext cx="1783080" cy="960120"/>
          </a:xfrm>
          <a:prstGeom prst="roundRect">
            <a:avLst>
              <a:gd name="adj" fmla="val 11429"/>
            </a:avLst>
          </a:prstGeom>
          <a:solidFill>
            <a:srgbClr val="FFFFFF"/>
          </a:solidFill>
          <a:ln w="9525">
            <a:solidFill>
              <a:srgbClr val="DCE5F3"/>
            </a:solidFill>
            <a:prstDash val="solid"/>
          </a:ln>
        </p:spPr>
      </p:sp>
      <p:sp>
        <p:nvSpPr>
          <p:cNvPr id="47" name="Text 45"/>
          <p:cNvSpPr txBox="1"/>
          <p:nvPr/>
        </p:nvSpPr>
        <p:spPr>
          <a:xfrm>
            <a:off x="4389120"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RF09</a:t>
            </a:r>
            <a:endParaRPr lang="en-US" sz="1200" dirty="0"/>
          </a:p>
        </p:txBody>
      </p:sp>
      <p:sp>
        <p:nvSpPr>
          <p:cNvPr id="48" name="Shape 46"/>
          <p:cNvSpPr/>
          <p:nvPr/>
        </p:nvSpPr>
        <p:spPr>
          <a:xfrm>
            <a:off x="5605272" y="3218688"/>
            <a:ext cx="310896" cy="237744"/>
          </a:xfrm>
          <a:prstGeom prst="roundRect">
            <a:avLst>
              <a:gd name="adj" fmla="val 50000"/>
            </a:avLst>
          </a:prstGeom>
          <a:solidFill>
            <a:srgbClr val="E0F8FB"/>
          </a:solidFill>
          <a:ln/>
        </p:spPr>
      </p:sp>
      <p:sp>
        <p:nvSpPr>
          <p:cNvPr id="49" name="Text 47"/>
          <p:cNvSpPr txBox="1"/>
          <p:nvPr/>
        </p:nvSpPr>
        <p:spPr>
          <a:xfrm>
            <a:off x="5605272" y="321868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50" name="Text 48"/>
          <p:cNvSpPr txBox="1"/>
          <p:nvPr/>
        </p:nvSpPr>
        <p:spPr>
          <a:xfrm>
            <a:off x="4389120"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Muestreo de tallas</a:t>
            </a:r>
            <a:endParaRPr lang="en-US" sz="1050" dirty="0"/>
          </a:p>
        </p:txBody>
      </p:sp>
      <p:sp>
        <p:nvSpPr>
          <p:cNvPr id="51" name="Shape 49"/>
          <p:cNvSpPr/>
          <p:nvPr/>
        </p:nvSpPr>
        <p:spPr>
          <a:xfrm>
            <a:off x="6117336" y="3108960"/>
            <a:ext cx="1783080" cy="960120"/>
          </a:xfrm>
          <a:prstGeom prst="roundRect">
            <a:avLst>
              <a:gd name="adj" fmla="val 11429"/>
            </a:avLst>
          </a:prstGeom>
          <a:solidFill>
            <a:srgbClr val="EFEBFF"/>
          </a:solidFill>
          <a:ln w="9525">
            <a:solidFill>
              <a:srgbClr val="D9CFFF"/>
            </a:solidFill>
            <a:prstDash val="solid"/>
          </a:ln>
        </p:spPr>
      </p:sp>
      <p:sp>
        <p:nvSpPr>
          <p:cNvPr id="52" name="Text 50"/>
          <p:cNvSpPr txBox="1"/>
          <p:nvPr/>
        </p:nvSpPr>
        <p:spPr>
          <a:xfrm>
            <a:off x="6245352"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RF10</a:t>
            </a:r>
            <a:endParaRPr lang="en-US" sz="1200" dirty="0"/>
          </a:p>
        </p:txBody>
      </p:sp>
      <p:sp>
        <p:nvSpPr>
          <p:cNvPr id="53" name="Shape 51"/>
          <p:cNvSpPr/>
          <p:nvPr/>
        </p:nvSpPr>
        <p:spPr>
          <a:xfrm>
            <a:off x="7461504" y="3218688"/>
            <a:ext cx="310896" cy="237744"/>
          </a:xfrm>
          <a:prstGeom prst="roundRect">
            <a:avLst>
              <a:gd name="adj" fmla="val 50000"/>
            </a:avLst>
          </a:prstGeom>
          <a:solidFill>
            <a:srgbClr val="7B5CFF"/>
          </a:solidFill>
          <a:ln/>
        </p:spPr>
      </p:sp>
      <p:sp>
        <p:nvSpPr>
          <p:cNvPr id="54" name="Text 52"/>
          <p:cNvSpPr txBox="1"/>
          <p:nvPr/>
        </p:nvSpPr>
        <p:spPr>
          <a:xfrm>
            <a:off x="7461504" y="321868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55" name="Text 53"/>
          <p:cNvSpPr txBox="1"/>
          <p:nvPr/>
        </p:nvSpPr>
        <p:spPr>
          <a:xfrm>
            <a:off x="6245352"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Validación normativa</a:t>
            </a:r>
            <a:endParaRPr lang="en-US" sz="1050" dirty="0"/>
          </a:p>
        </p:txBody>
      </p:sp>
      <p:sp>
        <p:nvSpPr>
          <p:cNvPr id="56" name="Shape 54"/>
          <p:cNvSpPr/>
          <p:nvPr/>
        </p:nvSpPr>
        <p:spPr>
          <a:xfrm>
            <a:off x="7973568" y="3108960"/>
            <a:ext cx="1783080" cy="960120"/>
          </a:xfrm>
          <a:prstGeom prst="roundRect">
            <a:avLst>
              <a:gd name="adj" fmla="val 11429"/>
            </a:avLst>
          </a:prstGeom>
          <a:solidFill>
            <a:srgbClr val="FFFFFF"/>
          </a:solidFill>
          <a:ln w="9525">
            <a:solidFill>
              <a:srgbClr val="DCE5F3"/>
            </a:solidFill>
            <a:prstDash val="solid"/>
          </a:ln>
        </p:spPr>
      </p:sp>
      <p:sp>
        <p:nvSpPr>
          <p:cNvPr id="57" name="Text 55"/>
          <p:cNvSpPr txBox="1"/>
          <p:nvPr/>
        </p:nvSpPr>
        <p:spPr>
          <a:xfrm>
            <a:off x="8101584"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RF11</a:t>
            </a:r>
            <a:endParaRPr lang="en-US" sz="1200" dirty="0"/>
          </a:p>
        </p:txBody>
      </p:sp>
      <p:sp>
        <p:nvSpPr>
          <p:cNvPr id="58" name="Shape 56"/>
          <p:cNvSpPr/>
          <p:nvPr/>
        </p:nvSpPr>
        <p:spPr>
          <a:xfrm>
            <a:off x="9317736" y="3218688"/>
            <a:ext cx="310896" cy="237744"/>
          </a:xfrm>
          <a:prstGeom prst="roundRect">
            <a:avLst>
              <a:gd name="adj" fmla="val 50000"/>
            </a:avLst>
          </a:prstGeom>
          <a:solidFill>
            <a:srgbClr val="E0F8FB"/>
          </a:solidFill>
          <a:ln/>
        </p:spPr>
      </p:sp>
      <p:sp>
        <p:nvSpPr>
          <p:cNvPr id="59" name="Text 57"/>
          <p:cNvSpPr txBox="1"/>
          <p:nvPr/>
        </p:nvSpPr>
        <p:spPr>
          <a:xfrm>
            <a:off x="9317736" y="321868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60" name="Text 58"/>
          <p:cNvSpPr txBox="1"/>
          <p:nvPr/>
        </p:nvSpPr>
        <p:spPr>
          <a:xfrm>
            <a:off x="8101584"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Evidencia fotográfica</a:t>
            </a:r>
            <a:endParaRPr lang="en-US" sz="1050" dirty="0"/>
          </a:p>
        </p:txBody>
      </p:sp>
      <p:sp>
        <p:nvSpPr>
          <p:cNvPr id="61" name="Shape 59"/>
          <p:cNvSpPr/>
          <p:nvPr/>
        </p:nvSpPr>
        <p:spPr>
          <a:xfrm>
            <a:off x="9829800" y="3108960"/>
            <a:ext cx="1783080" cy="960120"/>
          </a:xfrm>
          <a:prstGeom prst="roundRect">
            <a:avLst>
              <a:gd name="adj" fmla="val 11429"/>
            </a:avLst>
          </a:prstGeom>
          <a:solidFill>
            <a:srgbClr val="EFEBFF"/>
          </a:solidFill>
          <a:ln w="9525">
            <a:solidFill>
              <a:srgbClr val="D9CFFF"/>
            </a:solidFill>
            <a:prstDash val="solid"/>
          </a:ln>
        </p:spPr>
      </p:sp>
      <p:sp>
        <p:nvSpPr>
          <p:cNvPr id="62" name="Text 60"/>
          <p:cNvSpPr txBox="1"/>
          <p:nvPr/>
        </p:nvSpPr>
        <p:spPr>
          <a:xfrm>
            <a:off x="9957816" y="320040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RF12</a:t>
            </a:r>
            <a:endParaRPr lang="en-US" sz="1200" dirty="0"/>
          </a:p>
        </p:txBody>
      </p:sp>
      <p:sp>
        <p:nvSpPr>
          <p:cNvPr id="63" name="Shape 61"/>
          <p:cNvSpPr/>
          <p:nvPr/>
        </p:nvSpPr>
        <p:spPr>
          <a:xfrm>
            <a:off x="11173968" y="3218688"/>
            <a:ext cx="310896" cy="237744"/>
          </a:xfrm>
          <a:prstGeom prst="roundRect">
            <a:avLst>
              <a:gd name="adj" fmla="val 50000"/>
            </a:avLst>
          </a:prstGeom>
          <a:solidFill>
            <a:srgbClr val="7B5CFF"/>
          </a:solidFill>
          <a:ln/>
        </p:spPr>
      </p:sp>
      <p:sp>
        <p:nvSpPr>
          <p:cNvPr id="64" name="Text 62"/>
          <p:cNvSpPr txBox="1"/>
          <p:nvPr/>
        </p:nvSpPr>
        <p:spPr>
          <a:xfrm>
            <a:off x="11173968" y="321868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65" name="Text 63"/>
          <p:cNvSpPr txBox="1"/>
          <p:nvPr/>
        </p:nvSpPr>
        <p:spPr>
          <a:xfrm>
            <a:off x="9957816" y="352958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Trabajo sin conexión</a:t>
            </a:r>
            <a:endParaRPr lang="en-US" sz="1050" dirty="0"/>
          </a:p>
        </p:txBody>
      </p:sp>
      <p:sp>
        <p:nvSpPr>
          <p:cNvPr id="66" name="Shape 64"/>
          <p:cNvSpPr/>
          <p:nvPr/>
        </p:nvSpPr>
        <p:spPr>
          <a:xfrm>
            <a:off x="548640" y="4160520"/>
            <a:ext cx="1783080" cy="960120"/>
          </a:xfrm>
          <a:prstGeom prst="roundRect">
            <a:avLst>
              <a:gd name="adj" fmla="val 11429"/>
            </a:avLst>
          </a:prstGeom>
          <a:solidFill>
            <a:srgbClr val="EFEBFF"/>
          </a:solidFill>
          <a:ln w="9525">
            <a:solidFill>
              <a:srgbClr val="D9CFFF"/>
            </a:solidFill>
            <a:prstDash val="solid"/>
          </a:ln>
        </p:spPr>
      </p:sp>
      <p:sp>
        <p:nvSpPr>
          <p:cNvPr id="67" name="Text 65"/>
          <p:cNvSpPr txBox="1"/>
          <p:nvPr/>
        </p:nvSpPr>
        <p:spPr>
          <a:xfrm>
            <a:off x="676656"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RF13</a:t>
            </a:r>
            <a:endParaRPr lang="en-US" sz="1200" dirty="0"/>
          </a:p>
        </p:txBody>
      </p:sp>
      <p:sp>
        <p:nvSpPr>
          <p:cNvPr id="68" name="Shape 66"/>
          <p:cNvSpPr/>
          <p:nvPr/>
        </p:nvSpPr>
        <p:spPr>
          <a:xfrm>
            <a:off x="1892808" y="4270248"/>
            <a:ext cx="310896" cy="237744"/>
          </a:xfrm>
          <a:prstGeom prst="roundRect">
            <a:avLst>
              <a:gd name="adj" fmla="val 50000"/>
            </a:avLst>
          </a:prstGeom>
          <a:solidFill>
            <a:srgbClr val="7B5CFF"/>
          </a:solidFill>
          <a:ln/>
        </p:spPr>
      </p:sp>
      <p:sp>
        <p:nvSpPr>
          <p:cNvPr id="69" name="Text 67"/>
          <p:cNvSpPr txBox="1"/>
          <p:nvPr/>
        </p:nvSpPr>
        <p:spPr>
          <a:xfrm>
            <a:off x="1892808" y="427024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70" name="Text 68"/>
          <p:cNvSpPr txBox="1"/>
          <p:nvPr/>
        </p:nvSpPr>
        <p:spPr>
          <a:xfrm>
            <a:off x="676656"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Constancia digital con QR</a:t>
            </a:r>
            <a:endParaRPr lang="en-US" sz="1050" dirty="0"/>
          </a:p>
        </p:txBody>
      </p:sp>
      <p:sp>
        <p:nvSpPr>
          <p:cNvPr id="71" name="Shape 69"/>
          <p:cNvSpPr/>
          <p:nvPr/>
        </p:nvSpPr>
        <p:spPr>
          <a:xfrm>
            <a:off x="2404872" y="4160520"/>
            <a:ext cx="1783080" cy="960120"/>
          </a:xfrm>
          <a:prstGeom prst="roundRect">
            <a:avLst>
              <a:gd name="adj" fmla="val 11429"/>
            </a:avLst>
          </a:prstGeom>
          <a:solidFill>
            <a:srgbClr val="EFEBFF"/>
          </a:solidFill>
          <a:ln w="9525">
            <a:solidFill>
              <a:srgbClr val="D9CFFF"/>
            </a:solidFill>
            <a:prstDash val="solid"/>
          </a:ln>
        </p:spPr>
      </p:sp>
      <p:sp>
        <p:nvSpPr>
          <p:cNvPr id="72" name="Text 70"/>
          <p:cNvSpPr txBox="1"/>
          <p:nvPr/>
        </p:nvSpPr>
        <p:spPr>
          <a:xfrm>
            <a:off x="2532888"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RF14</a:t>
            </a:r>
            <a:endParaRPr lang="en-US" sz="1200" dirty="0"/>
          </a:p>
        </p:txBody>
      </p:sp>
      <p:sp>
        <p:nvSpPr>
          <p:cNvPr id="73" name="Shape 71"/>
          <p:cNvSpPr/>
          <p:nvPr/>
        </p:nvSpPr>
        <p:spPr>
          <a:xfrm>
            <a:off x="3749040" y="4270248"/>
            <a:ext cx="310896" cy="237744"/>
          </a:xfrm>
          <a:prstGeom prst="roundRect">
            <a:avLst>
              <a:gd name="adj" fmla="val 50000"/>
            </a:avLst>
          </a:prstGeom>
          <a:solidFill>
            <a:srgbClr val="7B5CFF"/>
          </a:solidFill>
          <a:ln/>
        </p:spPr>
      </p:sp>
      <p:sp>
        <p:nvSpPr>
          <p:cNvPr id="74" name="Text 72"/>
          <p:cNvSpPr txBox="1"/>
          <p:nvPr/>
        </p:nvSpPr>
        <p:spPr>
          <a:xfrm>
            <a:off x="3749040" y="427024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75" name="Text 73"/>
          <p:cNvSpPr txBox="1"/>
          <p:nvPr/>
        </p:nvSpPr>
        <p:spPr>
          <a:xfrm>
            <a:off x="2532888"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Destino y lotes</a:t>
            </a:r>
            <a:endParaRPr lang="en-US" sz="1050" dirty="0"/>
          </a:p>
        </p:txBody>
      </p:sp>
      <p:sp>
        <p:nvSpPr>
          <p:cNvPr id="76" name="Shape 74"/>
          <p:cNvSpPr/>
          <p:nvPr/>
        </p:nvSpPr>
        <p:spPr>
          <a:xfrm>
            <a:off x="4261104" y="4160520"/>
            <a:ext cx="1783080" cy="960120"/>
          </a:xfrm>
          <a:prstGeom prst="roundRect">
            <a:avLst>
              <a:gd name="adj" fmla="val 11429"/>
            </a:avLst>
          </a:prstGeom>
          <a:solidFill>
            <a:srgbClr val="FFFFFF"/>
          </a:solidFill>
          <a:ln w="9525">
            <a:solidFill>
              <a:srgbClr val="DCE5F3"/>
            </a:solidFill>
            <a:prstDash val="solid"/>
          </a:ln>
        </p:spPr>
      </p:sp>
      <p:sp>
        <p:nvSpPr>
          <p:cNvPr id="77" name="Text 75"/>
          <p:cNvSpPr txBox="1"/>
          <p:nvPr/>
        </p:nvSpPr>
        <p:spPr>
          <a:xfrm>
            <a:off x="4389120"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RF15</a:t>
            </a:r>
            <a:endParaRPr lang="en-US" sz="1200" dirty="0"/>
          </a:p>
        </p:txBody>
      </p:sp>
      <p:sp>
        <p:nvSpPr>
          <p:cNvPr id="78" name="Shape 76"/>
          <p:cNvSpPr/>
          <p:nvPr/>
        </p:nvSpPr>
        <p:spPr>
          <a:xfrm>
            <a:off x="5605272" y="4270248"/>
            <a:ext cx="310896" cy="237744"/>
          </a:xfrm>
          <a:prstGeom prst="roundRect">
            <a:avLst>
              <a:gd name="adj" fmla="val 50000"/>
            </a:avLst>
          </a:prstGeom>
          <a:solidFill>
            <a:srgbClr val="E0F8FB"/>
          </a:solidFill>
          <a:ln/>
        </p:spPr>
      </p:sp>
      <p:sp>
        <p:nvSpPr>
          <p:cNvPr id="79" name="Text 77"/>
          <p:cNvSpPr txBox="1"/>
          <p:nvPr/>
        </p:nvSpPr>
        <p:spPr>
          <a:xfrm>
            <a:off x="5605272" y="427024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80" name="Text 78"/>
          <p:cNvSpPr txBox="1"/>
          <p:nvPr/>
        </p:nvSpPr>
        <p:spPr>
          <a:xfrm>
            <a:off x="4389120"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Recepción del lote</a:t>
            </a:r>
            <a:endParaRPr lang="en-US" sz="1050" dirty="0"/>
          </a:p>
        </p:txBody>
      </p:sp>
      <p:sp>
        <p:nvSpPr>
          <p:cNvPr id="81" name="Shape 79"/>
          <p:cNvSpPr/>
          <p:nvPr/>
        </p:nvSpPr>
        <p:spPr>
          <a:xfrm>
            <a:off x="6117336" y="4160520"/>
            <a:ext cx="1783080" cy="960120"/>
          </a:xfrm>
          <a:prstGeom prst="roundRect">
            <a:avLst>
              <a:gd name="adj" fmla="val 11429"/>
            </a:avLst>
          </a:prstGeom>
          <a:solidFill>
            <a:srgbClr val="EFEBFF"/>
          </a:solidFill>
          <a:ln w="9525">
            <a:solidFill>
              <a:srgbClr val="D9CFFF"/>
            </a:solidFill>
            <a:prstDash val="solid"/>
          </a:ln>
        </p:spPr>
      </p:sp>
      <p:sp>
        <p:nvSpPr>
          <p:cNvPr id="82" name="Text 80"/>
          <p:cNvSpPr txBox="1"/>
          <p:nvPr/>
        </p:nvSpPr>
        <p:spPr>
          <a:xfrm>
            <a:off x="6245352"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RF16</a:t>
            </a:r>
            <a:endParaRPr lang="en-US" sz="1200" dirty="0"/>
          </a:p>
        </p:txBody>
      </p:sp>
      <p:sp>
        <p:nvSpPr>
          <p:cNvPr id="83" name="Shape 81"/>
          <p:cNvSpPr/>
          <p:nvPr/>
        </p:nvSpPr>
        <p:spPr>
          <a:xfrm>
            <a:off x="7461504" y="4270248"/>
            <a:ext cx="310896" cy="237744"/>
          </a:xfrm>
          <a:prstGeom prst="roundRect">
            <a:avLst>
              <a:gd name="adj" fmla="val 50000"/>
            </a:avLst>
          </a:prstGeom>
          <a:solidFill>
            <a:srgbClr val="7B5CFF"/>
          </a:solidFill>
          <a:ln/>
        </p:spPr>
      </p:sp>
      <p:sp>
        <p:nvSpPr>
          <p:cNvPr id="84" name="Text 82"/>
          <p:cNvSpPr txBox="1"/>
          <p:nvPr/>
        </p:nvSpPr>
        <p:spPr>
          <a:xfrm>
            <a:off x="7461504" y="427024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85" name="Text 83"/>
          <p:cNvSpPr txBox="1"/>
          <p:nvPr/>
        </p:nvSpPr>
        <p:spPr>
          <a:xfrm>
            <a:off x="6245352"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Verificación pública</a:t>
            </a:r>
            <a:endParaRPr lang="en-US" sz="1050" dirty="0"/>
          </a:p>
        </p:txBody>
      </p:sp>
      <p:sp>
        <p:nvSpPr>
          <p:cNvPr id="86" name="Shape 84"/>
          <p:cNvSpPr/>
          <p:nvPr/>
        </p:nvSpPr>
        <p:spPr>
          <a:xfrm>
            <a:off x="7973568" y="4160520"/>
            <a:ext cx="1783080" cy="960120"/>
          </a:xfrm>
          <a:prstGeom prst="roundRect">
            <a:avLst>
              <a:gd name="adj" fmla="val 11429"/>
            </a:avLst>
          </a:prstGeom>
          <a:solidFill>
            <a:srgbClr val="FFFFFF"/>
          </a:solidFill>
          <a:ln w="9525">
            <a:solidFill>
              <a:srgbClr val="DCE5F3"/>
            </a:solidFill>
            <a:prstDash val="solid"/>
          </a:ln>
        </p:spPr>
      </p:sp>
      <p:sp>
        <p:nvSpPr>
          <p:cNvPr id="87" name="Text 85"/>
          <p:cNvSpPr txBox="1"/>
          <p:nvPr/>
        </p:nvSpPr>
        <p:spPr>
          <a:xfrm>
            <a:off x="8101584"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RF17</a:t>
            </a:r>
            <a:endParaRPr lang="en-US" sz="1200" dirty="0"/>
          </a:p>
        </p:txBody>
      </p:sp>
      <p:sp>
        <p:nvSpPr>
          <p:cNvPr id="88" name="Shape 86"/>
          <p:cNvSpPr/>
          <p:nvPr/>
        </p:nvSpPr>
        <p:spPr>
          <a:xfrm>
            <a:off x="9317736" y="4270248"/>
            <a:ext cx="310896" cy="237744"/>
          </a:xfrm>
          <a:prstGeom prst="roundRect">
            <a:avLst>
              <a:gd name="adj" fmla="val 50000"/>
            </a:avLst>
          </a:prstGeom>
          <a:solidFill>
            <a:srgbClr val="E0F8FB"/>
          </a:solidFill>
          <a:ln/>
        </p:spPr>
      </p:sp>
      <p:sp>
        <p:nvSpPr>
          <p:cNvPr id="89" name="Text 87"/>
          <p:cNvSpPr txBox="1"/>
          <p:nvPr/>
        </p:nvSpPr>
        <p:spPr>
          <a:xfrm>
            <a:off x="9317736" y="427024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90" name="Text 88"/>
          <p:cNvSpPr txBox="1"/>
          <p:nvPr/>
        </p:nvSpPr>
        <p:spPr>
          <a:xfrm>
            <a:off x="8101584"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Observaciones de fiscalización</a:t>
            </a:r>
            <a:endParaRPr lang="en-US" sz="1050" dirty="0"/>
          </a:p>
        </p:txBody>
      </p:sp>
      <p:sp>
        <p:nvSpPr>
          <p:cNvPr id="91" name="Shape 89"/>
          <p:cNvSpPr/>
          <p:nvPr/>
        </p:nvSpPr>
        <p:spPr>
          <a:xfrm>
            <a:off x="9829800" y="4160520"/>
            <a:ext cx="1783080" cy="960120"/>
          </a:xfrm>
          <a:prstGeom prst="roundRect">
            <a:avLst>
              <a:gd name="adj" fmla="val 11429"/>
            </a:avLst>
          </a:prstGeom>
          <a:solidFill>
            <a:srgbClr val="EFEBFF"/>
          </a:solidFill>
          <a:ln w="9525">
            <a:solidFill>
              <a:srgbClr val="D9CFFF"/>
            </a:solidFill>
            <a:prstDash val="solid"/>
          </a:ln>
        </p:spPr>
      </p:sp>
      <p:sp>
        <p:nvSpPr>
          <p:cNvPr id="92" name="Text 90"/>
          <p:cNvSpPr txBox="1"/>
          <p:nvPr/>
        </p:nvSpPr>
        <p:spPr>
          <a:xfrm>
            <a:off x="9957816" y="425196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RF18</a:t>
            </a:r>
            <a:endParaRPr lang="en-US" sz="1200" dirty="0"/>
          </a:p>
        </p:txBody>
      </p:sp>
      <p:sp>
        <p:nvSpPr>
          <p:cNvPr id="93" name="Shape 91"/>
          <p:cNvSpPr/>
          <p:nvPr/>
        </p:nvSpPr>
        <p:spPr>
          <a:xfrm>
            <a:off x="11173968" y="4270248"/>
            <a:ext cx="310896" cy="237744"/>
          </a:xfrm>
          <a:prstGeom prst="roundRect">
            <a:avLst>
              <a:gd name="adj" fmla="val 50000"/>
            </a:avLst>
          </a:prstGeom>
          <a:solidFill>
            <a:srgbClr val="7B5CFF"/>
          </a:solidFill>
          <a:ln/>
        </p:spPr>
      </p:sp>
      <p:sp>
        <p:nvSpPr>
          <p:cNvPr id="94" name="Text 92"/>
          <p:cNvSpPr txBox="1"/>
          <p:nvPr/>
        </p:nvSpPr>
        <p:spPr>
          <a:xfrm>
            <a:off x="11173968" y="427024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95" name="Text 93"/>
          <p:cNvSpPr txBox="1"/>
          <p:nvPr/>
        </p:nvSpPr>
        <p:spPr>
          <a:xfrm>
            <a:off x="9957816" y="458114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Tablero de indicadores</a:t>
            </a:r>
            <a:endParaRPr lang="en-US" sz="1050" dirty="0"/>
          </a:p>
        </p:txBody>
      </p:sp>
      <p:sp>
        <p:nvSpPr>
          <p:cNvPr id="96" name="Shape 94"/>
          <p:cNvSpPr/>
          <p:nvPr/>
        </p:nvSpPr>
        <p:spPr>
          <a:xfrm>
            <a:off x="548640" y="5212080"/>
            <a:ext cx="1783080" cy="960120"/>
          </a:xfrm>
          <a:prstGeom prst="roundRect">
            <a:avLst>
              <a:gd name="adj" fmla="val 11429"/>
            </a:avLst>
          </a:prstGeom>
          <a:solidFill>
            <a:srgbClr val="EFEBFF"/>
          </a:solidFill>
          <a:ln w="9525">
            <a:solidFill>
              <a:srgbClr val="D9CFFF"/>
            </a:solidFill>
            <a:prstDash val="solid"/>
          </a:ln>
        </p:spPr>
      </p:sp>
      <p:sp>
        <p:nvSpPr>
          <p:cNvPr id="97" name="Text 95"/>
          <p:cNvSpPr txBox="1"/>
          <p:nvPr/>
        </p:nvSpPr>
        <p:spPr>
          <a:xfrm>
            <a:off x="676656"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RF19</a:t>
            </a:r>
            <a:endParaRPr lang="en-US" sz="1200" dirty="0"/>
          </a:p>
        </p:txBody>
      </p:sp>
      <p:sp>
        <p:nvSpPr>
          <p:cNvPr id="98" name="Shape 96"/>
          <p:cNvSpPr/>
          <p:nvPr/>
        </p:nvSpPr>
        <p:spPr>
          <a:xfrm>
            <a:off x="1892808" y="5321808"/>
            <a:ext cx="310896" cy="237744"/>
          </a:xfrm>
          <a:prstGeom prst="roundRect">
            <a:avLst>
              <a:gd name="adj" fmla="val 50000"/>
            </a:avLst>
          </a:prstGeom>
          <a:solidFill>
            <a:srgbClr val="7B5CFF"/>
          </a:solidFill>
          <a:ln/>
        </p:spPr>
      </p:sp>
      <p:sp>
        <p:nvSpPr>
          <p:cNvPr id="99" name="Text 97"/>
          <p:cNvSpPr txBox="1"/>
          <p:nvPr/>
        </p:nvSpPr>
        <p:spPr>
          <a:xfrm>
            <a:off x="1892808" y="532180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100" name="Text 98"/>
          <p:cNvSpPr txBox="1"/>
          <p:nvPr/>
        </p:nvSpPr>
        <p:spPr>
          <a:xfrm>
            <a:off x="676656"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Reportes y exportación</a:t>
            </a:r>
            <a:endParaRPr lang="en-US" sz="1050" dirty="0"/>
          </a:p>
        </p:txBody>
      </p:sp>
      <p:sp>
        <p:nvSpPr>
          <p:cNvPr id="101" name="Shape 99"/>
          <p:cNvSpPr/>
          <p:nvPr/>
        </p:nvSpPr>
        <p:spPr>
          <a:xfrm>
            <a:off x="2404872" y="5212080"/>
            <a:ext cx="1783080" cy="960120"/>
          </a:xfrm>
          <a:prstGeom prst="roundRect">
            <a:avLst>
              <a:gd name="adj" fmla="val 11429"/>
            </a:avLst>
          </a:prstGeom>
          <a:solidFill>
            <a:srgbClr val="FFFFFF"/>
          </a:solidFill>
          <a:ln w="9525">
            <a:solidFill>
              <a:srgbClr val="DCE5F3"/>
            </a:solidFill>
            <a:prstDash val="solid"/>
          </a:ln>
        </p:spPr>
      </p:sp>
      <p:sp>
        <p:nvSpPr>
          <p:cNvPr id="102" name="Text 100"/>
          <p:cNvSpPr txBox="1"/>
          <p:nvPr/>
        </p:nvSpPr>
        <p:spPr>
          <a:xfrm>
            <a:off x="2532888"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RF20</a:t>
            </a:r>
            <a:endParaRPr lang="en-US" sz="1200" dirty="0"/>
          </a:p>
        </p:txBody>
      </p:sp>
      <p:sp>
        <p:nvSpPr>
          <p:cNvPr id="103" name="Shape 101"/>
          <p:cNvSpPr/>
          <p:nvPr/>
        </p:nvSpPr>
        <p:spPr>
          <a:xfrm>
            <a:off x="3749040" y="5321808"/>
            <a:ext cx="310896" cy="237744"/>
          </a:xfrm>
          <a:prstGeom prst="roundRect">
            <a:avLst>
              <a:gd name="adj" fmla="val 50000"/>
            </a:avLst>
          </a:prstGeom>
          <a:solidFill>
            <a:srgbClr val="E0F8FB"/>
          </a:solidFill>
          <a:ln/>
        </p:spPr>
      </p:sp>
      <p:sp>
        <p:nvSpPr>
          <p:cNvPr id="104" name="Text 102"/>
          <p:cNvSpPr txBox="1"/>
          <p:nvPr/>
        </p:nvSpPr>
        <p:spPr>
          <a:xfrm>
            <a:off x="3749040" y="532180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105" name="Text 103"/>
          <p:cNvSpPr txBox="1"/>
          <p:nvPr/>
        </p:nvSpPr>
        <p:spPr>
          <a:xfrm>
            <a:off x="2532888"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Interoperabilidad SITRAPESCA</a:t>
            </a:r>
            <a:endParaRPr lang="en-US" sz="1050" dirty="0"/>
          </a:p>
        </p:txBody>
      </p:sp>
      <p:sp>
        <p:nvSpPr>
          <p:cNvPr id="106" name="Shape 104"/>
          <p:cNvSpPr/>
          <p:nvPr/>
        </p:nvSpPr>
        <p:spPr>
          <a:xfrm>
            <a:off x="4261104" y="5212080"/>
            <a:ext cx="1783080" cy="960120"/>
          </a:xfrm>
          <a:prstGeom prst="roundRect">
            <a:avLst>
              <a:gd name="adj" fmla="val 11429"/>
            </a:avLst>
          </a:prstGeom>
          <a:solidFill>
            <a:srgbClr val="FFFFFF"/>
          </a:solidFill>
          <a:ln w="9525">
            <a:solidFill>
              <a:srgbClr val="DCE5F3"/>
            </a:solidFill>
            <a:prstDash val="solid"/>
          </a:ln>
        </p:spPr>
      </p:sp>
      <p:sp>
        <p:nvSpPr>
          <p:cNvPr id="107" name="Text 105"/>
          <p:cNvSpPr txBox="1"/>
          <p:nvPr/>
        </p:nvSpPr>
        <p:spPr>
          <a:xfrm>
            <a:off x="4389120"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RF21</a:t>
            </a:r>
            <a:endParaRPr lang="en-US" sz="1200" dirty="0"/>
          </a:p>
        </p:txBody>
      </p:sp>
      <p:sp>
        <p:nvSpPr>
          <p:cNvPr id="108" name="Shape 106"/>
          <p:cNvSpPr/>
          <p:nvPr/>
        </p:nvSpPr>
        <p:spPr>
          <a:xfrm>
            <a:off x="5605272" y="5321808"/>
            <a:ext cx="310896" cy="237744"/>
          </a:xfrm>
          <a:prstGeom prst="roundRect">
            <a:avLst>
              <a:gd name="adj" fmla="val 50000"/>
            </a:avLst>
          </a:prstGeom>
          <a:solidFill>
            <a:srgbClr val="E0F8FB"/>
          </a:solidFill>
          <a:ln/>
        </p:spPr>
      </p:sp>
      <p:sp>
        <p:nvSpPr>
          <p:cNvPr id="109" name="Text 107"/>
          <p:cNvSpPr txBox="1"/>
          <p:nvPr/>
        </p:nvSpPr>
        <p:spPr>
          <a:xfrm>
            <a:off x="5605272" y="532180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110" name="Text 108"/>
          <p:cNvSpPr txBox="1"/>
          <p:nvPr/>
        </p:nvSpPr>
        <p:spPr>
          <a:xfrm>
            <a:off x="4389120"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Historial del armador</a:t>
            </a:r>
            <a:endParaRPr lang="en-US" sz="1050" dirty="0"/>
          </a:p>
        </p:txBody>
      </p:sp>
      <p:sp>
        <p:nvSpPr>
          <p:cNvPr id="111" name="Shape 109"/>
          <p:cNvSpPr/>
          <p:nvPr/>
        </p:nvSpPr>
        <p:spPr>
          <a:xfrm>
            <a:off x="6117336" y="5212080"/>
            <a:ext cx="1783080" cy="960120"/>
          </a:xfrm>
          <a:prstGeom prst="roundRect">
            <a:avLst>
              <a:gd name="adj" fmla="val 11429"/>
            </a:avLst>
          </a:prstGeom>
          <a:solidFill>
            <a:srgbClr val="FFFFFF"/>
          </a:solidFill>
          <a:ln w="9525">
            <a:solidFill>
              <a:srgbClr val="DCE5F3"/>
            </a:solidFill>
            <a:prstDash val="solid"/>
          </a:ln>
        </p:spPr>
      </p:sp>
      <p:sp>
        <p:nvSpPr>
          <p:cNvPr id="112" name="Text 110"/>
          <p:cNvSpPr txBox="1"/>
          <p:nvPr/>
        </p:nvSpPr>
        <p:spPr>
          <a:xfrm>
            <a:off x="6245352"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RF22</a:t>
            </a:r>
            <a:endParaRPr lang="en-US" sz="1200" dirty="0"/>
          </a:p>
        </p:txBody>
      </p:sp>
      <p:sp>
        <p:nvSpPr>
          <p:cNvPr id="113" name="Shape 111"/>
          <p:cNvSpPr/>
          <p:nvPr/>
        </p:nvSpPr>
        <p:spPr>
          <a:xfrm>
            <a:off x="7461504" y="5321808"/>
            <a:ext cx="310896" cy="237744"/>
          </a:xfrm>
          <a:prstGeom prst="roundRect">
            <a:avLst>
              <a:gd name="adj" fmla="val 50000"/>
            </a:avLst>
          </a:prstGeom>
          <a:solidFill>
            <a:srgbClr val="E0F8FB"/>
          </a:solidFill>
          <a:ln/>
        </p:spPr>
      </p:sp>
      <p:sp>
        <p:nvSpPr>
          <p:cNvPr id="114" name="Text 112"/>
          <p:cNvSpPr txBox="1"/>
          <p:nvPr/>
        </p:nvSpPr>
        <p:spPr>
          <a:xfrm>
            <a:off x="7461504" y="5321808"/>
            <a:ext cx="310896" cy="237744"/>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115" name="Text 113"/>
          <p:cNvSpPr txBox="1"/>
          <p:nvPr/>
        </p:nvSpPr>
        <p:spPr>
          <a:xfrm>
            <a:off x="6245352"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Notificaciones</a:t>
            </a:r>
            <a:endParaRPr lang="en-US" sz="1050" dirty="0"/>
          </a:p>
        </p:txBody>
      </p:sp>
      <p:sp>
        <p:nvSpPr>
          <p:cNvPr id="116" name="Shape 114"/>
          <p:cNvSpPr/>
          <p:nvPr/>
        </p:nvSpPr>
        <p:spPr>
          <a:xfrm>
            <a:off x="7973568" y="5212080"/>
            <a:ext cx="1783080" cy="960120"/>
          </a:xfrm>
          <a:prstGeom prst="roundRect">
            <a:avLst>
              <a:gd name="adj" fmla="val 11429"/>
            </a:avLst>
          </a:prstGeom>
          <a:solidFill>
            <a:srgbClr val="EFEBFF"/>
          </a:solidFill>
          <a:ln w="9525">
            <a:solidFill>
              <a:srgbClr val="D9CFFF"/>
            </a:solidFill>
            <a:prstDash val="solid"/>
          </a:ln>
        </p:spPr>
      </p:sp>
      <p:sp>
        <p:nvSpPr>
          <p:cNvPr id="117" name="Text 115"/>
          <p:cNvSpPr txBox="1"/>
          <p:nvPr/>
        </p:nvSpPr>
        <p:spPr>
          <a:xfrm>
            <a:off x="8101584"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RF23</a:t>
            </a:r>
            <a:endParaRPr lang="en-US" sz="1200" dirty="0"/>
          </a:p>
        </p:txBody>
      </p:sp>
      <p:sp>
        <p:nvSpPr>
          <p:cNvPr id="118" name="Shape 116"/>
          <p:cNvSpPr/>
          <p:nvPr/>
        </p:nvSpPr>
        <p:spPr>
          <a:xfrm>
            <a:off x="9317736" y="5321808"/>
            <a:ext cx="310896" cy="237744"/>
          </a:xfrm>
          <a:prstGeom prst="roundRect">
            <a:avLst>
              <a:gd name="adj" fmla="val 50000"/>
            </a:avLst>
          </a:prstGeom>
          <a:solidFill>
            <a:srgbClr val="7B5CFF"/>
          </a:solidFill>
          <a:ln/>
        </p:spPr>
      </p:sp>
      <p:sp>
        <p:nvSpPr>
          <p:cNvPr id="119" name="Text 117"/>
          <p:cNvSpPr txBox="1"/>
          <p:nvPr/>
        </p:nvSpPr>
        <p:spPr>
          <a:xfrm>
            <a:off x="9317736" y="5321808"/>
            <a:ext cx="310896"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120" name="Text 118"/>
          <p:cNvSpPr txBox="1"/>
          <p:nvPr/>
        </p:nvSpPr>
        <p:spPr>
          <a:xfrm>
            <a:off x="8101584"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Anulación y auditoría</a:t>
            </a:r>
            <a:endParaRPr lang="en-US" sz="1050" dirty="0"/>
          </a:p>
        </p:txBody>
      </p:sp>
      <p:sp>
        <p:nvSpPr>
          <p:cNvPr id="121" name="Shape 119"/>
          <p:cNvSpPr/>
          <p:nvPr/>
        </p:nvSpPr>
        <p:spPr>
          <a:xfrm>
            <a:off x="9829800" y="5212080"/>
            <a:ext cx="1783080" cy="960120"/>
          </a:xfrm>
          <a:prstGeom prst="roundRect">
            <a:avLst>
              <a:gd name="adj" fmla="val 11429"/>
            </a:avLst>
          </a:prstGeom>
          <a:solidFill>
            <a:srgbClr val="FFFFFF"/>
          </a:solidFill>
          <a:ln w="9525">
            <a:solidFill>
              <a:srgbClr val="DCE5F3"/>
            </a:solidFill>
            <a:prstDash val="solid"/>
          </a:ln>
        </p:spPr>
      </p:sp>
      <p:sp>
        <p:nvSpPr>
          <p:cNvPr id="122" name="Text 120"/>
          <p:cNvSpPr txBox="1"/>
          <p:nvPr/>
        </p:nvSpPr>
        <p:spPr>
          <a:xfrm>
            <a:off x="9957816" y="5303520"/>
            <a:ext cx="822960" cy="274320"/>
          </a:xfrm>
          <a:prstGeom prst="rect">
            <a:avLst/>
          </a:prstGeom>
          <a:noFill/>
          <a:ln/>
        </p:spPr>
        <p:txBody>
          <a:bodyPr wrap="square" lIns="0" tIns="0" rIns="0" bIns="0" rtlCol="0" anchor="ctr"/>
          <a:lstStyle/>
          <a:p>
            <a:pPr indent="0" marL="0">
              <a:buNone/>
            </a:pPr>
            <a:r>
              <a:rPr lang="en-US" sz="1200" b="1" dirty="0">
                <a:solidFill>
                  <a:srgbClr val="5B3EE0"/>
                </a:solidFill>
                <a:latin typeface="Montserrat" pitchFamily="34" charset="0"/>
                <a:ea typeface="Montserrat" pitchFamily="34" charset="-122"/>
                <a:cs typeface="Montserrat" pitchFamily="34" charset="-120"/>
              </a:rPr>
              <a:t>RF24</a:t>
            </a:r>
            <a:endParaRPr lang="en-US" sz="1200" dirty="0"/>
          </a:p>
        </p:txBody>
      </p:sp>
      <p:sp>
        <p:nvSpPr>
          <p:cNvPr id="123" name="Shape 121"/>
          <p:cNvSpPr/>
          <p:nvPr/>
        </p:nvSpPr>
        <p:spPr>
          <a:xfrm>
            <a:off x="11173968" y="5321808"/>
            <a:ext cx="310896" cy="237744"/>
          </a:xfrm>
          <a:prstGeom prst="roundRect">
            <a:avLst>
              <a:gd name="adj" fmla="val 50000"/>
            </a:avLst>
          </a:prstGeom>
          <a:solidFill>
            <a:srgbClr val="FFF6DA"/>
          </a:solidFill>
          <a:ln/>
        </p:spPr>
      </p:sp>
      <p:sp>
        <p:nvSpPr>
          <p:cNvPr id="124" name="Text 122"/>
          <p:cNvSpPr txBox="1"/>
          <p:nvPr/>
        </p:nvSpPr>
        <p:spPr>
          <a:xfrm>
            <a:off x="11173968" y="5321808"/>
            <a:ext cx="310896" cy="237744"/>
          </a:xfrm>
          <a:prstGeom prst="rect">
            <a:avLst/>
          </a:prstGeom>
          <a:noFill/>
          <a:ln/>
        </p:spPr>
        <p:txBody>
          <a:bodyPr wrap="square" lIns="0" tIns="0" rIns="0" bIns="0" rtlCol="0" anchor="ctr"/>
          <a:lstStyle/>
          <a:p>
            <a:pPr algn="ctr" indent="0" marL="0">
              <a:buNone/>
            </a:pPr>
            <a:r>
              <a:rPr lang="en-US" sz="900" b="1" dirty="0">
                <a:solidFill>
                  <a:srgbClr val="C98A00"/>
                </a:solidFill>
                <a:latin typeface="Montserrat" pitchFamily="34" charset="0"/>
                <a:ea typeface="Montserrat" pitchFamily="34" charset="-122"/>
                <a:cs typeface="Montserrat" pitchFamily="34" charset="-120"/>
              </a:rPr>
              <a:t>C</a:t>
            </a:r>
            <a:endParaRPr lang="en-US" sz="900" dirty="0"/>
          </a:p>
        </p:txBody>
      </p:sp>
      <p:sp>
        <p:nvSpPr>
          <p:cNvPr id="125" name="Text 123"/>
          <p:cNvSpPr txBox="1"/>
          <p:nvPr/>
        </p:nvSpPr>
        <p:spPr>
          <a:xfrm>
            <a:off x="9957816" y="5632704"/>
            <a:ext cx="1554480" cy="493776"/>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Cierre diario</a:t>
            </a:r>
            <a:endParaRPr lang="en-US" sz="1050" dirty="0"/>
          </a:p>
        </p:txBody>
      </p:sp>
      <p:sp>
        <p:nvSpPr>
          <p:cNvPr id="126" name="Shape 124"/>
          <p:cNvSpPr/>
          <p:nvPr/>
        </p:nvSpPr>
        <p:spPr>
          <a:xfrm>
            <a:off x="6583680" y="1572768"/>
            <a:ext cx="310896" cy="256032"/>
          </a:xfrm>
          <a:prstGeom prst="roundRect">
            <a:avLst>
              <a:gd name="adj" fmla="val 50000"/>
            </a:avLst>
          </a:prstGeom>
          <a:solidFill>
            <a:srgbClr val="7B5CFF"/>
          </a:solidFill>
          <a:ln/>
        </p:spPr>
      </p:sp>
      <p:sp>
        <p:nvSpPr>
          <p:cNvPr id="127" name="Text 125"/>
          <p:cNvSpPr txBox="1"/>
          <p:nvPr/>
        </p:nvSpPr>
        <p:spPr>
          <a:xfrm>
            <a:off x="6583680" y="1572768"/>
            <a:ext cx="31089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M</a:t>
            </a:r>
            <a:endParaRPr lang="en-US" sz="900" dirty="0"/>
          </a:p>
        </p:txBody>
      </p:sp>
      <p:sp>
        <p:nvSpPr>
          <p:cNvPr id="128" name="Text 126"/>
          <p:cNvSpPr txBox="1"/>
          <p:nvPr/>
        </p:nvSpPr>
        <p:spPr>
          <a:xfrm>
            <a:off x="6967728" y="1554480"/>
            <a:ext cx="1417320" cy="292608"/>
          </a:xfrm>
          <a:prstGeom prst="rect">
            <a:avLst/>
          </a:prstGeom>
          <a:noFill/>
          <a:ln/>
        </p:spPr>
        <p:txBody>
          <a:bodyPr wrap="square" lIns="0" tIns="0" rIns="0" bIns="0" rtlCol="0" anchor="ctr"/>
          <a:lstStyle/>
          <a:p>
            <a:pPr indent="0" marL="0">
              <a:buNone/>
            </a:pPr>
            <a:r>
              <a:rPr lang="en-US" sz="950" b="1" dirty="0">
                <a:solidFill>
                  <a:srgbClr val="0E1B3D"/>
                </a:solidFill>
                <a:latin typeface="Montserrat" pitchFamily="34" charset="0"/>
                <a:ea typeface="Montserrat" pitchFamily="34" charset="-122"/>
                <a:cs typeface="Montserrat" pitchFamily="34" charset="-120"/>
              </a:rPr>
              <a:t>14 </a:t>
            </a:r>
            <a:pPr indent="0" marL="0">
              <a:buNone/>
            </a:pPr>
            <a:r>
              <a:rPr lang="en-US" sz="950" dirty="0">
                <a:solidFill>
                  <a:srgbClr val="4A5878"/>
                </a:solidFill>
                <a:latin typeface="Open Sans" pitchFamily="34" charset="0"/>
                <a:ea typeface="Open Sans" pitchFamily="34" charset="-122"/>
                <a:cs typeface="Open Sans" pitchFamily="34" charset="-120"/>
              </a:rPr>
              <a:t>Must · indispensable</a:t>
            </a:r>
            <a:endParaRPr lang="en-US" sz="950" dirty="0"/>
          </a:p>
        </p:txBody>
      </p:sp>
      <p:sp>
        <p:nvSpPr>
          <p:cNvPr id="129" name="Shape 127"/>
          <p:cNvSpPr/>
          <p:nvPr/>
        </p:nvSpPr>
        <p:spPr>
          <a:xfrm>
            <a:off x="8247888" y="1572768"/>
            <a:ext cx="310896" cy="256032"/>
          </a:xfrm>
          <a:prstGeom prst="roundRect">
            <a:avLst>
              <a:gd name="adj" fmla="val 50000"/>
            </a:avLst>
          </a:prstGeom>
          <a:solidFill>
            <a:srgbClr val="E0F8FB"/>
          </a:solidFill>
          <a:ln/>
        </p:spPr>
      </p:sp>
      <p:sp>
        <p:nvSpPr>
          <p:cNvPr id="130" name="Text 128"/>
          <p:cNvSpPr txBox="1"/>
          <p:nvPr/>
        </p:nvSpPr>
        <p:spPr>
          <a:xfrm>
            <a:off x="8247888" y="1572768"/>
            <a:ext cx="310896" cy="256032"/>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S</a:t>
            </a:r>
            <a:endParaRPr lang="en-US" sz="900" dirty="0"/>
          </a:p>
        </p:txBody>
      </p:sp>
      <p:sp>
        <p:nvSpPr>
          <p:cNvPr id="131" name="Text 129"/>
          <p:cNvSpPr txBox="1"/>
          <p:nvPr/>
        </p:nvSpPr>
        <p:spPr>
          <a:xfrm>
            <a:off x="8631936" y="1554480"/>
            <a:ext cx="1417320" cy="292608"/>
          </a:xfrm>
          <a:prstGeom prst="rect">
            <a:avLst/>
          </a:prstGeom>
          <a:noFill/>
          <a:ln/>
        </p:spPr>
        <p:txBody>
          <a:bodyPr wrap="square" lIns="0" tIns="0" rIns="0" bIns="0" rtlCol="0" anchor="ctr"/>
          <a:lstStyle/>
          <a:p>
            <a:pPr indent="0" marL="0">
              <a:buNone/>
            </a:pPr>
            <a:r>
              <a:rPr lang="en-US" sz="950" b="1" dirty="0">
                <a:solidFill>
                  <a:srgbClr val="0E1B3D"/>
                </a:solidFill>
                <a:latin typeface="Montserrat" pitchFamily="34" charset="0"/>
                <a:ea typeface="Montserrat" pitchFamily="34" charset="-122"/>
                <a:cs typeface="Montserrat" pitchFamily="34" charset="-120"/>
              </a:rPr>
              <a:t>8 </a:t>
            </a:r>
            <a:pPr indent="0" marL="0">
              <a:buNone/>
            </a:pPr>
            <a:r>
              <a:rPr lang="en-US" sz="950" dirty="0">
                <a:solidFill>
                  <a:srgbClr val="4A5878"/>
                </a:solidFill>
                <a:latin typeface="Open Sans" pitchFamily="34" charset="0"/>
                <a:ea typeface="Open Sans" pitchFamily="34" charset="-122"/>
                <a:cs typeface="Open Sans" pitchFamily="34" charset="-120"/>
              </a:rPr>
              <a:t>Should · deseable</a:t>
            </a:r>
            <a:endParaRPr lang="en-US" sz="950" dirty="0"/>
          </a:p>
        </p:txBody>
      </p:sp>
      <p:sp>
        <p:nvSpPr>
          <p:cNvPr id="132" name="Shape 130"/>
          <p:cNvSpPr/>
          <p:nvPr/>
        </p:nvSpPr>
        <p:spPr>
          <a:xfrm>
            <a:off x="9912096" y="1572768"/>
            <a:ext cx="310896" cy="256032"/>
          </a:xfrm>
          <a:prstGeom prst="roundRect">
            <a:avLst>
              <a:gd name="adj" fmla="val 50000"/>
            </a:avLst>
          </a:prstGeom>
          <a:solidFill>
            <a:srgbClr val="FFF6DA"/>
          </a:solidFill>
          <a:ln/>
        </p:spPr>
      </p:sp>
      <p:sp>
        <p:nvSpPr>
          <p:cNvPr id="133" name="Text 131"/>
          <p:cNvSpPr txBox="1"/>
          <p:nvPr/>
        </p:nvSpPr>
        <p:spPr>
          <a:xfrm>
            <a:off x="9912096" y="1572768"/>
            <a:ext cx="310896" cy="256032"/>
          </a:xfrm>
          <a:prstGeom prst="rect">
            <a:avLst/>
          </a:prstGeom>
          <a:noFill/>
          <a:ln/>
        </p:spPr>
        <p:txBody>
          <a:bodyPr wrap="square" lIns="0" tIns="0" rIns="0" bIns="0" rtlCol="0" anchor="ctr"/>
          <a:lstStyle/>
          <a:p>
            <a:pPr algn="ctr" indent="0" marL="0">
              <a:buNone/>
            </a:pPr>
            <a:r>
              <a:rPr lang="en-US" sz="900" b="1" dirty="0">
                <a:solidFill>
                  <a:srgbClr val="C98A00"/>
                </a:solidFill>
                <a:latin typeface="Montserrat" pitchFamily="34" charset="0"/>
                <a:ea typeface="Montserrat" pitchFamily="34" charset="-122"/>
                <a:cs typeface="Montserrat" pitchFamily="34" charset="-120"/>
              </a:rPr>
              <a:t>C</a:t>
            </a:r>
            <a:endParaRPr lang="en-US" sz="900" dirty="0"/>
          </a:p>
        </p:txBody>
      </p:sp>
      <p:sp>
        <p:nvSpPr>
          <p:cNvPr id="134" name="Text 132"/>
          <p:cNvSpPr txBox="1"/>
          <p:nvPr/>
        </p:nvSpPr>
        <p:spPr>
          <a:xfrm>
            <a:off x="10296144" y="1554480"/>
            <a:ext cx="1417320" cy="292608"/>
          </a:xfrm>
          <a:prstGeom prst="rect">
            <a:avLst/>
          </a:prstGeom>
          <a:noFill/>
          <a:ln/>
        </p:spPr>
        <p:txBody>
          <a:bodyPr wrap="square" lIns="0" tIns="0" rIns="0" bIns="0" rtlCol="0" anchor="ctr"/>
          <a:lstStyle/>
          <a:p>
            <a:pPr indent="0" marL="0">
              <a:buNone/>
            </a:pPr>
            <a:r>
              <a:rPr lang="en-US" sz="950" b="1" dirty="0">
                <a:solidFill>
                  <a:srgbClr val="0E1B3D"/>
                </a:solidFill>
                <a:latin typeface="Montserrat" pitchFamily="34" charset="0"/>
                <a:ea typeface="Montserrat" pitchFamily="34" charset="-122"/>
                <a:cs typeface="Montserrat" pitchFamily="34" charset="-120"/>
              </a:rPr>
              <a:t>2 </a:t>
            </a:r>
            <a:pPr indent="0" marL="0">
              <a:buNone/>
            </a:pPr>
            <a:r>
              <a:rPr lang="en-US" sz="950" dirty="0">
                <a:solidFill>
                  <a:srgbClr val="4A5878"/>
                </a:solidFill>
                <a:latin typeface="Open Sans" pitchFamily="34" charset="0"/>
                <a:ea typeface="Open Sans" pitchFamily="34" charset="-122"/>
                <a:cs typeface="Open Sans" pitchFamily="34" charset="-120"/>
              </a:rPr>
              <a:t>Could · opcional</a:t>
            </a:r>
            <a:endParaRPr lang="en-US" sz="950" dirty="0"/>
          </a:p>
        </p:txBody>
      </p:sp>
      <p:sp>
        <p:nvSpPr>
          <p:cNvPr id="135" name="Text 133"/>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36" name="Text 13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4240987" cy="274320"/>
          </a:xfrm>
          <a:prstGeom prst="roundRect">
            <a:avLst>
              <a:gd name="adj" fmla="val 50000"/>
            </a:avLst>
          </a:prstGeom>
          <a:solidFill>
            <a:srgbClr val="7B5CFF"/>
          </a:solidFill>
          <a:ln/>
        </p:spPr>
      </p:sp>
      <p:sp>
        <p:nvSpPr>
          <p:cNvPr id="3" name="Text 1"/>
          <p:cNvSpPr txBox="1"/>
          <p:nvPr/>
        </p:nvSpPr>
        <p:spPr>
          <a:xfrm>
            <a:off x="548640" y="411480"/>
            <a:ext cx="4240987"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2.4 REQUERIMIENTOS NO FUNCIONALES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14 requerimientos no funcionales, todos medibles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7 del informe, estructurada con el modelo de calidad ISO/IEC 25010:2023 [20].</a:t>
            </a:r>
            <a:endParaRPr lang="en-US" sz="1300" dirty="0"/>
          </a:p>
        </p:txBody>
      </p:sp>
      <p:sp>
        <p:nvSpPr>
          <p:cNvPr id="6" name="Shape 4"/>
          <p:cNvSpPr/>
          <p:nvPr/>
        </p:nvSpPr>
        <p:spPr>
          <a:xfrm>
            <a:off x="548640"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548640" y="2011680"/>
            <a:ext cx="1499616" cy="329184"/>
          </a:xfrm>
          <a:prstGeom prst="roundRect">
            <a:avLst>
              <a:gd name="adj" fmla="val 33333"/>
            </a:avLst>
          </a:prstGeom>
          <a:solidFill>
            <a:srgbClr val="7B5CFF"/>
          </a:solidFill>
          <a:ln/>
        </p:spPr>
      </p:sp>
      <p:sp>
        <p:nvSpPr>
          <p:cNvPr id="8" name="Shape 6"/>
          <p:cNvSpPr/>
          <p:nvPr/>
        </p:nvSpPr>
        <p:spPr>
          <a:xfrm>
            <a:off x="548640" y="2194560"/>
            <a:ext cx="1499616" cy="146304"/>
          </a:xfrm>
          <a:prstGeom prst="rect">
            <a:avLst/>
          </a:prstGeom>
          <a:solidFill>
            <a:srgbClr val="7B5CFF"/>
          </a:solidFill>
          <a:ln/>
        </p:spPr>
      </p:sp>
      <p:sp>
        <p:nvSpPr>
          <p:cNvPr id="9" name="Text 7"/>
          <p:cNvSpPr txBox="1"/>
          <p:nvPr/>
        </p:nvSpPr>
        <p:spPr>
          <a:xfrm>
            <a:off x="658368"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RNF01</a:t>
            </a:r>
            <a:endParaRPr lang="en-US" sz="1000" dirty="0"/>
          </a:p>
        </p:txBody>
      </p:sp>
      <p:sp>
        <p:nvSpPr>
          <p:cNvPr id="10" name="Text 8"/>
          <p:cNvSpPr txBox="1"/>
          <p:nvPr/>
        </p:nvSpPr>
        <p:spPr>
          <a:xfrm>
            <a:off x="658368" y="2395728"/>
            <a:ext cx="1316736" cy="329184"/>
          </a:xfrm>
          <a:prstGeom prst="rect">
            <a:avLst/>
          </a:prstGeom>
          <a:noFill/>
          <a:ln/>
        </p:spPr>
        <p:txBody>
          <a:bodyPr wrap="square" lIns="0" tIns="0" rIns="0" bIns="0" rtlCol="0" anchor="t"/>
          <a:lstStyle/>
          <a:p>
            <a:pPr indent="0" marL="0">
              <a:buNone/>
            </a:pPr>
            <a:r>
              <a:rPr lang="en-US" sz="750" b="1" dirty="0">
                <a:solidFill>
                  <a:srgbClr val="7B5CFF"/>
                </a:solidFill>
                <a:latin typeface="Open Sans" pitchFamily="34" charset="0"/>
                <a:ea typeface="Open Sans" pitchFamily="34" charset="-122"/>
                <a:cs typeface="Open Sans" pitchFamily="34" charset="-120"/>
              </a:rPr>
              <a:t>Capacidad de interacción</a:t>
            </a:r>
            <a:endParaRPr lang="en-US" sz="750" dirty="0"/>
          </a:p>
        </p:txBody>
      </p:sp>
      <p:sp>
        <p:nvSpPr>
          <p:cNvPr id="11" name="Text 9"/>
          <p:cNvSpPr txBox="1"/>
          <p:nvPr/>
        </p:nvSpPr>
        <p:spPr>
          <a:xfrm>
            <a:off x="658368"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Registro rápido</a:t>
            </a:r>
            <a:endParaRPr lang="en-US" sz="950" dirty="0"/>
          </a:p>
        </p:txBody>
      </p:sp>
      <p:sp>
        <p:nvSpPr>
          <p:cNvPr id="12" name="Text 10"/>
          <p:cNvSpPr txBox="1"/>
          <p:nvPr/>
        </p:nvSpPr>
        <p:spPr>
          <a:xfrm>
            <a:off x="658368" y="3072384"/>
            <a:ext cx="1316736" cy="384048"/>
          </a:xfrm>
          <a:prstGeom prst="rect">
            <a:avLst/>
          </a:prstGeom>
          <a:noFill/>
          <a:ln/>
        </p:spPr>
        <p:txBody>
          <a:bodyPr wrap="square" lIns="0" tIns="0" rIns="0" bIns="0" rtlCol="0" anchor="ctr"/>
          <a:lstStyle/>
          <a:p>
            <a:pPr indent="0" marL="0">
              <a:buNone/>
            </a:pPr>
            <a:r>
              <a:rPr lang="en-US" sz="1700" b="1" dirty="0">
                <a:solidFill>
                  <a:srgbClr val="7B5CFF"/>
                </a:solidFill>
                <a:latin typeface="Montserrat" pitchFamily="34" charset="0"/>
                <a:ea typeface="Montserrat" pitchFamily="34" charset="-122"/>
                <a:cs typeface="Montserrat" pitchFamily="34" charset="-120"/>
              </a:rPr>
              <a:t>≤ 3 min</a:t>
            </a:r>
            <a:endParaRPr lang="en-US" sz="1700" dirty="0"/>
          </a:p>
        </p:txBody>
      </p:sp>
      <p:sp>
        <p:nvSpPr>
          <p:cNvPr id="13" name="Text 11"/>
          <p:cNvSpPr txBox="1"/>
          <p:nvPr/>
        </p:nvSpPr>
        <p:spPr>
          <a:xfrm>
            <a:off x="658368"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y ≤ 5 pantallas por desembarque con hasta tres especies</a:t>
            </a:r>
            <a:endParaRPr lang="en-US" sz="800" dirty="0"/>
          </a:p>
        </p:txBody>
      </p:sp>
      <p:sp>
        <p:nvSpPr>
          <p:cNvPr id="14" name="Shape 12"/>
          <p:cNvSpPr/>
          <p:nvPr/>
        </p:nvSpPr>
        <p:spPr>
          <a:xfrm>
            <a:off x="2144268"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 name="Shape 13"/>
          <p:cNvSpPr/>
          <p:nvPr/>
        </p:nvSpPr>
        <p:spPr>
          <a:xfrm>
            <a:off x="2144268" y="2011680"/>
            <a:ext cx="1499616" cy="329184"/>
          </a:xfrm>
          <a:prstGeom prst="roundRect">
            <a:avLst>
              <a:gd name="adj" fmla="val 33333"/>
            </a:avLst>
          </a:prstGeom>
          <a:solidFill>
            <a:srgbClr val="7B5CFF"/>
          </a:solidFill>
          <a:ln/>
        </p:spPr>
      </p:sp>
      <p:sp>
        <p:nvSpPr>
          <p:cNvPr id="16" name="Shape 14"/>
          <p:cNvSpPr/>
          <p:nvPr/>
        </p:nvSpPr>
        <p:spPr>
          <a:xfrm>
            <a:off x="2144268" y="2194560"/>
            <a:ext cx="1499616" cy="146304"/>
          </a:xfrm>
          <a:prstGeom prst="rect">
            <a:avLst/>
          </a:prstGeom>
          <a:solidFill>
            <a:srgbClr val="7B5CFF"/>
          </a:solidFill>
          <a:ln/>
        </p:spPr>
      </p:sp>
      <p:sp>
        <p:nvSpPr>
          <p:cNvPr id="17" name="Text 15"/>
          <p:cNvSpPr txBox="1"/>
          <p:nvPr/>
        </p:nvSpPr>
        <p:spPr>
          <a:xfrm>
            <a:off x="2253996"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RNF02</a:t>
            </a:r>
            <a:endParaRPr lang="en-US" sz="1000" dirty="0"/>
          </a:p>
        </p:txBody>
      </p:sp>
      <p:sp>
        <p:nvSpPr>
          <p:cNvPr id="18" name="Text 16"/>
          <p:cNvSpPr txBox="1"/>
          <p:nvPr/>
        </p:nvSpPr>
        <p:spPr>
          <a:xfrm>
            <a:off x="2253996" y="2395728"/>
            <a:ext cx="1316736" cy="329184"/>
          </a:xfrm>
          <a:prstGeom prst="rect">
            <a:avLst/>
          </a:prstGeom>
          <a:noFill/>
          <a:ln/>
        </p:spPr>
        <p:txBody>
          <a:bodyPr wrap="square" lIns="0" tIns="0" rIns="0" bIns="0" rtlCol="0" anchor="t"/>
          <a:lstStyle/>
          <a:p>
            <a:pPr indent="0" marL="0">
              <a:buNone/>
            </a:pPr>
            <a:r>
              <a:rPr lang="en-US" sz="750" b="1" dirty="0">
                <a:solidFill>
                  <a:srgbClr val="7B5CFF"/>
                </a:solidFill>
                <a:latin typeface="Open Sans" pitchFamily="34" charset="0"/>
                <a:ea typeface="Open Sans" pitchFamily="34" charset="-122"/>
                <a:cs typeface="Open Sans" pitchFamily="34" charset="-120"/>
              </a:rPr>
              <a:t>Capacidad de interacción</a:t>
            </a:r>
            <a:endParaRPr lang="en-US" sz="750" dirty="0"/>
          </a:p>
        </p:txBody>
      </p:sp>
      <p:sp>
        <p:nvSpPr>
          <p:cNvPr id="19" name="Text 17"/>
          <p:cNvSpPr txBox="1"/>
          <p:nvPr/>
        </p:nvSpPr>
        <p:spPr>
          <a:xfrm>
            <a:off x="2253996"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Legible a pleno sol</a:t>
            </a:r>
            <a:endParaRPr lang="en-US" sz="950" dirty="0"/>
          </a:p>
        </p:txBody>
      </p:sp>
      <p:sp>
        <p:nvSpPr>
          <p:cNvPr id="20" name="Text 18"/>
          <p:cNvSpPr txBox="1"/>
          <p:nvPr/>
        </p:nvSpPr>
        <p:spPr>
          <a:xfrm>
            <a:off x="2253996" y="3072384"/>
            <a:ext cx="1316736" cy="384048"/>
          </a:xfrm>
          <a:prstGeom prst="rect">
            <a:avLst/>
          </a:prstGeom>
          <a:noFill/>
          <a:ln/>
        </p:spPr>
        <p:txBody>
          <a:bodyPr wrap="square" lIns="0" tIns="0" rIns="0" bIns="0" rtlCol="0" anchor="ctr"/>
          <a:lstStyle/>
          <a:p>
            <a:pPr indent="0" marL="0">
              <a:buNone/>
            </a:pPr>
            <a:r>
              <a:rPr lang="en-US" sz="1700" b="1" dirty="0">
                <a:solidFill>
                  <a:srgbClr val="7B5CFF"/>
                </a:solidFill>
                <a:latin typeface="Montserrat" pitchFamily="34" charset="0"/>
                <a:ea typeface="Montserrat" pitchFamily="34" charset="-122"/>
                <a:cs typeface="Montserrat" pitchFamily="34" charset="-120"/>
              </a:rPr>
              <a:t>48×48 dp</a:t>
            </a:r>
            <a:endParaRPr lang="en-US" sz="1700" dirty="0"/>
          </a:p>
        </p:txBody>
      </p:sp>
      <p:sp>
        <p:nvSpPr>
          <p:cNvPr id="21" name="Text 19"/>
          <p:cNvSpPr txBox="1"/>
          <p:nvPr/>
        </p:nvSpPr>
        <p:spPr>
          <a:xfrm>
            <a:off x="2253996"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botones mínimos; contraste ≥ 4,5:1 (WCAG 2.1 AA) [21]</a:t>
            </a:r>
            <a:endParaRPr lang="en-US" sz="800" dirty="0"/>
          </a:p>
        </p:txBody>
      </p:sp>
      <p:sp>
        <p:nvSpPr>
          <p:cNvPr id="22" name="Shape 20"/>
          <p:cNvSpPr/>
          <p:nvPr/>
        </p:nvSpPr>
        <p:spPr>
          <a:xfrm>
            <a:off x="3739896"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3" name="Shape 21"/>
          <p:cNvSpPr/>
          <p:nvPr/>
        </p:nvSpPr>
        <p:spPr>
          <a:xfrm>
            <a:off x="3739896" y="2011680"/>
            <a:ext cx="1499616" cy="329184"/>
          </a:xfrm>
          <a:prstGeom prst="roundRect">
            <a:avLst>
              <a:gd name="adj" fmla="val 33333"/>
            </a:avLst>
          </a:prstGeom>
          <a:solidFill>
            <a:srgbClr val="7B5CFF"/>
          </a:solidFill>
          <a:ln/>
        </p:spPr>
      </p:sp>
      <p:sp>
        <p:nvSpPr>
          <p:cNvPr id="24" name="Shape 22"/>
          <p:cNvSpPr/>
          <p:nvPr/>
        </p:nvSpPr>
        <p:spPr>
          <a:xfrm>
            <a:off x="3739896" y="2194560"/>
            <a:ext cx="1499616" cy="146304"/>
          </a:xfrm>
          <a:prstGeom prst="rect">
            <a:avLst/>
          </a:prstGeom>
          <a:solidFill>
            <a:srgbClr val="7B5CFF"/>
          </a:solidFill>
          <a:ln/>
        </p:spPr>
      </p:sp>
      <p:sp>
        <p:nvSpPr>
          <p:cNvPr id="25" name="Text 23"/>
          <p:cNvSpPr txBox="1"/>
          <p:nvPr/>
        </p:nvSpPr>
        <p:spPr>
          <a:xfrm>
            <a:off x="3849624"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RNF03</a:t>
            </a:r>
            <a:endParaRPr lang="en-US" sz="1000" dirty="0"/>
          </a:p>
        </p:txBody>
      </p:sp>
      <p:sp>
        <p:nvSpPr>
          <p:cNvPr id="26" name="Text 24"/>
          <p:cNvSpPr txBox="1"/>
          <p:nvPr/>
        </p:nvSpPr>
        <p:spPr>
          <a:xfrm>
            <a:off x="3849624" y="2395728"/>
            <a:ext cx="1316736" cy="329184"/>
          </a:xfrm>
          <a:prstGeom prst="rect">
            <a:avLst/>
          </a:prstGeom>
          <a:noFill/>
          <a:ln/>
        </p:spPr>
        <p:txBody>
          <a:bodyPr wrap="square" lIns="0" tIns="0" rIns="0" bIns="0" rtlCol="0" anchor="t"/>
          <a:lstStyle/>
          <a:p>
            <a:pPr indent="0" marL="0">
              <a:buNone/>
            </a:pPr>
            <a:r>
              <a:rPr lang="en-US" sz="750" b="1" dirty="0">
                <a:solidFill>
                  <a:srgbClr val="7B5CFF"/>
                </a:solidFill>
                <a:latin typeface="Open Sans" pitchFamily="34" charset="0"/>
                <a:ea typeface="Open Sans" pitchFamily="34" charset="-122"/>
                <a:cs typeface="Open Sans" pitchFamily="34" charset="-120"/>
              </a:rPr>
              <a:t>Capacidad de interacción</a:t>
            </a:r>
            <a:endParaRPr lang="en-US" sz="750" dirty="0"/>
          </a:p>
        </p:txBody>
      </p:sp>
      <p:sp>
        <p:nvSpPr>
          <p:cNvPr id="27" name="Text 25"/>
          <p:cNvSpPr txBox="1"/>
          <p:nvPr/>
        </p:nvSpPr>
        <p:spPr>
          <a:xfrm>
            <a:off x="3849624"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Lenguaje del sector</a:t>
            </a:r>
            <a:endParaRPr lang="en-US" sz="950" dirty="0"/>
          </a:p>
        </p:txBody>
      </p:sp>
      <p:sp>
        <p:nvSpPr>
          <p:cNvPr id="28" name="Text 26"/>
          <p:cNvSpPr txBox="1"/>
          <p:nvPr/>
        </p:nvSpPr>
        <p:spPr>
          <a:xfrm>
            <a:off x="3849624" y="3072384"/>
            <a:ext cx="1316736" cy="384048"/>
          </a:xfrm>
          <a:prstGeom prst="rect">
            <a:avLst/>
          </a:prstGeom>
          <a:noFill/>
          <a:ln/>
        </p:spPr>
        <p:txBody>
          <a:bodyPr wrap="square" lIns="0" tIns="0" rIns="0" bIns="0" rtlCol="0" anchor="ctr"/>
          <a:lstStyle/>
          <a:p>
            <a:pPr indent="0" marL="0">
              <a:buNone/>
            </a:pPr>
            <a:r>
              <a:rPr lang="en-US" sz="1700" b="1" dirty="0">
                <a:solidFill>
                  <a:srgbClr val="7B5CFF"/>
                </a:solidFill>
                <a:latin typeface="Montserrat" pitchFamily="34" charset="0"/>
                <a:ea typeface="Montserrat" pitchFamily="34" charset="-122"/>
                <a:cs typeface="Montserrat" pitchFamily="34" charset="-120"/>
              </a:rPr>
              <a:t>≤ 2 h</a:t>
            </a:r>
            <a:endParaRPr lang="en-US" sz="1700" dirty="0"/>
          </a:p>
        </p:txBody>
      </p:sp>
      <p:sp>
        <p:nvSpPr>
          <p:cNvPr id="29" name="Text 27"/>
          <p:cNvSpPr txBox="1"/>
          <p:nvPr/>
        </p:nvSpPr>
        <p:spPr>
          <a:xfrm>
            <a:off x="3849624"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de capacitación del registrador; etiquetas validadas</a:t>
            </a:r>
            <a:endParaRPr lang="en-US" sz="800" dirty="0"/>
          </a:p>
        </p:txBody>
      </p:sp>
      <p:sp>
        <p:nvSpPr>
          <p:cNvPr id="30" name="Shape 28"/>
          <p:cNvSpPr/>
          <p:nvPr/>
        </p:nvSpPr>
        <p:spPr>
          <a:xfrm>
            <a:off x="5335524"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1" name="Shape 29"/>
          <p:cNvSpPr/>
          <p:nvPr/>
        </p:nvSpPr>
        <p:spPr>
          <a:xfrm>
            <a:off x="5335524" y="2011680"/>
            <a:ext cx="1499616" cy="329184"/>
          </a:xfrm>
          <a:prstGeom prst="roundRect">
            <a:avLst>
              <a:gd name="adj" fmla="val 33333"/>
            </a:avLst>
          </a:prstGeom>
          <a:solidFill>
            <a:srgbClr val="0B5FFF"/>
          </a:solidFill>
          <a:ln/>
        </p:spPr>
      </p:sp>
      <p:sp>
        <p:nvSpPr>
          <p:cNvPr id="32" name="Shape 30"/>
          <p:cNvSpPr/>
          <p:nvPr/>
        </p:nvSpPr>
        <p:spPr>
          <a:xfrm>
            <a:off x="5335524" y="2194560"/>
            <a:ext cx="1499616" cy="146304"/>
          </a:xfrm>
          <a:prstGeom prst="rect">
            <a:avLst/>
          </a:prstGeom>
          <a:solidFill>
            <a:srgbClr val="0B5FFF"/>
          </a:solidFill>
          <a:ln/>
        </p:spPr>
      </p:sp>
      <p:sp>
        <p:nvSpPr>
          <p:cNvPr id="33" name="Text 31"/>
          <p:cNvSpPr txBox="1"/>
          <p:nvPr/>
        </p:nvSpPr>
        <p:spPr>
          <a:xfrm>
            <a:off x="5445252"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RNF04</a:t>
            </a:r>
            <a:endParaRPr lang="en-US" sz="1000" dirty="0"/>
          </a:p>
        </p:txBody>
      </p:sp>
      <p:sp>
        <p:nvSpPr>
          <p:cNvPr id="34" name="Text 32"/>
          <p:cNvSpPr txBox="1"/>
          <p:nvPr/>
        </p:nvSpPr>
        <p:spPr>
          <a:xfrm>
            <a:off x="5445252" y="2395728"/>
            <a:ext cx="1316736" cy="329184"/>
          </a:xfrm>
          <a:prstGeom prst="rect">
            <a:avLst/>
          </a:prstGeom>
          <a:noFill/>
          <a:ln/>
        </p:spPr>
        <p:txBody>
          <a:bodyPr wrap="square" lIns="0" tIns="0" rIns="0" bIns="0" rtlCol="0" anchor="t"/>
          <a:lstStyle/>
          <a:p>
            <a:pPr indent="0" marL="0">
              <a:buNone/>
            </a:pPr>
            <a:r>
              <a:rPr lang="en-US" sz="750" b="1" dirty="0">
                <a:solidFill>
                  <a:srgbClr val="0B5FFF"/>
                </a:solidFill>
                <a:latin typeface="Open Sans" pitchFamily="34" charset="0"/>
                <a:ea typeface="Open Sans" pitchFamily="34" charset="-122"/>
                <a:cs typeface="Open Sans" pitchFamily="34" charset="-120"/>
              </a:rPr>
              <a:t>Eficiencia de desempeño</a:t>
            </a:r>
            <a:endParaRPr lang="en-US" sz="750" dirty="0"/>
          </a:p>
        </p:txBody>
      </p:sp>
      <p:sp>
        <p:nvSpPr>
          <p:cNvPr id="35" name="Text 33"/>
          <p:cNvSpPr txBox="1"/>
          <p:nvPr/>
        </p:nvSpPr>
        <p:spPr>
          <a:xfrm>
            <a:off x="5445252"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Tiempo de respuesta</a:t>
            </a:r>
            <a:endParaRPr lang="en-US" sz="950" dirty="0"/>
          </a:p>
        </p:txBody>
      </p:sp>
      <p:sp>
        <p:nvSpPr>
          <p:cNvPr id="36" name="Text 34"/>
          <p:cNvSpPr txBox="1"/>
          <p:nvPr/>
        </p:nvSpPr>
        <p:spPr>
          <a:xfrm>
            <a:off x="5445252" y="3072384"/>
            <a:ext cx="1316736" cy="384048"/>
          </a:xfrm>
          <a:prstGeom prst="rect">
            <a:avLst/>
          </a:prstGeom>
          <a:noFill/>
          <a:ln/>
        </p:spPr>
        <p:txBody>
          <a:bodyPr wrap="square" lIns="0" tIns="0" rIns="0" bIns="0" rtlCol="0" anchor="ctr"/>
          <a:lstStyle/>
          <a:p>
            <a:pPr indent="0" marL="0">
              <a:buNone/>
            </a:pPr>
            <a:r>
              <a:rPr lang="en-US" sz="1700" b="1" dirty="0">
                <a:solidFill>
                  <a:srgbClr val="0B5FFF"/>
                </a:solidFill>
                <a:latin typeface="Montserrat" pitchFamily="34" charset="0"/>
                <a:ea typeface="Montserrat" pitchFamily="34" charset="-122"/>
                <a:cs typeface="Montserrat" pitchFamily="34" charset="-120"/>
              </a:rPr>
              <a:t>≤ 2 s</a:t>
            </a:r>
            <a:endParaRPr lang="en-US" sz="1700" dirty="0"/>
          </a:p>
        </p:txBody>
      </p:sp>
      <p:sp>
        <p:nvSpPr>
          <p:cNvPr id="37" name="Text 35"/>
          <p:cNvSpPr txBox="1"/>
          <p:nvPr/>
        </p:nvSpPr>
        <p:spPr>
          <a:xfrm>
            <a:off x="5445252"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percentil 95 con 200 usuarios; tablero ≤ 5 s</a:t>
            </a:r>
            <a:endParaRPr lang="en-US" sz="800" dirty="0"/>
          </a:p>
        </p:txBody>
      </p:sp>
      <p:sp>
        <p:nvSpPr>
          <p:cNvPr id="38" name="Shape 36"/>
          <p:cNvSpPr/>
          <p:nvPr/>
        </p:nvSpPr>
        <p:spPr>
          <a:xfrm>
            <a:off x="6931152"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9" name="Shape 37"/>
          <p:cNvSpPr/>
          <p:nvPr/>
        </p:nvSpPr>
        <p:spPr>
          <a:xfrm>
            <a:off x="6931152" y="2011680"/>
            <a:ext cx="1499616" cy="329184"/>
          </a:xfrm>
          <a:prstGeom prst="roundRect">
            <a:avLst>
              <a:gd name="adj" fmla="val 33333"/>
            </a:avLst>
          </a:prstGeom>
          <a:solidFill>
            <a:srgbClr val="0B5FFF"/>
          </a:solidFill>
          <a:ln/>
        </p:spPr>
      </p:sp>
      <p:sp>
        <p:nvSpPr>
          <p:cNvPr id="40" name="Shape 38"/>
          <p:cNvSpPr/>
          <p:nvPr/>
        </p:nvSpPr>
        <p:spPr>
          <a:xfrm>
            <a:off x="6931152" y="2194560"/>
            <a:ext cx="1499616" cy="146304"/>
          </a:xfrm>
          <a:prstGeom prst="rect">
            <a:avLst/>
          </a:prstGeom>
          <a:solidFill>
            <a:srgbClr val="0B5FFF"/>
          </a:solidFill>
          <a:ln/>
        </p:spPr>
      </p:sp>
      <p:sp>
        <p:nvSpPr>
          <p:cNvPr id="41" name="Text 39"/>
          <p:cNvSpPr txBox="1"/>
          <p:nvPr/>
        </p:nvSpPr>
        <p:spPr>
          <a:xfrm>
            <a:off x="7040880"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RNF05</a:t>
            </a:r>
            <a:endParaRPr lang="en-US" sz="1000" dirty="0"/>
          </a:p>
        </p:txBody>
      </p:sp>
      <p:sp>
        <p:nvSpPr>
          <p:cNvPr id="42" name="Text 40"/>
          <p:cNvSpPr txBox="1"/>
          <p:nvPr/>
        </p:nvSpPr>
        <p:spPr>
          <a:xfrm>
            <a:off x="7040880" y="2395728"/>
            <a:ext cx="1316736" cy="329184"/>
          </a:xfrm>
          <a:prstGeom prst="rect">
            <a:avLst/>
          </a:prstGeom>
          <a:noFill/>
          <a:ln/>
        </p:spPr>
        <p:txBody>
          <a:bodyPr wrap="square" lIns="0" tIns="0" rIns="0" bIns="0" rtlCol="0" anchor="t"/>
          <a:lstStyle/>
          <a:p>
            <a:pPr indent="0" marL="0">
              <a:buNone/>
            </a:pPr>
            <a:r>
              <a:rPr lang="en-US" sz="750" b="1" dirty="0">
                <a:solidFill>
                  <a:srgbClr val="0B5FFF"/>
                </a:solidFill>
                <a:latin typeface="Open Sans" pitchFamily="34" charset="0"/>
                <a:ea typeface="Open Sans" pitchFamily="34" charset="-122"/>
                <a:cs typeface="Open Sans" pitchFamily="34" charset="-120"/>
              </a:rPr>
              <a:t>Eficiencia de desempeño</a:t>
            </a:r>
            <a:endParaRPr lang="en-US" sz="750" dirty="0"/>
          </a:p>
        </p:txBody>
      </p:sp>
      <p:sp>
        <p:nvSpPr>
          <p:cNvPr id="43" name="Text 41"/>
          <p:cNvSpPr txBox="1"/>
          <p:nvPr/>
        </p:nvSpPr>
        <p:spPr>
          <a:xfrm>
            <a:off x="7040880"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App liviana</a:t>
            </a:r>
            <a:endParaRPr lang="en-US" sz="950" dirty="0"/>
          </a:p>
        </p:txBody>
      </p:sp>
      <p:sp>
        <p:nvSpPr>
          <p:cNvPr id="44" name="Text 42"/>
          <p:cNvSpPr txBox="1"/>
          <p:nvPr/>
        </p:nvSpPr>
        <p:spPr>
          <a:xfrm>
            <a:off x="7040880" y="3072384"/>
            <a:ext cx="1316736" cy="384048"/>
          </a:xfrm>
          <a:prstGeom prst="rect">
            <a:avLst/>
          </a:prstGeom>
          <a:noFill/>
          <a:ln/>
        </p:spPr>
        <p:txBody>
          <a:bodyPr wrap="square" lIns="0" tIns="0" rIns="0" bIns="0" rtlCol="0" anchor="ctr"/>
          <a:lstStyle/>
          <a:p>
            <a:pPr indent="0" marL="0">
              <a:buNone/>
            </a:pPr>
            <a:r>
              <a:rPr lang="en-US" sz="1700" b="1" dirty="0">
                <a:solidFill>
                  <a:srgbClr val="0B5FFF"/>
                </a:solidFill>
                <a:latin typeface="Montserrat" pitchFamily="34" charset="0"/>
                <a:ea typeface="Montserrat" pitchFamily="34" charset="-122"/>
                <a:cs typeface="Montserrat" pitchFamily="34" charset="-120"/>
              </a:rPr>
              <a:t>≤ 40 MB</a:t>
            </a:r>
            <a:endParaRPr lang="en-US" sz="1700" dirty="0"/>
          </a:p>
        </p:txBody>
      </p:sp>
      <p:sp>
        <p:nvSpPr>
          <p:cNvPr id="45" name="Text 43"/>
          <p:cNvSpPr txBox="1"/>
          <p:nvPr/>
        </p:nvSpPr>
        <p:spPr>
          <a:xfrm>
            <a:off x="7040880"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Android 8.0+, 2 GB RAM; ≤ 200 KB por registro</a:t>
            </a:r>
            <a:endParaRPr lang="en-US" sz="800" dirty="0"/>
          </a:p>
        </p:txBody>
      </p:sp>
      <p:sp>
        <p:nvSpPr>
          <p:cNvPr id="46" name="Shape 44"/>
          <p:cNvSpPr/>
          <p:nvPr/>
        </p:nvSpPr>
        <p:spPr>
          <a:xfrm>
            <a:off x="8526780"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7" name="Shape 45"/>
          <p:cNvSpPr/>
          <p:nvPr/>
        </p:nvSpPr>
        <p:spPr>
          <a:xfrm>
            <a:off x="8526780" y="2011680"/>
            <a:ext cx="1499616" cy="329184"/>
          </a:xfrm>
          <a:prstGeom prst="roundRect">
            <a:avLst>
              <a:gd name="adj" fmla="val 33333"/>
            </a:avLst>
          </a:prstGeom>
          <a:solidFill>
            <a:srgbClr val="0B9468"/>
          </a:solidFill>
          <a:ln/>
        </p:spPr>
      </p:sp>
      <p:sp>
        <p:nvSpPr>
          <p:cNvPr id="48" name="Shape 46"/>
          <p:cNvSpPr/>
          <p:nvPr/>
        </p:nvSpPr>
        <p:spPr>
          <a:xfrm>
            <a:off x="8526780" y="2194560"/>
            <a:ext cx="1499616" cy="146304"/>
          </a:xfrm>
          <a:prstGeom prst="rect">
            <a:avLst/>
          </a:prstGeom>
          <a:solidFill>
            <a:srgbClr val="0B9468"/>
          </a:solidFill>
          <a:ln/>
        </p:spPr>
      </p:sp>
      <p:sp>
        <p:nvSpPr>
          <p:cNvPr id="49" name="Text 47"/>
          <p:cNvSpPr txBox="1"/>
          <p:nvPr/>
        </p:nvSpPr>
        <p:spPr>
          <a:xfrm>
            <a:off x="8636508"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RNF06</a:t>
            </a:r>
            <a:endParaRPr lang="en-US" sz="1000" dirty="0"/>
          </a:p>
        </p:txBody>
      </p:sp>
      <p:sp>
        <p:nvSpPr>
          <p:cNvPr id="50" name="Text 48"/>
          <p:cNvSpPr txBox="1"/>
          <p:nvPr/>
        </p:nvSpPr>
        <p:spPr>
          <a:xfrm>
            <a:off x="8636508" y="2395728"/>
            <a:ext cx="1316736" cy="329184"/>
          </a:xfrm>
          <a:prstGeom prst="rect">
            <a:avLst/>
          </a:prstGeom>
          <a:noFill/>
          <a:ln/>
        </p:spPr>
        <p:txBody>
          <a:bodyPr wrap="square" lIns="0" tIns="0" rIns="0" bIns="0" rtlCol="0" anchor="t"/>
          <a:lstStyle/>
          <a:p>
            <a:pPr indent="0" marL="0">
              <a:buNone/>
            </a:pPr>
            <a:r>
              <a:rPr lang="en-US" sz="750" b="1" dirty="0">
                <a:solidFill>
                  <a:srgbClr val="0B9468"/>
                </a:solidFill>
                <a:latin typeface="Open Sans" pitchFamily="34" charset="0"/>
                <a:ea typeface="Open Sans" pitchFamily="34" charset="-122"/>
                <a:cs typeface="Open Sans" pitchFamily="34" charset="-120"/>
              </a:rPr>
              <a:t>Fiabilidad</a:t>
            </a:r>
            <a:endParaRPr lang="en-US" sz="750" dirty="0"/>
          </a:p>
        </p:txBody>
      </p:sp>
      <p:sp>
        <p:nvSpPr>
          <p:cNvPr id="51" name="Text 49"/>
          <p:cNvSpPr txBox="1"/>
          <p:nvPr/>
        </p:nvSpPr>
        <p:spPr>
          <a:xfrm>
            <a:off x="8636508"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Disponibilidad</a:t>
            </a:r>
            <a:endParaRPr lang="en-US" sz="950" dirty="0"/>
          </a:p>
        </p:txBody>
      </p:sp>
      <p:sp>
        <p:nvSpPr>
          <p:cNvPr id="52" name="Text 50"/>
          <p:cNvSpPr txBox="1"/>
          <p:nvPr/>
        </p:nvSpPr>
        <p:spPr>
          <a:xfrm>
            <a:off x="8636508" y="3072384"/>
            <a:ext cx="1316736" cy="384048"/>
          </a:xfrm>
          <a:prstGeom prst="rect">
            <a:avLst/>
          </a:prstGeom>
          <a:noFill/>
          <a:ln/>
        </p:spPr>
        <p:txBody>
          <a:bodyPr wrap="square" lIns="0" tIns="0" rIns="0" bIns="0" rtlCol="0" anchor="ctr"/>
          <a:lstStyle/>
          <a:p>
            <a:pPr indent="0" marL="0">
              <a:buNone/>
            </a:pPr>
            <a:r>
              <a:rPr lang="en-US" sz="1700" b="1" dirty="0">
                <a:solidFill>
                  <a:srgbClr val="0B9468"/>
                </a:solidFill>
                <a:latin typeface="Montserrat" pitchFamily="34" charset="0"/>
                <a:ea typeface="Montserrat" pitchFamily="34" charset="-122"/>
                <a:cs typeface="Montserrat" pitchFamily="34" charset="-120"/>
              </a:rPr>
              <a:t>≥ 99,5 %</a:t>
            </a:r>
            <a:endParaRPr lang="en-US" sz="1700" dirty="0"/>
          </a:p>
        </p:txBody>
      </p:sp>
      <p:sp>
        <p:nvSpPr>
          <p:cNvPr id="53" name="Text 51"/>
          <p:cNvSpPr txBox="1"/>
          <p:nvPr/>
        </p:nvSpPr>
        <p:spPr>
          <a:xfrm>
            <a:off x="8636508"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mensual; registro disponible aun sin conexión</a:t>
            </a:r>
            <a:endParaRPr lang="en-US" sz="800" dirty="0"/>
          </a:p>
        </p:txBody>
      </p:sp>
      <p:sp>
        <p:nvSpPr>
          <p:cNvPr id="54" name="Shape 52"/>
          <p:cNvSpPr/>
          <p:nvPr/>
        </p:nvSpPr>
        <p:spPr>
          <a:xfrm>
            <a:off x="10122408" y="201168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5" name="Shape 53"/>
          <p:cNvSpPr/>
          <p:nvPr/>
        </p:nvSpPr>
        <p:spPr>
          <a:xfrm>
            <a:off x="10122408" y="2011680"/>
            <a:ext cx="1499616" cy="329184"/>
          </a:xfrm>
          <a:prstGeom prst="roundRect">
            <a:avLst>
              <a:gd name="adj" fmla="val 33333"/>
            </a:avLst>
          </a:prstGeom>
          <a:solidFill>
            <a:srgbClr val="0B9468"/>
          </a:solidFill>
          <a:ln/>
        </p:spPr>
      </p:sp>
      <p:sp>
        <p:nvSpPr>
          <p:cNvPr id="56" name="Shape 54"/>
          <p:cNvSpPr/>
          <p:nvPr/>
        </p:nvSpPr>
        <p:spPr>
          <a:xfrm>
            <a:off x="10122408" y="2194560"/>
            <a:ext cx="1499616" cy="146304"/>
          </a:xfrm>
          <a:prstGeom prst="rect">
            <a:avLst/>
          </a:prstGeom>
          <a:solidFill>
            <a:srgbClr val="0B9468"/>
          </a:solidFill>
          <a:ln/>
        </p:spPr>
      </p:sp>
      <p:sp>
        <p:nvSpPr>
          <p:cNvPr id="57" name="Text 55"/>
          <p:cNvSpPr txBox="1"/>
          <p:nvPr/>
        </p:nvSpPr>
        <p:spPr>
          <a:xfrm>
            <a:off x="10232136" y="201168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RNF07</a:t>
            </a:r>
            <a:endParaRPr lang="en-US" sz="1000" dirty="0"/>
          </a:p>
        </p:txBody>
      </p:sp>
      <p:sp>
        <p:nvSpPr>
          <p:cNvPr id="58" name="Text 56"/>
          <p:cNvSpPr txBox="1"/>
          <p:nvPr/>
        </p:nvSpPr>
        <p:spPr>
          <a:xfrm>
            <a:off x="10232136" y="2395728"/>
            <a:ext cx="1316736" cy="329184"/>
          </a:xfrm>
          <a:prstGeom prst="rect">
            <a:avLst/>
          </a:prstGeom>
          <a:noFill/>
          <a:ln/>
        </p:spPr>
        <p:txBody>
          <a:bodyPr wrap="square" lIns="0" tIns="0" rIns="0" bIns="0" rtlCol="0" anchor="t"/>
          <a:lstStyle/>
          <a:p>
            <a:pPr indent="0" marL="0">
              <a:buNone/>
            </a:pPr>
            <a:r>
              <a:rPr lang="en-US" sz="750" b="1" dirty="0">
                <a:solidFill>
                  <a:srgbClr val="0B9468"/>
                </a:solidFill>
                <a:latin typeface="Open Sans" pitchFamily="34" charset="0"/>
                <a:ea typeface="Open Sans" pitchFamily="34" charset="-122"/>
                <a:cs typeface="Open Sans" pitchFamily="34" charset="-120"/>
              </a:rPr>
              <a:t>Fiabilidad</a:t>
            </a:r>
            <a:endParaRPr lang="en-US" sz="750" dirty="0"/>
          </a:p>
        </p:txBody>
      </p:sp>
      <p:sp>
        <p:nvSpPr>
          <p:cNvPr id="59" name="Text 57"/>
          <p:cNvSpPr txBox="1"/>
          <p:nvPr/>
        </p:nvSpPr>
        <p:spPr>
          <a:xfrm>
            <a:off x="10232136" y="270662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Nada se pierde ni duplica</a:t>
            </a:r>
            <a:endParaRPr lang="en-US" sz="950" dirty="0"/>
          </a:p>
        </p:txBody>
      </p:sp>
      <p:sp>
        <p:nvSpPr>
          <p:cNvPr id="60" name="Text 58"/>
          <p:cNvSpPr txBox="1"/>
          <p:nvPr/>
        </p:nvSpPr>
        <p:spPr>
          <a:xfrm>
            <a:off x="10232136" y="3072384"/>
            <a:ext cx="1316736" cy="384048"/>
          </a:xfrm>
          <a:prstGeom prst="rect">
            <a:avLst/>
          </a:prstGeom>
          <a:noFill/>
          <a:ln/>
        </p:spPr>
        <p:txBody>
          <a:bodyPr wrap="square" lIns="0" tIns="0" rIns="0" bIns="0" rtlCol="0" anchor="ctr"/>
          <a:lstStyle/>
          <a:p>
            <a:pPr indent="0" marL="0">
              <a:buNone/>
            </a:pPr>
            <a:r>
              <a:rPr lang="en-US" sz="1700" b="1" dirty="0">
                <a:solidFill>
                  <a:srgbClr val="0B9468"/>
                </a:solidFill>
                <a:latin typeface="Montserrat" pitchFamily="34" charset="0"/>
                <a:ea typeface="Montserrat" pitchFamily="34" charset="-122"/>
                <a:cs typeface="Montserrat" pitchFamily="34" charset="-120"/>
              </a:rPr>
              <a:t>0</a:t>
            </a:r>
            <a:endParaRPr lang="en-US" sz="1700" dirty="0"/>
          </a:p>
        </p:txBody>
      </p:sp>
      <p:sp>
        <p:nvSpPr>
          <p:cNvPr id="61" name="Text 59"/>
          <p:cNvSpPr txBox="1"/>
          <p:nvPr/>
        </p:nvSpPr>
        <p:spPr>
          <a:xfrm>
            <a:off x="10232136" y="347472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duplicados: sincronización idempotente por UUID</a:t>
            </a:r>
            <a:endParaRPr lang="en-US" sz="800" dirty="0"/>
          </a:p>
        </p:txBody>
      </p:sp>
      <p:sp>
        <p:nvSpPr>
          <p:cNvPr id="62" name="Shape 60"/>
          <p:cNvSpPr/>
          <p:nvPr/>
        </p:nvSpPr>
        <p:spPr>
          <a:xfrm>
            <a:off x="548640"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3" name="Shape 61"/>
          <p:cNvSpPr/>
          <p:nvPr/>
        </p:nvSpPr>
        <p:spPr>
          <a:xfrm>
            <a:off x="548640" y="4206240"/>
            <a:ext cx="1499616" cy="329184"/>
          </a:xfrm>
          <a:prstGeom prst="roundRect">
            <a:avLst>
              <a:gd name="adj" fmla="val 33333"/>
            </a:avLst>
          </a:prstGeom>
          <a:solidFill>
            <a:srgbClr val="FF5A5F"/>
          </a:solidFill>
          <a:ln/>
        </p:spPr>
      </p:sp>
      <p:sp>
        <p:nvSpPr>
          <p:cNvPr id="64" name="Shape 62"/>
          <p:cNvSpPr/>
          <p:nvPr/>
        </p:nvSpPr>
        <p:spPr>
          <a:xfrm>
            <a:off x="548640" y="4389120"/>
            <a:ext cx="1499616" cy="146304"/>
          </a:xfrm>
          <a:prstGeom prst="rect">
            <a:avLst/>
          </a:prstGeom>
          <a:solidFill>
            <a:srgbClr val="FF5A5F"/>
          </a:solidFill>
          <a:ln/>
        </p:spPr>
      </p:sp>
      <p:sp>
        <p:nvSpPr>
          <p:cNvPr id="65" name="Text 63"/>
          <p:cNvSpPr txBox="1"/>
          <p:nvPr/>
        </p:nvSpPr>
        <p:spPr>
          <a:xfrm>
            <a:off x="658368"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RNF08</a:t>
            </a:r>
            <a:endParaRPr lang="en-US" sz="1000" dirty="0"/>
          </a:p>
        </p:txBody>
      </p:sp>
      <p:sp>
        <p:nvSpPr>
          <p:cNvPr id="66" name="Text 64"/>
          <p:cNvSpPr txBox="1"/>
          <p:nvPr/>
        </p:nvSpPr>
        <p:spPr>
          <a:xfrm>
            <a:off x="658368" y="4590288"/>
            <a:ext cx="1316736" cy="329184"/>
          </a:xfrm>
          <a:prstGeom prst="rect">
            <a:avLst/>
          </a:prstGeom>
          <a:noFill/>
          <a:ln/>
        </p:spPr>
        <p:txBody>
          <a:bodyPr wrap="square" lIns="0" tIns="0" rIns="0" bIns="0" rtlCol="0" anchor="t"/>
          <a:lstStyle/>
          <a:p>
            <a:pPr indent="0" marL="0">
              <a:buNone/>
            </a:pPr>
            <a:r>
              <a:rPr lang="en-US" sz="750" b="1" dirty="0">
                <a:solidFill>
                  <a:srgbClr val="FF5A5F"/>
                </a:solidFill>
                <a:latin typeface="Open Sans" pitchFamily="34" charset="0"/>
                <a:ea typeface="Open Sans" pitchFamily="34" charset="-122"/>
                <a:cs typeface="Open Sans" pitchFamily="34" charset="-120"/>
              </a:rPr>
              <a:t>Seguridad</a:t>
            </a:r>
            <a:endParaRPr lang="en-US" sz="750" dirty="0"/>
          </a:p>
        </p:txBody>
      </p:sp>
      <p:sp>
        <p:nvSpPr>
          <p:cNvPr id="67" name="Text 65"/>
          <p:cNvSpPr txBox="1"/>
          <p:nvPr/>
        </p:nvSpPr>
        <p:spPr>
          <a:xfrm>
            <a:off x="658368"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Acceso sin correo</a:t>
            </a:r>
            <a:endParaRPr lang="en-US" sz="950" dirty="0"/>
          </a:p>
        </p:txBody>
      </p:sp>
      <p:sp>
        <p:nvSpPr>
          <p:cNvPr id="68" name="Text 66"/>
          <p:cNvSpPr txBox="1"/>
          <p:nvPr/>
        </p:nvSpPr>
        <p:spPr>
          <a:xfrm>
            <a:off x="658368" y="5266944"/>
            <a:ext cx="1316736" cy="384048"/>
          </a:xfrm>
          <a:prstGeom prst="rect">
            <a:avLst/>
          </a:prstGeom>
          <a:noFill/>
          <a:ln/>
        </p:spPr>
        <p:txBody>
          <a:bodyPr wrap="square" lIns="0" tIns="0" rIns="0" bIns="0" rtlCol="0" anchor="ctr"/>
          <a:lstStyle/>
          <a:p>
            <a:pPr indent="0" marL="0">
              <a:buNone/>
            </a:pPr>
            <a:r>
              <a:rPr lang="en-US" sz="1200" b="1" dirty="0">
                <a:solidFill>
                  <a:srgbClr val="FF5A5F"/>
                </a:solidFill>
                <a:latin typeface="Montserrat" pitchFamily="34" charset="0"/>
                <a:ea typeface="Montserrat" pitchFamily="34" charset="-122"/>
                <a:cs typeface="Montserrat" pitchFamily="34" charset="-120"/>
              </a:rPr>
              <a:t>DNI+PIN+SMS</a:t>
            </a:r>
            <a:endParaRPr lang="en-US" sz="1200" dirty="0"/>
          </a:p>
        </p:txBody>
      </p:sp>
      <p:sp>
        <p:nvSpPr>
          <p:cNvPr id="69" name="Text 67"/>
          <p:cNvSpPr txBox="1"/>
          <p:nvPr/>
        </p:nvSpPr>
        <p:spPr>
          <a:xfrm>
            <a:off x="658368"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PIN con Argon2 o bcrypt; bloqueo tras 5 intentos</a:t>
            </a:r>
            <a:endParaRPr lang="en-US" sz="800" dirty="0"/>
          </a:p>
        </p:txBody>
      </p:sp>
      <p:sp>
        <p:nvSpPr>
          <p:cNvPr id="70" name="Shape 68"/>
          <p:cNvSpPr/>
          <p:nvPr/>
        </p:nvSpPr>
        <p:spPr>
          <a:xfrm>
            <a:off x="2144268"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1" name="Shape 69"/>
          <p:cNvSpPr/>
          <p:nvPr/>
        </p:nvSpPr>
        <p:spPr>
          <a:xfrm>
            <a:off x="2144268" y="4206240"/>
            <a:ext cx="1499616" cy="329184"/>
          </a:xfrm>
          <a:prstGeom prst="roundRect">
            <a:avLst>
              <a:gd name="adj" fmla="val 33333"/>
            </a:avLst>
          </a:prstGeom>
          <a:solidFill>
            <a:srgbClr val="FF5A5F"/>
          </a:solidFill>
          <a:ln/>
        </p:spPr>
      </p:sp>
      <p:sp>
        <p:nvSpPr>
          <p:cNvPr id="72" name="Shape 70"/>
          <p:cNvSpPr/>
          <p:nvPr/>
        </p:nvSpPr>
        <p:spPr>
          <a:xfrm>
            <a:off x="2144268" y="4389120"/>
            <a:ext cx="1499616" cy="146304"/>
          </a:xfrm>
          <a:prstGeom prst="rect">
            <a:avLst/>
          </a:prstGeom>
          <a:solidFill>
            <a:srgbClr val="FF5A5F"/>
          </a:solidFill>
          <a:ln/>
        </p:spPr>
      </p:sp>
      <p:sp>
        <p:nvSpPr>
          <p:cNvPr id="73" name="Text 71"/>
          <p:cNvSpPr txBox="1"/>
          <p:nvPr/>
        </p:nvSpPr>
        <p:spPr>
          <a:xfrm>
            <a:off x="2253996"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RNF09</a:t>
            </a:r>
            <a:endParaRPr lang="en-US" sz="1000" dirty="0"/>
          </a:p>
        </p:txBody>
      </p:sp>
      <p:sp>
        <p:nvSpPr>
          <p:cNvPr id="74" name="Text 72"/>
          <p:cNvSpPr txBox="1"/>
          <p:nvPr/>
        </p:nvSpPr>
        <p:spPr>
          <a:xfrm>
            <a:off x="2253996" y="4590288"/>
            <a:ext cx="1316736" cy="329184"/>
          </a:xfrm>
          <a:prstGeom prst="rect">
            <a:avLst/>
          </a:prstGeom>
          <a:noFill/>
          <a:ln/>
        </p:spPr>
        <p:txBody>
          <a:bodyPr wrap="square" lIns="0" tIns="0" rIns="0" bIns="0" rtlCol="0" anchor="t"/>
          <a:lstStyle/>
          <a:p>
            <a:pPr indent="0" marL="0">
              <a:buNone/>
            </a:pPr>
            <a:r>
              <a:rPr lang="en-US" sz="750" b="1" dirty="0">
                <a:solidFill>
                  <a:srgbClr val="FF5A5F"/>
                </a:solidFill>
                <a:latin typeface="Open Sans" pitchFamily="34" charset="0"/>
                <a:ea typeface="Open Sans" pitchFamily="34" charset="-122"/>
                <a:cs typeface="Open Sans" pitchFamily="34" charset="-120"/>
              </a:rPr>
              <a:t>Seguridad</a:t>
            </a:r>
            <a:endParaRPr lang="en-US" sz="750" dirty="0"/>
          </a:p>
        </p:txBody>
      </p:sp>
      <p:sp>
        <p:nvSpPr>
          <p:cNvPr id="75" name="Text 73"/>
          <p:cNvSpPr txBox="1"/>
          <p:nvPr/>
        </p:nvSpPr>
        <p:spPr>
          <a:xfrm>
            <a:off x="2253996"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Datos personales y caladeros</a:t>
            </a:r>
            <a:endParaRPr lang="en-US" sz="950" dirty="0"/>
          </a:p>
        </p:txBody>
      </p:sp>
      <p:sp>
        <p:nvSpPr>
          <p:cNvPr id="76" name="Text 74"/>
          <p:cNvSpPr txBox="1"/>
          <p:nvPr/>
        </p:nvSpPr>
        <p:spPr>
          <a:xfrm>
            <a:off x="2253996" y="5266944"/>
            <a:ext cx="1316736" cy="384048"/>
          </a:xfrm>
          <a:prstGeom prst="rect">
            <a:avLst/>
          </a:prstGeom>
          <a:noFill/>
          <a:ln/>
        </p:spPr>
        <p:txBody>
          <a:bodyPr wrap="square" lIns="0" tIns="0" rIns="0" bIns="0" rtlCol="0" anchor="ctr"/>
          <a:lstStyle/>
          <a:p>
            <a:pPr indent="0" marL="0">
              <a:buNone/>
            </a:pPr>
            <a:r>
              <a:rPr lang="en-US" sz="1200" b="1" dirty="0">
                <a:solidFill>
                  <a:srgbClr val="FF5A5F"/>
                </a:solidFill>
                <a:latin typeface="Montserrat" pitchFamily="34" charset="0"/>
                <a:ea typeface="Montserrat" pitchFamily="34" charset="-122"/>
                <a:cs typeface="Montserrat" pitchFamily="34" charset="-120"/>
              </a:rPr>
              <a:t>Ley 29733</a:t>
            </a:r>
            <a:endParaRPr lang="en-US" sz="1200" dirty="0"/>
          </a:p>
        </p:txBody>
      </p:sp>
      <p:sp>
        <p:nvSpPr>
          <p:cNvPr id="77" name="Text 75"/>
          <p:cNvSpPr txBox="1"/>
          <p:nvPr/>
        </p:nvSpPr>
        <p:spPr>
          <a:xfrm>
            <a:off x="2253996"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TLS 1.2+; datos anonimizados en exportaciones [22]</a:t>
            </a:r>
            <a:endParaRPr lang="en-US" sz="800" dirty="0"/>
          </a:p>
        </p:txBody>
      </p:sp>
      <p:sp>
        <p:nvSpPr>
          <p:cNvPr id="78" name="Shape 76"/>
          <p:cNvSpPr/>
          <p:nvPr/>
        </p:nvSpPr>
        <p:spPr>
          <a:xfrm>
            <a:off x="3739896"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9" name="Shape 77"/>
          <p:cNvSpPr/>
          <p:nvPr/>
        </p:nvSpPr>
        <p:spPr>
          <a:xfrm>
            <a:off x="3739896" y="4206240"/>
            <a:ext cx="1499616" cy="329184"/>
          </a:xfrm>
          <a:prstGeom prst="roundRect">
            <a:avLst>
              <a:gd name="adj" fmla="val 33333"/>
            </a:avLst>
          </a:prstGeom>
          <a:solidFill>
            <a:srgbClr val="FF5A5F"/>
          </a:solidFill>
          <a:ln/>
        </p:spPr>
      </p:sp>
      <p:sp>
        <p:nvSpPr>
          <p:cNvPr id="80" name="Shape 78"/>
          <p:cNvSpPr/>
          <p:nvPr/>
        </p:nvSpPr>
        <p:spPr>
          <a:xfrm>
            <a:off x="3739896" y="4389120"/>
            <a:ext cx="1499616" cy="146304"/>
          </a:xfrm>
          <a:prstGeom prst="rect">
            <a:avLst/>
          </a:prstGeom>
          <a:solidFill>
            <a:srgbClr val="FF5A5F"/>
          </a:solidFill>
          <a:ln/>
        </p:spPr>
      </p:sp>
      <p:sp>
        <p:nvSpPr>
          <p:cNvPr id="81" name="Text 79"/>
          <p:cNvSpPr txBox="1"/>
          <p:nvPr/>
        </p:nvSpPr>
        <p:spPr>
          <a:xfrm>
            <a:off x="3849624"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RNF10</a:t>
            </a:r>
            <a:endParaRPr lang="en-US" sz="1000" dirty="0"/>
          </a:p>
        </p:txBody>
      </p:sp>
      <p:sp>
        <p:nvSpPr>
          <p:cNvPr id="82" name="Text 80"/>
          <p:cNvSpPr txBox="1"/>
          <p:nvPr/>
        </p:nvSpPr>
        <p:spPr>
          <a:xfrm>
            <a:off x="3849624" y="4590288"/>
            <a:ext cx="1316736" cy="329184"/>
          </a:xfrm>
          <a:prstGeom prst="rect">
            <a:avLst/>
          </a:prstGeom>
          <a:noFill/>
          <a:ln/>
        </p:spPr>
        <p:txBody>
          <a:bodyPr wrap="square" lIns="0" tIns="0" rIns="0" bIns="0" rtlCol="0" anchor="t"/>
          <a:lstStyle/>
          <a:p>
            <a:pPr indent="0" marL="0">
              <a:buNone/>
            </a:pPr>
            <a:r>
              <a:rPr lang="en-US" sz="750" b="1" dirty="0">
                <a:solidFill>
                  <a:srgbClr val="FF5A5F"/>
                </a:solidFill>
                <a:latin typeface="Open Sans" pitchFamily="34" charset="0"/>
                <a:ea typeface="Open Sans" pitchFamily="34" charset="-122"/>
                <a:cs typeface="Open Sans" pitchFamily="34" charset="-120"/>
              </a:rPr>
              <a:t>Seguridad</a:t>
            </a:r>
            <a:endParaRPr lang="en-US" sz="750" dirty="0"/>
          </a:p>
        </p:txBody>
      </p:sp>
      <p:sp>
        <p:nvSpPr>
          <p:cNvPr id="83" name="Text 81"/>
          <p:cNvSpPr txBox="1"/>
          <p:nvPr/>
        </p:nvSpPr>
        <p:spPr>
          <a:xfrm>
            <a:off x="3849624"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Integridad y no repudio</a:t>
            </a:r>
            <a:endParaRPr lang="en-US" sz="950" dirty="0"/>
          </a:p>
        </p:txBody>
      </p:sp>
      <p:sp>
        <p:nvSpPr>
          <p:cNvPr id="84" name="Text 82"/>
          <p:cNvSpPr txBox="1"/>
          <p:nvPr/>
        </p:nvSpPr>
        <p:spPr>
          <a:xfrm>
            <a:off x="3849624" y="5266944"/>
            <a:ext cx="1316736" cy="384048"/>
          </a:xfrm>
          <a:prstGeom prst="rect">
            <a:avLst/>
          </a:prstGeom>
          <a:noFill/>
          <a:ln/>
        </p:spPr>
        <p:txBody>
          <a:bodyPr wrap="square" lIns="0" tIns="0" rIns="0" bIns="0" rtlCol="0" anchor="ctr"/>
          <a:lstStyle/>
          <a:p>
            <a:pPr indent="0" marL="0">
              <a:buNone/>
            </a:pPr>
            <a:r>
              <a:rPr lang="en-US" sz="1700" b="1" dirty="0">
                <a:solidFill>
                  <a:srgbClr val="FF5A5F"/>
                </a:solidFill>
                <a:latin typeface="Montserrat" pitchFamily="34" charset="0"/>
                <a:ea typeface="Montserrat" pitchFamily="34" charset="-122"/>
                <a:cs typeface="Montserrat" pitchFamily="34" charset="-120"/>
              </a:rPr>
              <a:t>SHA-256</a:t>
            </a:r>
            <a:endParaRPr lang="en-US" sz="1700" dirty="0"/>
          </a:p>
        </p:txBody>
      </p:sp>
      <p:sp>
        <p:nvSpPr>
          <p:cNvPr id="85" name="Text 83"/>
          <p:cNvSpPr txBox="1"/>
          <p:nvPr/>
        </p:nvSpPr>
        <p:spPr>
          <a:xfrm>
            <a:off x="3849624"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hash verificado en servidor; bitácora inmutable</a:t>
            </a:r>
            <a:endParaRPr lang="en-US" sz="800" dirty="0"/>
          </a:p>
        </p:txBody>
      </p:sp>
      <p:sp>
        <p:nvSpPr>
          <p:cNvPr id="86" name="Shape 84"/>
          <p:cNvSpPr/>
          <p:nvPr/>
        </p:nvSpPr>
        <p:spPr>
          <a:xfrm>
            <a:off x="5335524"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87" name="Shape 85"/>
          <p:cNvSpPr/>
          <p:nvPr/>
        </p:nvSpPr>
        <p:spPr>
          <a:xfrm>
            <a:off x="5335524" y="4206240"/>
            <a:ext cx="1499616" cy="329184"/>
          </a:xfrm>
          <a:prstGeom prst="roundRect">
            <a:avLst>
              <a:gd name="adj" fmla="val 33333"/>
            </a:avLst>
          </a:prstGeom>
          <a:solidFill>
            <a:srgbClr val="008FB0"/>
          </a:solidFill>
          <a:ln/>
        </p:spPr>
      </p:sp>
      <p:sp>
        <p:nvSpPr>
          <p:cNvPr id="88" name="Shape 86"/>
          <p:cNvSpPr/>
          <p:nvPr/>
        </p:nvSpPr>
        <p:spPr>
          <a:xfrm>
            <a:off x="5335524" y="4389120"/>
            <a:ext cx="1499616" cy="146304"/>
          </a:xfrm>
          <a:prstGeom prst="rect">
            <a:avLst/>
          </a:prstGeom>
          <a:solidFill>
            <a:srgbClr val="008FB0"/>
          </a:solidFill>
          <a:ln/>
        </p:spPr>
      </p:sp>
      <p:sp>
        <p:nvSpPr>
          <p:cNvPr id="89" name="Text 87"/>
          <p:cNvSpPr txBox="1"/>
          <p:nvPr/>
        </p:nvSpPr>
        <p:spPr>
          <a:xfrm>
            <a:off x="5445252"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RNF11</a:t>
            </a:r>
            <a:endParaRPr lang="en-US" sz="1000" dirty="0"/>
          </a:p>
        </p:txBody>
      </p:sp>
      <p:sp>
        <p:nvSpPr>
          <p:cNvPr id="90" name="Text 88"/>
          <p:cNvSpPr txBox="1"/>
          <p:nvPr/>
        </p:nvSpPr>
        <p:spPr>
          <a:xfrm>
            <a:off x="5445252" y="4590288"/>
            <a:ext cx="1316736" cy="329184"/>
          </a:xfrm>
          <a:prstGeom prst="rect">
            <a:avLst/>
          </a:prstGeom>
          <a:noFill/>
          <a:ln/>
        </p:spPr>
        <p:txBody>
          <a:bodyPr wrap="square" lIns="0" tIns="0" rIns="0" bIns="0" rtlCol="0" anchor="t"/>
          <a:lstStyle/>
          <a:p>
            <a:pPr indent="0" marL="0">
              <a:buNone/>
            </a:pPr>
            <a:r>
              <a:rPr lang="en-US" sz="750" b="1" dirty="0">
                <a:solidFill>
                  <a:srgbClr val="008FB0"/>
                </a:solidFill>
                <a:latin typeface="Open Sans" pitchFamily="34" charset="0"/>
                <a:ea typeface="Open Sans" pitchFamily="34" charset="-122"/>
                <a:cs typeface="Open Sans" pitchFamily="34" charset="-120"/>
              </a:rPr>
              <a:t>Compatibilidad</a:t>
            </a:r>
            <a:endParaRPr lang="en-US" sz="750" dirty="0"/>
          </a:p>
        </p:txBody>
      </p:sp>
      <p:sp>
        <p:nvSpPr>
          <p:cNvPr id="91" name="Text 89"/>
          <p:cNvSpPr txBox="1"/>
          <p:nvPr/>
        </p:nvSpPr>
        <p:spPr>
          <a:xfrm>
            <a:off x="5445252"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Intercambio estándar</a:t>
            </a:r>
            <a:endParaRPr lang="en-US" sz="950" dirty="0"/>
          </a:p>
        </p:txBody>
      </p:sp>
      <p:sp>
        <p:nvSpPr>
          <p:cNvPr id="92" name="Text 90"/>
          <p:cNvSpPr txBox="1"/>
          <p:nvPr/>
        </p:nvSpPr>
        <p:spPr>
          <a:xfrm>
            <a:off x="5445252" y="5266944"/>
            <a:ext cx="1316736" cy="384048"/>
          </a:xfrm>
          <a:prstGeom prst="rect">
            <a:avLst/>
          </a:prstGeom>
          <a:noFill/>
          <a:ln/>
        </p:spPr>
        <p:txBody>
          <a:bodyPr wrap="square" lIns="0" tIns="0" rIns="0" bIns="0" rtlCol="0" anchor="ctr"/>
          <a:lstStyle/>
          <a:p>
            <a:pPr indent="0" marL="0">
              <a:buNone/>
            </a:pPr>
            <a:r>
              <a:rPr lang="en-US" sz="1200" b="1" dirty="0">
                <a:solidFill>
                  <a:srgbClr val="008FB0"/>
                </a:solidFill>
                <a:latin typeface="Montserrat" pitchFamily="34" charset="0"/>
                <a:ea typeface="Montserrat" pitchFamily="34" charset="-122"/>
                <a:cs typeface="Montserrat" pitchFamily="34" charset="-120"/>
              </a:rPr>
              <a:t>OpenAPI 3</a:t>
            </a:r>
            <a:endParaRPr lang="en-US" sz="1200" dirty="0"/>
          </a:p>
        </p:txBody>
      </p:sp>
      <p:sp>
        <p:nvSpPr>
          <p:cNvPr id="93" name="Text 91"/>
          <p:cNvSpPr txBox="1"/>
          <p:nvPr/>
        </p:nvSpPr>
        <p:spPr>
          <a:xfrm>
            <a:off x="5445252"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CSV/JSON, ISO 8601, códigos ASFIS de la FAO [24]</a:t>
            </a:r>
            <a:endParaRPr lang="en-US" sz="800" dirty="0"/>
          </a:p>
        </p:txBody>
      </p:sp>
      <p:sp>
        <p:nvSpPr>
          <p:cNvPr id="94" name="Shape 92"/>
          <p:cNvSpPr/>
          <p:nvPr/>
        </p:nvSpPr>
        <p:spPr>
          <a:xfrm>
            <a:off x="6931152"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95" name="Shape 93"/>
          <p:cNvSpPr/>
          <p:nvPr/>
        </p:nvSpPr>
        <p:spPr>
          <a:xfrm>
            <a:off x="6931152" y="4206240"/>
            <a:ext cx="1499616" cy="329184"/>
          </a:xfrm>
          <a:prstGeom prst="roundRect">
            <a:avLst>
              <a:gd name="adj" fmla="val 33333"/>
            </a:avLst>
          </a:prstGeom>
          <a:solidFill>
            <a:srgbClr val="E06F00"/>
          </a:solidFill>
          <a:ln/>
        </p:spPr>
      </p:sp>
      <p:sp>
        <p:nvSpPr>
          <p:cNvPr id="96" name="Shape 94"/>
          <p:cNvSpPr/>
          <p:nvPr/>
        </p:nvSpPr>
        <p:spPr>
          <a:xfrm>
            <a:off x="6931152" y="4389120"/>
            <a:ext cx="1499616" cy="146304"/>
          </a:xfrm>
          <a:prstGeom prst="rect">
            <a:avLst/>
          </a:prstGeom>
          <a:solidFill>
            <a:srgbClr val="E06F00"/>
          </a:solidFill>
          <a:ln/>
        </p:spPr>
      </p:sp>
      <p:sp>
        <p:nvSpPr>
          <p:cNvPr id="97" name="Text 95"/>
          <p:cNvSpPr txBox="1"/>
          <p:nvPr/>
        </p:nvSpPr>
        <p:spPr>
          <a:xfrm>
            <a:off x="7040880"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RNF12</a:t>
            </a:r>
            <a:endParaRPr lang="en-US" sz="1000" dirty="0"/>
          </a:p>
        </p:txBody>
      </p:sp>
      <p:sp>
        <p:nvSpPr>
          <p:cNvPr id="98" name="Text 96"/>
          <p:cNvSpPr txBox="1"/>
          <p:nvPr/>
        </p:nvSpPr>
        <p:spPr>
          <a:xfrm>
            <a:off x="7040880" y="4590288"/>
            <a:ext cx="1316736" cy="329184"/>
          </a:xfrm>
          <a:prstGeom prst="rect">
            <a:avLst/>
          </a:prstGeom>
          <a:noFill/>
          <a:ln/>
        </p:spPr>
        <p:txBody>
          <a:bodyPr wrap="square" lIns="0" tIns="0" rIns="0" bIns="0" rtlCol="0" anchor="t"/>
          <a:lstStyle/>
          <a:p>
            <a:pPr indent="0" marL="0">
              <a:buNone/>
            </a:pPr>
            <a:r>
              <a:rPr lang="en-US" sz="750" b="1" dirty="0">
                <a:solidFill>
                  <a:srgbClr val="E06F00"/>
                </a:solidFill>
                <a:latin typeface="Open Sans" pitchFamily="34" charset="0"/>
                <a:ea typeface="Open Sans" pitchFamily="34" charset="-122"/>
                <a:cs typeface="Open Sans" pitchFamily="34" charset="-120"/>
              </a:rPr>
              <a:t>Mantenibilidad</a:t>
            </a:r>
            <a:endParaRPr lang="en-US" sz="750" dirty="0"/>
          </a:p>
        </p:txBody>
      </p:sp>
      <p:sp>
        <p:nvSpPr>
          <p:cNvPr id="99" name="Text 97"/>
          <p:cNvSpPr txBox="1"/>
          <p:nvPr/>
        </p:nvSpPr>
        <p:spPr>
          <a:xfrm>
            <a:off x="7040880"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Reglas fáciles de cambiar</a:t>
            </a:r>
            <a:endParaRPr lang="en-US" sz="950" dirty="0"/>
          </a:p>
        </p:txBody>
      </p:sp>
      <p:sp>
        <p:nvSpPr>
          <p:cNvPr id="100" name="Text 98"/>
          <p:cNvSpPr txBox="1"/>
          <p:nvPr/>
        </p:nvSpPr>
        <p:spPr>
          <a:xfrm>
            <a:off x="7040880" y="5266944"/>
            <a:ext cx="1316736" cy="384048"/>
          </a:xfrm>
          <a:prstGeom prst="rect">
            <a:avLst/>
          </a:prstGeom>
          <a:noFill/>
          <a:ln/>
        </p:spPr>
        <p:txBody>
          <a:bodyPr wrap="square" lIns="0" tIns="0" rIns="0" bIns="0" rtlCol="0" anchor="ctr"/>
          <a:lstStyle/>
          <a:p>
            <a:pPr indent="0" marL="0">
              <a:buNone/>
            </a:pPr>
            <a:r>
              <a:rPr lang="en-US" sz="1700" b="1" dirty="0">
                <a:solidFill>
                  <a:srgbClr val="E06F00"/>
                </a:solidFill>
                <a:latin typeface="Montserrat" pitchFamily="34" charset="0"/>
                <a:ea typeface="Montserrat" pitchFamily="34" charset="-122"/>
                <a:cs typeface="Montserrat" pitchFamily="34" charset="-120"/>
              </a:rPr>
              <a:t>≥ 70 %</a:t>
            </a:r>
            <a:endParaRPr lang="en-US" sz="1700" dirty="0"/>
          </a:p>
        </p:txBody>
      </p:sp>
      <p:sp>
        <p:nvSpPr>
          <p:cNvPr id="101" name="Text 99"/>
          <p:cNvSpPr txBox="1"/>
          <p:nvPr/>
        </p:nvSpPr>
        <p:spPr>
          <a:xfrm>
            <a:off x="7040880"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de cobertura de pruebas en el motor de reglas</a:t>
            </a:r>
            <a:endParaRPr lang="en-US" sz="800" dirty="0"/>
          </a:p>
        </p:txBody>
      </p:sp>
      <p:sp>
        <p:nvSpPr>
          <p:cNvPr id="102" name="Shape 100"/>
          <p:cNvSpPr/>
          <p:nvPr/>
        </p:nvSpPr>
        <p:spPr>
          <a:xfrm>
            <a:off x="8526780"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03" name="Shape 101"/>
          <p:cNvSpPr/>
          <p:nvPr/>
        </p:nvSpPr>
        <p:spPr>
          <a:xfrm>
            <a:off x="8526780" y="4206240"/>
            <a:ext cx="1499616" cy="329184"/>
          </a:xfrm>
          <a:prstGeom prst="roundRect">
            <a:avLst>
              <a:gd name="adj" fmla="val 33333"/>
            </a:avLst>
          </a:prstGeom>
          <a:solidFill>
            <a:srgbClr val="C98A00"/>
          </a:solidFill>
          <a:ln/>
        </p:spPr>
      </p:sp>
      <p:sp>
        <p:nvSpPr>
          <p:cNvPr id="104" name="Shape 102"/>
          <p:cNvSpPr/>
          <p:nvPr/>
        </p:nvSpPr>
        <p:spPr>
          <a:xfrm>
            <a:off x="8526780" y="4389120"/>
            <a:ext cx="1499616" cy="146304"/>
          </a:xfrm>
          <a:prstGeom prst="rect">
            <a:avLst/>
          </a:prstGeom>
          <a:solidFill>
            <a:srgbClr val="C98A00"/>
          </a:solidFill>
          <a:ln/>
        </p:spPr>
      </p:sp>
      <p:sp>
        <p:nvSpPr>
          <p:cNvPr id="105" name="Text 103"/>
          <p:cNvSpPr txBox="1"/>
          <p:nvPr/>
        </p:nvSpPr>
        <p:spPr>
          <a:xfrm>
            <a:off x="8636508"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RNF13</a:t>
            </a:r>
            <a:endParaRPr lang="en-US" sz="1000" dirty="0"/>
          </a:p>
        </p:txBody>
      </p:sp>
      <p:sp>
        <p:nvSpPr>
          <p:cNvPr id="106" name="Text 104"/>
          <p:cNvSpPr txBox="1"/>
          <p:nvPr/>
        </p:nvSpPr>
        <p:spPr>
          <a:xfrm>
            <a:off x="8636508" y="4590288"/>
            <a:ext cx="1316736" cy="329184"/>
          </a:xfrm>
          <a:prstGeom prst="rect">
            <a:avLst/>
          </a:prstGeom>
          <a:noFill/>
          <a:ln/>
        </p:spPr>
        <p:txBody>
          <a:bodyPr wrap="square" lIns="0" tIns="0" rIns="0" bIns="0" rtlCol="0" anchor="t"/>
          <a:lstStyle/>
          <a:p>
            <a:pPr indent="0" marL="0">
              <a:buNone/>
            </a:pPr>
            <a:r>
              <a:rPr lang="en-US" sz="750" b="1" dirty="0">
                <a:solidFill>
                  <a:srgbClr val="C98A00"/>
                </a:solidFill>
                <a:latin typeface="Open Sans" pitchFamily="34" charset="0"/>
                <a:ea typeface="Open Sans" pitchFamily="34" charset="-122"/>
                <a:cs typeface="Open Sans" pitchFamily="34" charset="-120"/>
              </a:rPr>
              <a:t>Flexibilidad</a:t>
            </a:r>
            <a:endParaRPr lang="en-US" sz="750" dirty="0"/>
          </a:p>
        </p:txBody>
      </p:sp>
      <p:sp>
        <p:nvSpPr>
          <p:cNvPr id="107" name="Text 105"/>
          <p:cNvSpPr txBox="1"/>
          <p:nvPr/>
        </p:nvSpPr>
        <p:spPr>
          <a:xfrm>
            <a:off x="8636508"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Escalar a todo el litoral</a:t>
            </a:r>
            <a:endParaRPr lang="en-US" sz="950" dirty="0"/>
          </a:p>
        </p:txBody>
      </p:sp>
      <p:sp>
        <p:nvSpPr>
          <p:cNvPr id="108" name="Text 106"/>
          <p:cNvSpPr txBox="1"/>
          <p:nvPr/>
        </p:nvSpPr>
        <p:spPr>
          <a:xfrm>
            <a:off x="8636508" y="5266944"/>
            <a:ext cx="1316736" cy="384048"/>
          </a:xfrm>
          <a:prstGeom prst="rect">
            <a:avLst/>
          </a:prstGeom>
          <a:noFill/>
          <a:ln/>
        </p:spPr>
        <p:txBody>
          <a:bodyPr wrap="square" lIns="0" tIns="0" rIns="0" bIns="0" rtlCol="0" anchor="ctr"/>
          <a:lstStyle/>
          <a:p>
            <a:pPr indent="0" marL="0">
              <a:buNone/>
            </a:pPr>
            <a:r>
              <a:rPr lang="en-US" sz="1700" b="1" dirty="0">
                <a:solidFill>
                  <a:srgbClr val="C98A00"/>
                </a:solidFill>
                <a:latin typeface="Montserrat" pitchFamily="34" charset="0"/>
                <a:ea typeface="Montserrat" pitchFamily="34" charset="-122"/>
                <a:cs typeface="Montserrat" pitchFamily="34" charset="-120"/>
              </a:rPr>
              <a:t>25 000</a:t>
            </a:r>
            <a:endParaRPr lang="en-US" sz="1700" dirty="0"/>
          </a:p>
        </p:txBody>
      </p:sp>
      <p:sp>
        <p:nvSpPr>
          <p:cNvPr id="109" name="Text 107"/>
          <p:cNvSpPr txBox="1"/>
          <p:nvPr/>
        </p:nvSpPr>
        <p:spPr>
          <a:xfrm>
            <a:off x="8636508"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embarcaciones y ≥ 60 lugares sin rediseño</a:t>
            </a:r>
            <a:endParaRPr lang="en-US" sz="800" dirty="0"/>
          </a:p>
        </p:txBody>
      </p:sp>
      <p:sp>
        <p:nvSpPr>
          <p:cNvPr id="110" name="Shape 108"/>
          <p:cNvSpPr/>
          <p:nvPr/>
        </p:nvSpPr>
        <p:spPr>
          <a:xfrm>
            <a:off x="10122408" y="4206240"/>
            <a:ext cx="1499616" cy="2084832"/>
          </a:xfrm>
          <a:prstGeom prst="roundRect">
            <a:avLst>
              <a:gd name="adj" fmla="val 731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11" name="Shape 109"/>
          <p:cNvSpPr/>
          <p:nvPr/>
        </p:nvSpPr>
        <p:spPr>
          <a:xfrm>
            <a:off x="10122408" y="4206240"/>
            <a:ext cx="1499616" cy="329184"/>
          </a:xfrm>
          <a:prstGeom prst="roundRect">
            <a:avLst>
              <a:gd name="adj" fmla="val 33333"/>
            </a:avLst>
          </a:prstGeom>
          <a:solidFill>
            <a:srgbClr val="C98A00"/>
          </a:solidFill>
          <a:ln/>
        </p:spPr>
      </p:sp>
      <p:sp>
        <p:nvSpPr>
          <p:cNvPr id="112" name="Shape 110"/>
          <p:cNvSpPr/>
          <p:nvPr/>
        </p:nvSpPr>
        <p:spPr>
          <a:xfrm>
            <a:off x="10122408" y="4389120"/>
            <a:ext cx="1499616" cy="146304"/>
          </a:xfrm>
          <a:prstGeom prst="rect">
            <a:avLst/>
          </a:prstGeom>
          <a:solidFill>
            <a:srgbClr val="C98A00"/>
          </a:solidFill>
          <a:ln/>
        </p:spPr>
      </p:sp>
      <p:sp>
        <p:nvSpPr>
          <p:cNvPr id="113" name="Text 111"/>
          <p:cNvSpPr txBox="1"/>
          <p:nvPr/>
        </p:nvSpPr>
        <p:spPr>
          <a:xfrm>
            <a:off x="10232136" y="4206240"/>
            <a:ext cx="1316736" cy="329184"/>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RNF14</a:t>
            </a:r>
            <a:endParaRPr lang="en-US" sz="1000" dirty="0"/>
          </a:p>
        </p:txBody>
      </p:sp>
      <p:sp>
        <p:nvSpPr>
          <p:cNvPr id="114" name="Text 112"/>
          <p:cNvSpPr txBox="1"/>
          <p:nvPr/>
        </p:nvSpPr>
        <p:spPr>
          <a:xfrm>
            <a:off x="10232136" y="4590288"/>
            <a:ext cx="1316736" cy="329184"/>
          </a:xfrm>
          <a:prstGeom prst="rect">
            <a:avLst/>
          </a:prstGeom>
          <a:noFill/>
          <a:ln/>
        </p:spPr>
        <p:txBody>
          <a:bodyPr wrap="square" lIns="0" tIns="0" rIns="0" bIns="0" rtlCol="0" anchor="t"/>
          <a:lstStyle/>
          <a:p>
            <a:pPr indent="0" marL="0">
              <a:buNone/>
            </a:pPr>
            <a:r>
              <a:rPr lang="en-US" sz="750" b="1" dirty="0">
                <a:solidFill>
                  <a:srgbClr val="C98A00"/>
                </a:solidFill>
                <a:latin typeface="Open Sans" pitchFamily="34" charset="0"/>
                <a:ea typeface="Open Sans" pitchFamily="34" charset="-122"/>
                <a:cs typeface="Open Sans" pitchFamily="34" charset="-120"/>
              </a:rPr>
              <a:t>Flexibilidad</a:t>
            </a:r>
            <a:endParaRPr lang="en-US" sz="750" dirty="0"/>
          </a:p>
        </p:txBody>
      </p:sp>
      <p:sp>
        <p:nvSpPr>
          <p:cNvPr id="115" name="Text 113"/>
          <p:cNvSpPr txBox="1"/>
          <p:nvPr/>
        </p:nvSpPr>
        <p:spPr>
          <a:xfrm>
            <a:off x="10232136" y="4901184"/>
            <a:ext cx="1316736" cy="365760"/>
          </a:xfrm>
          <a:prstGeom prst="rect">
            <a:avLst/>
          </a:prstGeom>
          <a:noFill/>
          <a:ln/>
        </p:spPr>
        <p:txBody>
          <a:bodyPr wrap="square" lIns="0" tIns="0" rIns="0" bIns="0" rtlCol="0" anchor="t"/>
          <a:lstStyle/>
          <a:p>
            <a:pPr indent="0" marL="0">
              <a:buNone/>
            </a:pPr>
            <a:r>
              <a:rPr lang="en-US" sz="950" b="1" dirty="0">
                <a:solidFill>
                  <a:srgbClr val="0E1B3D"/>
                </a:solidFill>
                <a:latin typeface="Open Sans" pitchFamily="34" charset="0"/>
                <a:ea typeface="Open Sans" pitchFamily="34" charset="-122"/>
                <a:cs typeface="Open Sans" pitchFamily="34" charset="-120"/>
              </a:rPr>
              <a:t>Portabilidad web</a:t>
            </a:r>
            <a:endParaRPr lang="en-US" sz="950" dirty="0"/>
          </a:p>
        </p:txBody>
      </p:sp>
      <p:sp>
        <p:nvSpPr>
          <p:cNvPr id="116" name="Text 114"/>
          <p:cNvSpPr txBox="1"/>
          <p:nvPr/>
        </p:nvSpPr>
        <p:spPr>
          <a:xfrm>
            <a:off x="10232136" y="5266944"/>
            <a:ext cx="1316736" cy="384048"/>
          </a:xfrm>
          <a:prstGeom prst="rect">
            <a:avLst/>
          </a:prstGeom>
          <a:noFill/>
          <a:ln/>
        </p:spPr>
        <p:txBody>
          <a:bodyPr wrap="square" lIns="0" tIns="0" rIns="0" bIns="0" rtlCol="0" anchor="ctr"/>
          <a:lstStyle/>
          <a:p>
            <a:pPr indent="0" marL="0">
              <a:buNone/>
            </a:pPr>
            <a:r>
              <a:rPr lang="en-US" sz="1200" b="1" dirty="0">
                <a:solidFill>
                  <a:srgbClr val="C98A00"/>
                </a:solidFill>
                <a:latin typeface="Montserrat" pitchFamily="34" charset="0"/>
                <a:ea typeface="Montserrat" pitchFamily="34" charset="-122"/>
                <a:cs typeface="Montserrat" pitchFamily="34" charset="-120"/>
              </a:rPr>
              <a:t>3 navegadores</a:t>
            </a:r>
            <a:endParaRPr lang="en-US" sz="1200" dirty="0"/>
          </a:p>
        </p:txBody>
      </p:sp>
      <p:sp>
        <p:nvSpPr>
          <p:cNvPr id="117" name="Text 115"/>
          <p:cNvSpPr txBox="1"/>
          <p:nvPr/>
        </p:nvSpPr>
        <p:spPr>
          <a:xfrm>
            <a:off x="10232136" y="5669280"/>
            <a:ext cx="1316736" cy="603504"/>
          </a:xfrm>
          <a:prstGeom prst="rect">
            <a:avLst/>
          </a:prstGeom>
          <a:noFill/>
          <a:ln/>
        </p:spPr>
        <p:txBody>
          <a:bodyPr wrap="square" lIns="0" tIns="0" rIns="0" bIns="0" rtlCol="0" anchor="t"/>
          <a:lstStyle/>
          <a:p>
            <a:pPr indent="0" marL="0">
              <a:buNone/>
            </a:pPr>
            <a:r>
              <a:rPr lang="en-US" sz="800" dirty="0">
                <a:solidFill>
                  <a:srgbClr val="4A5878"/>
                </a:solidFill>
                <a:latin typeface="Open Sans" pitchFamily="34" charset="0"/>
                <a:ea typeface="Open Sans" pitchFamily="34" charset="-122"/>
                <a:cs typeface="Open Sans" pitchFamily="34" charset="-120"/>
              </a:rPr>
              <a:t>Chrome, Edge y Firefox; diseño adaptable</a:t>
            </a:r>
            <a:endParaRPr lang="en-US" sz="800" dirty="0"/>
          </a:p>
        </p:txBody>
      </p:sp>
      <p:sp>
        <p:nvSpPr>
          <p:cNvPr id="118" name="Text 11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19" name="Text 11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900830" cy="274320"/>
          </a:xfrm>
          <a:prstGeom prst="roundRect">
            <a:avLst>
              <a:gd name="adj" fmla="val 50000"/>
            </a:avLst>
          </a:prstGeom>
          <a:solidFill>
            <a:srgbClr val="7B5CFF"/>
          </a:solidFill>
          <a:ln/>
        </p:spPr>
      </p:sp>
      <p:sp>
        <p:nvSpPr>
          <p:cNvPr id="3" name="Text 1"/>
          <p:cNvSpPr txBox="1"/>
          <p:nvPr/>
        </p:nvSpPr>
        <p:spPr>
          <a:xfrm>
            <a:off x="548640" y="411480"/>
            <a:ext cx="390083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2.5 REQUERIMIENTOS DE DOMINIO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600" b="1" dirty="0">
                <a:solidFill>
                  <a:srgbClr val="0E1B3D"/>
                </a:solidFill>
                <a:latin typeface="Montserrat" pitchFamily="34" charset="0"/>
                <a:ea typeface="Montserrat" pitchFamily="34" charset="-122"/>
                <a:cs typeface="Montserrat" pitchFamily="34" charset="-120"/>
              </a:rPr>
              <a:t>La normativa pesquera, convertida en reglas del sistema</a:t>
            </a:r>
            <a:endParaRPr lang="en-US" sz="26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8 del informe. Se reflejan en las validaciones y en el modelo de datos.</a:t>
            </a:r>
            <a:endParaRPr lang="en-US" sz="1300" dirty="0"/>
          </a:p>
        </p:txBody>
      </p:sp>
      <p:sp>
        <p:nvSpPr>
          <p:cNvPr id="6" name="Shape 4"/>
          <p:cNvSpPr/>
          <p:nvPr/>
        </p:nvSpPr>
        <p:spPr>
          <a:xfrm>
            <a:off x="548640" y="2011680"/>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658368" y="2139696"/>
            <a:ext cx="713232" cy="512064"/>
          </a:xfrm>
          <a:prstGeom prst="roundRect">
            <a:avLst>
              <a:gd name="adj" fmla="val 17857"/>
            </a:avLst>
          </a:prstGeom>
          <a:solidFill>
            <a:srgbClr val="EFEBFF"/>
          </a:solidFill>
          <a:ln/>
        </p:spPr>
      </p:sp>
      <p:sp>
        <p:nvSpPr>
          <p:cNvPr id="8" name="Text 6"/>
          <p:cNvSpPr txBox="1"/>
          <p:nvPr/>
        </p:nvSpPr>
        <p:spPr>
          <a:xfrm>
            <a:off x="658368" y="2139696"/>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RD01</a:t>
            </a:r>
            <a:endParaRPr lang="en-US" sz="1150" dirty="0"/>
          </a:p>
        </p:txBody>
      </p:sp>
      <p:sp>
        <p:nvSpPr>
          <p:cNvPr id="9" name="Text 7"/>
          <p:cNvSpPr txBox="1"/>
          <p:nvPr/>
        </p:nvSpPr>
        <p:spPr>
          <a:xfrm>
            <a:off x="1481328" y="2066544"/>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Son artesanales las embarcaciones de hasta 32,6 m³ de bodega y 15 m de eslora con trabajo manual; las mecanizadas del mismo tamaño son de menor escala.</a:t>
            </a:r>
            <a:endParaRPr lang="en-US" sz="950" dirty="0"/>
          </a:p>
        </p:txBody>
      </p:sp>
      <p:sp>
        <p:nvSpPr>
          <p:cNvPr id="10" name="Text 8"/>
          <p:cNvSpPr txBox="1"/>
          <p:nvPr/>
        </p:nvSpPr>
        <p:spPr>
          <a:xfrm>
            <a:off x="1481328" y="2523744"/>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D.S. N.° 002-2025-PRODUCE [25], [6]</a:t>
            </a:r>
            <a:endParaRPr lang="en-US" sz="800" dirty="0"/>
          </a:p>
        </p:txBody>
      </p:sp>
      <p:sp>
        <p:nvSpPr>
          <p:cNvPr id="11" name="Shape 9"/>
          <p:cNvSpPr/>
          <p:nvPr/>
        </p:nvSpPr>
        <p:spPr>
          <a:xfrm>
            <a:off x="548640" y="2862072"/>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2" name="Shape 10"/>
          <p:cNvSpPr/>
          <p:nvPr/>
        </p:nvSpPr>
        <p:spPr>
          <a:xfrm>
            <a:off x="658368" y="2990088"/>
            <a:ext cx="713232" cy="512064"/>
          </a:xfrm>
          <a:prstGeom prst="roundRect">
            <a:avLst>
              <a:gd name="adj" fmla="val 17857"/>
            </a:avLst>
          </a:prstGeom>
          <a:solidFill>
            <a:srgbClr val="EFEBFF"/>
          </a:solidFill>
          <a:ln/>
        </p:spPr>
      </p:sp>
      <p:sp>
        <p:nvSpPr>
          <p:cNvPr id="13" name="Text 11"/>
          <p:cNvSpPr txBox="1"/>
          <p:nvPr/>
        </p:nvSpPr>
        <p:spPr>
          <a:xfrm>
            <a:off x="658368" y="2990088"/>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RD02</a:t>
            </a:r>
            <a:endParaRPr lang="en-US" sz="1150" dirty="0"/>
          </a:p>
        </p:txBody>
      </p:sp>
      <p:sp>
        <p:nvSpPr>
          <p:cNvPr id="14" name="Text 12"/>
          <p:cNvSpPr txBox="1"/>
          <p:nvPr/>
        </p:nvSpPr>
        <p:spPr>
          <a:xfrm>
            <a:off x="1481328" y="2916936"/>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Los titulares deben informar sus capturas por especie y zona de pesca.</a:t>
            </a:r>
            <a:endParaRPr lang="en-US" sz="950" dirty="0"/>
          </a:p>
        </p:txBody>
      </p:sp>
      <p:sp>
        <p:nvSpPr>
          <p:cNvPr id="15" name="Text 13"/>
          <p:cNvSpPr txBox="1"/>
          <p:nvPr/>
        </p:nvSpPr>
        <p:spPr>
          <a:xfrm>
            <a:off x="1481328" y="3374136"/>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Art. 66, D.L. N.° 25977 [26], [12]</a:t>
            </a:r>
            <a:endParaRPr lang="en-US" sz="800" dirty="0"/>
          </a:p>
        </p:txBody>
      </p:sp>
      <p:sp>
        <p:nvSpPr>
          <p:cNvPr id="16" name="Shape 14"/>
          <p:cNvSpPr/>
          <p:nvPr/>
        </p:nvSpPr>
        <p:spPr>
          <a:xfrm>
            <a:off x="548640" y="3712464"/>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7" name="Shape 15"/>
          <p:cNvSpPr/>
          <p:nvPr/>
        </p:nvSpPr>
        <p:spPr>
          <a:xfrm>
            <a:off x="658368" y="3840480"/>
            <a:ext cx="713232" cy="512064"/>
          </a:xfrm>
          <a:prstGeom prst="roundRect">
            <a:avLst>
              <a:gd name="adj" fmla="val 17857"/>
            </a:avLst>
          </a:prstGeom>
          <a:solidFill>
            <a:srgbClr val="EFEBFF"/>
          </a:solidFill>
          <a:ln/>
        </p:spPr>
      </p:sp>
      <p:sp>
        <p:nvSpPr>
          <p:cNvPr id="18" name="Text 16"/>
          <p:cNvSpPr txBox="1"/>
          <p:nvPr/>
        </p:nvSpPr>
        <p:spPr>
          <a:xfrm>
            <a:off x="658368" y="3840480"/>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RD03</a:t>
            </a:r>
            <a:endParaRPr lang="en-US" sz="1150" dirty="0"/>
          </a:p>
        </p:txBody>
      </p:sp>
      <p:sp>
        <p:nvSpPr>
          <p:cNvPr id="19" name="Text 17"/>
          <p:cNvSpPr txBox="1"/>
          <p:nvPr/>
        </p:nvSpPr>
        <p:spPr>
          <a:xfrm>
            <a:off x="1481328" y="3767328"/>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Cada especie tiene talla mínima y tolerancia de juveniles, actualizables por resolución.</a:t>
            </a:r>
            <a:endParaRPr lang="en-US" sz="950" dirty="0"/>
          </a:p>
        </p:txBody>
      </p:sp>
      <p:sp>
        <p:nvSpPr>
          <p:cNvPr id="20" name="Text 18"/>
          <p:cNvSpPr txBox="1"/>
          <p:nvPr/>
        </p:nvSpPr>
        <p:spPr>
          <a:xfrm>
            <a:off x="1481328" y="4224528"/>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R.M. N.° 209-2001-PE y modif. [27], [15], [16]</a:t>
            </a:r>
            <a:endParaRPr lang="en-US" sz="800" dirty="0"/>
          </a:p>
        </p:txBody>
      </p:sp>
      <p:sp>
        <p:nvSpPr>
          <p:cNvPr id="21" name="Shape 19"/>
          <p:cNvSpPr/>
          <p:nvPr/>
        </p:nvSpPr>
        <p:spPr>
          <a:xfrm>
            <a:off x="548640" y="4562856"/>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2" name="Shape 20"/>
          <p:cNvSpPr/>
          <p:nvPr/>
        </p:nvSpPr>
        <p:spPr>
          <a:xfrm>
            <a:off x="658368" y="4690872"/>
            <a:ext cx="713232" cy="512064"/>
          </a:xfrm>
          <a:prstGeom prst="roundRect">
            <a:avLst>
              <a:gd name="adj" fmla="val 17857"/>
            </a:avLst>
          </a:prstGeom>
          <a:solidFill>
            <a:srgbClr val="EFEBFF"/>
          </a:solidFill>
          <a:ln/>
        </p:spPr>
      </p:sp>
      <p:sp>
        <p:nvSpPr>
          <p:cNvPr id="23" name="Text 21"/>
          <p:cNvSpPr txBox="1"/>
          <p:nvPr/>
        </p:nvSpPr>
        <p:spPr>
          <a:xfrm>
            <a:off x="658368" y="4690872"/>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RD04</a:t>
            </a:r>
            <a:endParaRPr lang="en-US" sz="1150" dirty="0"/>
          </a:p>
        </p:txBody>
      </p:sp>
      <p:sp>
        <p:nvSpPr>
          <p:cNvPr id="24" name="Text 22"/>
          <p:cNvSpPr txBox="1"/>
          <p:nvPr/>
        </p:nvSpPr>
        <p:spPr>
          <a:xfrm>
            <a:off x="1481328" y="4617720"/>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Vedas, temporadas y zonas las fija la autoridad con evidencia científica; se registran con su norma y vigencia.</a:t>
            </a:r>
            <a:endParaRPr lang="en-US" sz="950" dirty="0"/>
          </a:p>
        </p:txBody>
      </p:sp>
      <p:sp>
        <p:nvSpPr>
          <p:cNvPr id="25" name="Text 23"/>
          <p:cNvSpPr txBox="1"/>
          <p:nvPr/>
        </p:nvSpPr>
        <p:spPr>
          <a:xfrm>
            <a:off x="1481328" y="5074920"/>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Ley General de Pesca, art. 9 [27]</a:t>
            </a:r>
            <a:endParaRPr lang="en-US" sz="800" dirty="0"/>
          </a:p>
        </p:txBody>
      </p:sp>
      <p:sp>
        <p:nvSpPr>
          <p:cNvPr id="26" name="Shape 24"/>
          <p:cNvSpPr/>
          <p:nvPr/>
        </p:nvSpPr>
        <p:spPr>
          <a:xfrm>
            <a:off x="548640" y="5413248"/>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7" name="Shape 25"/>
          <p:cNvSpPr/>
          <p:nvPr/>
        </p:nvSpPr>
        <p:spPr>
          <a:xfrm>
            <a:off x="658368" y="5541264"/>
            <a:ext cx="713232" cy="512064"/>
          </a:xfrm>
          <a:prstGeom prst="roundRect">
            <a:avLst>
              <a:gd name="adj" fmla="val 17857"/>
            </a:avLst>
          </a:prstGeom>
          <a:solidFill>
            <a:srgbClr val="EFEBFF"/>
          </a:solidFill>
          <a:ln/>
        </p:spPr>
      </p:sp>
      <p:sp>
        <p:nvSpPr>
          <p:cNvPr id="28" name="Text 26"/>
          <p:cNvSpPr txBox="1"/>
          <p:nvPr/>
        </p:nvSpPr>
        <p:spPr>
          <a:xfrm>
            <a:off x="658368" y="5541264"/>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RD05</a:t>
            </a:r>
            <a:endParaRPr lang="en-US" sz="1150" dirty="0"/>
          </a:p>
        </p:txBody>
      </p:sp>
      <p:sp>
        <p:nvSpPr>
          <p:cNvPr id="29" name="Text 27"/>
          <p:cNvSpPr txBox="1"/>
          <p:nvPr/>
        </p:nvSpPr>
        <p:spPr>
          <a:xfrm>
            <a:off x="1481328" y="5468112"/>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La descarga registra punto, embarcación, faena, fecha y hora, transporte, DNI del conductor, placa y destino.</a:t>
            </a:r>
            <a:endParaRPr lang="en-US" sz="950" dirty="0"/>
          </a:p>
        </p:txBody>
      </p:sp>
      <p:sp>
        <p:nvSpPr>
          <p:cNvPr id="30" name="Text 28"/>
          <p:cNvSpPr txBox="1"/>
          <p:nvPr/>
        </p:nvSpPr>
        <p:spPr>
          <a:xfrm>
            <a:off x="1481328" y="5925312"/>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D.S. N.° 024-2021-PRODUCE [18], [12]</a:t>
            </a:r>
            <a:endParaRPr lang="en-US" sz="800" dirty="0"/>
          </a:p>
        </p:txBody>
      </p:sp>
      <p:sp>
        <p:nvSpPr>
          <p:cNvPr id="31" name="Shape 29"/>
          <p:cNvSpPr/>
          <p:nvPr/>
        </p:nvSpPr>
        <p:spPr>
          <a:xfrm>
            <a:off x="6172200" y="2011680"/>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2" name="Shape 30"/>
          <p:cNvSpPr/>
          <p:nvPr/>
        </p:nvSpPr>
        <p:spPr>
          <a:xfrm>
            <a:off x="6281928" y="2139696"/>
            <a:ext cx="713232" cy="512064"/>
          </a:xfrm>
          <a:prstGeom prst="roundRect">
            <a:avLst>
              <a:gd name="adj" fmla="val 17857"/>
            </a:avLst>
          </a:prstGeom>
          <a:solidFill>
            <a:srgbClr val="EFEBFF"/>
          </a:solidFill>
          <a:ln/>
        </p:spPr>
      </p:sp>
      <p:sp>
        <p:nvSpPr>
          <p:cNvPr id="33" name="Text 31"/>
          <p:cNvSpPr txBox="1"/>
          <p:nvPr/>
        </p:nvSpPr>
        <p:spPr>
          <a:xfrm>
            <a:off x="6281928" y="2139696"/>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RD06</a:t>
            </a:r>
            <a:endParaRPr lang="en-US" sz="1150" dirty="0"/>
          </a:p>
        </p:txBody>
      </p:sp>
      <p:sp>
        <p:nvSpPr>
          <p:cNvPr id="34" name="Text 32"/>
          <p:cNvSpPr txBox="1"/>
          <p:nvPr/>
        </p:nvSpPr>
        <p:spPr>
          <a:xfrm>
            <a:off x="7104888" y="2066544"/>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Las embarcaciones de hasta 32,6 m³ deben comunicar la información de sus faenas y calas.</a:t>
            </a:r>
            <a:endParaRPr lang="en-US" sz="950" dirty="0"/>
          </a:p>
        </p:txBody>
      </p:sp>
      <p:sp>
        <p:nvSpPr>
          <p:cNvPr id="35" name="Text 33"/>
          <p:cNvSpPr txBox="1"/>
          <p:nvPr/>
        </p:nvSpPr>
        <p:spPr>
          <a:xfrm>
            <a:off x="7104888" y="2523744"/>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R.M. N.° 207-2025-PRODUCE [12]</a:t>
            </a:r>
            <a:endParaRPr lang="en-US" sz="800" dirty="0"/>
          </a:p>
        </p:txBody>
      </p:sp>
      <p:sp>
        <p:nvSpPr>
          <p:cNvPr id="36" name="Shape 34"/>
          <p:cNvSpPr/>
          <p:nvPr/>
        </p:nvSpPr>
        <p:spPr>
          <a:xfrm>
            <a:off x="6172200" y="2862072"/>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7" name="Shape 35"/>
          <p:cNvSpPr/>
          <p:nvPr/>
        </p:nvSpPr>
        <p:spPr>
          <a:xfrm>
            <a:off x="6281928" y="2990088"/>
            <a:ext cx="713232" cy="512064"/>
          </a:xfrm>
          <a:prstGeom prst="roundRect">
            <a:avLst>
              <a:gd name="adj" fmla="val 17857"/>
            </a:avLst>
          </a:prstGeom>
          <a:solidFill>
            <a:srgbClr val="EFEBFF"/>
          </a:solidFill>
          <a:ln/>
        </p:spPr>
      </p:sp>
      <p:sp>
        <p:nvSpPr>
          <p:cNvPr id="38" name="Text 36"/>
          <p:cNvSpPr txBox="1"/>
          <p:nvPr/>
        </p:nvSpPr>
        <p:spPr>
          <a:xfrm>
            <a:off x="6281928" y="2990088"/>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RD07</a:t>
            </a:r>
            <a:endParaRPr lang="en-US" sz="1150" dirty="0"/>
          </a:p>
        </p:txBody>
      </p:sp>
      <p:sp>
        <p:nvSpPr>
          <p:cNvPr id="39" name="Text 37"/>
          <p:cNvSpPr txBox="1"/>
          <p:nvPr/>
        </p:nvSpPr>
        <p:spPr>
          <a:xfrm>
            <a:off x="7104888" y="2916936"/>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Toda descarga debe acreditar su origen legal y trazabilidad con documentación física o electrónica.</a:t>
            </a:r>
            <a:endParaRPr lang="en-US" sz="950" dirty="0"/>
          </a:p>
        </p:txBody>
      </p:sp>
      <p:sp>
        <p:nvSpPr>
          <p:cNvPr id="40" name="Text 38"/>
          <p:cNvSpPr txBox="1"/>
          <p:nvPr/>
        </p:nvSpPr>
        <p:spPr>
          <a:xfrm>
            <a:off x="7104888" y="3374136"/>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D.S. N.° 006-2025-PRODUCE [12]</a:t>
            </a:r>
            <a:endParaRPr lang="en-US" sz="800" dirty="0"/>
          </a:p>
        </p:txBody>
      </p:sp>
      <p:sp>
        <p:nvSpPr>
          <p:cNvPr id="41" name="Shape 39"/>
          <p:cNvSpPr/>
          <p:nvPr/>
        </p:nvSpPr>
        <p:spPr>
          <a:xfrm>
            <a:off x="6172200" y="3712464"/>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2" name="Shape 40"/>
          <p:cNvSpPr/>
          <p:nvPr/>
        </p:nvSpPr>
        <p:spPr>
          <a:xfrm>
            <a:off x="6281928" y="3840480"/>
            <a:ext cx="713232" cy="512064"/>
          </a:xfrm>
          <a:prstGeom prst="roundRect">
            <a:avLst>
              <a:gd name="adj" fmla="val 17857"/>
            </a:avLst>
          </a:prstGeom>
          <a:solidFill>
            <a:srgbClr val="EFEBFF"/>
          </a:solidFill>
          <a:ln/>
        </p:spPr>
      </p:sp>
      <p:sp>
        <p:nvSpPr>
          <p:cNvPr id="43" name="Text 41"/>
          <p:cNvSpPr txBox="1"/>
          <p:nvPr/>
        </p:nvSpPr>
        <p:spPr>
          <a:xfrm>
            <a:off x="6281928" y="3840480"/>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RD08</a:t>
            </a:r>
            <a:endParaRPr lang="en-US" sz="1150" dirty="0"/>
          </a:p>
        </p:txBody>
      </p:sp>
      <p:sp>
        <p:nvSpPr>
          <p:cNvPr id="44" name="Text 42"/>
          <p:cNvSpPr txBox="1"/>
          <p:nvPr/>
        </p:nvSpPr>
        <p:spPr>
          <a:xfrm>
            <a:off x="7104888" y="3767328"/>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0–5 millas reservadas a la pesca artesanal; sin cerco mecanizado en las 3 primeras. Zona–arte incompatible = observado.</a:t>
            </a:r>
            <a:endParaRPr lang="en-US" sz="950" dirty="0"/>
          </a:p>
        </p:txBody>
      </p:sp>
      <p:sp>
        <p:nvSpPr>
          <p:cNvPr id="45" name="Text 43"/>
          <p:cNvSpPr txBox="1"/>
          <p:nvPr/>
        </p:nvSpPr>
        <p:spPr>
          <a:xfrm>
            <a:off x="7104888" y="4224528"/>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D.S. N.° 002-2025-PRODUCE [25], [28]</a:t>
            </a:r>
            <a:endParaRPr lang="en-US" sz="800" dirty="0"/>
          </a:p>
        </p:txBody>
      </p:sp>
      <p:sp>
        <p:nvSpPr>
          <p:cNvPr id="46" name="Shape 44"/>
          <p:cNvSpPr/>
          <p:nvPr/>
        </p:nvSpPr>
        <p:spPr>
          <a:xfrm>
            <a:off x="6172200" y="4562856"/>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7" name="Shape 45"/>
          <p:cNvSpPr/>
          <p:nvPr/>
        </p:nvSpPr>
        <p:spPr>
          <a:xfrm>
            <a:off x="6281928" y="4690872"/>
            <a:ext cx="713232" cy="512064"/>
          </a:xfrm>
          <a:prstGeom prst="roundRect">
            <a:avLst>
              <a:gd name="adj" fmla="val 17857"/>
            </a:avLst>
          </a:prstGeom>
          <a:solidFill>
            <a:srgbClr val="EFEBFF"/>
          </a:solidFill>
          <a:ln/>
        </p:spPr>
      </p:sp>
      <p:sp>
        <p:nvSpPr>
          <p:cNvPr id="48" name="Text 46"/>
          <p:cNvSpPr txBox="1"/>
          <p:nvPr/>
        </p:nvSpPr>
        <p:spPr>
          <a:xfrm>
            <a:off x="6281928" y="4690872"/>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RD09</a:t>
            </a:r>
            <a:endParaRPr lang="en-US" sz="1150" dirty="0"/>
          </a:p>
        </p:txBody>
      </p:sp>
      <p:sp>
        <p:nvSpPr>
          <p:cNvPr id="49" name="Text 47"/>
          <p:cNvSpPr txBox="1"/>
          <p:nvPr/>
        </p:nvSpPr>
        <p:spPr>
          <a:xfrm>
            <a:off x="7104888" y="4617720"/>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El registro de pescadores no embarcados es voluntario: la obligación recae en embarcaciones y plantas.</a:t>
            </a:r>
            <a:endParaRPr lang="en-US" sz="950" dirty="0"/>
          </a:p>
        </p:txBody>
      </p:sp>
      <p:sp>
        <p:nvSpPr>
          <p:cNvPr id="50" name="Text 48"/>
          <p:cNvSpPr txBox="1"/>
          <p:nvPr/>
        </p:nvSpPr>
        <p:spPr>
          <a:xfrm>
            <a:off x="7104888" y="5074920"/>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[12]</a:t>
            </a:r>
            <a:endParaRPr lang="en-US" sz="800" dirty="0"/>
          </a:p>
        </p:txBody>
      </p:sp>
      <p:sp>
        <p:nvSpPr>
          <p:cNvPr id="51" name="Shape 49"/>
          <p:cNvSpPr/>
          <p:nvPr/>
        </p:nvSpPr>
        <p:spPr>
          <a:xfrm>
            <a:off x="6172200" y="5413248"/>
            <a:ext cx="5440680" cy="768096"/>
          </a:xfrm>
          <a:prstGeom prst="roundRect">
            <a:avLst>
              <a:gd name="adj" fmla="val 1428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2" name="Shape 50"/>
          <p:cNvSpPr/>
          <p:nvPr/>
        </p:nvSpPr>
        <p:spPr>
          <a:xfrm>
            <a:off x="6281928" y="5541264"/>
            <a:ext cx="713232" cy="512064"/>
          </a:xfrm>
          <a:prstGeom prst="roundRect">
            <a:avLst>
              <a:gd name="adj" fmla="val 17857"/>
            </a:avLst>
          </a:prstGeom>
          <a:solidFill>
            <a:srgbClr val="EFEBFF"/>
          </a:solidFill>
          <a:ln/>
        </p:spPr>
      </p:sp>
      <p:sp>
        <p:nvSpPr>
          <p:cNvPr id="53" name="Text 51"/>
          <p:cNvSpPr txBox="1"/>
          <p:nvPr/>
        </p:nvSpPr>
        <p:spPr>
          <a:xfrm>
            <a:off x="6281928" y="5541264"/>
            <a:ext cx="713232" cy="512064"/>
          </a:xfrm>
          <a:prstGeom prst="rect">
            <a:avLst/>
          </a:prstGeom>
          <a:noFill/>
          <a:ln/>
        </p:spPr>
        <p:txBody>
          <a:bodyPr wrap="square" lIns="0" tIns="0" rIns="0" bIns="0" rtlCol="0" anchor="ctr"/>
          <a:lstStyle/>
          <a:p>
            <a:pPr algn="ctr" indent="0" marL="0">
              <a:buNone/>
            </a:pPr>
            <a:r>
              <a:rPr lang="en-US" sz="1150" b="1" dirty="0">
                <a:solidFill>
                  <a:srgbClr val="5B3EE0"/>
                </a:solidFill>
                <a:latin typeface="Montserrat" pitchFamily="34" charset="0"/>
                <a:ea typeface="Montserrat" pitchFamily="34" charset="-122"/>
                <a:cs typeface="Montserrat" pitchFamily="34" charset="-120"/>
              </a:rPr>
              <a:t>RD10</a:t>
            </a:r>
            <a:endParaRPr lang="en-US" sz="1150" dirty="0"/>
          </a:p>
        </p:txBody>
      </p:sp>
      <p:sp>
        <p:nvSpPr>
          <p:cNvPr id="54" name="Text 52"/>
          <p:cNvSpPr txBox="1"/>
          <p:nvPr/>
        </p:nvSpPr>
        <p:spPr>
          <a:xfrm>
            <a:off x="7104888" y="5468112"/>
            <a:ext cx="4389120" cy="47548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Los datos personales se tratan con consentimiento, finalidad determinada y medidas de seguridad.</a:t>
            </a:r>
            <a:endParaRPr lang="en-US" sz="950" dirty="0"/>
          </a:p>
        </p:txBody>
      </p:sp>
      <p:sp>
        <p:nvSpPr>
          <p:cNvPr id="55" name="Text 53"/>
          <p:cNvSpPr txBox="1"/>
          <p:nvPr/>
        </p:nvSpPr>
        <p:spPr>
          <a:xfrm>
            <a:off x="7104888" y="5925312"/>
            <a:ext cx="4389120" cy="201168"/>
          </a:xfrm>
          <a:prstGeom prst="rect">
            <a:avLst/>
          </a:prstGeom>
          <a:noFill/>
          <a:ln/>
        </p:spPr>
        <p:txBody>
          <a:bodyPr wrap="square" lIns="0" tIns="0" rIns="0" bIns="0" rtlCol="0" anchor="ctr"/>
          <a:lstStyle/>
          <a:p>
            <a:pPr indent="0" marL="0">
              <a:buNone/>
            </a:pPr>
            <a:r>
              <a:rPr lang="en-US" sz="800" b="1" i="1" dirty="0">
                <a:solidFill>
                  <a:srgbClr val="7B5CFF"/>
                </a:solidFill>
                <a:latin typeface="Open Sans" pitchFamily="34" charset="0"/>
                <a:ea typeface="Open Sans" pitchFamily="34" charset="-122"/>
                <a:cs typeface="Open Sans" pitchFamily="34" charset="-120"/>
              </a:rPr>
              <a:t>Ley N.° 29733 y D.S. N.° 016-2024-JUS [22], [23]</a:t>
            </a:r>
            <a:endParaRPr lang="en-US" sz="800" dirty="0"/>
          </a:p>
        </p:txBody>
      </p:sp>
      <p:sp>
        <p:nvSpPr>
          <p:cNvPr id="56" name="Text 5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7" name="Text 5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7B5CFF"/>
          </a:solidFill>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2 · 2.6 DOCUMENTACIÓN</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500" b="1" dirty="0">
                <a:solidFill>
                  <a:srgbClr val="0E1B3D"/>
                </a:solidFill>
                <a:latin typeface="Montserrat" pitchFamily="34" charset="0"/>
                <a:ea typeface="Montserrat" pitchFamily="34" charset="-122"/>
                <a:cs typeface="Montserrat" pitchFamily="34" charset="-120"/>
              </a:rPr>
              <a:t>Matriz de trazabilidad: ningún requerimiento queda suelto</a:t>
            </a:r>
            <a:endParaRPr lang="en-US" sz="25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9 del informe: requerimiento → necesidad → caso de uso → historia de usuario → sprint.</a:t>
            </a:r>
            <a:endParaRPr lang="en-US" sz="1300" dirty="0"/>
          </a:p>
        </p:txBody>
      </p:sp>
      <p:sp>
        <p:nvSpPr>
          <p:cNvPr id="6" name="Shape 4"/>
          <p:cNvSpPr/>
          <p:nvPr/>
        </p:nvSpPr>
        <p:spPr>
          <a:xfrm>
            <a:off x="548640" y="1993392"/>
            <a:ext cx="5440680" cy="329184"/>
          </a:xfrm>
          <a:prstGeom prst="roundRect">
            <a:avLst>
              <a:gd name="adj" fmla="val 22222"/>
            </a:avLst>
          </a:prstGeom>
          <a:solidFill>
            <a:srgbClr val="0B1E4F"/>
          </a:solidFill>
          <a:ln/>
        </p:spPr>
      </p:sp>
      <p:sp>
        <p:nvSpPr>
          <p:cNvPr id="7" name="Text 5"/>
          <p:cNvSpPr txBox="1"/>
          <p:nvPr/>
        </p:nvSpPr>
        <p:spPr>
          <a:xfrm>
            <a:off x="685800" y="1993392"/>
            <a:ext cx="786423"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RF</a:t>
            </a:r>
            <a:endParaRPr lang="en-US" sz="800" dirty="0"/>
          </a:p>
        </p:txBody>
      </p:sp>
      <p:sp>
        <p:nvSpPr>
          <p:cNvPr id="8" name="Text 6"/>
          <p:cNvSpPr txBox="1"/>
          <p:nvPr/>
        </p:nvSpPr>
        <p:spPr>
          <a:xfrm>
            <a:off x="1472223" y="1993392"/>
            <a:ext cx="1256092"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NECESIDAD</a:t>
            </a:r>
            <a:endParaRPr lang="en-US" sz="800" dirty="0"/>
          </a:p>
        </p:txBody>
      </p:sp>
      <p:sp>
        <p:nvSpPr>
          <p:cNvPr id="9" name="Text 7"/>
          <p:cNvSpPr txBox="1"/>
          <p:nvPr/>
        </p:nvSpPr>
        <p:spPr>
          <a:xfrm>
            <a:off x="2728314" y="1993392"/>
            <a:ext cx="1223324"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CASO DE USO</a:t>
            </a:r>
            <a:endParaRPr lang="en-US" sz="800" dirty="0"/>
          </a:p>
        </p:txBody>
      </p:sp>
      <p:sp>
        <p:nvSpPr>
          <p:cNvPr id="10" name="Text 8"/>
          <p:cNvSpPr txBox="1"/>
          <p:nvPr/>
        </p:nvSpPr>
        <p:spPr>
          <a:xfrm>
            <a:off x="3951639" y="1993392"/>
            <a:ext cx="1223324"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HISTORIA</a:t>
            </a:r>
            <a:endParaRPr lang="en-US" sz="800" dirty="0"/>
          </a:p>
        </p:txBody>
      </p:sp>
      <p:sp>
        <p:nvSpPr>
          <p:cNvPr id="11" name="Text 9"/>
          <p:cNvSpPr txBox="1"/>
          <p:nvPr/>
        </p:nvSpPr>
        <p:spPr>
          <a:xfrm>
            <a:off x="5174963" y="1993392"/>
            <a:ext cx="677197"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SPRINT</a:t>
            </a:r>
            <a:endParaRPr lang="en-US" sz="800" dirty="0"/>
          </a:p>
        </p:txBody>
      </p:sp>
      <p:sp>
        <p:nvSpPr>
          <p:cNvPr id="12" name="Shape 10"/>
          <p:cNvSpPr/>
          <p:nvPr/>
        </p:nvSpPr>
        <p:spPr>
          <a:xfrm>
            <a:off x="548640" y="2359152"/>
            <a:ext cx="5440680" cy="310896"/>
          </a:xfrm>
          <a:prstGeom prst="roundRect">
            <a:avLst>
              <a:gd name="adj" fmla="val 17647"/>
            </a:avLst>
          </a:prstGeom>
          <a:solidFill>
            <a:srgbClr val="F4F8FF"/>
          </a:solidFill>
          <a:ln/>
        </p:spPr>
      </p:sp>
      <p:sp>
        <p:nvSpPr>
          <p:cNvPr id="13" name="Text 11"/>
          <p:cNvSpPr txBox="1"/>
          <p:nvPr/>
        </p:nvSpPr>
        <p:spPr>
          <a:xfrm>
            <a:off x="685800" y="235915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RF01</a:t>
            </a:r>
            <a:endParaRPr lang="en-US" sz="1000" dirty="0"/>
          </a:p>
        </p:txBody>
      </p:sp>
      <p:sp>
        <p:nvSpPr>
          <p:cNvPr id="14" name="Text 12"/>
          <p:cNvSpPr txBox="1"/>
          <p:nvPr/>
        </p:nvSpPr>
        <p:spPr>
          <a:xfrm>
            <a:off x="1472223" y="235915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N03, N11</a:t>
            </a:r>
            <a:endParaRPr lang="en-US" sz="1000" dirty="0"/>
          </a:p>
        </p:txBody>
      </p:sp>
      <p:sp>
        <p:nvSpPr>
          <p:cNvPr id="15" name="Text 13"/>
          <p:cNvSpPr txBox="1"/>
          <p:nvPr/>
        </p:nvSpPr>
        <p:spPr>
          <a:xfrm>
            <a:off x="2728314" y="235915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CU01</a:t>
            </a:r>
            <a:endParaRPr lang="en-US" sz="1000" dirty="0"/>
          </a:p>
        </p:txBody>
      </p:sp>
      <p:sp>
        <p:nvSpPr>
          <p:cNvPr id="16" name="Text 14"/>
          <p:cNvSpPr txBox="1"/>
          <p:nvPr/>
        </p:nvSpPr>
        <p:spPr>
          <a:xfrm>
            <a:off x="3951639" y="235915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HU01, HU02</a:t>
            </a:r>
            <a:endParaRPr lang="en-US" sz="1000" dirty="0"/>
          </a:p>
        </p:txBody>
      </p:sp>
      <p:sp>
        <p:nvSpPr>
          <p:cNvPr id="17" name="Shape 15"/>
          <p:cNvSpPr/>
          <p:nvPr/>
        </p:nvSpPr>
        <p:spPr>
          <a:xfrm>
            <a:off x="5193251" y="2404872"/>
            <a:ext cx="457200" cy="219456"/>
          </a:xfrm>
          <a:prstGeom prst="roundRect">
            <a:avLst>
              <a:gd name="adj" fmla="val 50000"/>
            </a:avLst>
          </a:prstGeom>
          <a:solidFill>
            <a:srgbClr val="0B5FFF"/>
          </a:solidFill>
          <a:ln/>
        </p:spPr>
      </p:sp>
      <p:sp>
        <p:nvSpPr>
          <p:cNvPr id="18" name="Text 16"/>
          <p:cNvSpPr txBox="1"/>
          <p:nvPr/>
        </p:nvSpPr>
        <p:spPr>
          <a:xfrm>
            <a:off x="5193251" y="240487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19" name="Text 17"/>
          <p:cNvSpPr txBox="1"/>
          <p:nvPr/>
        </p:nvSpPr>
        <p:spPr>
          <a:xfrm>
            <a:off x="685800" y="268376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RF02</a:t>
            </a:r>
            <a:endParaRPr lang="en-US" sz="1000" dirty="0"/>
          </a:p>
        </p:txBody>
      </p:sp>
      <p:sp>
        <p:nvSpPr>
          <p:cNvPr id="20" name="Text 18"/>
          <p:cNvSpPr txBox="1"/>
          <p:nvPr/>
        </p:nvSpPr>
        <p:spPr>
          <a:xfrm>
            <a:off x="1472223" y="268376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N06</a:t>
            </a:r>
            <a:endParaRPr lang="en-US" sz="1000" dirty="0"/>
          </a:p>
        </p:txBody>
      </p:sp>
      <p:sp>
        <p:nvSpPr>
          <p:cNvPr id="21" name="Text 19"/>
          <p:cNvSpPr txBox="1"/>
          <p:nvPr/>
        </p:nvSpPr>
        <p:spPr>
          <a:xfrm>
            <a:off x="2728314" y="268376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CU02</a:t>
            </a:r>
            <a:endParaRPr lang="en-US" sz="1000" dirty="0"/>
          </a:p>
        </p:txBody>
      </p:sp>
      <p:sp>
        <p:nvSpPr>
          <p:cNvPr id="22" name="Text 20"/>
          <p:cNvSpPr txBox="1"/>
          <p:nvPr/>
        </p:nvSpPr>
        <p:spPr>
          <a:xfrm>
            <a:off x="3951639" y="268376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HU03</a:t>
            </a:r>
            <a:endParaRPr lang="en-US" sz="1000" dirty="0"/>
          </a:p>
        </p:txBody>
      </p:sp>
      <p:sp>
        <p:nvSpPr>
          <p:cNvPr id="23" name="Shape 21"/>
          <p:cNvSpPr/>
          <p:nvPr/>
        </p:nvSpPr>
        <p:spPr>
          <a:xfrm>
            <a:off x="5193251" y="2729484"/>
            <a:ext cx="457200" cy="219456"/>
          </a:xfrm>
          <a:prstGeom prst="roundRect">
            <a:avLst>
              <a:gd name="adj" fmla="val 50000"/>
            </a:avLst>
          </a:prstGeom>
          <a:solidFill>
            <a:srgbClr val="0B5FFF"/>
          </a:solidFill>
          <a:ln/>
        </p:spPr>
      </p:sp>
      <p:sp>
        <p:nvSpPr>
          <p:cNvPr id="24" name="Text 22"/>
          <p:cNvSpPr txBox="1"/>
          <p:nvPr/>
        </p:nvSpPr>
        <p:spPr>
          <a:xfrm>
            <a:off x="5193251" y="272948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25" name="Shape 23"/>
          <p:cNvSpPr/>
          <p:nvPr/>
        </p:nvSpPr>
        <p:spPr>
          <a:xfrm>
            <a:off x="548640" y="3008376"/>
            <a:ext cx="5440680" cy="310896"/>
          </a:xfrm>
          <a:prstGeom prst="roundRect">
            <a:avLst>
              <a:gd name="adj" fmla="val 17647"/>
            </a:avLst>
          </a:prstGeom>
          <a:solidFill>
            <a:srgbClr val="F4F8FF"/>
          </a:solidFill>
          <a:ln/>
        </p:spPr>
      </p:sp>
      <p:sp>
        <p:nvSpPr>
          <p:cNvPr id="26" name="Text 24"/>
          <p:cNvSpPr txBox="1"/>
          <p:nvPr/>
        </p:nvSpPr>
        <p:spPr>
          <a:xfrm>
            <a:off x="685800" y="3008376"/>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RF03</a:t>
            </a:r>
            <a:endParaRPr lang="en-US" sz="1000" dirty="0"/>
          </a:p>
        </p:txBody>
      </p:sp>
      <p:sp>
        <p:nvSpPr>
          <p:cNvPr id="27" name="Text 25"/>
          <p:cNvSpPr txBox="1"/>
          <p:nvPr/>
        </p:nvSpPr>
        <p:spPr>
          <a:xfrm>
            <a:off x="1472223" y="3008376"/>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N06, N07</a:t>
            </a:r>
            <a:endParaRPr lang="en-US" sz="1000" dirty="0"/>
          </a:p>
        </p:txBody>
      </p:sp>
      <p:sp>
        <p:nvSpPr>
          <p:cNvPr id="28" name="Text 26"/>
          <p:cNvSpPr txBox="1"/>
          <p:nvPr/>
        </p:nvSpPr>
        <p:spPr>
          <a:xfrm>
            <a:off x="2728314" y="300837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CU02</a:t>
            </a:r>
            <a:endParaRPr lang="en-US" sz="1000" dirty="0"/>
          </a:p>
        </p:txBody>
      </p:sp>
      <p:sp>
        <p:nvSpPr>
          <p:cNvPr id="29" name="Text 27"/>
          <p:cNvSpPr txBox="1"/>
          <p:nvPr/>
        </p:nvSpPr>
        <p:spPr>
          <a:xfrm>
            <a:off x="3951639" y="300837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HU04</a:t>
            </a:r>
            <a:endParaRPr lang="en-US" sz="1000" dirty="0"/>
          </a:p>
        </p:txBody>
      </p:sp>
      <p:sp>
        <p:nvSpPr>
          <p:cNvPr id="30" name="Shape 28"/>
          <p:cNvSpPr/>
          <p:nvPr/>
        </p:nvSpPr>
        <p:spPr>
          <a:xfrm>
            <a:off x="5193251" y="3054096"/>
            <a:ext cx="457200" cy="219456"/>
          </a:xfrm>
          <a:prstGeom prst="roundRect">
            <a:avLst>
              <a:gd name="adj" fmla="val 50000"/>
            </a:avLst>
          </a:prstGeom>
          <a:solidFill>
            <a:srgbClr val="0B5FFF"/>
          </a:solidFill>
          <a:ln/>
        </p:spPr>
      </p:sp>
      <p:sp>
        <p:nvSpPr>
          <p:cNvPr id="31" name="Text 29"/>
          <p:cNvSpPr txBox="1"/>
          <p:nvPr/>
        </p:nvSpPr>
        <p:spPr>
          <a:xfrm>
            <a:off x="5193251" y="3054096"/>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32" name="Text 30"/>
          <p:cNvSpPr txBox="1"/>
          <p:nvPr/>
        </p:nvSpPr>
        <p:spPr>
          <a:xfrm>
            <a:off x="685800" y="3332988"/>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RF04</a:t>
            </a:r>
            <a:endParaRPr lang="en-US" sz="1000" dirty="0"/>
          </a:p>
        </p:txBody>
      </p:sp>
      <p:sp>
        <p:nvSpPr>
          <p:cNvPr id="33" name="Text 31"/>
          <p:cNvSpPr txBox="1"/>
          <p:nvPr/>
        </p:nvSpPr>
        <p:spPr>
          <a:xfrm>
            <a:off x="1472223" y="3332988"/>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N11</a:t>
            </a:r>
            <a:endParaRPr lang="en-US" sz="1000" dirty="0"/>
          </a:p>
        </p:txBody>
      </p:sp>
      <p:sp>
        <p:nvSpPr>
          <p:cNvPr id="34" name="Text 32"/>
          <p:cNvSpPr txBox="1"/>
          <p:nvPr/>
        </p:nvSpPr>
        <p:spPr>
          <a:xfrm>
            <a:off x="2728314" y="333298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CU03</a:t>
            </a:r>
            <a:endParaRPr lang="en-US" sz="1000" dirty="0"/>
          </a:p>
        </p:txBody>
      </p:sp>
      <p:sp>
        <p:nvSpPr>
          <p:cNvPr id="35" name="Text 33"/>
          <p:cNvSpPr txBox="1"/>
          <p:nvPr/>
        </p:nvSpPr>
        <p:spPr>
          <a:xfrm>
            <a:off x="3951639" y="333298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HU05</a:t>
            </a:r>
            <a:endParaRPr lang="en-US" sz="1000" dirty="0"/>
          </a:p>
        </p:txBody>
      </p:sp>
      <p:sp>
        <p:nvSpPr>
          <p:cNvPr id="36" name="Shape 34"/>
          <p:cNvSpPr/>
          <p:nvPr/>
        </p:nvSpPr>
        <p:spPr>
          <a:xfrm>
            <a:off x="5193251" y="3378708"/>
            <a:ext cx="457200" cy="219456"/>
          </a:xfrm>
          <a:prstGeom prst="roundRect">
            <a:avLst>
              <a:gd name="adj" fmla="val 50000"/>
            </a:avLst>
          </a:prstGeom>
          <a:solidFill>
            <a:srgbClr val="0B5FFF"/>
          </a:solidFill>
          <a:ln/>
        </p:spPr>
      </p:sp>
      <p:sp>
        <p:nvSpPr>
          <p:cNvPr id="37" name="Text 35"/>
          <p:cNvSpPr txBox="1"/>
          <p:nvPr/>
        </p:nvSpPr>
        <p:spPr>
          <a:xfrm>
            <a:off x="5193251" y="3378708"/>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38" name="Shape 36"/>
          <p:cNvSpPr/>
          <p:nvPr/>
        </p:nvSpPr>
        <p:spPr>
          <a:xfrm>
            <a:off x="548640" y="3657600"/>
            <a:ext cx="5440680" cy="310896"/>
          </a:xfrm>
          <a:prstGeom prst="roundRect">
            <a:avLst>
              <a:gd name="adj" fmla="val 17647"/>
            </a:avLst>
          </a:prstGeom>
          <a:solidFill>
            <a:srgbClr val="F4F8FF"/>
          </a:solidFill>
          <a:ln/>
        </p:spPr>
      </p:sp>
      <p:sp>
        <p:nvSpPr>
          <p:cNvPr id="39" name="Text 37"/>
          <p:cNvSpPr txBox="1"/>
          <p:nvPr/>
        </p:nvSpPr>
        <p:spPr>
          <a:xfrm>
            <a:off x="685800" y="3657600"/>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RF05</a:t>
            </a:r>
            <a:endParaRPr lang="en-US" sz="1000" dirty="0"/>
          </a:p>
        </p:txBody>
      </p:sp>
      <p:sp>
        <p:nvSpPr>
          <p:cNvPr id="40" name="Text 38"/>
          <p:cNvSpPr txBox="1"/>
          <p:nvPr/>
        </p:nvSpPr>
        <p:spPr>
          <a:xfrm>
            <a:off x="1472223" y="3657600"/>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N01</a:t>
            </a:r>
            <a:endParaRPr lang="en-US" sz="1000" dirty="0"/>
          </a:p>
        </p:txBody>
      </p:sp>
      <p:sp>
        <p:nvSpPr>
          <p:cNvPr id="41" name="Text 39"/>
          <p:cNvSpPr txBox="1"/>
          <p:nvPr/>
        </p:nvSpPr>
        <p:spPr>
          <a:xfrm>
            <a:off x="2728314" y="365760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CU04</a:t>
            </a:r>
            <a:endParaRPr lang="en-US" sz="1000" dirty="0"/>
          </a:p>
        </p:txBody>
      </p:sp>
      <p:sp>
        <p:nvSpPr>
          <p:cNvPr id="42" name="Text 40"/>
          <p:cNvSpPr txBox="1"/>
          <p:nvPr/>
        </p:nvSpPr>
        <p:spPr>
          <a:xfrm>
            <a:off x="3951639" y="365760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HU20</a:t>
            </a:r>
            <a:endParaRPr lang="en-US" sz="1000" dirty="0"/>
          </a:p>
        </p:txBody>
      </p:sp>
      <p:sp>
        <p:nvSpPr>
          <p:cNvPr id="43" name="Shape 41"/>
          <p:cNvSpPr/>
          <p:nvPr/>
        </p:nvSpPr>
        <p:spPr>
          <a:xfrm>
            <a:off x="5193251" y="3703320"/>
            <a:ext cx="457200" cy="219456"/>
          </a:xfrm>
          <a:prstGeom prst="roundRect">
            <a:avLst>
              <a:gd name="adj" fmla="val 50000"/>
            </a:avLst>
          </a:prstGeom>
          <a:solidFill>
            <a:srgbClr val="FF8A00"/>
          </a:solidFill>
          <a:ln/>
        </p:spPr>
      </p:sp>
      <p:sp>
        <p:nvSpPr>
          <p:cNvPr id="44" name="Text 42"/>
          <p:cNvSpPr txBox="1"/>
          <p:nvPr/>
        </p:nvSpPr>
        <p:spPr>
          <a:xfrm>
            <a:off x="5193251" y="3703320"/>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45" name="Text 43"/>
          <p:cNvSpPr txBox="1"/>
          <p:nvPr/>
        </p:nvSpPr>
        <p:spPr>
          <a:xfrm>
            <a:off x="685800" y="398221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RF06</a:t>
            </a:r>
            <a:endParaRPr lang="en-US" sz="1000" dirty="0"/>
          </a:p>
        </p:txBody>
      </p:sp>
      <p:sp>
        <p:nvSpPr>
          <p:cNvPr id="46" name="Text 44"/>
          <p:cNvSpPr txBox="1"/>
          <p:nvPr/>
        </p:nvSpPr>
        <p:spPr>
          <a:xfrm>
            <a:off x="1472223" y="398221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N01</a:t>
            </a:r>
            <a:endParaRPr lang="en-US" sz="1000" dirty="0"/>
          </a:p>
        </p:txBody>
      </p:sp>
      <p:sp>
        <p:nvSpPr>
          <p:cNvPr id="47" name="Text 45"/>
          <p:cNvSpPr txBox="1"/>
          <p:nvPr/>
        </p:nvSpPr>
        <p:spPr>
          <a:xfrm>
            <a:off x="2728314" y="398221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CU05</a:t>
            </a:r>
            <a:endParaRPr lang="en-US" sz="1000" dirty="0"/>
          </a:p>
        </p:txBody>
      </p:sp>
      <p:sp>
        <p:nvSpPr>
          <p:cNvPr id="48" name="Text 46"/>
          <p:cNvSpPr txBox="1"/>
          <p:nvPr/>
        </p:nvSpPr>
        <p:spPr>
          <a:xfrm>
            <a:off x="3951639" y="398221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HU06</a:t>
            </a:r>
            <a:endParaRPr lang="en-US" sz="1000" dirty="0"/>
          </a:p>
        </p:txBody>
      </p:sp>
      <p:sp>
        <p:nvSpPr>
          <p:cNvPr id="49" name="Shape 47"/>
          <p:cNvSpPr/>
          <p:nvPr/>
        </p:nvSpPr>
        <p:spPr>
          <a:xfrm>
            <a:off x="5193251" y="4027932"/>
            <a:ext cx="457200" cy="219456"/>
          </a:xfrm>
          <a:prstGeom prst="roundRect">
            <a:avLst>
              <a:gd name="adj" fmla="val 50000"/>
            </a:avLst>
          </a:prstGeom>
          <a:solidFill>
            <a:srgbClr val="0B5FFF"/>
          </a:solidFill>
          <a:ln/>
        </p:spPr>
      </p:sp>
      <p:sp>
        <p:nvSpPr>
          <p:cNvPr id="50" name="Text 48"/>
          <p:cNvSpPr txBox="1"/>
          <p:nvPr/>
        </p:nvSpPr>
        <p:spPr>
          <a:xfrm>
            <a:off x="5193251" y="402793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51" name="Shape 49"/>
          <p:cNvSpPr/>
          <p:nvPr/>
        </p:nvSpPr>
        <p:spPr>
          <a:xfrm>
            <a:off x="548640" y="4306824"/>
            <a:ext cx="5440680" cy="310896"/>
          </a:xfrm>
          <a:prstGeom prst="roundRect">
            <a:avLst>
              <a:gd name="adj" fmla="val 17647"/>
            </a:avLst>
          </a:prstGeom>
          <a:solidFill>
            <a:srgbClr val="F4F8FF"/>
          </a:solidFill>
          <a:ln/>
        </p:spPr>
      </p:sp>
      <p:sp>
        <p:nvSpPr>
          <p:cNvPr id="52" name="Text 50"/>
          <p:cNvSpPr txBox="1"/>
          <p:nvPr/>
        </p:nvSpPr>
        <p:spPr>
          <a:xfrm>
            <a:off x="685800" y="430682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RF07</a:t>
            </a:r>
            <a:endParaRPr lang="en-US" sz="1000" dirty="0"/>
          </a:p>
        </p:txBody>
      </p:sp>
      <p:sp>
        <p:nvSpPr>
          <p:cNvPr id="53" name="Text 51"/>
          <p:cNvSpPr txBox="1"/>
          <p:nvPr/>
        </p:nvSpPr>
        <p:spPr>
          <a:xfrm>
            <a:off x="1472223" y="430682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N01, N09</a:t>
            </a:r>
            <a:endParaRPr lang="en-US" sz="1000" dirty="0"/>
          </a:p>
        </p:txBody>
      </p:sp>
      <p:sp>
        <p:nvSpPr>
          <p:cNvPr id="54" name="Text 52"/>
          <p:cNvSpPr txBox="1"/>
          <p:nvPr/>
        </p:nvSpPr>
        <p:spPr>
          <a:xfrm>
            <a:off x="2728314" y="430682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CU05</a:t>
            </a:r>
            <a:endParaRPr lang="en-US" sz="1000" dirty="0"/>
          </a:p>
        </p:txBody>
      </p:sp>
      <p:sp>
        <p:nvSpPr>
          <p:cNvPr id="55" name="Text 53"/>
          <p:cNvSpPr txBox="1"/>
          <p:nvPr/>
        </p:nvSpPr>
        <p:spPr>
          <a:xfrm>
            <a:off x="3951639" y="430682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HU07</a:t>
            </a:r>
            <a:endParaRPr lang="en-US" sz="1000" dirty="0"/>
          </a:p>
        </p:txBody>
      </p:sp>
      <p:sp>
        <p:nvSpPr>
          <p:cNvPr id="56" name="Shape 54"/>
          <p:cNvSpPr/>
          <p:nvPr/>
        </p:nvSpPr>
        <p:spPr>
          <a:xfrm>
            <a:off x="5193251" y="4352544"/>
            <a:ext cx="457200" cy="219456"/>
          </a:xfrm>
          <a:prstGeom prst="roundRect">
            <a:avLst>
              <a:gd name="adj" fmla="val 50000"/>
            </a:avLst>
          </a:prstGeom>
          <a:solidFill>
            <a:srgbClr val="0B5FFF"/>
          </a:solidFill>
          <a:ln/>
        </p:spPr>
      </p:sp>
      <p:sp>
        <p:nvSpPr>
          <p:cNvPr id="57" name="Text 55"/>
          <p:cNvSpPr txBox="1"/>
          <p:nvPr/>
        </p:nvSpPr>
        <p:spPr>
          <a:xfrm>
            <a:off x="5193251" y="435254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S1</a:t>
            </a:r>
            <a:endParaRPr lang="en-US" sz="850" dirty="0"/>
          </a:p>
        </p:txBody>
      </p:sp>
      <p:sp>
        <p:nvSpPr>
          <p:cNvPr id="58" name="Text 56"/>
          <p:cNvSpPr txBox="1"/>
          <p:nvPr/>
        </p:nvSpPr>
        <p:spPr>
          <a:xfrm>
            <a:off x="685800" y="4631436"/>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RF08</a:t>
            </a:r>
            <a:endParaRPr lang="en-US" sz="1000" dirty="0"/>
          </a:p>
        </p:txBody>
      </p:sp>
      <p:sp>
        <p:nvSpPr>
          <p:cNvPr id="59" name="Text 57"/>
          <p:cNvSpPr txBox="1"/>
          <p:nvPr/>
        </p:nvSpPr>
        <p:spPr>
          <a:xfrm>
            <a:off x="1472223" y="4631436"/>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N01</a:t>
            </a:r>
            <a:endParaRPr lang="en-US" sz="1000" dirty="0"/>
          </a:p>
        </p:txBody>
      </p:sp>
      <p:sp>
        <p:nvSpPr>
          <p:cNvPr id="60" name="Text 58"/>
          <p:cNvSpPr txBox="1"/>
          <p:nvPr/>
        </p:nvSpPr>
        <p:spPr>
          <a:xfrm>
            <a:off x="2728314" y="463143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CU05</a:t>
            </a:r>
            <a:endParaRPr lang="en-US" sz="1000" dirty="0"/>
          </a:p>
        </p:txBody>
      </p:sp>
      <p:sp>
        <p:nvSpPr>
          <p:cNvPr id="61" name="Text 59"/>
          <p:cNvSpPr txBox="1"/>
          <p:nvPr/>
        </p:nvSpPr>
        <p:spPr>
          <a:xfrm>
            <a:off x="3951639" y="463143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HU22</a:t>
            </a:r>
            <a:endParaRPr lang="en-US" sz="1000" dirty="0"/>
          </a:p>
        </p:txBody>
      </p:sp>
      <p:sp>
        <p:nvSpPr>
          <p:cNvPr id="62" name="Shape 60"/>
          <p:cNvSpPr/>
          <p:nvPr/>
        </p:nvSpPr>
        <p:spPr>
          <a:xfrm>
            <a:off x="5193251" y="4677156"/>
            <a:ext cx="457200" cy="219456"/>
          </a:xfrm>
          <a:prstGeom prst="roundRect">
            <a:avLst>
              <a:gd name="adj" fmla="val 50000"/>
            </a:avLst>
          </a:prstGeom>
          <a:solidFill>
            <a:srgbClr val="FF8A00"/>
          </a:solidFill>
          <a:ln/>
        </p:spPr>
      </p:sp>
      <p:sp>
        <p:nvSpPr>
          <p:cNvPr id="63" name="Text 61"/>
          <p:cNvSpPr txBox="1"/>
          <p:nvPr/>
        </p:nvSpPr>
        <p:spPr>
          <a:xfrm>
            <a:off x="5193251" y="4677156"/>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64" name="Shape 62"/>
          <p:cNvSpPr/>
          <p:nvPr/>
        </p:nvSpPr>
        <p:spPr>
          <a:xfrm>
            <a:off x="548640" y="4956048"/>
            <a:ext cx="5440680" cy="310896"/>
          </a:xfrm>
          <a:prstGeom prst="roundRect">
            <a:avLst>
              <a:gd name="adj" fmla="val 17647"/>
            </a:avLst>
          </a:prstGeom>
          <a:solidFill>
            <a:srgbClr val="F4F8FF"/>
          </a:solidFill>
          <a:ln/>
        </p:spPr>
      </p:sp>
      <p:sp>
        <p:nvSpPr>
          <p:cNvPr id="65" name="Text 63"/>
          <p:cNvSpPr txBox="1"/>
          <p:nvPr/>
        </p:nvSpPr>
        <p:spPr>
          <a:xfrm>
            <a:off x="685800" y="4956048"/>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RF09</a:t>
            </a:r>
            <a:endParaRPr lang="en-US" sz="1000" dirty="0"/>
          </a:p>
        </p:txBody>
      </p:sp>
      <p:sp>
        <p:nvSpPr>
          <p:cNvPr id="66" name="Text 64"/>
          <p:cNvSpPr txBox="1"/>
          <p:nvPr/>
        </p:nvSpPr>
        <p:spPr>
          <a:xfrm>
            <a:off x="1472223" y="4956048"/>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N09</a:t>
            </a:r>
            <a:endParaRPr lang="en-US" sz="1000" dirty="0"/>
          </a:p>
        </p:txBody>
      </p:sp>
      <p:sp>
        <p:nvSpPr>
          <p:cNvPr id="67" name="Text 65"/>
          <p:cNvSpPr txBox="1"/>
          <p:nvPr/>
        </p:nvSpPr>
        <p:spPr>
          <a:xfrm>
            <a:off x="2728314" y="495604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CU05 (ext.)</a:t>
            </a:r>
            <a:endParaRPr lang="en-US" sz="1000" dirty="0"/>
          </a:p>
        </p:txBody>
      </p:sp>
      <p:sp>
        <p:nvSpPr>
          <p:cNvPr id="68" name="Text 66"/>
          <p:cNvSpPr txBox="1"/>
          <p:nvPr/>
        </p:nvSpPr>
        <p:spPr>
          <a:xfrm>
            <a:off x="3951639" y="495604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HU10</a:t>
            </a:r>
            <a:endParaRPr lang="en-US" sz="1000" dirty="0"/>
          </a:p>
        </p:txBody>
      </p:sp>
      <p:sp>
        <p:nvSpPr>
          <p:cNvPr id="69" name="Shape 67"/>
          <p:cNvSpPr/>
          <p:nvPr/>
        </p:nvSpPr>
        <p:spPr>
          <a:xfrm>
            <a:off x="5193251" y="5001768"/>
            <a:ext cx="457200" cy="219456"/>
          </a:xfrm>
          <a:prstGeom prst="roundRect">
            <a:avLst>
              <a:gd name="adj" fmla="val 50000"/>
            </a:avLst>
          </a:prstGeom>
          <a:solidFill>
            <a:srgbClr val="7B5CFF"/>
          </a:solidFill>
          <a:ln/>
        </p:spPr>
      </p:sp>
      <p:sp>
        <p:nvSpPr>
          <p:cNvPr id="70" name="Text 68"/>
          <p:cNvSpPr txBox="1"/>
          <p:nvPr/>
        </p:nvSpPr>
        <p:spPr>
          <a:xfrm>
            <a:off x="5193251" y="5001768"/>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71" name="Text 69"/>
          <p:cNvSpPr txBox="1"/>
          <p:nvPr/>
        </p:nvSpPr>
        <p:spPr>
          <a:xfrm>
            <a:off x="685800" y="5280660"/>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RF10</a:t>
            </a:r>
            <a:endParaRPr lang="en-US" sz="1000" dirty="0"/>
          </a:p>
        </p:txBody>
      </p:sp>
      <p:sp>
        <p:nvSpPr>
          <p:cNvPr id="72" name="Text 70"/>
          <p:cNvSpPr txBox="1"/>
          <p:nvPr/>
        </p:nvSpPr>
        <p:spPr>
          <a:xfrm>
            <a:off x="1472223" y="5280660"/>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a:t>
            </a:r>
            <a:endParaRPr lang="en-US" sz="1000" dirty="0"/>
          </a:p>
        </p:txBody>
      </p:sp>
      <p:sp>
        <p:nvSpPr>
          <p:cNvPr id="73" name="Text 71"/>
          <p:cNvSpPr txBox="1"/>
          <p:nvPr/>
        </p:nvSpPr>
        <p:spPr>
          <a:xfrm>
            <a:off x="2728314" y="528066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CU06</a:t>
            </a:r>
            <a:endParaRPr lang="en-US" sz="1000" dirty="0"/>
          </a:p>
        </p:txBody>
      </p:sp>
      <p:sp>
        <p:nvSpPr>
          <p:cNvPr id="74" name="Text 72"/>
          <p:cNvSpPr txBox="1"/>
          <p:nvPr/>
        </p:nvSpPr>
        <p:spPr>
          <a:xfrm>
            <a:off x="3951639" y="528066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HU09</a:t>
            </a:r>
            <a:endParaRPr lang="en-US" sz="1000" dirty="0"/>
          </a:p>
        </p:txBody>
      </p:sp>
      <p:sp>
        <p:nvSpPr>
          <p:cNvPr id="75" name="Shape 73"/>
          <p:cNvSpPr/>
          <p:nvPr/>
        </p:nvSpPr>
        <p:spPr>
          <a:xfrm>
            <a:off x="5193251" y="5326380"/>
            <a:ext cx="457200" cy="219456"/>
          </a:xfrm>
          <a:prstGeom prst="roundRect">
            <a:avLst>
              <a:gd name="adj" fmla="val 50000"/>
            </a:avLst>
          </a:prstGeom>
          <a:solidFill>
            <a:srgbClr val="7B5CFF"/>
          </a:solidFill>
          <a:ln/>
        </p:spPr>
      </p:sp>
      <p:sp>
        <p:nvSpPr>
          <p:cNvPr id="76" name="Text 74"/>
          <p:cNvSpPr txBox="1"/>
          <p:nvPr/>
        </p:nvSpPr>
        <p:spPr>
          <a:xfrm>
            <a:off x="5193251" y="5326380"/>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77" name="Shape 75"/>
          <p:cNvSpPr/>
          <p:nvPr/>
        </p:nvSpPr>
        <p:spPr>
          <a:xfrm>
            <a:off x="548640" y="5605272"/>
            <a:ext cx="5440680" cy="310896"/>
          </a:xfrm>
          <a:prstGeom prst="roundRect">
            <a:avLst>
              <a:gd name="adj" fmla="val 17647"/>
            </a:avLst>
          </a:prstGeom>
          <a:solidFill>
            <a:srgbClr val="F4F8FF"/>
          </a:solidFill>
          <a:ln/>
        </p:spPr>
      </p:sp>
      <p:sp>
        <p:nvSpPr>
          <p:cNvPr id="78" name="Text 76"/>
          <p:cNvSpPr txBox="1"/>
          <p:nvPr/>
        </p:nvSpPr>
        <p:spPr>
          <a:xfrm>
            <a:off x="685800" y="560527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RF11</a:t>
            </a:r>
            <a:endParaRPr lang="en-US" sz="1000" dirty="0"/>
          </a:p>
        </p:txBody>
      </p:sp>
      <p:sp>
        <p:nvSpPr>
          <p:cNvPr id="79" name="Text 77"/>
          <p:cNvSpPr txBox="1"/>
          <p:nvPr/>
        </p:nvSpPr>
        <p:spPr>
          <a:xfrm>
            <a:off x="1472223" y="560527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a:t>
            </a:r>
            <a:endParaRPr lang="en-US" sz="1000" dirty="0"/>
          </a:p>
        </p:txBody>
      </p:sp>
      <p:sp>
        <p:nvSpPr>
          <p:cNvPr id="80" name="Text 78"/>
          <p:cNvSpPr txBox="1"/>
          <p:nvPr/>
        </p:nvSpPr>
        <p:spPr>
          <a:xfrm>
            <a:off x="2728314" y="560527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CU05 (ext.)</a:t>
            </a:r>
            <a:endParaRPr lang="en-US" sz="1000" dirty="0"/>
          </a:p>
        </p:txBody>
      </p:sp>
      <p:sp>
        <p:nvSpPr>
          <p:cNvPr id="81" name="Text 79"/>
          <p:cNvSpPr txBox="1"/>
          <p:nvPr/>
        </p:nvSpPr>
        <p:spPr>
          <a:xfrm>
            <a:off x="3951639" y="560527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HU23</a:t>
            </a:r>
            <a:endParaRPr lang="en-US" sz="1000" dirty="0"/>
          </a:p>
        </p:txBody>
      </p:sp>
      <p:sp>
        <p:nvSpPr>
          <p:cNvPr id="82" name="Shape 80"/>
          <p:cNvSpPr/>
          <p:nvPr/>
        </p:nvSpPr>
        <p:spPr>
          <a:xfrm>
            <a:off x="5193251" y="5650992"/>
            <a:ext cx="457200" cy="219456"/>
          </a:xfrm>
          <a:prstGeom prst="roundRect">
            <a:avLst>
              <a:gd name="adj" fmla="val 50000"/>
            </a:avLst>
          </a:prstGeom>
          <a:solidFill>
            <a:srgbClr val="FF8A00"/>
          </a:solidFill>
          <a:ln/>
        </p:spPr>
      </p:sp>
      <p:sp>
        <p:nvSpPr>
          <p:cNvPr id="83" name="Text 81"/>
          <p:cNvSpPr txBox="1"/>
          <p:nvPr/>
        </p:nvSpPr>
        <p:spPr>
          <a:xfrm>
            <a:off x="5193251" y="565099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84" name="Text 82"/>
          <p:cNvSpPr txBox="1"/>
          <p:nvPr/>
        </p:nvSpPr>
        <p:spPr>
          <a:xfrm>
            <a:off x="685800" y="592988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RF12</a:t>
            </a:r>
            <a:endParaRPr lang="en-US" sz="1000" dirty="0"/>
          </a:p>
        </p:txBody>
      </p:sp>
      <p:sp>
        <p:nvSpPr>
          <p:cNvPr id="85" name="Text 83"/>
          <p:cNvSpPr txBox="1"/>
          <p:nvPr/>
        </p:nvSpPr>
        <p:spPr>
          <a:xfrm>
            <a:off x="1472223" y="592988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N01</a:t>
            </a:r>
            <a:endParaRPr lang="en-US" sz="1000" dirty="0"/>
          </a:p>
        </p:txBody>
      </p:sp>
      <p:sp>
        <p:nvSpPr>
          <p:cNvPr id="86" name="Text 84"/>
          <p:cNvSpPr txBox="1"/>
          <p:nvPr/>
        </p:nvSpPr>
        <p:spPr>
          <a:xfrm>
            <a:off x="2728314" y="592988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CU15</a:t>
            </a:r>
            <a:endParaRPr lang="en-US" sz="1000" dirty="0"/>
          </a:p>
        </p:txBody>
      </p:sp>
      <p:sp>
        <p:nvSpPr>
          <p:cNvPr id="87" name="Text 85"/>
          <p:cNvSpPr txBox="1"/>
          <p:nvPr/>
        </p:nvSpPr>
        <p:spPr>
          <a:xfrm>
            <a:off x="3951639" y="592988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HU08</a:t>
            </a:r>
            <a:endParaRPr lang="en-US" sz="1000" dirty="0"/>
          </a:p>
        </p:txBody>
      </p:sp>
      <p:sp>
        <p:nvSpPr>
          <p:cNvPr id="88" name="Shape 86"/>
          <p:cNvSpPr/>
          <p:nvPr/>
        </p:nvSpPr>
        <p:spPr>
          <a:xfrm>
            <a:off x="5193251" y="5975604"/>
            <a:ext cx="457200" cy="219456"/>
          </a:xfrm>
          <a:prstGeom prst="roundRect">
            <a:avLst>
              <a:gd name="adj" fmla="val 50000"/>
            </a:avLst>
          </a:prstGeom>
          <a:solidFill>
            <a:srgbClr val="7B5CFF"/>
          </a:solidFill>
          <a:ln/>
        </p:spPr>
      </p:sp>
      <p:sp>
        <p:nvSpPr>
          <p:cNvPr id="89" name="Text 87"/>
          <p:cNvSpPr txBox="1"/>
          <p:nvPr/>
        </p:nvSpPr>
        <p:spPr>
          <a:xfrm>
            <a:off x="5193251" y="597560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90" name="Shape 88"/>
          <p:cNvSpPr/>
          <p:nvPr/>
        </p:nvSpPr>
        <p:spPr>
          <a:xfrm>
            <a:off x="6172200" y="1993392"/>
            <a:ext cx="5440680" cy="329184"/>
          </a:xfrm>
          <a:prstGeom prst="roundRect">
            <a:avLst>
              <a:gd name="adj" fmla="val 22222"/>
            </a:avLst>
          </a:prstGeom>
          <a:solidFill>
            <a:srgbClr val="0B1E4F"/>
          </a:solidFill>
          <a:ln/>
        </p:spPr>
      </p:sp>
      <p:sp>
        <p:nvSpPr>
          <p:cNvPr id="91" name="Text 89"/>
          <p:cNvSpPr txBox="1"/>
          <p:nvPr/>
        </p:nvSpPr>
        <p:spPr>
          <a:xfrm>
            <a:off x="6309360" y="1993392"/>
            <a:ext cx="786423"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RF</a:t>
            </a:r>
            <a:endParaRPr lang="en-US" sz="800" dirty="0"/>
          </a:p>
        </p:txBody>
      </p:sp>
      <p:sp>
        <p:nvSpPr>
          <p:cNvPr id="92" name="Text 90"/>
          <p:cNvSpPr txBox="1"/>
          <p:nvPr/>
        </p:nvSpPr>
        <p:spPr>
          <a:xfrm>
            <a:off x="7095783" y="1993392"/>
            <a:ext cx="1256092"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NECESIDAD</a:t>
            </a:r>
            <a:endParaRPr lang="en-US" sz="800" dirty="0"/>
          </a:p>
        </p:txBody>
      </p:sp>
      <p:sp>
        <p:nvSpPr>
          <p:cNvPr id="93" name="Text 91"/>
          <p:cNvSpPr txBox="1"/>
          <p:nvPr/>
        </p:nvSpPr>
        <p:spPr>
          <a:xfrm>
            <a:off x="8351874" y="1993392"/>
            <a:ext cx="1223324"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CASO DE USO</a:t>
            </a:r>
            <a:endParaRPr lang="en-US" sz="800" dirty="0"/>
          </a:p>
        </p:txBody>
      </p:sp>
      <p:sp>
        <p:nvSpPr>
          <p:cNvPr id="94" name="Text 92"/>
          <p:cNvSpPr txBox="1"/>
          <p:nvPr/>
        </p:nvSpPr>
        <p:spPr>
          <a:xfrm>
            <a:off x="9575199" y="1993392"/>
            <a:ext cx="1223324"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HISTORIA</a:t>
            </a:r>
            <a:endParaRPr lang="en-US" sz="800" dirty="0"/>
          </a:p>
        </p:txBody>
      </p:sp>
      <p:sp>
        <p:nvSpPr>
          <p:cNvPr id="95" name="Text 93"/>
          <p:cNvSpPr txBox="1"/>
          <p:nvPr/>
        </p:nvSpPr>
        <p:spPr>
          <a:xfrm>
            <a:off x="10798523" y="1993392"/>
            <a:ext cx="677197" cy="329184"/>
          </a:xfrm>
          <a:prstGeom prst="rect">
            <a:avLst/>
          </a:prstGeom>
          <a:noFill/>
          <a:ln/>
        </p:spPr>
        <p:txBody>
          <a:bodyPr wrap="square" lIns="0" tIns="0" rIns="0" bIns="0" rtlCol="0" anchor="ctr"/>
          <a:lstStyle/>
          <a:p>
            <a:pPr indent="0" marL="0">
              <a:buNone/>
            </a:pPr>
            <a:r>
              <a:rPr lang="en-US" sz="800" b="1" spc="100" kern="0" dirty="0">
                <a:solidFill>
                  <a:srgbClr val="FFFFFF"/>
                </a:solidFill>
                <a:latin typeface="Montserrat" pitchFamily="34" charset="0"/>
                <a:ea typeface="Montserrat" pitchFamily="34" charset="-122"/>
                <a:cs typeface="Montserrat" pitchFamily="34" charset="-120"/>
              </a:rPr>
              <a:t>SPRINT</a:t>
            </a:r>
            <a:endParaRPr lang="en-US" sz="800" dirty="0"/>
          </a:p>
        </p:txBody>
      </p:sp>
      <p:sp>
        <p:nvSpPr>
          <p:cNvPr id="96" name="Shape 94"/>
          <p:cNvSpPr/>
          <p:nvPr/>
        </p:nvSpPr>
        <p:spPr>
          <a:xfrm>
            <a:off x="6172200" y="2359152"/>
            <a:ext cx="5440680" cy="310896"/>
          </a:xfrm>
          <a:prstGeom prst="roundRect">
            <a:avLst>
              <a:gd name="adj" fmla="val 17647"/>
            </a:avLst>
          </a:prstGeom>
          <a:solidFill>
            <a:srgbClr val="F4F8FF"/>
          </a:solidFill>
          <a:ln/>
        </p:spPr>
      </p:sp>
      <p:sp>
        <p:nvSpPr>
          <p:cNvPr id="97" name="Text 95"/>
          <p:cNvSpPr txBox="1"/>
          <p:nvPr/>
        </p:nvSpPr>
        <p:spPr>
          <a:xfrm>
            <a:off x="6309360" y="235915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RF13</a:t>
            </a:r>
            <a:endParaRPr lang="en-US" sz="1000" dirty="0"/>
          </a:p>
        </p:txBody>
      </p:sp>
      <p:sp>
        <p:nvSpPr>
          <p:cNvPr id="98" name="Text 96"/>
          <p:cNvSpPr txBox="1"/>
          <p:nvPr/>
        </p:nvSpPr>
        <p:spPr>
          <a:xfrm>
            <a:off x="7095783" y="235915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N03, N08</a:t>
            </a:r>
            <a:endParaRPr lang="en-US" sz="1000" dirty="0"/>
          </a:p>
        </p:txBody>
      </p:sp>
      <p:sp>
        <p:nvSpPr>
          <p:cNvPr id="99" name="Text 97"/>
          <p:cNvSpPr txBox="1"/>
          <p:nvPr/>
        </p:nvSpPr>
        <p:spPr>
          <a:xfrm>
            <a:off x="8351874" y="235915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CU07</a:t>
            </a:r>
            <a:endParaRPr lang="en-US" sz="1000" dirty="0"/>
          </a:p>
        </p:txBody>
      </p:sp>
      <p:sp>
        <p:nvSpPr>
          <p:cNvPr id="100" name="Text 98"/>
          <p:cNvSpPr txBox="1"/>
          <p:nvPr/>
        </p:nvSpPr>
        <p:spPr>
          <a:xfrm>
            <a:off x="9575199" y="235915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HU11</a:t>
            </a:r>
            <a:endParaRPr lang="en-US" sz="1000" dirty="0"/>
          </a:p>
        </p:txBody>
      </p:sp>
      <p:sp>
        <p:nvSpPr>
          <p:cNvPr id="101" name="Shape 99"/>
          <p:cNvSpPr/>
          <p:nvPr/>
        </p:nvSpPr>
        <p:spPr>
          <a:xfrm>
            <a:off x="10816811" y="2404872"/>
            <a:ext cx="457200" cy="219456"/>
          </a:xfrm>
          <a:prstGeom prst="roundRect">
            <a:avLst>
              <a:gd name="adj" fmla="val 50000"/>
            </a:avLst>
          </a:prstGeom>
          <a:solidFill>
            <a:srgbClr val="7B5CFF"/>
          </a:solidFill>
          <a:ln/>
        </p:spPr>
      </p:sp>
      <p:sp>
        <p:nvSpPr>
          <p:cNvPr id="102" name="Text 100"/>
          <p:cNvSpPr txBox="1"/>
          <p:nvPr/>
        </p:nvSpPr>
        <p:spPr>
          <a:xfrm>
            <a:off x="10816811" y="240487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103" name="Text 101"/>
          <p:cNvSpPr txBox="1"/>
          <p:nvPr/>
        </p:nvSpPr>
        <p:spPr>
          <a:xfrm>
            <a:off x="6309360" y="268376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RF14</a:t>
            </a:r>
            <a:endParaRPr lang="en-US" sz="1000" dirty="0"/>
          </a:p>
        </p:txBody>
      </p:sp>
      <p:sp>
        <p:nvSpPr>
          <p:cNvPr id="104" name="Text 102"/>
          <p:cNvSpPr txBox="1"/>
          <p:nvPr/>
        </p:nvSpPr>
        <p:spPr>
          <a:xfrm>
            <a:off x="7095783" y="268376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N02, N08</a:t>
            </a:r>
            <a:endParaRPr lang="en-US" sz="1000" dirty="0"/>
          </a:p>
        </p:txBody>
      </p:sp>
      <p:sp>
        <p:nvSpPr>
          <p:cNvPr id="105" name="Text 103"/>
          <p:cNvSpPr txBox="1"/>
          <p:nvPr/>
        </p:nvSpPr>
        <p:spPr>
          <a:xfrm>
            <a:off x="8351874" y="268376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CU08</a:t>
            </a:r>
            <a:endParaRPr lang="en-US" sz="1000" dirty="0"/>
          </a:p>
        </p:txBody>
      </p:sp>
      <p:sp>
        <p:nvSpPr>
          <p:cNvPr id="106" name="Text 104"/>
          <p:cNvSpPr txBox="1"/>
          <p:nvPr/>
        </p:nvSpPr>
        <p:spPr>
          <a:xfrm>
            <a:off x="9575199" y="268376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HU12</a:t>
            </a:r>
            <a:endParaRPr lang="en-US" sz="1000" dirty="0"/>
          </a:p>
        </p:txBody>
      </p:sp>
      <p:sp>
        <p:nvSpPr>
          <p:cNvPr id="107" name="Shape 105"/>
          <p:cNvSpPr/>
          <p:nvPr/>
        </p:nvSpPr>
        <p:spPr>
          <a:xfrm>
            <a:off x="10816811" y="2729484"/>
            <a:ext cx="457200" cy="219456"/>
          </a:xfrm>
          <a:prstGeom prst="roundRect">
            <a:avLst>
              <a:gd name="adj" fmla="val 50000"/>
            </a:avLst>
          </a:prstGeom>
          <a:solidFill>
            <a:srgbClr val="7B5CFF"/>
          </a:solidFill>
          <a:ln/>
        </p:spPr>
      </p:sp>
      <p:sp>
        <p:nvSpPr>
          <p:cNvPr id="108" name="Text 106"/>
          <p:cNvSpPr txBox="1"/>
          <p:nvPr/>
        </p:nvSpPr>
        <p:spPr>
          <a:xfrm>
            <a:off x="10816811" y="272948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109" name="Shape 107"/>
          <p:cNvSpPr/>
          <p:nvPr/>
        </p:nvSpPr>
        <p:spPr>
          <a:xfrm>
            <a:off x="6172200" y="3008376"/>
            <a:ext cx="5440680" cy="310896"/>
          </a:xfrm>
          <a:prstGeom prst="roundRect">
            <a:avLst>
              <a:gd name="adj" fmla="val 17647"/>
            </a:avLst>
          </a:prstGeom>
          <a:solidFill>
            <a:srgbClr val="F4F8FF"/>
          </a:solidFill>
          <a:ln/>
        </p:spPr>
      </p:sp>
      <p:sp>
        <p:nvSpPr>
          <p:cNvPr id="110" name="Text 108"/>
          <p:cNvSpPr txBox="1"/>
          <p:nvPr/>
        </p:nvSpPr>
        <p:spPr>
          <a:xfrm>
            <a:off x="6309360" y="3008376"/>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RF15</a:t>
            </a:r>
            <a:endParaRPr lang="en-US" sz="1000" dirty="0"/>
          </a:p>
        </p:txBody>
      </p:sp>
      <p:sp>
        <p:nvSpPr>
          <p:cNvPr id="111" name="Text 109"/>
          <p:cNvSpPr txBox="1"/>
          <p:nvPr/>
        </p:nvSpPr>
        <p:spPr>
          <a:xfrm>
            <a:off x="7095783" y="3008376"/>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N08</a:t>
            </a:r>
            <a:endParaRPr lang="en-US" sz="1000" dirty="0"/>
          </a:p>
        </p:txBody>
      </p:sp>
      <p:sp>
        <p:nvSpPr>
          <p:cNvPr id="112" name="Text 110"/>
          <p:cNvSpPr txBox="1"/>
          <p:nvPr/>
        </p:nvSpPr>
        <p:spPr>
          <a:xfrm>
            <a:off x="8351874" y="300837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CU09</a:t>
            </a:r>
            <a:endParaRPr lang="en-US" sz="1000" dirty="0"/>
          </a:p>
        </p:txBody>
      </p:sp>
      <p:sp>
        <p:nvSpPr>
          <p:cNvPr id="113" name="Text 111"/>
          <p:cNvSpPr txBox="1"/>
          <p:nvPr/>
        </p:nvSpPr>
        <p:spPr>
          <a:xfrm>
            <a:off x="9575199" y="300837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HU14</a:t>
            </a:r>
            <a:endParaRPr lang="en-US" sz="1000" dirty="0"/>
          </a:p>
        </p:txBody>
      </p:sp>
      <p:sp>
        <p:nvSpPr>
          <p:cNvPr id="114" name="Shape 112"/>
          <p:cNvSpPr/>
          <p:nvPr/>
        </p:nvSpPr>
        <p:spPr>
          <a:xfrm>
            <a:off x="10816811" y="3054096"/>
            <a:ext cx="457200" cy="219456"/>
          </a:xfrm>
          <a:prstGeom prst="roundRect">
            <a:avLst>
              <a:gd name="adj" fmla="val 50000"/>
            </a:avLst>
          </a:prstGeom>
          <a:solidFill>
            <a:srgbClr val="FF8A00"/>
          </a:solidFill>
          <a:ln/>
        </p:spPr>
      </p:sp>
      <p:sp>
        <p:nvSpPr>
          <p:cNvPr id="115" name="Text 113"/>
          <p:cNvSpPr txBox="1"/>
          <p:nvPr/>
        </p:nvSpPr>
        <p:spPr>
          <a:xfrm>
            <a:off x="10816811" y="3054096"/>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16" name="Text 114"/>
          <p:cNvSpPr txBox="1"/>
          <p:nvPr/>
        </p:nvSpPr>
        <p:spPr>
          <a:xfrm>
            <a:off x="6309360" y="3332988"/>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RF16</a:t>
            </a:r>
            <a:endParaRPr lang="en-US" sz="1000" dirty="0"/>
          </a:p>
        </p:txBody>
      </p:sp>
      <p:sp>
        <p:nvSpPr>
          <p:cNvPr id="117" name="Text 115"/>
          <p:cNvSpPr txBox="1"/>
          <p:nvPr/>
        </p:nvSpPr>
        <p:spPr>
          <a:xfrm>
            <a:off x="7095783" y="3332988"/>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 N08</a:t>
            </a:r>
            <a:endParaRPr lang="en-US" sz="1000" dirty="0"/>
          </a:p>
        </p:txBody>
      </p:sp>
      <p:sp>
        <p:nvSpPr>
          <p:cNvPr id="118" name="Text 116"/>
          <p:cNvSpPr txBox="1"/>
          <p:nvPr/>
        </p:nvSpPr>
        <p:spPr>
          <a:xfrm>
            <a:off x="8351874" y="333298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CU10</a:t>
            </a:r>
            <a:endParaRPr lang="en-US" sz="1000" dirty="0"/>
          </a:p>
        </p:txBody>
      </p:sp>
      <p:sp>
        <p:nvSpPr>
          <p:cNvPr id="119" name="Text 117"/>
          <p:cNvSpPr txBox="1"/>
          <p:nvPr/>
        </p:nvSpPr>
        <p:spPr>
          <a:xfrm>
            <a:off x="9575199" y="333298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HU13</a:t>
            </a:r>
            <a:endParaRPr lang="en-US" sz="1000" dirty="0"/>
          </a:p>
        </p:txBody>
      </p:sp>
      <p:sp>
        <p:nvSpPr>
          <p:cNvPr id="120" name="Shape 118"/>
          <p:cNvSpPr/>
          <p:nvPr/>
        </p:nvSpPr>
        <p:spPr>
          <a:xfrm>
            <a:off x="10816811" y="3378708"/>
            <a:ext cx="457200" cy="219456"/>
          </a:xfrm>
          <a:prstGeom prst="roundRect">
            <a:avLst>
              <a:gd name="adj" fmla="val 50000"/>
            </a:avLst>
          </a:prstGeom>
          <a:solidFill>
            <a:srgbClr val="7B5CFF"/>
          </a:solidFill>
          <a:ln/>
        </p:spPr>
      </p:sp>
      <p:sp>
        <p:nvSpPr>
          <p:cNvPr id="121" name="Text 119"/>
          <p:cNvSpPr txBox="1"/>
          <p:nvPr/>
        </p:nvSpPr>
        <p:spPr>
          <a:xfrm>
            <a:off x="10816811" y="3378708"/>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S2</a:t>
            </a:r>
            <a:endParaRPr lang="en-US" sz="850" dirty="0"/>
          </a:p>
        </p:txBody>
      </p:sp>
      <p:sp>
        <p:nvSpPr>
          <p:cNvPr id="122" name="Shape 120"/>
          <p:cNvSpPr/>
          <p:nvPr/>
        </p:nvSpPr>
        <p:spPr>
          <a:xfrm>
            <a:off x="6172200" y="3657600"/>
            <a:ext cx="5440680" cy="310896"/>
          </a:xfrm>
          <a:prstGeom prst="roundRect">
            <a:avLst>
              <a:gd name="adj" fmla="val 17647"/>
            </a:avLst>
          </a:prstGeom>
          <a:solidFill>
            <a:srgbClr val="F4F8FF"/>
          </a:solidFill>
          <a:ln/>
        </p:spPr>
      </p:sp>
      <p:sp>
        <p:nvSpPr>
          <p:cNvPr id="123" name="Text 121"/>
          <p:cNvSpPr txBox="1"/>
          <p:nvPr/>
        </p:nvSpPr>
        <p:spPr>
          <a:xfrm>
            <a:off x="6309360" y="3657600"/>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RF17</a:t>
            </a:r>
            <a:endParaRPr lang="en-US" sz="1000" dirty="0"/>
          </a:p>
        </p:txBody>
      </p:sp>
      <p:sp>
        <p:nvSpPr>
          <p:cNvPr id="124" name="Text 122"/>
          <p:cNvSpPr txBox="1"/>
          <p:nvPr/>
        </p:nvSpPr>
        <p:spPr>
          <a:xfrm>
            <a:off x="7095783" y="3657600"/>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a:t>
            </a:r>
            <a:endParaRPr lang="en-US" sz="1000" dirty="0"/>
          </a:p>
        </p:txBody>
      </p:sp>
      <p:sp>
        <p:nvSpPr>
          <p:cNvPr id="125" name="Text 123"/>
          <p:cNvSpPr txBox="1"/>
          <p:nvPr/>
        </p:nvSpPr>
        <p:spPr>
          <a:xfrm>
            <a:off x="8351874" y="365760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CU11</a:t>
            </a:r>
            <a:endParaRPr lang="en-US" sz="1000" dirty="0"/>
          </a:p>
        </p:txBody>
      </p:sp>
      <p:sp>
        <p:nvSpPr>
          <p:cNvPr id="126" name="Text 124"/>
          <p:cNvSpPr txBox="1"/>
          <p:nvPr/>
        </p:nvSpPr>
        <p:spPr>
          <a:xfrm>
            <a:off x="9575199" y="365760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HU15</a:t>
            </a:r>
            <a:endParaRPr lang="en-US" sz="1000" dirty="0"/>
          </a:p>
        </p:txBody>
      </p:sp>
      <p:sp>
        <p:nvSpPr>
          <p:cNvPr id="127" name="Shape 125"/>
          <p:cNvSpPr/>
          <p:nvPr/>
        </p:nvSpPr>
        <p:spPr>
          <a:xfrm>
            <a:off x="10816811" y="3703320"/>
            <a:ext cx="457200" cy="219456"/>
          </a:xfrm>
          <a:prstGeom prst="roundRect">
            <a:avLst>
              <a:gd name="adj" fmla="val 50000"/>
            </a:avLst>
          </a:prstGeom>
          <a:solidFill>
            <a:srgbClr val="FF8A00"/>
          </a:solidFill>
          <a:ln/>
        </p:spPr>
      </p:sp>
      <p:sp>
        <p:nvSpPr>
          <p:cNvPr id="128" name="Text 126"/>
          <p:cNvSpPr txBox="1"/>
          <p:nvPr/>
        </p:nvSpPr>
        <p:spPr>
          <a:xfrm>
            <a:off x="10816811" y="3703320"/>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29" name="Text 127"/>
          <p:cNvSpPr txBox="1"/>
          <p:nvPr/>
        </p:nvSpPr>
        <p:spPr>
          <a:xfrm>
            <a:off x="6309360" y="398221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RF18</a:t>
            </a:r>
            <a:endParaRPr lang="en-US" sz="1000" dirty="0"/>
          </a:p>
        </p:txBody>
      </p:sp>
      <p:sp>
        <p:nvSpPr>
          <p:cNvPr id="130" name="Text 128"/>
          <p:cNvSpPr txBox="1"/>
          <p:nvPr/>
        </p:nvSpPr>
        <p:spPr>
          <a:xfrm>
            <a:off x="7095783" y="398221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N06</a:t>
            </a:r>
            <a:endParaRPr lang="en-US" sz="1000" dirty="0"/>
          </a:p>
        </p:txBody>
      </p:sp>
      <p:sp>
        <p:nvSpPr>
          <p:cNvPr id="131" name="Text 129"/>
          <p:cNvSpPr txBox="1"/>
          <p:nvPr/>
        </p:nvSpPr>
        <p:spPr>
          <a:xfrm>
            <a:off x="8351874" y="398221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CU13</a:t>
            </a:r>
            <a:endParaRPr lang="en-US" sz="1000" dirty="0"/>
          </a:p>
        </p:txBody>
      </p:sp>
      <p:sp>
        <p:nvSpPr>
          <p:cNvPr id="132" name="Text 130"/>
          <p:cNvSpPr txBox="1"/>
          <p:nvPr/>
        </p:nvSpPr>
        <p:spPr>
          <a:xfrm>
            <a:off x="9575199" y="398221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HU16</a:t>
            </a:r>
            <a:endParaRPr lang="en-US" sz="1000" dirty="0"/>
          </a:p>
        </p:txBody>
      </p:sp>
      <p:sp>
        <p:nvSpPr>
          <p:cNvPr id="133" name="Shape 131"/>
          <p:cNvSpPr/>
          <p:nvPr/>
        </p:nvSpPr>
        <p:spPr>
          <a:xfrm>
            <a:off x="10816811" y="4027932"/>
            <a:ext cx="457200" cy="219456"/>
          </a:xfrm>
          <a:prstGeom prst="roundRect">
            <a:avLst>
              <a:gd name="adj" fmla="val 50000"/>
            </a:avLst>
          </a:prstGeom>
          <a:solidFill>
            <a:srgbClr val="FF8A00"/>
          </a:solidFill>
          <a:ln/>
        </p:spPr>
      </p:sp>
      <p:sp>
        <p:nvSpPr>
          <p:cNvPr id="134" name="Text 132"/>
          <p:cNvSpPr txBox="1"/>
          <p:nvPr/>
        </p:nvSpPr>
        <p:spPr>
          <a:xfrm>
            <a:off x="10816811" y="402793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35" name="Shape 133"/>
          <p:cNvSpPr/>
          <p:nvPr/>
        </p:nvSpPr>
        <p:spPr>
          <a:xfrm>
            <a:off x="6172200" y="4306824"/>
            <a:ext cx="5440680" cy="310896"/>
          </a:xfrm>
          <a:prstGeom prst="roundRect">
            <a:avLst>
              <a:gd name="adj" fmla="val 17647"/>
            </a:avLst>
          </a:prstGeom>
          <a:solidFill>
            <a:srgbClr val="F4F8FF"/>
          </a:solidFill>
          <a:ln/>
        </p:spPr>
      </p:sp>
      <p:sp>
        <p:nvSpPr>
          <p:cNvPr id="136" name="Text 134"/>
          <p:cNvSpPr txBox="1"/>
          <p:nvPr/>
        </p:nvSpPr>
        <p:spPr>
          <a:xfrm>
            <a:off x="6309360" y="430682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RF19</a:t>
            </a:r>
            <a:endParaRPr lang="en-US" sz="1000" dirty="0"/>
          </a:p>
        </p:txBody>
      </p:sp>
      <p:sp>
        <p:nvSpPr>
          <p:cNvPr id="137" name="Text 135"/>
          <p:cNvSpPr txBox="1"/>
          <p:nvPr/>
        </p:nvSpPr>
        <p:spPr>
          <a:xfrm>
            <a:off x="7095783" y="430682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N09</a:t>
            </a:r>
            <a:endParaRPr lang="en-US" sz="1000" dirty="0"/>
          </a:p>
        </p:txBody>
      </p:sp>
      <p:sp>
        <p:nvSpPr>
          <p:cNvPr id="138" name="Text 136"/>
          <p:cNvSpPr txBox="1"/>
          <p:nvPr/>
        </p:nvSpPr>
        <p:spPr>
          <a:xfrm>
            <a:off x="8351874" y="430682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CU14</a:t>
            </a:r>
            <a:endParaRPr lang="en-US" sz="1000" dirty="0"/>
          </a:p>
        </p:txBody>
      </p:sp>
      <p:sp>
        <p:nvSpPr>
          <p:cNvPr id="139" name="Text 137"/>
          <p:cNvSpPr txBox="1"/>
          <p:nvPr/>
        </p:nvSpPr>
        <p:spPr>
          <a:xfrm>
            <a:off x="9575199" y="430682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HU17</a:t>
            </a:r>
            <a:endParaRPr lang="en-US" sz="1000" dirty="0"/>
          </a:p>
        </p:txBody>
      </p:sp>
      <p:sp>
        <p:nvSpPr>
          <p:cNvPr id="140" name="Shape 138"/>
          <p:cNvSpPr/>
          <p:nvPr/>
        </p:nvSpPr>
        <p:spPr>
          <a:xfrm>
            <a:off x="10816811" y="4352544"/>
            <a:ext cx="457200" cy="219456"/>
          </a:xfrm>
          <a:prstGeom prst="roundRect">
            <a:avLst>
              <a:gd name="adj" fmla="val 50000"/>
            </a:avLst>
          </a:prstGeom>
          <a:solidFill>
            <a:srgbClr val="FF8A00"/>
          </a:solidFill>
          <a:ln/>
        </p:spPr>
      </p:sp>
      <p:sp>
        <p:nvSpPr>
          <p:cNvPr id="141" name="Text 139"/>
          <p:cNvSpPr txBox="1"/>
          <p:nvPr/>
        </p:nvSpPr>
        <p:spPr>
          <a:xfrm>
            <a:off x="10816811" y="435254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42" name="Text 140"/>
          <p:cNvSpPr txBox="1"/>
          <p:nvPr/>
        </p:nvSpPr>
        <p:spPr>
          <a:xfrm>
            <a:off x="6309360" y="4631436"/>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RF20</a:t>
            </a:r>
            <a:endParaRPr lang="en-US" sz="1000" dirty="0"/>
          </a:p>
        </p:txBody>
      </p:sp>
      <p:sp>
        <p:nvSpPr>
          <p:cNvPr id="143" name="Text 141"/>
          <p:cNvSpPr txBox="1"/>
          <p:nvPr/>
        </p:nvSpPr>
        <p:spPr>
          <a:xfrm>
            <a:off x="7095783" y="4631436"/>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N10</a:t>
            </a:r>
            <a:endParaRPr lang="en-US" sz="1000" dirty="0"/>
          </a:p>
        </p:txBody>
      </p:sp>
      <p:sp>
        <p:nvSpPr>
          <p:cNvPr id="144" name="Text 142"/>
          <p:cNvSpPr txBox="1"/>
          <p:nvPr/>
        </p:nvSpPr>
        <p:spPr>
          <a:xfrm>
            <a:off x="8351874" y="463143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CU14</a:t>
            </a:r>
            <a:endParaRPr lang="en-US" sz="1000" dirty="0"/>
          </a:p>
        </p:txBody>
      </p:sp>
      <p:sp>
        <p:nvSpPr>
          <p:cNvPr id="145" name="Text 143"/>
          <p:cNvSpPr txBox="1"/>
          <p:nvPr/>
        </p:nvSpPr>
        <p:spPr>
          <a:xfrm>
            <a:off x="9575199" y="4631436"/>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HU18</a:t>
            </a:r>
            <a:endParaRPr lang="en-US" sz="1000" dirty="0"/>
          </a:p>
        </p:txBody>
      </p:sp>
      <p:sp>
        <p:nvSpPr>
          <p:cNvPr id="146" name="Shape 144"/>
          <p:cNvSpPr/>
          <p:nvPr/>
        </p:nvSpPr>
        <p:spPr>
          <a:xfrm>
            <a:off x="10816811" y="4677156"/>
            <a:ext cx="457200" cy="219456"/>
          </a:xfrm>
          <a:prstGeom prst="roundRect">
            <a:avLst>
              <a:gd name="adj" fmla="val 50000"/>
            </a:avLst>
          </a:prstGeom>
          <a:solidFill>
            <a:srgbClr val="FF8A00"/>
          </a:solidFill>
          <a:ln/>
        </p:spPr>
      </p:sp>
      <p:sp>
        <p:nvSpPr>
          <p:cNvPr id="147" name="Text 145"/>
          <p:cNvSpPr txBox="1"/>
          <p:nvPr/>
        </p:nvSpPr>
        <p:spPr>
          <a:xfrm>
            <a:off x="10816811" y="4677156"/>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48" name="Shape 146"/>
          <p:cNvSpPr/>
          <p:nvPr/>
        </p:nvSpPr>
        <p:spPr>
          <a:xfrm>
            <a:off x="6172200" y="4956048"/>
            <a:ext cx="5440680" cy="310896"/>
          </a:xfrm>
          <a:prstGeom prst="roundRect">
            <a:avLst>
              <a:gd name="adj" fmla="val 17647"/>
            </a:avLst>
          </a:prstGeom>
          <a:solidFill>
            <a:srgbClr val="F4F8FF"/>
          </a:solidFill>
          <a:ln/>
        </p:spPr>
      </p:sp>
      <p:sp>
        <p:nvSpPr>
          <p:cNvPr id="149" name="Text 147"/>
          <p:cNvSpPr txBox="1"/>
          <p:nvPr/>
        </p:nvSpPr>
        <p:spPr>
          <a:xfrm>
            <a:off x="6309360" y="4956048"/>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RF21</a:t>
            </a:r>
            <a:endParaRPr lang="en-US" sz="1000" dirty="0"/>
          </a:p>
        </p:txBody>
      </p:sp>
      <p:sp>
        <p:nvSpPr>
          <p:cNvPr id="150" name="Text 148"/>
          <p:cNvSpPr txBox="1"/>
          <p:nvPr/>
        </p:nvSpPr>
        <p:spPr>
          <a:xfrm>
            <a:off x="7095783" y="4956048"/>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N05</a:t>
            </a:r>
            <a:endParaRPr lang="en-US" sz="1000" dirty="0"/>
          </a:p>
        </p:txBody>
      </p:sp>
      <p:sp>
        <p:nvSpPr>
          <p:cNvPr id="151" name="Text 149"/>
          <p:cNvSpPr txBox="1"/>
          <p:nvPr/>
        </p:nvSpPr>
        <p:spPr>
          <a:xfrm>
            <a:off x="8351874" y="495604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CU12</a:t>
            </a:r>
            <a:endParaRPr lang="en-US" sz="1000" dirty="0"/>
          </a:p>
        </p:txBody>
      </p:sp>
      <p:sp>
        <p:nvSpPr>
          <p:cNvPr id="152" name="Text 150"/>
          <p:cNvSpPr txBox="1"/>
          <p:nvPr/>
        </p:nvSpPr>
        <p:spPr>
          <a:xfrm>
            <a:off x="9575199" y="4956048"/>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HU19</a:t>
            </a:r>
            <a:endParaRPr lang="en-US" sz="1000" dirty="0"/>
          </a:p>
        </p:txBody>
      </p:sp>
      <p:sp>
        <p:nvSpPr>
          <p:cNvPr id="153" name="Shape 151"/>
          <p:cNvSpPr/>
          <p:nvPr/>
        </p:nvSpPr>
        <p:spPr>
          <a:xfrm>
            <a:off x="10816811" y="5001768"/>
            <a:ext cx="457200" cy="219456"/>
          </a:xfrm>
          <a:prstGeom prst="roundRect">
            <a:avLst>
              <a:gd name="adj" fmla="val 50000"/>
            </a:avLst>
          </a:prstGeom>
          <a:solidFill>
            <a:srgbClr val="FF8A00"/>
          </a:solidFill>
          <a:ln/>
        </p:spPr>
      </p:sp>
      <p:sp>
        <p:nvSpPr>
          <p:cNvPr id="154" name="Text 152"/>
          <p:cNvSpPr txBox="1"/>
          <p:nvPr/>
        </p:nvSpPr>
        <p:spPr>
          <a:xfrm>
            <a:off x="10816811" y="5001768"/>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55" name="Text 153"/>
          <p:cNvSpPr txBox="1"/>
          <p:nvPr/>
        </p:nvSpPr>
        <p:spPr>
          <a:xfrm>
            <a:off x="6309360" y="5280660"/>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RF22</a:t>
            </a:r>
            <a:endParaRPr lang="en-US" sz="1000" dirty="0"/>
          </a:p>
        </p:txBody>
      </p:sp>
      <p:sp>
        <p:nvSpPr>
          <p:cNvPr id="156" name="Text 154"/>
          <p:cNvSpPr txBox="1"/>
          <p:nvPr/>
        </p:nvSpPr>
        <p:spPr>
          <a:xfrm>
            <a:off x="7095783" y="5280660"/>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a:t>
            </a:r>
            <a:endParaRPr lang="en-US" sz="1000" dirty="0"/>
          </a:p>
        </p:txBody>
      </p:sp>
      <p:sp>
        <p:nvSpPr>
          <p:cNvPr id="157" name="Text 155"/>
          <p:cNvSpPr txBox="1"/>
          <p:nvPr/>
        </p:nvSpPr>
        <p:spPr>
          <a:xfrm>
            <a:off x="8351874" y="528066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CU06</a:t>
            </a:r>
            <a:endParaRPr lang="en-US" sz="1000" dirty="0"/>
          </a:p>
        </p:txBody>
      </p:sp>
      <p:sp>
        <p:nvSpPr>
          <p:cNvPr id="158" name="Text 156"/>
          <p:cNvSpPr txBox="1"/>
          <p:nvPr/>
        </p:nvSpPr>
        <p:spPr>
          <a:xfrm>
            <a:off x="9575199" y="5280660"/>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HU15</a:t>
            </a:r>
            <a:endParaRPr lang="en-US" sz="1000" dirty="0"/>
          </a:p>
        </p:txBody>
      </p:sp>
      <p:sp>
        <p:nvSpPr>
          <p:cNvPr id="159" name="Shape 157"/>
          <p:cNvSpPr/>
          <p:nvPr/>
        </p:nvSpPr>
        <p:spPr>
          <a:xfrm>
            <a:off x="10816811" y="5326380"/>
            <a:ext cx="457200" cy="219456"/>
          </a:xfrm>
          <a:prstGeom prst="roundRect">
            <a:avLst>
              <a:gd name="adj" fmla="val 50000"/>
            </a:avLst>
          </a:prstGeom>
          <a:solidFill>
            <a:srgbClr val="FF8A00"/>
          </a:solidFill>
          <a:ln/>
        </p:spPr>
      </p:sp>
      <p:sp>
        <p:nvSpPr>
          <p:cNvPr id="160" name="Text 158"/>
          <p:cNvSpPr txBox="1"/>
          <p:nvPr/>
        </p:nvSpPr>
        <p:spPr>
          <a:xfrm>
            <a:off x="10816811" y="5326380"/>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61" name="Shape 159"/>
          <p:cNvSpPr/>
          <p:nvPr/>
        </p:nvSpPr>
        <p:spPr>
          <a:xfrm>
            <a:off x="6172200" y="5605272"/>
            <a:ext cx="5440680" cy="310896"/>
          </a:xfrm>
          <a:prstGeom prst="roundRect">
            <a:avLst>
              <a:gd name="adj" fmla="val 17647"/>
            </a:avLst>
          </a:prstGeom>
          <a:solidFill>
            <a:srgbClr val="F4F8FF"/>
          </a:solidFill>
          <a:ln/>
        </p:spPr>
      </p:sp>
      <p:sp>
        <p:nvSpPr>
          <p:cNvPr id="162" name="Text 160"/>
          <p:cNvSpPr txBox="1"/>
          <p:nvPr/>
        </p:nvSpPr>
        <p:spPr>
          <a:xfrm>
            <a:off x="6309360" y="5605272"/>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RF23</a:t>
            </a:r>
            <a:endParaRPr lang="en-US" sz="1000" dirty="0"/>
          </a:p>
        </p:txBody>
      </p:sp>
      <p:sp>
        <p:nvSpPr>
          <p:cNvPr id="163" name="Text 161"/>
          <p:cNvSpPr txBox="1"/>
          <p:nvPr/>
        </p:nvSpPr>
        <p:spPr>
          <a:xfrm>
            <a:off x="7095783" y="5605272"/>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N07</a:t>
            </a:r>
            <a:endParaRPr lang="en-US" sz="1000" dirty="0"/>
          </a:p>
        </p:txBody>
      </p:sp>
      <p:sp>
        <p:nvSpPr>
          <p:cNvPr id="164" name="Text 162"/>
          <p:cNvSpPr txBox="1"/>
          <p:nvPr/>
        </p:nvSpPr>
        <p:spPr>
          <a:xfrm>
            <a:off x="8351874" y="560527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CU16</a:t>
            </a:r>
            <a:endParaRPr lang="en-US" sz="1000" dirty="0"/>
          </a:p>
        </p:txBody>
      </p:sp>
      <p:sp>
        <p:nvSpPr>
          <p:cNvPr id="165" name="Text 163"/>
          <p:cNvSpPr txBox="1"/>
          <p:nvPr/>
        </p:nvSpPr>
        <p:spPr>
          <a:xfrm>
            <a:off x="9575199" y="5605272"/>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HU21</a:t>
            </a:r>
            <a:endParaRPr lang="en-US" sz="1000" dirty="0"/>
          </a:p>
        </p:txBody>
      </p:sp>
      <p:sp>
        <p:nvSpPr>
          <p:cNvPr id="166" name="Shape 164"/>
          <p:cNvSpPr/>
          <p:nvPr/>
        </p:nvSpPr>
        <p:spPr>
          <a:xfrm>
            <a:off x="10816811" y="5650992"/>
            <a:ext cx="457200" cy="219456"/>
          </a:xfrm>
          <a:prstGeom prst="roundRect">
            <a:avLst>
              <a:gd name="adj" fmla="val 50000"/>
            </a:avLst>
          </a:prstGeom>
          <a:solidFill>
            <a:srgbClr val="FF8A00"/>
          </a:solidFill>
          <a:ln/>
        </p:spPr>
      </p:sp>
      <p:sp>
        <p:nvSpPr>
          <p:cNvPr id="167" name="Text 165"/>
          <p:cNvSpPr txBox="1"/>
          <p:nvPr/>
        </p:nvSpPr>
        <p:spPr>
          <a:xfrm>
            <a:off x="10816811" y="5650992"/>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68" name="Text 166"/>
          <p:cNvSpPr txBox="1"/>
          <p:nvPr/>
        </p:nvSpPr>
        <p:spPr>
          <a:xfrm>
            <a:off x="6309360" y="5929884"/>
            <a:ext cx="786423" cy="310896"/>
          </a:xfrm>
          <a:prstGeom prst="rect">
            <a:avLst/>
          </a:prstGeom>
          <a:noFill/>
          <a:ln/>
        </p:spPr>
        <p:txBody>
          <a:bodyPr wrap="square" lIns="0" tIns="0" rIns="0" bIns="0" rtlCol="0" anchor="ctr"/>
          <a:lstStyle/>
          <a:p>
            <a:pPr indent="0" marL="0">
              <a:buNone/>
            </a:pPr>
            <a:r>
              <a:rPr lang="en-US" sz="1000" b="1" dirty="0">
                <a:solidFill>
                  <a:srgbClr val="5B3EE0"/>
                </a:solidFill>
                <a:latin typeface="Montserrat" pitchFamily="34" charset="0"/>
                <a:ea typeface="Montserrat" pitchFamily="34" charset="-122"/>
                <a:cs typeface="Montserrat" pitchFamily="34" charset="-120"/>
              </a:rPr>
              <a:t>RF24</a:t>
            </a:r>
            <a:endParaRPr lang="en-US" sz="1000" dirty="0"/>
          </a:p>
        </p:txBody>
      </p:sp>
      <p:sp>
        <p:nvSpPr>
          <p:cNvPr id="169" name="Text 167"/>
          <p:cNvSpPr txBox="1"/>
          <p:nvPr/>
        </p:nvSpPr>
        <p:spPr>
          <a:xfrm>
            <a:off x="7095783" y="5929884"/>
            <a:ext cx="1256092"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N06</a:t>
            </a:r>
            <a:endParaRPr lang="en-US" sz="1000" dirty="0"/>
          </a:p>
        </p:txBody>
      </p:sp>
      <p:sp>
        <p:nvSpPr>
          <p:cNvPr id="170" name="Text 168"/>
          <p:cNvSpPr txBox="1"/>
          <p:nvPr/>
        </p:nvSpPr>
        <p:spPr>
          <a:xfrm>
            <a:off x="8351874" y="592988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CU13</a:t>
            </a:r>
            <a:endParaRPr lang="en-US" sz="1000" dirty="0"/>
          </a:p>
        </p:txBody>
      </p:sp>
      <p:sp>
        <p:nvSpPr>
          <p:cNvPr id="171" name="Text 169"/>
          <p:cNvSpPr txBox="1"/>
          <p:nvPr/>
        </p:nvSpPr>
        <p:spPr>
          <a:xfrm>
            <a:off x="9575199" y="5929884"/>
            <a:ext cx="1223324" cy="31089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HU24</a:t>
            </a:r>
            <a:endParaRPr lang="en-US" sz="1000" dirty="0"/>
          </a:p>
        </p:txBody>
      </p:sp>
      <p:sp>
        <p:nvSpPr>
          <p:cNvPr id="172" name="Shape 170"/>
          <p:cNvSpPr/>
          <p:nvPr/>
        </p:nvSpPr>
        <p:spPr>
          <a:xfrm>
            <a:off x="10816811" y="5975604"/>
            <a:ext cx="457200" cy="219456"/>
          </a:xfrm>
          <a:prstGeom prst="roundRect">
            <a:avLst>
              <a:gd name="adj" fmla="val 50000"/>
            </a:avLst>
          </a:prstGeom>
          <a:solidFill>
            <a:srgbClr val="FF8A00"/>
          </a:solidFill>
          <a:ln/>
        </p:spPr>
      </p:sp>
      <p:sp>
        <p:nvSpPr>
          <p:cNvPr id="173" name="Text 171"/>
          <p:cNvSpPr txBox="1"/>
          <p:nvPr/>
        </p:nvSpPr>
        <p:spPr>
          <a:xfrm>
            <a:off x="10816811" y="5975604"/>
            <a:ext cx="45720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S3</a:t>
            </a:r>
            <a:endParaRPr lang="en-US" sz="850" dirty="0"/>
          </a:p>
        </p:txBody>
      </p:sp>
      <p:sp>
        <p:nvSpPr>
          <p:cNvPr id="174" name="Text 172"/>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75" name="Text 173"/>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7B5CFF"/>
                </a:solidFill>
                <a:latin typeface="Montserrat" pitchFamily="34" charset="0"/>
                <a:ea typeface="Montserrat" pitchFamily="34" charset="-122"/>
                <a:cs typeface="Montserrat"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305556" cy="274320"/>
          </a:xfrm>
          <a:prstGeom prst="roundRect">
            <a:avLst>
              <a:gd name="adj" fmla="val 50000"/>
            </a:avLst>
          </a:prstGeom>
          <a:solidFill>
            <a:srgbClr val="00B8D4"/>
          </a:solidFill>
          <a:ln/>
        </p:spPr>
      </p:sp>
      <p:sp>
        <p:nvSpPr>
          <p:cNvPr id="3" name="Text 1"/>
          <p:cNvSpPr txBox="1"/>
          <p:nvPr/>
        </p:nvSpPr>
        <p:spPr>
          <a:xfrm>
            <a:off x="548640" y="292608"/>
            <a:ext cx="330555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3.1.1 MODELO FUNCIONAL</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Diagrama de contexto (DFD de nivel 0)</a:t>
            </a:r>
            <a:endParaRPr lang="en-US" sz="2400" dirty="0"/>
          </a:p>
        </p:txBody>
      </p:sp>
      <p:sp>
        <p:nvSpPr>
          <p:cNvPr id="5" name="Shape 3"/>
          <p:cNvSpPr/>
          <p:nvPr/>
        </p:nvSpPr>
        <p:spPr>
          <a:xfrm rot="6807492">
            <a:off x="4546851" y="3526552"/>
            <a:ext cx="121615" cy="121615"/>
          </a:xfrm>
          <a:prstGeom prst="triangle">
            <a:avLst/>
          </a:prstGeom>
          <a:solidFill>
            <a:srgbClr val="E06F00"/>
          </a:solidFill>
          <a:ln/>
        </p:spPr>
      </p:sp>
      <p:sp>
        <p:nvSpPr>
          <p:cNvPr id="6" name="Shape 4"/>
          <p:cNvSpPr/>
          <p:nvPr/>
        </p:nvSpPr>
        <p:spPr>
          <a:xfrm>
            <a:off x="1440180" y="2212848"/>
            <a:ext cx="3122853" cy="1355147"/>
          </a:xfrm>
          <a:prstGeom prst="line">
            <a:avLst/>
          </a:prstGeom>
          <a:noFill/>
          <a:ln w="19050">
            <a:solidFill>
              <a:srgbClr val="E06F00"/>
            </a:solidFill>
            <a:prstDash val="solid"/>
          </a:ln>
        </p:spPr>
      </p:sp>
      <p:sp>
        <p:nvSpPr>
          <p:cNvPr id="7" name="Shape 5"/>
          <p:cNvSpPr/>
          <p:nvPr/>
        </p:nvSpPr>
        <p:spPr>
          <a:xfrm>
            <a:off x="1693926" y="2449583"/>
            <a:ext cx="1426464" cy="365760"/>
          </a:xfrm>
          <a:prstGeom prst="roundRect">
            <a:avLst>
              <a:gd name="adj" fmla="val 20000"/>
            </a:avLst>
          </a:prstGeom>
          <a:solidFill>
            <a:srgbClr val="FFFFFF"/>
          </a:solidFill>
          <a:ln w="9525">
            <a:solidFill>
              <a:srgbClr val="E06F00"/>
            </a:solidFill>
            <a:prstDash val="solid"/>
          </a:ln>
        </p:spPr>
      </p:sp>
      <p:sp>
        <p:nvSpPr>
          <p:cNvPr id="8" name="Text 6"/>
          <p:cNvSpPr txBox="1"/>
          <p:nvPr/>
        </p:nvSpPr>
        <p:spPr>
          <a:xfrm>
            <a:off x="1730502" y="2449583"/>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Notifica arribos y consulta historial</a:t>
            </a:r>
            <a:endParaRPr lang="en-US" sz="800" dirty="0"/>
          </a:p>
        </p:txBody>
      </p:sp>
      <p:sp>
        <p:nvSpPr>
          <p:cNvPr id="9" name="Shape 7"/>
          <p:cNvSpPr/>
          <p:nvPr/>
        </p:nvSpPr>
        <p:spPr>
          <a:xfrm rot="7313656">
            <a:off x="5145365" y="3340496"/>
            <a:ext cx="121615" cy="121615"/>
          </a:xfrm>
          <a:prstGeom prst="triangle">
            <a:avLst/>
          </a:prstGeom>
          <a:solidFill>
            <a:srgbClr val="0B5FFF"/>
          </a:solidFill>
          <a:ln/>
        </p:spPr>
      </p:sp>
      <p:sp>
        <p:nvSpPr>
          <p:cNvPr id="10" name="Shape 8"/>
          <p:cNvSpPr/>
          <p:nvPr/>
        </p:nvSpPr>
        <p:spPr>
          <a:xfrm>
            <a:off x="3296412" y="2212848"/>
            <a:ext cx="1868459" cy="1162754"/>
          </a:xfrm>
          <a:prstGeom prst="line">
            <a:avLst/>
          </a:prstGeom>
          <a:noFill/>
          <a:ln w="19050">
            <a:solidFill>
              <a:srgbClr val="0B5FFF"/>
            </a:solidFill>
            <a:prstDash val="solid"/>
          </a:ln>
        </p:spPr>
      </p:sp>
      <p:sp>
        <p:nvSpPr>
          <p:cNvPr id="11" name="Shape 9"/>
          <p:cNvSpPr/>
          <p:nvPr/>
        </p:nvSpPr>
        <p:spPr>
          <a:xfrm>
            <a:off x="3171596" y="2396143"/>
            <a:ext cx="1426464" cy="365760"/>
          </a:xfrm>
          <a:prstGeom prst="roundRect">
            <a:avLst>
              <a:gd name="adj" fmla="val 20000"/>
            </a:avLst>
          </a:prstGeom>
          <a:solidFill>
            <a:srgbClr val="FFFFFF"/>
          </a:solidFill>
          <a:ln w="9525">
            <a:solidFill>
              <a:srgbClr val="0B5FFF"/>
            </a:solidFill>
            <a:prstDash val="solid"/>
          </a:ln>
        </p:spPr>
      </p:sp>
      <p:sp>
        <p:nvSpPr>
          <p:cNvPr id="12" name="Text 10"/>
          <p:cNvSpPr txBox="1"/>
          <p:nvPr/>
        </p:nvSpPr>
        <p:spPr>
          <a:xfrm>
            <a:off x="3208172" y="2396143"/>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Registra desembarques y lotes</a:t>
            </a:r>
            <a:endParaRPr lang="en-US" sz="800" dirty="0"/>
          </a:p>
        </p:txBody>
      </p:sp>
      <p:sp>
        <p:nvSpPr>
          <p:cNvPr id="13" name="Shape 11"/>
          <p:cNvSpPr/>
          <p:nvPr/>
        </p:nvSpPr>
        <p:spPr>
          <a:xfrm rot="8925992">
            <a:off x="5759822" y="3253563"/>
            <a:ext cx="121615" cy="121615"/>
          </a:xfrm>
          <a:prstGeom prst="triangle">
            <a:avLst/>
          </a:prstGeom>
          <a:solidFill>
            <a:srgbClr val="FF5A5F"/>
          </a:solidFill>
          <a:ln/>
        </p:spPr>
      </p:sp>
      <p:sp>
        <p:nvSpPr>
          <p:cNvPr id="14" name="Shape 12"/>
          <p:cNvSpPr/>
          <p:nvPr/>
        </p:nvSpPr>
        <p:spPr>
          <a:xfrm>
            <a:off x="5152644" y="2212848"/>
            <a:ext cx="642761" cy="1059928"/>
          </a:xfrm>
          <a:prstGeom prst="line">
            <a:avLst/>
          </a:prstGeom>
          <a:noFill/>
          <a:ln w="19050">
            <a:solidFill>
              <a:srgbClr val="FF5A5F"/>
            </a:solidFill>
            <a:prstDash val="solid"/>
          </a:ln>
        </p:spPr>
      </p:sp>
      <p:sp>
        <p:nvSpPr>
          <p:cNvPr id="15" name="Shape 13"/>
          <p:cNvSpPr/>
          <p:nvPr/>
        </p:nvSpPr>
        <p:spPr>
          <a:xfrm>
            <a:off x="4649267" y="2376023"/>
            <a:ext cx="1426464" cy="365760"/>
          </a:xfrm>
          <a:prstGeom prst="roundRect">
            <a:avLst>
              <a:gd name="adj" fmla="val 20000"/>
            </a:avLst>
          </a:prstGeom>
          <a:solidFill>
            <a:srgbClr val="FFFFFF"/>
          </a:solidFill>
          <a:ln w="9525">
            <a:solidFill>
              <a:srgbClr val="FF5A5F"/>
            </a:solidFill>
            <a:prstDash val="solid"/>
          </a:ln>
        </p:spPr>
      </p:sp>
      <p:sp>
        <p:nvSpPr>
          <p:cNvPr id="16" name="Text 14"/>
          <p:cNvSpPr txBox="1"/>
          <p:nvPr/>
        </p:nvSpPr>
        <p:spPr>
          <a:xfrm>
            <a:off x="4685843" y="2376023"/>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Fiscaliza y valida mediante QR</a:t>
            </a:r>
            <a:endParaRPr lang="en-US" sz="800" dirty="0"/>
          </a:p>
        </p:txBody>
      </p:sp>
      <p:sp>
        <p:nvSpPr>
          <p:cNvPr id="17" name="Shape 15"/>
          <p:cNvSpPr/>
          <p:nvPr/>
        </p:nvSpPr>
        <p:spPr>
          <a:xfrm rot="12572058">
            <a:off x="6324247" y="3253102"/>
            <a:ext cx="121615" cy="121615"/>
          </a:xfrm>
          <a:prstGeom prst="triangle">
            <a:avLst/>
          </a:prstGeom>
          <a:solidFill>
            <a:srgbClr val="008FB0"/>
          </a:solidFill>
          <a:ln/>
        </p:spPr>
      </p:sp>
      <p:sp>
        <p:nvSpPr>
          <p:cNvPr id="18" name="Shape 16"/>
          <p:cNvSpPr/>
          <p:nvPr/>
        </p:nvSpPr>
        <p:spPr>
          <a:xfrm flipH="1">
            <a:off x="6409035" y="2212848"/>
            <a:ext cx="599841" cy="1058737"/>
          </a:xfrm>
          <a:prstGeom prst="line">
            <a:avLst/>
          </a:prstGeom>
          <a:noFill/>
          <a:ln w="19050">
            <a:solidFill>
              <a:srgbClr val="008FB0"/>
            </a:solidFill>
            <a:prstDash val="solid"/>
          </a:ln>
        </p:spPr>
      </p:sp>
      <p:sp>
        <p:nvSpPr>
          <p:cNvPr id="19" name="Shape 17"/>
          <p:cNvSpPr/>
          <p:nvPr/>
        </p:nvSpPr>
        <p:spPr>
          <a:xfrm>
            <a:off x="6099505" y="2376158"/>
            <a:ext cx="1426464" cy="365760"/>
          </a:xfrm>
          <a:prstGeom prst="roundRect">
            <a:avLst>
              <a:gd name="adj" fmla="val 20000"/>
            </a:avLst>
          </a:prstGeom>
          <a:solidFill>
            <a:srgbClr val="FFFFFF"/>
          </a:solidFill>
          <a:ln w="9525">
            <a:solidFill>
              <a:srgbClr val="008FB0"/>
            </a:solidFill>
            <a:prstDash val="solid"/>
          </a:ln>
        </p:spPr>
      </p:sp>
      <p:sp>
        <p:nvSpPr>
          <p:cNvPr id="20" name="Text 18"/>
          <p:cNvSpPr txBox="1"/>
          <p:nvPr/>
        </p:nvSpPr>
        <p:spPr>
          <a:xfrm>
            <a:off x="6136081" y="2376158"/>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Genera reportes y estadísticas</a:t>
            </a:r>
            <a:endParaRPr lang="en-US" sz="800" dirty="0"/>
          </a:p>
        </p:txBody>
      </p:sp>
      <p:sp>
        <p:nvSpPr>
          <p:cNvPr id="21" name="Shape 19"/>
          <p:cNvSpPr/>
          <p:nvPr/>
        </p:nvSpPr>
        <p:spPr>
          <a:xfrm rot="14247608">
            <a:off x="6939894" y="3341622"/>
            <a:ext cx="121615" cy="121615"/>
          </a:xfrm>
          <a:prstGeom prst="triangle">
            <a:avLst/>
          </a:prstGeom>
          <a:solidFill>
            <a:srgbClr val="7B5CFF"/>
          </a:solidFill>
          <a:ln/>
        </p:spPr>
      </p:sp>
      <p:sp>
        <p:nvSpPr>
          <p:cNvPr id="22" name="Shape 20"/>
          <p:cNvSpPr/>
          <p:nvPr/>
        </p:nvSpPr>
        <p:spPr>
          <a:xfrm flipH="1">
            <a:off x="7041711" y="2212848"/>
            <a:ext cx="1823397" cy="1163416"/>
          </a:xfrm>
          <a:prstGeom prst="line">
            <a:avLst/>
          </a:prstGeom>
          <a:noFill/>
          <a:ln w="19050">
            <a:solidFill>
              <a:srgbClr val="7B5CFF"/>
            </a:solidFill>
            <a:prstDash val="solid"/>
          </a:ln>
        </p:spPr>
      </p:sp>
      <p:sp>
        <p:nvSpPr>
          <p:cNvPr id="23" name="Shape 21"/>
          <p:cNvSpPr/>
          <p:nvPr/>
        </p:nvSpPr>
        <p:spPr>
          <a:xfrm>
            <a:off x="7577176" y="2396655"/>
            <a:ext cx="1426464" cy="365760"/>
          </a:xfrm>
          <a:prstGeom prst="roundRect">
            <a:avLst>
              <a:gd name="adj" fmla="val 20000"/>
            </a:avLst>
          </a:prstGeom>
          <a:solidFill>
            <a:srgbClr val="FFFFFF"/>
          </a:solidFill>
          <a:ln w="9525">
            <a:solidFill>
              <a:srgbClr val="7B5CFF"/>
            </a:solidFill>
            <a:prstDash val="solid"/>
          </a:ln>
        </p:spPr>
      </p:sp>
      <p:sp>
        <p:nvSpPr>
          <p:cNvPr id="24" name="Text 22"/>
          <p:cNvSpPr txBox="1"/>
          <p:nvPr/>
        </p:nvSpPr>
        <p:spPr>
          <a:xfrm>
            <a:off x="7613752" y="2396655"/>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Administra catálogos y permisos</a:t>
            </a:r>
            <a:endParaRPr lang="en-US" sz="800" dirty="0"/>
          </a:p>
        </p:txBody>
      </p:sp>
      <p:sp>
        <p:nvSpPr>
          <p:cNvPr id="25" name="Shape 23"/>
          <p:cNvSpPr/>
          <p:nvPr/>
        </p:nvSpPr>
        <p:spPr>
          <a:xfrm rot="14770558">
            <a:off x="7538619" y="3530533"/>
            <a:ext cx="121615" cy="121615"/>
          </a:xfrm>
          <a:prstGeom prst="triangle">
            <a:avLst/>
          </a:prstGeom>
          <a:solidFill>
            <a:srgbClr val="0B9468"/>
          </a:solidFill>
          <a:ln/>
        </p:spPr>
      </p:sp>
      <p:sp>
        <p:nvSpPr>
          <p:cNvPr id="26" name="Shape 24"/>
          <p:cNvSpPr/>
          <p:nvPr/>
        </p:nvSpPr>
        <p:spPr>
          <a:xfrm flipH="1">
            <a:off x="7643927" y="2212848"/>
            <a:ext cx="3077413" cy="1358843"/>
          </a:xfrm>
          <a:prstGeom prst="line">
            <a:avLst/>
          </a:prstGeom>
          <a:noFill/>
          <a:ln w="19050">
            <a:solidFill>
              <a:srgbClr val="0B9468"/>
            </a:solidFill>
            <a:prstDash val="solid"/>
          </a:ln>
        </p:spPr>
      </p:sp>
      <p:sp>
        <p:nvSpPr>
          <p:cNvPr id="27" name="Shape 25"/>
          <p:cNvSpPr/>
          <p:nvPr/>
        </p:nvSpPr>
        <p:spPr>
          <a:xfrm>
            <a:off x="9054846" y="2450884"/>
            <a:ext cx="1426464" cy="365760"/>
          </a:xfrm>
          <a:prstGeom prst="roundRect">
            <a:avLst>
              <a:gd name="adj" fmla="val 20000"/>
            </a:avLst>
          </a:prstGeom>
          <a:solidFill>
            <a:srgbClr val="FFFFFF"/>
          </a:solidFill>
          <a:ln w="9525">
            <a:solidFill>
              <a:srgbClr val="0B9468"/>
            </a:solidFill>
            <a:prstDash val="solid"/>
          </a:ln>
        </p:spPr>
      </p:sp>
      <p:sp>
        <p:nvSpPr>
          <p:cNvPr id="28" name="Text 26"/>
          <p:cNvSpPr txBox="1"/>
          <p:nvPr/>
        </p:nvSpPr>
        <p:spPr>
          <a:xfrm>
            <a:off x="9091422" y="2450884"/>
            <a:ext cx="1353312" cy="365760"/>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Valida origen y confirma recepción</a:t>
            </a:r>
            <a:endParaRPr lang="en-US" sz="800" dirty="0"/>
          </a:p>
        </p:txBody>
      </p:sp>
      <p:sp>
        <p:nvSpPr>
          <p:cNvPr id="29" name="Shape 27"/>
          <p:cNvSpPr/>
          <p:nvPr/>
        </p:nvSpPr>
        <p:spPr>
          <a:xfrm>
            <a:off x="548640" y="1188720"/>
            <a:ext cx="1783080" cy="1024128"/>
          </a:xfrm>
          <a:prstGeom prst="roundRect">
            <a:avLst>
              <a:gd name="adj" fmla="val 10714"/>
            </a:avLst>
          </a:prstGeom>
          <a:solidFill>
            <a:srgbClr val="E06F00"/>
          </a:solidFill>
          <a:ln/>
          <a:effectLst>
            <a:outerShdw sx="100000" sy="100000" kx="0" ky="0" algn="bl" rotWithShape="0" blurRad="177800" dist="38100" dir="5400000">
              <a:srgbClr val="0B1E4F">
                <a:alpha val="10000"/>
              </a:srgbClr>
            </a:outerShdw>
          </a:effectLst>
        </p:spPr>
      </p:sp>
      <p:sp>
        <p:nvSpPr>
          <p:cNvPr id="30" name="Text 28"/>
          <p:cNvSpPr txBox="1"/>
          <p:nvPr/>
        </p:nvSpPr>
        <p:spPr>
          <a:xfrm>
            <a:off x="640080"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Patrón / Armador</a:t>
            </a:r>
            <a:endParaRPr lang="en-US" sz="950" dirty="0"/>
          </a:p>
        </p:txBody>
      </p:sp>
      <p:sp>
        <p:nvSpPr>
          <p:cNvPr id="31" name="Text 29"/>
          <p:cNvSpPr txBox="1"/>
          <p:nvPr/>
        </p:nvSpPr>
        <p:spPr>
          <a:xfrm>
            <a:off x="640080"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Registra avisos de arribo y consulta constancias de desembarque.</a:t>
            </a:r>
            <a:endParaRPr lang="en-US" sz="800" dirty="0"/>
          </a:p>
        </p:txBody>
      </p:sp>
      <p:sp>
        <p:nvSpPr>
          <p:cNvPr id="32" name="Shape 30"/>
          <p:cNvSpPr/>
          <p:nvPr/>
        </p:nvSpPr>
        <p:spPr>
          <a:xfrm>
            <a:off x="2404872" y="1188720"/>
            <a:ext cx="1783080" cy="1024128"/>
          </a:xfrm>
          <a:prstGeom prst="roundRect">
            <a:avLst>
              <a:gd name="adj" fmla="val 10714"/>
            </a:avLst>
          </a:prstGeom>
          <a:solidFill>
            <a:srgbClr val="0B5FFF"/>
          </a:solidFill>
          <a:ln/>
          <a:effectLst>
            <a:outerShdw sx="100000" sy="100000" kx="0" ky="0" algn="bl" rotWithShape="0" blurRad="177800" dist="38100" dir="5400000">
              <a:srgbClr val="0B1E4F">
                <a:alpha val="10000"/>
              </a:srgbClr>
            </a:outerShdw>
          </a:effectLst>
        </p:spPr>
      </p:sp>
      <p:sp>
        <p:nvSpPr>
          <p:cNvPr id="33" name="Text 31"/>
          <p:cNvSpPr txBox="1"/>
          <p:nvPr/>
        </p:nvSpPr>
        <p:spPr>
          <a:xfrm>
            <a:off x="2496312"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Registrador del DPA</a:t>
            </a:r>
            <a:endParaRPr lang="en-US" sz="950" dirty="0"/>
          </a:p>
        </p:txBody>
      </p:sp>
      <p:sp>
        <p:nvSpPr>
          <p:cNvPr id="34" name="Text 32"/>
          <p:cNvSpPr txBox="1"/>
          <p:nvPr/>
        </p:nvSpPr>
        <p:spPr>
          <a:xfrm>
            <a:off x="2496312"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Captura datos de desembarque, muestreos y destino de lotes en el muelle.</a:t>
            </a:r>
            <a:endParaRPr lang="en-US" sz="800" dirty="0"/>
          </a:p>
        </p:txBody>
      </p:sp>
      <p:sp>
        <p:nvSpPr>
          <p:cNvPr id="35" name="Shape 33"/>
          <p:cNvSpPr/>
          <p:nvPr/>
        </p:nvSpPr>
        <p:spPr>
          <a:xfrm>
            <a:off x="4261104" y="1188720"/>
            <a:ext cx="1783080" cy="1024128"/>
          </a:xfrm>
          <a:prstGeom prst="roundRect">
            <a:avLst>
              <a:gd name="adj" fmla="val 10714"/>
            </a:avLst>
          </a:prstGeom>
          <a:solidFill>
            <a:srgbClr val="FF5A5F"/>
          </a:solidFill>
          <a:ln/>
          <a:effectLst>
            <a:outerShdw sx="100000" sy="100000" kx="0" ky="0" algn="bl" rotWithShape="0" blurRad="177800" dist="38100" dir="5400000">
              <a:srgbClr val="0B1E4F">
                <a:alpha val="10000"/>
              </a:srgbClr>
            </a:outerShdw>
          </a:effectLst>
        </p:spPr>
      </p:sp>
      <p:sp>
        <p:nvSpPr>
          <p:cNvPr id="36" name="Text 34"/>
          <p:cNvSpPr txBox="1"/>
          <p:nvPr/>
        </p:nvSpPr>
        <p:spPr>
          <a:xfrm>
            <a:off x="4352544"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Fiscalizador (PRODUCE / DIREPRO)</a:t>
            </a:r>
            <a:endParaRPr lang="en-US" sz="950" dirty="0"/>
          </a:p>
        </p:txBody>
      </p:sp>
      <p:sp>
        <p:nvSpPr>
          <p:cNvPr id="37" name="Text 35"/>
          <p:cNvSpPr txBox="1"/>
          <p:nvPr/>
        </p:nvSpPr>
        <p:spPr>
          <a:xfrm>
            <a:off x="4352544"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Verifica constancias por QR y registra observaciones de fiscalización.</a:t>
            </a:r>
            <a:endParaRPr lang="en-US" sz="800" dirty="0"/>
          </a:p>
        </p:txBody>
      </p:sp>
      <p:sp>
        <p:nvSpPr>
          <p:cNvPr id="38" name="Shape 36"/>
          <p:cNvSpPr/>
          <p:nvPr/>
        </p:nvSpPr>
        <p:spPr>
          <a:xfrm>
            <a:off x="6117336" y="1188720"/>
            <a:ext cx="1783080" cy="1024128"/>
          </a:xfrm>
          <a:prstGeom prst="roundRect">
            <a:avLst>
              <a:gd name="adj" fmla="val 10714"/>
            </a:avLst>
          </a:prstGeom>
          <a:solidFill>
            <a:srgbClr val="008FB0"/>
          </a:solidFill>
          <a:ln/>
          <a:effectLst>
            <a:outerShdw sx="100000" sy="100000" kx="0" ky="0" algn="bl" rotWithShape="0" blurRad="177800" dist="38100" dir="5400000">
              <a:srgbClr val="0B1E4F">
                <a:alpha val="10000"/>
              </a:srgbClr>
            </a:outerShdw>
          </a:effectLst>
        </p:spPr>
      </p:sp>
      <p:sp>
        <p:nvSpPr>
          <p:cNvPr id="39" name="Text 37"/>
          <p:cNvSpPr txBox="1"/>
          <p:nvPr/>
        </p:nvSpPr>
        <p:spPr>
          <a:xfrm>
            <a:off x="6208776"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Analista (IMARPE / PRODUCE)</a:t>
            </a:r>
            <a:endParaRPr lang="en-US" sz="950" dirty="0"/>
          </a:p>
        </p:txBody>
      </p:sp>
      <p:sp>
        <p:nvSpPr>
          <p:cNvPr id="40" name="Text 38"/>
          <p:cNvSpPr txBox="1"/>
          <p:nvPr/>
        </p:nvSpPr>
        <p:spPr>
          <a:xfrm>
            <a:off x="6208776"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Consulta tableros de indicadores y exporta reportes de esfuerzo.</a:t>
            </a:r>
            <a:endParaRPr lang="en-US" sz="800" dirty="0"/>
          </a:p>
        </p:txBody>
      </p:sp>
      <p:sp>
        <p:nvSpPr>
          <p:cNvPr id="41" name="Shape 39"/>
          <p:cNvSpPr/>
          <p:nvPr/>
        </p:nvSpPr>
        <p:spPr>
          <a:xfrm>
            <a:off x="7973568" y="1188720"/>
            <a:ext cx="1783080" cy="1024128"/>
          </a:xfrm>
          <a:prstGeom prst="roundRect">
            <a:avLst>
              <a:gd name="adj" fmla="val 10714"/>
            </a:avLst>
          </a:prstGeom>
          <a:solidFill>
            <a:srgbClr val="7B5CFF"/>
          </a:solidFill>
          <a:ln/>
          <a:effectLst>
            <a:outerShdw sx="100000" sy="100000" kx="0" ky="0" algn="bl" rotWithShape="0" blurRad="177800" dist="38100" dir="5400000">
              <a:srgbClr val="0B1E4F">
                <a:alpha val="10000"/>
              </a:srgbClr>
            </a:outerShdw>
          </a:effectLst>
        </p:spPr>
      </p:sp>
      <p:sp>
        <p:nvSpPr>
          <p:cNvPr id="42" name="Text 40"/>
          <p:cNvSpPr txBox="1"/>
          <p:nvPr/>
        </p:nvSpPr>
        <p:spPr>
          <a:xfrm>
            <a:off x="8065008"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Administrador del DPA</a:t>
            </a:r>
            <a:endParaRPr lang="en-US" sz="950" dirty="0"/>
          </a:p>
        </p:txBody>
      </p:sp>
      <p:sp>
        <p:nvSpPr>
          <p:cNvPr id="43" name="Text 41"/>
          <p:cNvSpPr txBox="1"/>
          <p:nvPr/>
        </p:nvSpPr>
        <p:spPr>
          <a:xfrm>
            <a:off x="8065008"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Gestiona embarcaciones, catálogos normativos y anula registros.</a:t>
            </a:r>
            <a:endParaRPr lang="en-US" sz="800" dirty="0"/>
          </a:p>
        </p:txBody>
      </p:sp>
      <p:sp>
        <p:nvSpPr>
          <p:cNvPr id="44" name="Shape 42"/>
          <p:cNvSpPr/>
          <p:nvPr/>
        </p:nvSpPr>
        <p:spPr>
          <a:xfrm>
            <a:off x="9829800" y="1188720"/>
            <a:ext cx="1783080" cy="1024128"/>
          </a:xfrm>
          <a:prstGeom prst="roundRect">
            <a:avLst>
              <a:gd name="adj" fmla="val 10714"/>
            </a:avLst>
          </a:prstGeom>
          <a:solidFill>
            <a:srgbClr val="0B9468"/>
          </a:solidFill>
          <a:ln/>
          <a:effectLst>
            <a:outerShdw sx="100000" sy="100000" kx="0" ky="0" algn="bl" rotWithShape="0" blurRad="177800" dist="38100" dir="5400000">
              <a:srgbClr val="0B1E4F">
                <a:alpha val="10000"/>
              </a:srgbClr>
            </a:outerShdw>
          </a:effectLst>
        </p:spPr>
      </p:sp>
      <p:sp>
        <p:nvSpPr>
          <p:cNvPr id="45" name="Text 43"/>
          <p:cNvSpPr txBox="1"/>
          <p:nvPr/>
        </p:nvSpPr>
        <p:spPr>
          <a:xfrm>
            <a:off x="9921240" y="1243584"/>
            <a:ext cx="160020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Comerciante / Comprador</a:t>
            </a:r>
            <a:endParaRPr lang="en-US" sz="950" dirty="0"/>
          </a:p>
        </p:txBody>
      </p:sp>
      <p:sp>
        <p:nvSpPr>
          <p:cNvPr id="46" name="Text 44"/>
          <p:cNvSpPr txBox="1"/>
          <p:nvPr/>
        </p:nvSpPr>
        <p:spPr>
          <a:xfrm>
            <a:off x="9921240" y="1609344"/>
            <a:ext cx="1600200" cy="566928"/>
          </a:xfrm>
          <a:prstGeom prst="rect">
            <a:avLst/>
          </a:prstGeom>
          <a:noFill/>
          <a:ln/>
        </p:spPr>
        <p:txBody>
          <a:bodyPr wrap="square" lIns="0" tIns="0" rIns="0" bIns="0" rtlCol="0" anchor="t"/>
          <a:lstStyle/>
          <a:p>
            <a:pPr algn="ctr" indent="0" marL="0">
              <a:buNone/>
            </a:pPr>
            <a:r>
              <a:rPr lang="en-US" sz="800" dirty="0">
                <a:solidFill>
                  <a:srgbClr val="FFFFFF"/>
                </a:solidFill>
                <a:latin typeface="Open Sans" pitchFamily="34" charset="0"/>
                <a:ea typeface="Open Sans" pitchFamily="34" charset="-122"/>
                <a:cs typeface="Open Sans" pitchFamily="34" charset="-120"/>
              </a:rPr>
              <a:t>Confirma recepción de lotes y valida la autenticidad de constancias.</a:t>
            </a:r>
            <a:endParaRPr lang="en-US" sz="800" dirty="0"/>
          </a:p>
        </p:txBody>
      </p:sp>
      <p:sp>
        <p:nvSpPr>
          <p:cNvPr id="47" name="Shape 45"/>
          <p:cNvSpPr/>
          <p:nvPr/>
        </p:nvSpPr>
        <p:spPr>
          <a:xfrm>
            <a:off x="4315968" y="3360420"/>
            <a:ext cx="3566160" cy="1234440"/>
          </a:xfrm>
          <a:prstGeom prst="ellipse">
            <a:avLst/>
          </a:prstGeom>
          <a:solidFill>
            <a:srgbClr val="0B1E4F"/>
          </a:solidFill>
          <a:ln w="31750">
            <a:solidFill>
              <a:srgbClr val="00B8D4"/>
            </a:solidFill>
            <a:prstDash val="solid"/>
          </a:ln>
          <a:effectLst>
            <a:outerShdw sx="100000" sy="100000" kx="0" ky="0" algn="bl" rotWithShape="0" blurRad="279400" dist="38100" dir="5400000">
              <a:srgbClr val="0B1E4F">
                <a:alpha val="25000"/>
              </a:srgbClr>
            </a:outerShdw>
          </a:effectLst>
        </p:spPr>
      </p:sp>
      <p:sp>
        <p:nvSpPr>
          <p:cNvPr id="48" name="Text 46"/>
          <p:cNvSpPr txBox="1"/>
          <p:nvPr/>
        </p:nvSpPr>
        <p:spPr>
          <a:xfrm>
            <a:off x="4453128" y="3538728"/>
            <a:ext cx="32918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SIRDEPA</a:t>
            </a:r>
            <a:endParaRPr lang="en-US" sz="2200" dirty="0"/>
          </a:p>
        </p:txBody>
      </p:sp>
      <p:sp>
        <p:nvSpPr>
          <p:cNvPr id="49" name="Text 47"/>
          <p:cNvSpPr txBox="1"/>
          <p:nvPr/>
        </p:nvSpPr>
        <p:spPr>
          <a:xfrm>
            <a:off x="4590288" y="3995928"/>
            <a:ext cx="3017520" cy="411480"/>
          </a:xfrm>
          <a:prstGeom prst="rect">
            <a:avLst/>
          </a:prstGeom>
          <a:noFill/>
          <a:ln/>
        </p:spPr>
        <p:txBody>
          <a:bodyPr wrap="square" lIns="0" tIns="0" rIns="0" bIns="0" rtlCol="0" anchor="ctr"/>
          <a:lstStyle/>
          <a:p>
            <a:pPr algn="ctr" indent="0" marL="0">
              <a:buNone/>
            </a:pPr>
            <a:r>
              <a:rPr lang="en-US" sz="900" dirty="0">
                <a:solidFill>
                  <a:srgbClr val="7CF0F5"/>
                </a:solidFill>
                <a:latin typeface="Open Sans" pitchFamily="34" charset="0"/>
                <a:ea typeface="Open Sans" pitchFamily="34" charset="-122"/>
                <a:cs typeface="Open Sans" pitchFamily="34" charset="-120"/>
              </a:rPr>
              <a:t>Sistema de Registro de Desembarque Pesquero Artesanal</a:t>
            </a:r>
            <a:endParaRPr lang="en-US" sz="900" dirty="0"/>
          </a:p>
        </p:txBody>
      </p:sp>
      <p:sp>
        <p:nvSpPr>
          <p:cNvPr id="50" name="Shape 48"/>
          <p:cNvSpPr/>
          <p:nvPr/>
        </p:nvSpPr>
        <p:spPr>
          <a:xfrm rot="14466805">
            <a:off x="3787194" y="5167618"/>
            <a:ext cx="121615" cy="121615"/>
          </a:xfrm>
          <a:prstGeom prst="triangle">
            <a:avLst/>
          </a:prstGeom>
          <a:solidFill>
            <a:srgbClr val="4A5878"/>
          </a:solidFill>
          <a:ln/>
        </p:spPr>
      </p:sp>
      <p:sp>
        <p:nvSpPr>
          <p:cNvPr id="51" name="Shape 49"/>
          <p:cNvSpPr/>
          <p:nvPr/>
        </p:nvSpPr>
        <p:spPr>
          <a:xfrm flipH="1">
            <a:off x="3890595" y="4526280"/>
            <a:ext cx="1230045" cy="678645"/>
          </a:xfrm>
          <a:prstGeom prst="line">
            <a:avLst/>
          </a:prstGeom>
          <a:noFill/>
          <a:ln w="19050">
            <a:solidFill>
              <a:srgbClr val="4A5878"/>
            </a:solidFill>
            <a:prstDash val="solid"/>
          </a:ln>
        </p:spPr>
      </p:sp>
      <p:sp>
        <p:nvSpPr>
          <p:cNvPr id="52" name="Shape 50"/>
          <p:cNvSpPr/>
          <p:nvPr/>
        </p:nvSpPr>
        <p:spPr>
          <a:xfrm>
            <a:off x="3680460" y="4736592"/>
            <a:ext cx="1554480" cy="310896"/>
          </a:xfrm>
          <a:prstGeom prst="roundRect">
            <a:avLst>
              <a:gd name="adj" fmla="val 23529"/>
            </a:avLst>
          </a:prstGeom>
          <a:solidFill>
            <a:srgbClr val="FFFFFF"/>
          </a:solidFill>
          <a:ln w="9525">
            <a:solidFill>
              <a:srgbClr val="4A5878"/>
            </a:solidFill>
            <a:prstDash val="solid"/>
          </a:ln>
        </p:spPr>
      </p:sp>
      <p:sp>
        <p:nvSpPr>
          <p:cNvPr id="53" name="Text 51"/>
          <p:cNvSpPr txBox="1"/>
          <p:nvPr/>
        </p:nvSpPr>
        <p:spPr>
          <a:xfrm>
            <a:off x="3707892" y="4736592"/>
            <a:ext cx="1499616" cy="310896"/>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Exporta declaraciones de descarga</a:t>
            </a:r>
            <a:endParaRPr lang="en-US" sz="800" dirty="0"/>
          </a:p>
        </p:txBody>
      </p:sp>
      <p:sp>
        <p:nvSpPr>
          <p:cNvPr id="54" name="Shape 52"/>
          <p:cNvSpPr/>
          <p:nvPr/>
        </p:nvSpPr>
        <p:spPr>
          <a:xfrm>
            <a:off x="2651760" y="5257800"/>
            <a:ext cx="2286000" cy="914400"/>
          </a:xfrm>
          <a:prstGeom prst="roundRect">
            <a:avLst>
              <a:gd name="adj" fmla="val 10000"/>
            </a:avLst>
          </a:prstGeom>
          <a:solidFill>
            <a:srgbClr val="5B6B8C"/>
          </a:solidFill>
          <a:ln/>
          <a:effectLst>
            <a:outerShdw sx="100000" sy="100000" kx="0" ky="0" algn="bl" rotWithShape="0" blurRad="177800" dist="38100" dir="5400000">
              <a:srgbClr val="0B1E4F">
                <a:alpha val="10000"/>
              </a:srgbClr>
            </a:outerShdw>
          </a:effectLst>
        </p:spPr>
      </p:sp>
      <p:sp>
        <p:nvSpPr>
          <p:cNvPr id="55" name="Text 53"/>
          <p:cNvSpPr txBox="1"/>
          <p:nvPr/>
        </p:nvSpPr>
        <p:spPr>
          <a:xfrm>
            <a:off x="2743200" y="5312664"/>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SITRAPESCA (PRODUCE)</a:t>
            </a:r>
            <a:endParaRPr lang="en-US" sz="1050" dirty="0"/>
          </a:p>
        </p:txBody>
      </p:sp>
      <p:sp>
        <p:nvSpPr>
          <p:cNvPr id="56" name="Text 54"/>
          <p:cNvSpPr txBox="1"/>
          <p:nvPr/>
        </p:nvSpPr>
        <p:spPr>
          <a:xfrm>
            <a:off x="2743200" y="5623560"/>
            <a:ext cx="2103120" cy="502920"/>
          </a:xfrm>
          <a:prstGeom prst="rect">
            <a:avLst/>
          </a:prstGeom>
          <a:noFill/>
          <a:ln/>
        </p:spPr>
        <p:txBody>
          <a:bodyPr wrap="square" lIns="0" tIns="0" rIns="0" bIns="0" rtlCol="0" anchor="t"/>
          <a:lstStyle/>
          <a:p>
            <a:pPr algn="ctr" indent="0" marL="0">
              <a:buNone/>
            </a:pPr>
            <a:r>
              <a:rPr lang="en-US" sz="800" dirty="0">
                <a:solidFill>
                  <a:srgbClr val="E6EEFF"/>
                </a:solidFill>
                <a:latin typeface="Open Sans" pitchFamily="34" charset="0"/>
                <a:ea typeface="Open Sans" pitchFamily="34" charset="-122"/>
                <a:cs typeface="Open Sans" pitchFamily="34" charset="-120"/>
              </a:rPr>
              <a:t>Plataforma externa para exportación de declaraciones de descarga.</a:t>
            </a:r>
            <a:endParaRPr lang="en-US" sz="800" dirty="0"/>
          </a:p>
        </p:txBody>
      </p:sp>
      <p:sp>
        <p:nvSpPr>
          <p:cNvPr id="57" name="Shape 55"/>
          <p:cNvSpPr/>
          <p:nvPr/>
        </p:nvSpPr>
        <p:spPr>
          <a:xfrm rot="7133195">
            <a:off x="8298431" y="5167618"/>
            <a:ext cx="121615" cy="121615"/>
          </a:xfrm>
          <a:prstGeom prst="triangle">
            <a:avLst/>
          </a:prstGeom>
          <a:solidFill>
            <a:srgbClr val="4A5878"/>
          </a:solidFill>
          <a:ln/>
        </p:spPr>
      </p:sp>
      <p:sp>
        <p:nvSpPr>
          <p:cNvPr id="58" name="Shape 56"/>
          <p:cNvSpPr/>
          <p:nvPr/>
        </p:nvSpPr>
        <p:spPr>
          <a:xfrm>
            <a:off x="7086600" y="4526280"/>
            <a:ext cx="1230045" cy="678645"/>
          </a:xfrm>
          <a:prstGeom prst="line">
            <a:avLst/>
          </a:prstGeom>
          <a:noFill/>
          <a:ln w="19050">
            <a:solidFill>
              <a:srgbClr val="4A5878"/>
            </a:solidFill>
            <a:prstDash val="solid"/>
          </a:ln>
        </p:spPr>
      </p:sp>
      <p:sp>
        <p:nvSpPr>
          <p:cNvPr id="59" name="Shape 57"/>
          <p:cNvSpPr/>
          <p:nvPr/>
        </p:nvSpPr>
        <p:spPr>
          <a:xfrm>
            <a:off x="6972300" y="4736592"/>
            <a:ext cx="1554480" cy="310896"/>
          </a:xfrm>
          <a:prstGeom prst="roundRect">
            <a:avLst>
              <a:gd name="adj" fmla="val 23529"/>
            </a:avLst>
          </a:prstGeom>
          <a:solidFill>
            <a:srgbClr val="FFFFFF"/>
          </a:solidFill>
          <a:ln w="9525">
            <a:solidFill>
              <a:srgbClr val="4A5878"/>
            </a:solidFill>
            <a:prstDash val="solid"/>
          </a:ln>
        </p:spPr>
      </p:sp>
      <p:sp>
        <p:nvSpPr>
          <p:cNvPr id="60" name="Text 58"/>
          <p:cNvSpPr txBox="1"/>
          <p:nvPr/>
        </p:nvSpPr>
        <p:spPr>
          <a:xfrm>
            <a:off x="6999732" y="4736592"/>
            <a:ext cx="1499616" cy="310896"/>
          </a:xfrm>
          <a:prstGeom prst="rect">
            <a:avLst/>
          </a:prstGeom>
          <a:noFill/>
          <a:ln/>
        </p:spPr>
        <p:txBody>
          <a:bodyPr wrap="square" lIns="0" tIns="0" rIns="0" bIns="0" rtlCol="0" anchor="ctr"/>
          <a:lstStyle/>
          <a:p>
            <a:pPr algn="ctr" indent="0" marL="0">
              <a:buNone/>
            </a:pPr>
            <a:r>
              <a:rPr lang="en-US" sz="800" i="1" dirty="0">
                <a:solidFill>
                  <a:srgbClr val="0E1B3D"/>
                </a:solidFill>
                <a:latin typeface="Open Sans" pitchFamily="34" charset="0"/>
                <a:ea typeface="Open Sans" pitchFamily="34" charset="-122"/>
                <a:cs typeface="Open Sans" pitchFamily="34" charset="-120"/>
              </a:rPr>
              <a:t>Envía notificaciones y enlaces</a:t>
            </a:r>
            <a:endParaRPr lang="en-US" sz="800" dirty="0"/>
          </a:p>
        </p:txBody>
      </p:sp>
      <p:sp>
        <p:nvSpPr>
          <p:cNvPr id="61" name="Shape 59"/>
          <p:cNvSpPr/>
          <p:nvPr/>
        </p:nvSpPr>
        <p:spPr>
          <a:xfrm>
            <a:off x="7269480" y="5257800"/>
            <a:ext cx="2286000" cy="914400"/>
          </a:xfrm>
          <a:prstGeom prst="roundRect">
            <a:avLst>
              <a:gd name="adj" fmla="val 10000"/>
            </a:avLst>
          </a:prstGeom>
          <a:solidFill>
            <a:srgbClr val="5B6B8C"/>
          </a:solidFill>
          <a:ln/>
          <a:effectLst>
            <a:outerShdw sx="100000" sy="100000" kx="0" ky="0" algn="bl" rotWithShape="0" blurRad="177800" dist="38100" dir="5400000">
              <a:srgbClr val="0B1E4F">
                <a:alpha val="10000"/>
              </a:srgbClr>
            </a:outerShdw>
          </a:effectLst>
        </p:spPr>
      </p:sp>
      <p:sp>
        <p:nvSpPr>
          <p:cNvPr id="62" name="Text 60"/>
          <p:cNvSpPr txBox="1"/>
          <p:nvPr/>
        </p:nvSpPr>
        <p:spPr>
          <a:xfrm>
            <a:off x="7360920" y="5312664"/>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Pasarela SMS</a:t>
            </a:r>
            <a:endParaRPr lang="en-US" sz="1050" dirty="0"/>
          </a:p>
        </p:txBody>
      </p:sp>
      <p:sp>
        <p:nvSpPr>
          <p:cNvPr id="63" name="Text 61"/>
          <p:cNvSpPr txBox="1"/>
          <p:nvPr/>
        </p:nvSpPr>
        <p:spPr>
          <a:xfrm>
            <a:off x="7360920" y="5623560"/>
            <a:ext cx="2103120" cy="502920"/>
          </a:xfrm>
          <a:prstGeom prst="rect">
            <a:avLst/>
          </a:prstGeom>
          <a:noFill/>
          <a:ln/>
        </p:spPr>
        <p:txBody>
          <a:bodyPr wrap="square" lIns="0" tIns="0" rIns="0" bIns="0" rtlCol="0" anchor="t"/>
          <a:lstStyle/>
          <a:p>
            <a:pPr algn="ctr" indent="0" marL="0">
              <a:buNone/>
            </a:pPr>
            <a:r>
              <a:rPr lang="en-US" sz="800" dirty="0">
                <a:solidFill>
                  <a:srgbClr val="E6EEFF"/>
                </a:solidFill>
                <a:latin typeface="Open Sans" pitchFamily="34" charset="0"/>
                <a:ea typeface="Open Sans" pitchFamily="34" charset="-122"/>
                <a:cs typeface="Open Sans" pitchFamily="34" charset="-120"/>
              </a:rPr>
              <a:t>Servicio externo de mensajería para envío de constancias y alertas.</a:t>
            </a:r>
            <a:endParaRPr lang="en-US" sz="800" dirty="0"/>
          </a:p>
        </p:txBody>
      </p:sp>
      <p:sp>
        <p:nvSpPr>
          <p:cNvPr id="64" name="Shape 62"/>
          <p:cNvSpPr/>
          <p:nvPr/>
        </p:nvSpPr>
        <p:spPr>
          <a:xfrm>
            <a:off x="9646920" y="5257800"/>
            <a:ext cx="1965960" cy="914400"/>
          </a:xfrm>
          <a:prstGeom prst="roundRect">
            <a:avLst>
              <a:gd name="adj" fmla="val 12000"/>
            </a:avLst>
          </a:prstGeom>
          <a:solidFill>
            <a:srgbClr val="E0F8FB"/>
          </a:solidFill>
          <a:ln/>
        </p:spPr>
      </p:sp>
      <p:sp>
        <p:nvSpPr>
          <p:cNvPr id="65" name="Text 63"/>
          <p:cNvSpPr txBox="1"/>
          <p:nvPr/>
        </p:nvSpPr>
        <p:spPr>
          <a:xfrm>
            <a:off x="9784080" y="5303520"/>
            <a:ext cx="1737360" cy="822960"/>
          </a:xfrm>
          <a:prstGeom prst="rect">
            <a:avLst/>
          </a:prstGeom>
          <a:noFill/>
          <a:ln/>
        </p:spPr>
        <p:txBody>
          <a:bodyPr wrap="square" lIns="0" tIns="0" rIns="0" bIns="0" rtlCol="0" anchor="ctr"/>
          <a:lstStyle/>
          <a:p>
            <a:pPr indent="0" marL="0">
              <a:buNone/>
            </a:pPr>
            <a:r>
              <a:rPr lang="en-US" sz="850" b="1" dirty="0">
                <a:solidFill>
                  <a:srgbClr val="008FB0"/>
                </a:solidFill>
                <a:latin typeface="Open Sans" pitchFamily="34" charset="0"/>
                <a:ea typeface="Open Sans" pitchFamily="34" charset="-122"/>
                <a:cs typeface="Open Sans" pitchFamily="34" charset="-120"/>
              </a:rPr>
              <a:t>Frontera del sistema: </a:t>
            </a:r>
            <a:pPr indent="0" marL="0">
              <a:buNone/>
            </a:pPr>
            <a:r>
              <a:rPr lang="en-US" sz="850" dirty="0">
                <a:solidFill>
                  <a:srgbClr val="0E1B3D"/>
                </a:solidFill>
                <a:latin typeface="Open Sans" pitchFamily="34" charset="0"/>
                <a:ea typeface="Open Sans" pitchFamily="34" charset="-122"/>
                <a:cs typeface="Open Sans" pitchFamily="34" charset="-120"/>
              </a:rPr>
              <a:t>SIRDEPA no controla la navegación ni el cobro de tributos.</a:t>
            </a:r>
            <a:endParaRPr lang="en-US" sz="850" dirty="0"/>
          </a:p>
        </p:txBody>
      </p:sp>
      <p:sp>
        <p:nvSpPr>
          <p:cNvPr id="66" name="Shape 64"/>
          <p:cNvSpPr/>
          <p:nvPr/>
        </p:nvSpPr>
        <p:spPr>
          <a:xfrm>
            <a:off x="548640" y="5257800"/>
            <a:ext cx="1920240" cy="914400"/>
          </a:xfrm>
          <a:prstGeom prst="roundRect">
            <a:avLst>
              <a:gd name="adj" fmla="val 12000"/>
            </a:avLst>
          </a:prstGeom>
          <a:solidFill>
            <a:srgbClr val="E0F8FB"/>
          </a:solidFill>
          <a:ln/>
        </p:spPr>
      </p:sp>
      <p:sp>
        <p:nvSpPr>
          <p:cNvPr id="67" name="Text 65"/>
          <p:cNvSpPr txBox="1"/>
          <p:nvPr/>
        </p:nvSpPr>
        <p:spPr>
          <a:xfrm>
            <a:off x="685800" y="5303520"/>
            <a:ext cx="1737360" cy="822960"/>
          </a:xfrm>
          <a:prstGeom prst="rect">
            <a:avLst/>
          </a:prstGeom>
          <a:noFill/>
          <a:ln/>
        </p:spPr>
        <p:txBody>
          <a:bodyPr wrap="square" lIns="0" tIns="0" rIns="0" bIns="0" rtlCol="0" anchor="ctr"/>
          <a:lstStyle/>
          <a:p>
            <a:pPr indent="0" marL="0">
              <a:buNone/>
            </a:pPr>
            <a:r>
              <a:rPr lang="en-US" sz="1400" b="1" dirty="0">
                <a:solidFill>
                  <a:srgbClr val="008FB0"/>
                </a:solidFill>
                <a:latin typeface="Montserrat" pitchFamily="34" charset="0"/>
                <a:ea typeface="Montserrat" pitchFamily="34" charset="-122"/>
                <a:cs typeface="Montserrat" pitchFamily="34" charset="-120"/>
              </a:rPr>
              <a:t>6 </a:t>
            </a:r>
            <a:pPr indent="0" marL="0">
              <a:buNone/>
            </a:pPr>
            <a:r>
              <a:rPr lang="en-US" sz="950" dirty="0">
                <a:solidFill>
                  <a:srgbClr val="0E1B3D"/>
                </a:solidFill>
                <a:latin typeface="Open Sans" pitchFamily="34" charset="0"/>
                <a:ea typeface="Open Sans" pitchFamily="34" charset="-122"/>
                <a:cs typeface="Open Sans" pitchFamily="34" charset="-120"/>
              </a:rPr>
              <a:t>actores humanos
</a:t>
            </a:r>
            <a:pPr indent="0" marL="0">
              <a:buNone/>
            </a:pPr>
            <a:r>
              <a:rPr lang="en-US" sz="1400" b="1" dirty="0">
                <a:solidFill>
                  <a:srgbClr val="008FB0"/>
                </a:solidFill>
                <a:latin typeface="Montserrat" pitchFamily="34" charset="0"/>
                <a:ea typeface="Montserrat" pitchFamily="34" charset="-122"/>
                <a:cs typeface="Montserrat" pitchFamily="34" charset="-120"/>
              </a:rPr>
              <a:t>2 </a:t>
            </a:r>
            <a:pPr indent="0" marL="0">
              <a:buNone/>
            </a:pPr>
            <a:r>
              <a:rPr lang="en-US" sz="950" dirty="0">
                <a:solidFill>
                  <a:srgbClr val="0E1B3D"/>
                </a:solidFill>
                <a:latin typeface="Open Sans" pitchFamily="34" charset="0"/>
                <a:ea typeface="Open Sans" pitchFamily="34" charset="-122"/>
                <a:cs typeface="Open Sans" pitchFamily="34" charset="-120"/>
              </a:rPr>
              <a:t>sistemas externos</a:t>
            </a:r>
            <a:endParaRPr lang="en-US" sz="950" dirty="0"/>
          </a:p>
        </p:txBody>
      </p:sp>
      <p:sp>
        <p:nvSpPr>
          <p:cNvPr id="68" name="Text 6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69" name="Text 6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815791" cy="274320"/>
          </a:xfrm>
          <a:prstGeom prst="roundRect">
            <a:avLst>
              <a:gd name="adj" fmla="val 50000"/>
            </a:avLst>
          </a:prstGeom>
          <a:solidFill>
            <a:srgbClr val="00B8D4"/>
          </a:solidFill>
          <a:ln/>
        </p:spPr>
      </p:sp>
      <p:sp>
        <p:nvSpPr>
          <p:cNvPr id="3" name="Text 1"/>
          <p:cNvSpPr txBox="1"/>
          <p:nvPr/>
        </p:nvSpPr>
        <p:spPr>
          <a:xfrm>
            <a:off x="548640" y="292608"/>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3.1.2 CASOS DE USO GENERALES</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Diagrama de casos de uso</a:t>
            </a:r>
            <a:endParaRPr lang="en-US" sz="2400" dirty="0"/>
          </a:p>
        </p:txBody>
      </p:sp>
      <p:sp>
        <p:nvSpPr>
          <p:cNvPr id="5" name="Shape 3"/>
          <p:cNvSpPr/>
          <p:nvPr/>
        </p:nvSpPr>
        <p:spPr>
          <a:xfrm>
            <a:off x="2148840" y="1188720"/>
            <a:ext cx="7863840" cy="5166360"/>
          </a:xfrm>
          <a:prstGeom prst="roundRect">
            <a:avLst>
              <a:gd name="adj" fmla="val 2832"/>
            </a:avLst>
          </a:prstGeom>
          <a:solidFill>
            <a:srgbClr val="E0F8FB"/>
          </a:solidFill>
          <a:ln w="15875">
            <a:solidFill>
              <a:srgbClr val="00B8D4"/>
            </a:solidFill>
            <a:prstDash val="solid"/>
          </a:ln>
        </p:spPr>
      </p:sp>
      <p:sp>
        <p:nvSpPr>
          <p:cNvPr id="6" name="Text 4"/>
          <p:cNvSpPr txBox="1"/>
          <p:nvPr/>
        </p:nvSpPr>
        <p:spPr>
          <a:xfrm>
            <a:off x="2331720" y="1261872"/>
            <a:ext cx="1828800" cy="274320"/>
          </a:xfrm>
          <a:prstGeom prst="rect">
            <a:avLst/>
          </a:prstGeom>
          <a:noFill/>
          <a:ln/>
        </p:spPr>
        <p:txBody>
          <a:bodyPr wrap="square" lIns="0" tIns="0" rIns="0" bIns="0" rtlCol="0" anchor="ctr"/>
          <a:lstStyle/>
          <a:p>
            <a:pPr indent="0" marL="0">
              <a:buNone/>
            </a:pPr>
            <a:r>
              <a:rPr lang="en-US" sz="1100" b="1" spc="200" kern="0" dirty="0">
                <a:solidFill>
                  <a:srgbClr val="008FB0"/>
                </a:solidFill>
                <a:latin typeface="Montserrat" pitchFamily="34" charset="0"/>
                <a:ea typeface="Montserrat" pitchFamily="34" charset="-122"/>
                <a:cs typeface="Montserrat" pitchFamily="34" charset="-120"/>
              </a:rPr>
              <a:t>SIRDEPA</a:t>
            </a:r>
            <a:endParaRPr lang="en-US" sz="1100" dirty="0"/>
          </a:p>
        </p:txBody>
      </p:sp>
      <p:sp>
        <p:nvSpPr>
          <p:cNvPr id="7" name="Shape 5"/>
          <p:cNvSpPr/>
          <p:nvPr/>
        </p:nvSpPr>
        <p:spPr>
          <a:xfrm flipV="1">
            <a:off x="1316736" y="1691640"/>
            <a:ext cx="1060704" cy="73152"/>
          </a:xfrm>
          <a:prstGeom prst="line">
            <a:avLst/>
          </a:prstGeom>
          <a:noFill/>
          <a:ln w="15875">
            <a:solidFill>
              <a:srgbClr val="E06F00"/>
            </a:solidFill>
            <a:prstDash val="solid"/>
          </a:ln>
        </p:spPr>
      </p:sp>
      <p:sp>
        <p:nvSpPr>
          <p:cNvPr id="8" name="Shape 6"/>
          <p:cNvSpPr/>
          <p:nvPr/>
        </p:nvSpPr>
        <p:spPr>
          <a:xfrm>
            <a:off x="1316736" y="1764792"/>
            <a:ext cx="1060704" cy="521208"/>
          </a:xfrm>
          <a:prstGeom prst="line">
            <a:avLst/>
          </a:prstGeom>
          <a:noFill/>
          <a:ln w="15875">
            <a:solidFill>
              <a:srgbClr val="E06F00"/>
            </a:solidFill>
            <a:prstDash val="solid"/>
          </a:ln>
        </p:spPr>
      </p:sp>
      <p:sp>
        <p:nvSpPr>
          <p:cNvPr id="9" name="Shape 7"/>
          <p:cNvSpPr/>
          <p:nvPr/>
        </p:nvSpPr>
        <p:spPr>
          <a:xfrm>
            <a:off x="1316736" y="3044952"/>
            <a:ext cx="1060704" cy="18288"/>
          </a:xfrm>
          <a:prstGeom prst="line">
            <a:avLst/>
          </a:prstGeom>
          <a:noFill/>
          <a:ln w="15875">
            <a:solidFill>
              <a:srgbClr val="0B5FFF"/>
            </a:solidFill>
            <a:prstDash val="solid"/>
          </a:ln>
        </p:spPr>
      </p:sp>
      <p:sp>
        <p:nvSpPr>
          <p:cNvPr id="10" name="Shape 8"/>
          <p:cNvSpPr/>
          <p:nvPr/>
        </p:nvSpPr>
        <p:spPr>
          <a:xfrm>
            <a:off x="1316736" y="3044952"/>
            <a:ext cx="1060704" cy="704088"/>
          </a:xfrm>
          <a:prstGeom prst="line">
            <a:avLst/>
          </a:prstGeom>
          <a:noFill/>
          <a:ln w="15875">
            <a:solidFill>
              <a:srgbClr val="0B5FFF"/>
            </a:solidFill>
            <a:prstDash val="solid"/>
          </a:ln>
        </p:spPr>
      </p:sp>
      <p:sp>
        <p:nvSpPr>
          <p:cNvPr id="11" name="Shape 9"/>
          <p:cNvSpPr/>
          <p:nvPr/>
        </p:nvSpPr>
        <p:spPr>
          <a:xfrm>
            <a:off x="1316736" y="3044952"/>
            <a:ext cx="1060704" cy="1344168"/>
          </a:xfrm>
          <a:prstGeom prst="line">
            <a:avLst/>
          </a:prstGeom>
          <a:noFill/>
          <a:ln w="15875">
            <a:solidFill>
              <a:srgbClr val="0B5FFF"/>
            </a:solidFill>
            <a:prstDash val="solid"/>
          </a:ln>
        </p:spPr>
      </p:sp>
      <p:sp>
        <p:nvSpPr>
          <p:cNvPr id="12" name="Shape 10"/>
          <p:cNvSpPr/>
          <p:nvPr/>
        </p:nvSpPr>
        <p:spPr>
          <a:xfrm>
            <a:off x="1316736" y="4325112"/>
            <a:ext cx="1060704" cy="749808"/>
          </a:xfrm>
          <a:prstGeom prst="line">
            <a:avLst/>
          </a:prstGeom>
          <a:noFill/>
          <a:ln w="15875">
            <a:solidFill>
              <a:srgbClr val="0B9468"/>
            </a:solidFill>
            <a:prstDash val="solid"/>
          </a:ln>
        </p:spPr>
      </p:sp>
      <p:sp>
        <p:nvSpPr>
          <p:cNvPr id="13" name="Shape 11"/>
          <p:cNvSpPr/>
          <p:nvPr/>
        </p:nvSpPr>
        <p:spPr>
          <a:xfrm>
            <a:off x="1316736" y="5559552"/>
            <a:ext cx="1060704" cy="292608"/>
          </a:xfrm>
          <a:prstGeom prst="line">
            <a:avLst/>
          </a:prstGeom>
          <a:noFill/>
          <a:ln w="15875">
            <a:solidFill>
              <a:srgbClr val="FF5A5F"/>
            </a:solidFill>
            <a:prstDash val="solid"/>
          </a:ln>
        </p:spPr>
      </p:sp>
      <p:sp>
        <p:nvSpPr>
          <p:cNvPr id="14" name="Shape 12"/>
          <p:cNvSpPr/>
          <p:nvPr/>
        </p:nvSpPr>
        <p:spPr>
          <a:xfrm flipH="1" flipV="1">
            <a:off x="9692640" y="1691640"/>
            <a:ext cx="1152144" cy="484632"/>
          </a:xfrm>
          <a:prstGeom prst="line">
            <a:avLst/>
          </a:prstGeom>
          <a:noFill/>
          <a:ln w="15875">
            <a:solidFill>
              <a:srgbClr val="7B5CFF"/>
            </a:solidFill>
            <a:prstDash val="solid"/>
          </a:ln>
        </p:spPr>
      </p:sp>
      <p:sp>
        <p:nvSpPr>
          <p:cNvPr id="15" name="Shape 13"/>
          <p:cNvSpPr/>
          <p:nvPr/>
        </p:nvSpPr>
        <p:spPr>
          <a:xfrm flipH="1">
            <a:off x="9692640" y="2176272"/>
            <a:ext cx="1152144" cy="109728"/>
          </a:xfrm>
          <a:prstGeom prst="line">
            <a:avLst/>
          </a:prstGeom>
          <a:noFill/>
          <a:ln w="15875">
            <a:solidFill>
              <a:srgbClr val="7B5CFF"/>
            </a:solidFill>
            <a:prstDash val="solid"/>
          </a:ln>
        </p:spPr>
      </p:sp>
      <p:sp>
        <p:nvSpPr>
          <p:cNvPr id="16" name="Shape 14"/>
          <p:cNvSpPr/>
          <p:nvPr/>
        </p:nvSpPr>
        <p:spPr>
          <a:xfrm flipH="1">
            <a:off x="9692640" y="2176272"/>
            <a:ext cx="1152144" cy="704088"/>
          </a:xfrm>
          <a:prstGeom prst="line">
            <a:avLst/>
          </a:prstGeom>
          <a:noFill/>
          <a:ln w="15875">
            <a:solidFill>
              <a:srgbClr val="7B5CFF"/>
            </a:solidFill>
            <a:prstDash val="solid"/>
          </a:ln>
        </p:spPr>
      </p:sp>
      <p:sp>
        <p:nvSpPr>
          <p:cNvPr id="17" name="Shape 15"/>
          <p:cNvSpPr/>
          <p:nvPr/>
        </p:nvSpPr>
        <p:spPr>
          <a:xfrm flipH="1" flipV="1">
            <a:off x="9692640" y="4800600"/>
            <a:ext cx="1152144" cy="621792"/>
          </a:xfrm>
          <a:prstGeom prst="line">
            <a:avLst/>
          </a:prstGeom>
          <a:noFill/>
          <a:ln w="15875">
            <a:solidFill>
              <a:srgbClr val="008FB0"/>
            </a:solidFill>
            <a:prstDash val="solid"/>
          </a:ln>
        </p:spPr>
      </p:sp>
      <p:sp>
        <p:nvSpPr>
          <p:cNvPr id="18" name="Shape 16"/>
          <p:cNvSpPr/>
          <p:nvPr/>
        </p:nvSpPr>
        <p:spPr>
          <a:xfrm flipH="1">
            <a:off x="9692640" y="5422392"/>
            <a:ext cx="1152144" cy="109728"/>
          </a:xfrm>
          <a:prstGeom prst="line">
            <a:avLst/>
          </a:prstGeom>
          <a:noFill/>
          <a:ln w="15875">
            <a:solidFill>
              <a:srgbClr val="008FB0"/>
            </a:solidFill>
            <a:prstDash val="solid"/>
          </a:ln>
        </p:spPr>
      </p:sp>
      <p:sp>
        <p:nvSpPr>
          <p:cNvPr id="19" name="Shape 17"/>
          <p:cNvSpPr/>
          <p:nvPr/>
        </p:nvSpPr>
        <p:spPr>
          <a:xfrm flipH="1">
            <a:off x="9692640" y="3611880"/>
            <a:ext cx="777240" cy="914"/>
          </a:xfrm>
          <a:prstGeom prst="line">
            <a:avLst/>
          </a:prstGeom>
          <a:noFill/>
          <a:ln w="15875">
            <a:solidFill>
              <a:srgbClr val="4A5878"/>
            </a:solidFill>
            <a:prstDash val="solid"/>
          </a:ln>
        </p:spPr>
      </p:sp>
      <p:sp>
        <p:nvSpPr>
          <p:cNvPr id="20" name="Shape 18"/>
          <p:cNvSpPr/>
          <p:nvPr/>
        </p:nvSpPr>
        <p:spPr>
          <a:xfrm flipH="1">
            <a:off x="9692640" y="4663440"/>
            <a:ext cx="777240" cy="137160"/>
          </a:xfrm>
          <a:prstGeom prst="line">
            <a:avLst/>
          </a:prstGeom>
          <a:noFill/>
          <a:ln w="15875">
            <a:solidFill>
              <a:srgbClr val="4A5878"/>
            </a:solidFill>
            <a:prstDash val="solid"/>
          </a:ln>
        </p:spPr>
      </p:sp>
      <p:sp>
        <p:nvSpPr>
          <p:cNvPr id="21" name="Shape 19"/>
          <p:cNvSpPr/>
          <p:nvPr/>
        </p:nvSpPr>
        <p:spPr>
          <a:xfrm rot="4473621">
            <a:off x="5006158" y="2544978"/>
            <a:ext cx="116586" cy="116586"/>
          </a:xfrm>
          <a:prstGeom prst="triangle">
            <a:avLst/>
          </a:prstGeom>
          <a:solidFill>
            <a:srgbClr val="008FB0"/>
          </a:solidFill>
          <a:ln/>
        </p:spPr>
      </p:sp>
      <p:sp>
        <p:nvSpPr>
          <p:cNvPr id="22" name="Shape 20"/>
          <p:cNvSpPr/>
          <p:nvPr/>
        </p:nvSpPr>
        <p:spPr>
          <a:xfrm flipV="1">
            <a:off x="4160520" y="2615686"/>
            <a:ext cx="858979" cy="237242"/>
          </a:xfrm>
          <a:prstGeom prst="line">
            <a:avLst/>
          </a:prstGeom>
          <a:noFill/>
          <a:ln w="15875">
            <a:solidFill>
              <a:srgbClr val="008FB0"/>
            </a:solidFill>
            <a:prstDash val="dash"/>
          </a:ln>
        </p:spPr>
      </p:sp>
      <p:sp>
        <p:nvSpPr>
          <p:cNvPr id="23" name="Text 21"/>
          <p:cNvSpPr txBox="1"/>
          <p:nvPr/>
        </p:nvSpPr>
        <p:spPr>
          <a:xfrm>
            <a:off x="4069080" y="2487168"/>
            <a:ext cx="1005840" cy="219456"/>
          </a:xfrm>
          <a:prstGeom prst="rect">
            <a:avLst/>
          </a:prstGeom>
          <a:noFill/>
          <a:ln/>
        </p:spPr>
        <p:txBody>
          <a:bodyPr wrap="square" lIns="0" tIns="0" rIns="0" bIns="0" rtlCol="0" anchor="ctr"/>
          <a:lstStyle/>
          <a:p>
            <a:pPr algn="ctr" indent="0" marL="0">
              <a:buNone/>
            </a:pPr>
            <a:r>
              <a:rPr lang="en-US" sz="850" b="1" i="1" dirty="0">
                <a:solidFill>
                  <a:srgbClr val="008FB0"/>
                </a:solidFill>
                <a:latin typeface="Open Sans" pitchFamily="34" charset="0"/>
                <a:ea typeface="Open Sans" pitchFamily="34" charset="-122"/>
                <a:cs typeface="Open Sans" pitchFamily="34" charset="-120"/>
              </a:rPr>
              <a:t>«include»</a:t>
            </a:r>
            <a:endParaRPr lang="en-US" sz="850" dirty="0"/>
          </a:p>
        </p:txBody>
      </p:sp>
      <p:sp>
        <p:nvSpPr>
          <p:cNvPr id="24" name="Shape 22"/>
          <p:cNvSpPr/>
          <p:nvPr/>
        </p:nvSpPr>
        <p:spPr>
          <a:xfrm rot="5882143">
            <a:off x="7473506" y="3499718"/>
            <a:ext cx="116586" cy="116586"/>
          </a:xfrm>
          <a:prstGeom prst="triangle">
            <a:avLst/>
          </a:prstGeom>
          <a:solidFill>
            <a:srgbClr val="008FB0"/>
          </a:solidFill>
          <a:ln/>
        </p:spPr>
      </p:sp>
      <p:sp>
        <p:nvSpPr>
          <p:cNvPr id="25" name="Shape 23"/>
          <p:cNvSpPr/>
          <p:nvPr/>
        </p:nvSpPr>
        <p:spPr>
          <a:xfrm>
            <a:off x="4480560" y="3127248"/>
            <a:ext cx="3005063" cy="424244"/>
          </a:xfrm>
          <a:prstGeom prst="line">
            <a:avLst/>
          </a:prstGeom>
          <a:noFill/>
          <a:ln w="15875">
            <a:solidFill>
              <a:srgbClr val="008FB0"/>
            </a:solidFill>
            <a:prstDash val="dash"/>
          </a:ln>
        </p:spPr>
      </p:sp>
      <p:sp>
        <p:nvSpPr>
          <p:cNvPr id="26" name="Text 24"/>
          <p:cNvSpPr txBox="1"/>
          <p:nvPr/>
        </p:nvSpPr>
        <p:spPr>
          <a:xfrm>
            <a:off x="5577840" y="3163824"/>
            <a:ext cx="1005840" cy="219456"/>
          </a:xfrm>
          <a:prstGeom prst="rect">
            <a:avLst/>
          </a:prstGeom>
          <a:noFill/>
          <a:ln/>
        </p:spPr>
        <p:txBody>
          <a:bodyPr wrap="square" lIns="0" tIns="0" rIns="0" bIns="0" rtlCol="0" anchor="ctr"/>
          <a:lstStyle/>
          <a:p>
            <a:pPr algn="ctr" indent="0" marL="0">
              <a:buNone/>
            </a:pPr>
            <a:r>
              <a:rPr lang="en-US" sz="850" b="1" i="1" dirty="0">
                <a:solidFill>
                  <a:srgbClr val="008FB0"/>
                </a:solidFill>
                <a:latin typeface="Open Sans" pitchFamily="34" charset="0"/>
                <a:ea typeface="Open Sans" pitchFamily="34" charset="-122"/>
                <a:cs typeface="Open Sans" pitchFamily="34" charset="-120"/>
              </a:rPr>
              <a:t>«include»</a:t>
            </a:r>
            <a:endParaRPr lang="en-US" sz="850" dirty="0"/>
          </a:p>
        </p:txBody>
      </p:sp>
      <p:sp>
        <p:nvSpPr>
          <p:cNvPr id="27" name="Shape 25"/>
          <p:cNvSpPr/>
          <p:nvPr/>
        </p:nvSpPr>
        <p:spPr>
          <a:xfrm rot="10800000">
            <a:off x="3370707" y="5497830"/>
            <a:ext cx="116586" cy="116586"/>
          </a:xfrm>
          <a:prstGeom prst="triangle">
            <a:avLst/>
          </a:prstGeom>
          <a:solidFill>
            <a:srgbClr val="008FB0"/>
          </a:solidFill>
          <a:ln/>
        </p:spPr>
      </p:sp>
      <p:sp>
        <p:nvSpPr>
          <p:cNvPr id="28" name="Shape 26"/>
          <p:cNvSpPr/>
          <p:nvPr/>
        </p:nvSpPr>
        <p:spPr>
          <a:xfrm>
            <a:off x="3429000" y="5312664"/>
            <a:ext cx="914" cy="196825"/>
          </a:xfrm>
          <a:prstGeom prst="line">
            <a:avLst/>
          </a:prstGeom>
          <a:noFill/>
          <a:ln w="15875">
            <a:solidFill>
              <a:srgbClr val="008FB0"/>
            </a:solidFill>
            <a:prstDash val="dash"/>
          </a:ln>
        </p:spPr>
      </p:sp>
      <p:sp>
        <p:nvSpPr>
          <p:cNvPr id="29" name="Text 27"/>
          <p:cNvSpPr txBox="1"/>
          <p:nvPr/>
        </p:nvSpPr>
        <p:spPr>
          <a:xfrm>
            <a:off x="3520440" y="5358384"/>
            <a:ext cx="1005840" cy="219456"/>
          </a:xfrm>
          <a:prstGeom prst="rect">
            <a:avLst/>
          </a:prstGeom>
          <a:noFill/>
          <a:ln/>
        </p:spPr>
        <p:txBody>
          <a:bodyPr wrap="square" lIns="0" tIns="0" rIns="0" bIns="0" rtlCol="0" anchor="ctr"/>
          <a:lstStyle/>
          <a:p>
            <a:pPr algn="ctr" indent="0" marL="0">
              <a:buNone/>
            </a:pPr>
            <a:r>
              <a:rPr lang="en-US" sz="850" b="1" i="1" dirty="0">
                <a:solidFill>
                  <a:srgbClr val="008FB0"/>
                </a:solidFill>
                <a:latin typeface="Open Sans" pitchFamily="34" charset="0"/>
                <a:ea typeface="Open Sans" pitchFamily="34" charset="-122"/>
                <a:cs typeface="Open Sans" pitchFamily="34" charset="-120"/>
              </a:rPr>
              <a:t>«include»</a:t>
            </a:r>
            <a:endParaRPr lang="en-US" sz="850" dirty="0"/>
          </a:p>
        </p:txBody>
      </p:sp>
      <p:sp>
        <p:nvSpPr>
          <p:cNvPr id="30" name="Shape 28"/>
          <p:cNvSpPr/>
          <p:nvPr/>
        </p:nvSpPr>
        <p:spPr>
          <a:xfrm rot="14829981">
            <a:off x="4338832" y="5588366"/>
            <a:ext cx="116586" cy="116586"/>
          </a:xfrm>
          <a:prstGeom prst="triangle">
            <a:avLst/>
          </a:prstGeom>
          <a:solidFill>
            <a:srgbClr val="008FB0"/>
          </a:solidFill>
          <a:ln/>
        </p:spPr>
      </p:sp>
      <p:sp>
        <p:nvSpPr>
          <p:cNvPr id="31" name="Shape 29"/>
          <p:cNvSpPr/>
          <p:nvPr/>
        </p:nvSpPr>
        <p:spPr>
          <a:xfrm flipH="1">
            <a:off x="4440105" y="5303520"/>
            <a:ext cx="771975" cy="325042"/>
          </a:xfrm>
          <a:prstGeom prst="line">
            <a:avLst/>
          </a:prstGeom>
          <a:noFill/>
          <a:ln w="15875">
            <a:solidFill>
              <a:srgbClr val="008FB0"/>
            </a:solidFill>
            <a:prstDash val="dash"/>
          </a:ln>
        </p:spPr>
      </p:sp>
      <p:sp>
        <p:nvSpPr>
          <p:cNvPr id="32" name="Text 30"/>
          <p:cNvSpPr txBox="1"/>
          <p:nvPr/>
        </p:nvSpPr>
        <p:spPr>
          <a:xfrm>
            <a:off x="4846320" y="5559552"/>
            <a:ext cx="1005840" cy="219456"/>
          </a:xfrm>
          <a:prstGeom prst="rect">
            <a:avLst/>
          </a:prstGeom>
          <a:noFill/>
          <a:ln/>
        </p:spPr>
        <p:txBody>
          <a:bodyPr wrap="square" lIns="0" tIns="0" rIns="0" bIns="0" rtlCol="0" anchor="ctr"/>
          <a:lstStyle/>
          <a:p>
            <a:pPr algn="ctr" indent="0" marL="0">
              <a:buNone/>
            </a:pPr>
            <a:r>
              <a:rPr lang="en-US" sz="850" b="1" i="1" dirty="0">
                <a:solidFill>
                  <a:srgbClr val="008FB0"/>
                </a:solidFill>
                <a:latin typeface="Open Sans" pitchFamily="34" charset="0"/>
                <a:ea typeface="Open Sans" pitchFamily="34" charset="-122"/>
                <a:cs typeface="Open Sans" pitchFamily="34" charset="-120"/>
              </a:rPr>
              <a:t>«extend»</a:t>
            </a:r>
            <a:endParaRPr lang="en-US" sz="850" dirty="0"/>
          </a:p>
        </p:txBody>
      </p:sp>
      <p:sp>
        <p:nvSpPr>
          <p:cNvPr id="33" name="Shape 31"/>
          <p:cNvSpPr/>
          <p:nvPr/>
        </p:nvSpPr>
        <p:spPr>
          <a:xfrm>
            <a:off x="2377440" y="145389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34" name="Text 32"/>
          <p:cNvSpPr txBox="1"/>
          <p:nvPr/>
        </p:nvSpPr>
        <p:spPr>
          <a:xfrm>
            <a:off x="2523744" y="145389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CU04 </a:t>
            </a:r>
            <a:pPr algn="ctr" indent="0" marL="0">
              <a:buNone/>
            </a:pPr>
            <a:r>
              <a:rPr lang="en-US" sz="850" dirty="0">
                <a:solidFill>
                  <a:srgbClr val="0E1B3D"/>
                </a:solidFill>
                <a:latin typeface="Open Sans" pitchFamily="34" charset="0"/>
                <a:ea typeface="Open Sans" pitchFamily="34" charset="-122"/>
                <a:cs typeface="Open Sans" pitchFamily="34" charset="-120"/>
              </a:rPr>
              <a:t>Registrar aviso de arribo</a:t>
            </a:r>
            <a:endParaRPr lang="en-US" sz="850" dirty="0"/>
          </a:p>
        </p:txBody>
      </p:sp>
      <p:sp>
        <p:nvSpPr>
          <p:cNvPr id="35" name="Shape 33"/>
          <p:cNvSpPr/>
          <p:nvPr/>
        </p:nvSpPr>
        <p:spPr>
          <a:xfrm>
            <a:off x="2377440" y="204825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36" name="Text 34"/>
          <p:cNvSpPr txBox="1"/>
          <p:nvPr/>
        </p:nvSpPr>
        <p:spPr>
          <a:xfrm>
            <a:off x="2523744" y="204825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CU12 </a:t>
            </a:r>
            <a:pPr algn="ctr" indent="0" marL="0">
              <a:buNone/>
            </a:pPr>
            <a:r>
              <a:rPr lang="en-US" sz="850" dirty="0">
                <a:solidFill>
                  <a:srgbClr val="0E1B3D"/>
                </a:solidFill>
                <a:latin typeface="Open Sans" pitchFamily="34" charset="0"/>
                <a:ea typeface="Open Sans" pitchFamily="34" charset="-122"/>
                <a:cs typeface="Open Sans" pitchFamily="34" charset="-120"/>
              </a:rPr>
              <a:t>Consultar historial y constancias</a:t>
            </a:r>
            <a:endParaRPr lang="en-US" sz="850" dirty="0"/>
          </a:p>
        </p:txBody>
      </p:sp>
      <p:sp>
        <p:nvSpPr>
          <p:cNvPr id="37" name="Shape 35"/>
          <p:cNvSpPr/>
          <p:nvPr/>
        </p:nvSpPr>
        <p:spPr>
          <a:xfrm>
            <a:off x="2377440" y="2825496"/>
            <a:ext cx="2103120" cy="475488"/>
          </a:xfrm>
          <a:prstGeom prst="ellipse">
            <a:avLst/>
          </a:prstGeom>
          <a:solidFill>
            <a:srgbClr val="00B8D4"/>
          </a:solidFill>
          <a:ln w="15875">
            <a:solidFill>
              <a:srgbClr val="008FB0"/>
            </a:solidFill>
            <a:prstDash val="solid"/>
          </a:ln>
          <a:effectLst>
            <a:outerShdw sx="100000" sy="100000" kx="0" ky="0" algn="bl" rotWithShape="0" blurRad="177800" dist="38100" dir="5400000">
              <a:srgbClr val="0B1E4F">
                <a:alpha val="8000"/>
              </a:srgbClr>
            </a:outerShdw>
          </a:effectLst>
        </p:spPr>
      </p:sp>
      <p:sp>
        <p:nvSpPr>
          <p:cNvPr id="38" name="Text 36"/>
          <p:cNvSpPr txBox="1"/>
          <p:nvPr/>
        </p:nvSpPr>
        <p:spPr>
          <a:xfrm>
            <a:off x="2523744" y="2825496"/>
            <a:ext cx="1810512" cy="475488"/>
          </a:xfrm>
          <a:prstGeom prst="rect">
            <a:avLst/>
          </a:prstGeom>
          <a:noFill/>
          <a:ln/>
        </p:spPr>
        <p:txBody>
          <a:bodyPr wrap="square" lIns="0" tIns="0" rIns="0" bIns="0" rtlCol="0" anchor="ctr"/>
          <a:lstStyle/>
          <a:p>
            <a:pPr algn="ctr" indent="0" marL="0">
              <a:buNone/>
            </a:pPr>
            <a:r>
              <a:rPr lang="en-US" sz="850" b="1" dirty="0">
                <a:solidFill>
                  <a:srgbClr val="FFFFFF"/>
                </a:solidFill>
                <a:latin typeface="Open Sans" pitchFamily="34" charset="0"/>
                <a:ea typeface="Open Sans" pitchFamily="34" charset="-122"/>
                <a:cs typeface="Open Sans" pitchFamily="34" charset="-120"/>
              </a:rPr>
              <a:t>CU05 </a:t>
            </a:r>
            <a:pPr algn="ctr" indent="0" marL="0">
              <a:buNone/>
            </a:pPr>
            <a:r>
              <a:rPr lang="en-US" sz="850" dirty="0">
                <a:solidFill>
                  <a:srgbClr val="FFFFFF"/>
                </a:solidFill>
                <a:latin typeface="Open Sans" pitchFamily="34" charset="0"/>
                <a:ea typeface="Open Sans" pitchFamily="34" charset="-122"/>
                <a:cs typeface="Open Sans" pitchFamily="34" charset="-120"/>
              </a:rPr>
              <a:t>Registrar desembarque</a:t>
            </a:r>
            <a:endParaRPr lang="en-US" sz="850" dirty="0"/>
          </a:p>
        </p:txBody>
      </p:sp>
      <p:sp>
        <p:nvSpPr>
          <p:cNvPr id="39" name="Shape 37"/>
          <p:cNvSpPr/>
          <p:nvPr/>
        </p:nvSpPr>
        <p:spPr>
          <a:xfrm>
            <a:off x="2377440" y="351129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40" name="Text 38"/>
          <p:cNvSpPr txBox="1"/>
          <p:nvPr/>
        </p:nvSpPr>
        <p:spPr>
          <a:xfrm>
            <a:off x="2523744" y="351129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CU15 </a:t>
            </a:r>
            <a:pPr algn="ctr" indent="0" marL="0">
              <a:buNone/>
            </a:pPr>
            <a:r>
              <a:rPr lang="en-US" sz="850" dirty="0">
                <a:solidFill>
                  <a:srgbClr val="0E1B3D"/>
                </a:solidFill>
                <a:latin typeface="Open Sans" pitchFamily="34" charset="0"/>
                <a:ea typeface="Open Sans" pitchFamily="34" charset="-122"/>
                <a:cs typeface="Open Sans" pitchFamily="34" charset="-120"/>
              </a:rPr>
              <a:t>Sincronizar registros fuera de línea</a:t>
            </a:r>
            <a:endParaRPr lang="en-US" sz="850" dirty="0"/>
          </a:p>
        </p:txBody>
      </p:sp>
      <p:sp>
        <p:nvSpPr>
          <p:cNvPr id="41" name="Shape 39"/>
          <p:cNvSpPr/>
          <p:nvPr/>
        </p:nvSpPr>
        <p:spPr>
          <a:xfrm>
            <a:off x="2377440" y="415137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42" name="Text 40"/>
          <p:cNvSpPr txBox="1"/>
          <p:nvPr/>
        </p:nvSpPr>
        <p:spPr>
          <a:xfrm>
            <a:off x="2523744" y="415137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CU08 </a:t>
            </a:r>
            <a:pPr algn="ctr" indent="0" marL="0">
              <a:buNone/>
            </a:pPr>
            <a:r>
              <a:rPr lang="en-US" sz="850" dirty="0">
                <a:solidFill>
                  <a:srgbClr val="0E1B3D"/>
                </a:solidFill>
                <a:latin typeface="Open Sans" pitchFamily="34" charset="0"/>
                <a:ea typeface="Open Sans" pitchFamily="34" charset="-122"/>
                <a:cs typeface="Open Sans" pitchFamily="34" charset="-120"/>
              </a:rPr>
              <a:t>Registrar destino y lotes</a:t>
            </a:r>
            <a:endParaRPr lang="en-US" sz="850" dirty="0"/>
          </a:p>
        </p:txBody>
      </p:sp>
      <p:sp>
        <p:nvSpPr>
          <p:cNvPr id="43" name="Shape 41"/>
          <p:cNvSpPr/>
          <p:nvPr/>
        </p:nvSpPr>
        <p:spPr>
          <a:xfrm>
            <a:off x="2377440" y="483717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44" name="Text 42"/>
          <p:cNvSpPr txBox="1"/>
          <p:nvPr/>
        </p:nvSpPr>
        <p:spPr>
          <a:xfrm>
            <a:off x="2523744" y="483717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CU09 </a:t>
            </a:r>
            <a:pPr algn="ctr" indent="0" marL="0">
              <a:buNone/>
            </a:pPr>
            <a:r>
              <a:rPr lang="en-US" sz="850" dirty="0">
                <a:solidFill>
                  <a:srgbClr val="0E1B3D"/>
                </a:solidFill>
                <a:latin typeface="Open Sans" pitchFamily="34" charset="0"/>
                <a:ea typeface="Open Sans" pitchFamily="34" charset="-122"/>
                <a:cs typeface="Open Sans" pitchFamily="34" charset="-120"/>
              </a:rPr>
              <a:t>Confirmar recepción de lote</a:t>
            </a:r>
            <a:endParaRPr lang="en-US" sz="850" dirty="0"/>
          </a:p>
        </p:txBody>
      </p:sp>
      <p:sp>
        <p:nvSpPr>
          <p:cNvPr id="45" name="Shape 43"/>
          <p:cNvSpPr/>
          <p:nvPr/>
        </p:nvSpPr>
        <p:spPr>
          <a:xfrm>
            <a:off x="2377440" y="561441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46" name="Text 44"/>
          <p:cNvSpPr txBox="1"/>
          <p:nvPr/>
        </p:nvSpPr>
        <p:spPr>
          <a:xfrm>
            <a:off x="2523744" y="561441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CU10 </a:t>
            </a:r>
            <a:pPr algn="ctr" indent="0" marL="0">
              <a:buNone/>
            </a:pPr>
            <a:r>
              <a:rPr lang="en-US" sz="850" dirty="0">
                <a:solidFill>
                  <a:srgbClr val="0E1B3D"/>
                </a:solidFill>
                <a:latin typeface="Open Sans" pitchFamily="34" charset="0"/>
                <a:ea typeface="Open Sans" pitchFamily="34" charset="-122"/>
                <a:cs typeface="Open Sans" pitchFamily="34" charset="-120"/>
              </a:rPr>
              <a:t>Verificar constancia por QR</a:t>
            </a:r>
            <a:endParaRPr lang="en-US" sz="850" dirty="0"/>
          </a:p>
        </p:txBody>
      </p:sp>
      <p:sp>
        <p:nvSpPr>
          <p:cNvPr id="47" name="Shape 45"/>
          <p:cNvSpPr/>
          <p:nvPr/>
        </p:nvSpPr>
        <p:spPr>
          <a:xfrm>
            <a:off x="4937760" y="213969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48" name="Text 46"/>
          <p:cNvSpPr txBox="1"/>
          <p:nvPr/>
        </p:nvSpPr>
        <p:spPr>
          <a:xfrm>
            <a:off x="5084064" y="213969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CU06 </a:t>
            </a:r>
            <a:pPr algn="ctr" indent="0" marL="0">
              <a:buNone/>
            </a:pPr>
            <a:r>
              <a:rPr lang="en-US" sz="850" dirty="0">
                <a:solidFill>
                  <a:srgbClr val="0E1B3D"/>
                </a:solidFill>
                <a:latin typeface="Open Sans" pitchFamily="34" charset="0"/>
                <a:ea typeface="Open Sans" pitchFamily="34" charset="-122"/>
                <a:cs typeface="Open Sans" pitchFamily="34" charset="-120"/>
              </a:rPr>
              <a:t>Validar cumplimiento normativo</a:t>
            </a:r>
            <a:endParaRPr lang="en-US" sz="850" dirty="0"/>
          </a:p>
        </p:txBody>
      </p:sp>
      <p:sp>
        <p:nvSpPr>
          <p:cNvPr id="49" name="Shape 47"/>
          <p:cNvSpPr/>
          <p:nvPr/>
        </p:nvSpPr>
        <p:spPr>
          <a:xfrm>
            <a:off x="4937760" y="483717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50" name="Text 48"/>
          <p:cNvSpPr txBox="1"/>
          <p:nvPr/>
        </p:nvSpPr>
        <p:spPr>
          <a:xfrm>
            <a:off x="5084064" y="483717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CU11 </a:t>
            </a:r>
            <a:pPr algn="ctr" indent="0" marL="0">
              <a:buNone/>
            </a:pPr>
            <a:r>
              <a:rPr lang="en-US" sz="850" dirty="0">
                <a:solidFill>
                  <a:srgbClr val="0E1B3D"/>
                </a:solidFill>
                <a:latin typeface="Open Sans" pitchFamily="34" charset="0"/>
                <a:ea typeface="Open Sans" pitchFamily="34" charset="-122"/>
                <a:cs typeface="Open Sans" pitchFamily="34" charset="-120"/>
              </a:rPr>
              <a:t>Registrar observación de fiscalización</a:t>
            </a:r>
            <a:endParaRPr lang="en-US" sz="850" dirty="0"/>
          </a:p>
        </p:txBody>
      </p:sp>
      <p:sp>
        <p:nvSpPr>
          <p:cNvPr id="51" name="Shape 49"/>
          <p:cNvSpPr/>
          <p:nvPr/>
        </p:nvSpPr>
        <p:spPr>
          <a:xfrm>
            <a:off x="7589520" y="145389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52" name="Text 50"/>
          <p:cNvSpPr txBox="1"/>
          <p:nvPr/>
        </p:nvSpPr>
        <p:spPr>
          <a:xfrm>
            <a:off x="7735824" y="145389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CU16 </a:t>
            </a:r>
            <a:pPr algn="ctr" indent="0" marL="0">
              <a:buNone/>
            </a:pPr>
            <a:r>
              <a:rPr lang="en-US" sz="850" dirty="0">
                <a:solidFill>
                  <a:srgbClr val="0E1B3D"/>
                </a:solidFill>
                <a:latin typeface="Open Sans" pitchFamily="34" charset="0"/>
                <a:ea typeface="Open Sans" pitchFamily="34" charset="-122"/>
                <a:cs typeface="Open Sans" pitchFamily="34" charset="-120"/>
              </a:rPr>
              <a:t>Anular desembarque</a:t>
            </a:r>
            <a:endParaRPr lang="en-US" sz="850" dirty="0"/>
          </a:p>
        </p:txBody>
      </p:sp>
      <p:sp>
        <p:nvSpPr>
          <p:cNvPr id="53" name="Shape 51"/>
          <p:cNvSpPr/>
          <p:nvPr/>
        </p:nvSpPr>
        <p:spPr>
          <a:xfrm>
            <a:off x="7589520" y="204825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54" name="Text 52"/>
          <p:cNvSpPr txBox="1"/>
          <p:nvPr/>
        </p:nvSpPr>
        <p:spPr>
          <a:xfrm>
            <a:off x="7735824" y="204825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CU02 </a:t>
            </a:r>
            <a:pPr algn="ctr" indent="0" marL="0">
              <a:buNone/>
            </a:pPr>
            <a:r>
              <a:rPr lang="en-US" sz="850" dirty="0">
                <a:solidFill>
                  <a:srgbClr val="0E1B3D"/>
                </a:solidFill>
                <a:latin typeface="Open Sans" pitchFamily="34" charset="0"/>
                <a:ea typeface="Open Sans" pitchFamily="34" charset="-122"/>
                <a:cs typeface="Open Sans" pitchFamily="34" charset="-120"/>
              </a:rPr>
              <a:t>Gestionar embarcaciones y permisos</a:t>
            </a:r>
            <a:endParaRPr lang="en-US" sz="850" dirty="0"/>
          </a:p>
        </p:txBody>
      </p:sp>
      <p:sp>
        <p:nvSpPr>
          <p:cNvPr id="55" name="Shape 53"/>
          <p:cNvSpPr/>
          <p:nvPr/>
        </p:nvSpPr>
        <p:spPr>
          <a:xfrm>
            <a:off x="7589520" y="264261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56" name="Text 54"/>
          <p:cNvSpPr txBox="1"/>
          <p:nvPr/>
        </p:nvSpPr>
        <p:spPr>
          <a:xfrm>
            <a:off x="7735824" y="264261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CU03 </a:t>
            </a:r>
            <a:pPr algn="ctr" indent="0" marL="0">
              <a:buNone/>
            </a:pPr>
            <a:r>
              <a:rPr lang="en-US" sz="850" dirty="0">
                <a:solidFill>
                  <a:srgbClr val="0E1B3D"/>
                </a:solidFill>
                <a:latin typeface="Open Sans" pitchFamily="34" charset="0"/>
                <a:ea typeface="Open Sans" pitchFamily="34" charset="-122"/>
                <a:cs typeface="Open Sans" pitchFamily="34" charset="-120"/>
              </a:rPr>
              <a:t>Gestionar catálogos normativos</a:t>
            </a:r>
            <a:endParaRPr lang="en-US" sz="850" dirty="0"/>
          </a:p>
        </p:txBody>
      </p:sp>
      <p:sp>
        <p:nvSpPr>
          <p:cNvPr id="57" name="Shape 55"/>
          <p:cNvSpPr/>
          <p:nvPr/>
        </p:nvSpPr>
        <p:spPr>
          <a:xfrm>
            <a:off x="7589520" y="337413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58" name="Text 56"/>
          <p:cNvSpPr txBox="1"/>
          <p:nvPr/>
        </p:nvSpPr>
        <p:spPr>
          <a:xfrm>
            <a:off x="7735824" y="337413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CU07 </a:t>
            </a:r>
            <a:pPr algn="ctr" indent="0" marL="0">
              <a:buNone/>
            </a:pPr>
            <a:r>
              <a:rPr lang="en-US" sz="850" dirty="0">
                <a:solidFill>
                  <a:srgbClr val="0E1B3D"/>
                </a:solidFill>
                <a:latin typeface="Open Sans" pitchFamily="34" charset="0"/>
                <a:ea typeface="Open Sans" pitchFamily="34" charset="-122"/>
                <a:cs typeface="Open Sans" pitchFamily="34" charset="-120"/>
              </a:rPr>
              <a:t>Emitir constancia digital con QR</a:t>
            </a:r>
            <a:endParaRPr lang="en-US" sz="850" dirty="0"/>
          </a:p>
        </p:txBody>
      </p:sp>
      <p:sp>
        <p:nvSpPr>
          <p:cNvPr id="59" name="Shape 57"/>
          <p:cNvSpPr/>
          <p:nvPr/>
        </p:nvSpPr>
        <p:spPr>
          <a:xfrm>
            <a:off x="7589520" y="456285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60" name="Text 58"/>
          <p:cNvSpPr txBox="1"/>
          <p:nvPr/>
        </p:nvSpPr>
        <p:spPr>
          <a:xfrm>
            <a:off x="7735824" y="456285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CU14 </a:t>
            </a:r>
            <a:pPr algn="ctr" indent="0" marL="0">
              <a:buNone/>
            </a:pPr>
            <a:r>
              <a:rPr lang="en-US" sz="850" dirty="0">
                <a:solidFill>
                  <a:srgbClr val="0E1B3D"/>
                </a:solidFill>
                <a:latin typeface="Open Sans" pitchFamily="34" charset="0"/>
                <a:ea typeface="Open Sans" pitchFamily="34" charset="-122"/>
                <a:cs typeface="Open Sans" pitchFamily="34" charset="-120"/>
              </a:rPr>
              <a:t>Generar y exportar reportes</a:t>
            </a:r>
            <a:endParaRPr lang="en-US" sz="850" dirty="0"/>
          </a:p>
        </p:txBody>
      </p:sp>
      <p:sp>
        <p:nvSpPr>
          <p:cNvPr id="61" name="Shape 59"/>
          <p:cNvSpPr/>
          <p:nvPr/>
        </p:nvSpPr>
        <p:spPr>
          <a:xfrm>
            <a:off x="7589520" y="5294376"/>
            <a:ext cx="2103120" cy="475488"/>
          </a:xfrm>
          <a:prstGeom prst="ellipse">
            <a:avLst/>
          </a:prstGeom>
          <a:solidFill>
            <a:srgbClr val="FFFFFF"/>
          </a:solidFill>
          <a:ln w="15875">
            <a:solidFill>
              <a:srgbClr val="00B8D4"/>
            </a:solidFill>
            <a:prstDash val="solid"/>
          </a:ln>
          <a:effectLst>
            <a:outerShdw sx="100000" sy="100000" kx="0" ky="0" algn="bl" rotWithShape="0" blurRad="177800" dist="38100" dir="5400000">
              <a:srgbClr val="0B1E4F">
                <a:alpha val="8000"/>
              </a:srgbClr>
            </a:outerShdw>
          </a:effectLst>
        </p:spPr>
      </p:sp>
      <p:sp>
        <p:nvSpPr>
          <p:cNvPr id="62" name="Text 60"/>
          <p:cNvSpPr txBox="1"/>
          <p:nvPr/>
        </p:nvSpPr>
        <p:spPr>
          <a:xfrm>
            <a:off x="7735824" y="5294376"/>
            <a:ext cx="1810512" cy="475488"/>
          </a:xfrm>
          <a:prstGeom prst="rect">
            <a:avLst/>
          </a:prstGeom>
          <a:noFill/>
          <a:ln/>
        </p:spPr>
        <p:txBody>
          <a:bodyPr wrap="square" lIns="0" tIns="0" rIns="0" bIns="0" rtlCol="0" anchor="ctr"/>
          <a:lstStyle/>
          <a:p>
            <a:pPr algn="ctr" indent="0" marL="0">
              <a:buNone/>
            </a:pPr>
            <a:r>
              <a:rPr lang="en-US" sz="850" b="1" dirty="0">
                <a:solidFill>
                  <a:srgbClr val="008FB0"/>
                </a:solidFill>
                <a:latin typeface="Open Sans" pitchFamily="34" charset="0"/>
                <a:ea typeface="Open Sans" pitchFamily="34" charset="-122"/>
                <a:cs typeface="Open Sans" pitchFamily="34" charset="-120"/>
              </a:rPr>
              <a:t>CU13 </a:t>
            </a:r>
            <a:pPr algn="ctr" indent="0" marL="0">
              <a:buNone/>
            </a:pPr>
            <a:r>
              <a:rPr lang="en-US" sz="850" dirty="0">
                <a:solidFill>
                  <a:srgbClr val="0E1B3D"/>
                </a:solidFill>
                <a:latin typeface="Open Sans" pitchFamily="34" charset="0"/>
                <a:ea typeface="Open Sans" pitchFamily="34" charset="-122"/>
                <a:cs typeface="Open Sans" pitchFamily="34" charset="-120"/>
              </a:rPr>
              <a:t>Consultar tablero de indicadores</a:t>
            </a:r>
            <a:endParaRPr lang="en-US" sz="850" dirty="0"/>
          </a:p>
        </p:txBody>
      </p:sp>
      <p:sp>
        <p:nvSpPr>
          <p:cNvPr id="63" name="Shape 61"/>
          <p:cNvSpPr/>
          <p:nvPr/>
        </p:nvSpPr>
        <p:spPr>
          <a:xfrm>
            <a:off x="996696" y="1399032"/>
            <a:ext cx="201168" cy="201168"/>
          </a:xfrm>
          <a:prstGeom prst="ellipse">
            <a:avLst/>
          </a:prstGeom>
          <a:solidFill>
            <a:srgbClr val="FFFFFF"/>
          </a:solidFill>
          <a:ln w="22225">
            <a:solidFill>
              <a:srgbClr val="E06F00"/>
            </a:solidFill>
            <a:prstDash val="solid"/>
          </a:ln>
        </p:spPr>
      </p:sp>
      <p:sp>
        <p:nvSpPr>
          <p:cNvPr id="64" name="Shape 62"/>
          <p:cNvSpPr/>
          <p:nvPr/>
        </p:nvSpPr>
        <p:spPr>
          <a:xfrm>
            <a:off x="1097280" y="1600200"/>
            <a:ext cx="914" cy="301752"/>
          </a:xfrm>
          <a:prstGeom prst="line">
            <a:avLst/>
          </a:prstGeom>
          <a:noFill/>
          <a:ln w="22225">
            <a:solidFill>
              <a:srgbClr val="E06F00"/>
            </a:solidFill>
            <a:prstDash val="solid"/>
          </a:ln>
        </p:spPr>
      </p:sp>
      <p:sp>
        <p:nvSpPr>
          <p:cNvPr id="65" name="Shape 63"/>
          <p:cNvSpPr/>
          <p:nvPr/>
        </p:nvSpPr>
        <p:spPr>
          <a:xfrm>
            <a:off x="914400" y="1709928"/>
            <a:ext cx="365760" cy="914"/>
          </a:xfrm>
          <a:prstGeom prst="line">
            <a:avLst/>
          </a:prstGeom>
          <a:noFill/>
          <a:ln w="22225">
            <a:solidFill>
              <a:srgbClr val="E06F00"/>
            </a:solidFill>
            <a:prstDash val="solid"/>
          </a:ln>
        </p:spPr>
      </p:sp>
      <p:sp>
        <p:nvSpPr>
          <p:cNvPr id="66" name="Shape 64"/>
          <p:cNvSpPr/>
          <p:nvPr/>
        </p:nvSpPr>
        <p:spPr>
          <a:xfrm flipH="1">
            <a:off x="960120" y="1901952"/>
            <a:ext cx="137160" cy="228600"/>
          </a:xfrm>
          <a:prstGeom prst="line">
            <a:avLst/>
          </a:prstGeom>
          <a:noFill/>
          <a:ln w="22225">
            <a:solidFill>
              <a:srgbClr val="E06F00"/>
            </a:solidFill>
            <a:prstDash val="solid"/>
          </a:ln>
        </p:spPr>
      </p:sp>
      <p:sp>
        <p:nvSpPr>
          <p:cNvPr id="67" name="Shape 65"/>
          <p:cNvSpPr/>
          <p:nvPr/>
        </p:nvSpPr>
        <p:spPr>
          <a:xfrm>
            <a:off x="1097280" y="1901952"/>
            <a:ext cx="137160" cy="228600"/>
          </a:xfrm>
          <a:prstGeom prst="line">
            <a:avLst/>
          </a:prstGeom>
          <a:noFill/>
          <a:ln w="22225">
            <a:solidFill>
              <a:srgbClr val="E06F00"/>
            </a:solidFill>
            <a:prstDash val="solid"/>
          </a:ln>
        </p:spPr>
      </p:sp>
      <p:sp>
        <p:nvSpPr>
          <p:cNvPr id="68" name="Text 66"/>
          <p:cNvSpPr txBox="1"/>
          <p:nvPr/>
        </p:nvSpPr>
        <p:spPr>
          <a:xfrm>
            <a:off x="411480" y="2167128"/>
            <a:ext cx="1371600" cy="329184"/>
          </a:xfrm>
          <a:prstGeom prst="rect">
            <a:avLst/>
          </a:prstGeom>
          <a:noFill/>
          <a:ln/>
        </p:spPr>
        <p:txBody>
          <a:bodyPr wrap="square" lIns="0" tIns="0" rIns="0" bIns="0" rtlCol="0" anchor="t"/>
          <a:lstStyle/>
          <a:p>
            <a:pPr algn="ctr" indent="0" marL="0">
              <a:buNone/>
            </a:pPr>
            <a:r>
              <a:rPr lang="en-US" sz="800" b="1" dirty="0">
                <a:solidFill>
                  <a:srgbClr val="E06F00"/>
                </a:solidFill>
                <a:latin typeface="Open Sans" pitchFamily="34" charset="0"/>
                <a:ea typeface="Open Sans" pitchFamily="34" charset="-122"/>
                <a:cs typeface="Open Sans" pitchFamily="34" charset="-120"/>
              </a:rPr>
              <a:t>Patrón / Armador</a:t>
            </a:r>
            <a:endParaRPr lang="en-US" sz="800" dirty="0"/>
          </a:p>
        </p:txBody>
      </p:sp>
      <p:sp>
        <p:nvSpPr>
          <p:cNvPr id="69" name="Shape 67"/>
          <p:cNvSpPr/>
          <p:nvPr/>
        </p:nvSpPr>
        <p:spPr>
          <a:xfrm>
            <a:off x="996696" y="2679192"/>
            <a:ext cx="201168" cy="201168"/>
          </a:xfrm>
          <a:prstGeom prst="ellipse">
            <a:avLst/>
          </a:prstGeom>
          <a:solidFill>
            <a:srgbClr val="FFFFFF"/>
          </a:solidFill>
          <a:ln w="22225">
            <a:solidFill>
              <a:srgbClr val="0B5FFF"/>
            </a:solidFill>
            <a:prstDash val="solid"/>
          </a:ln>
        </p:spPr>
      </p:sp>
      <p:sp>
        <p:nvSpPr>
          <p:cNvPr id="70" name="Shape 68"/>
          <p:cNvSpPr/>
          <p:nvPr/>
        </p:nvSpPr>
        <p:spPr>
          <a:xfrm>
            <a:off x="1097280" y="2880360"/>
            <a:ext cx="914" cy="301752"/>
          </a:xfrm>
          <a:prstGeom prst="line">
            <a:avLst/>
          </a:prstGeom>
          <a:noFill/>
          <a:ln w="22225">
            <a:solidFill>
              <a:srgbClr val="0B5FFF"/>
            </a:solidFill>
            <a:prstDash val="solid"/>
          </a:ln>
        </p:spPr>
      </p:sp>
      <p:sp>
        <p:nvSpPr>
          <p:cNvPr id="71" name="Shape 69"/>
          <p:cNvSpPr/>
          <p:nvPr/>
        </p:nvSpPr>
        <p:spPr>
          <a:xfrm>
            <a:off x="914400" y="2990088"/>
            <a:ext cx="365760" cy="914"/>
          </a:xfrm>
          <a:prstGeom prst="line">
            <a:avLst/>
          </a:prstGeom>
          <a:noFill/>
          <a:ln w="22225">
            <a:solidFill>
              <a:srgbClr val="0B5FFF"/>
            </a:solidFill>
            <a:prstDash val="solid"/>
          </a:ln>
        </p:spPr>
      </p:sp>
      <p:sp>
        <p:nvSpPr>
          <p:cNvPr id="72" name="Shape 70"/>
          <p:cNvSpPr/>
          <p:nvPr/>
        </p:nvSpPr>
        <p:spPr>
          <a:xfrm flipH="1">
            <a:off x="960120" y="3182112"/>
            <a:ext cx="137160" cy="228600"/>
          </a:xfrm>
          <a:prstGeom prst="line">
            <a:avLst/>
          </a:prstGeom>
          <a:noFill/>
          <a:ln w="22225">
            <a:solidFill>
              <a:srgbClr val="0B5FFF"/>
            </a:solidFill>
            <a:prstDash val="solid"/>
          </a:ln>
        </p:spPr>
      </p:sp>
      <p:sp>
        <p:nvSpPr>
          <p:cNvPr id="73" name="Shape 71"/>
          <p:cNvSpPr/>
          <p:nvPr/>
        </p:nvSpPr>
        <p:spPr>
          <a:xfrm>
            <a:off x="1097280" y="3182112"/>
            <a:ext cx="137160" cy="228600"/>
          </a:xfrm>
          <a:prstGeom prst="line">
            <a:avLst/>
          </a:prstGeom>
          <a:noFill/>
          <a:ln w="22225">
            <a:solidFill>
              <a:srgbClr val="0B5FFF"/>
            </a:solidFill>
            <a:prstDash val="solid"/>
          </a:ln>
        </p:spPr>
      </p:sp>
      <p:sp>
        <p:nvSpPr>
          <p:cNvPr id="74" name="Text 72"/>
          <p:cNvSpPr txBox="1"/>
          <p:nvPr/>
        </p:nvSpPr>
        <p:spPr>
          <a:xfrm>
            <a:off x="411480" y="3447288"/>
            <a:ext cx="1371600" cy="329184"/>
          </a:xfrm>
          <a:prstGeom prst="rect">
            <a:avLst/>
          </a:prstGeom>
          <a:noFill/>
          <a:ln/>
        </p:spPr>
        <p:txBody>
          <a:bodyPr wrap="square" lIns="0" tIns="0" rIns="0" bIns="0" rtlCol="0" anchor="t"/>
          <a:lstStyle/>
          <a:p>
            <a:pPr algn="ctr" indent="0" marL="0">
              <a:buNone/>
            </a:pPr>
            <a:r>
              <a:rPr lang="en-US" sz="800" b="1" dirty="0">
                <a:solidFill>
                  <a:srgbClr val="0B5FFF"/>
                </a:solidFill>
                <a:latin typeface="Open Sans" pitchFamily="34" charset="0"/>
                <a:ea typeface="Open Sans" pitchFamily="34" charset="-122"/>
                <a:cs typeface="Open Sans" pitchFamily="34" charset="-120"/>
              </a:rPr>
              <a:t>Registrador del DPA</a:t>
            </a:r>
            <a:endParaRPr lang="en-US" sz="800" dirty="0"/>
          </a:p>
        </p:txBody>
      </p:sp>
      <p:sp>
        <p:nvSpPr>
          <p:cNvPr id="75" name="Shape 73"/>
          <p:cNvSpPr/>
          <p:nvPr/>
        </p:nvSpPr>
        <p:spPr>
          <a:xfrm>
            <a:off x="996696" y="3959352"/>
            <a:ext cx="201168" cy="201168"/>
          </a:xfrm>
          <a:prstGeom prst="ellipse">
            <a:avLst/>
          </a:prstGeom>
          <a:solidFill>
            <a:srgbClr val="FFFFFF"/>
          </a:solidFill>
          <a:ln w="22225">
            <a:solidFill>
              <a:srgbClr val="0B9468"/>
            </a:solidFill>
            <a:prstDash val="solid"/>
          </a:ln>
        </p:spPr>
      </p:sp>
      <p:sp>
        <p:nvSpPr>
          <p:cNvPr id="76" name="Shape 74"/>
          <p:cNvSpPr/>
          <p:nvPr/>
        </p:nvSpPr>
        <p:spPr>
          <a:xfrm>
            <a:off x="1097280" y="4160520"/>
            <a:ext cx="914" cy="301752"/>
          </a:xfrm>
          <a:prstGeom prst="line">
            <a:avLst/>
          </a:prstGeom>
          <a:noFill/>
          <a:ln w="22225">
            <a:solidFill>
              <a:srgbClr val="0B9468"/>
            </a:solidFill>
            <a:prstDash val="solid"/>
          </a:ln>
        </p:spPr>
      </p:sp>
      <p:sp>
        <p:nvSpPr>
          <p:cNvPr id="77" name="Shape 75"/>
          <p:cNvSpPr/>
          <p:nvPr/>
        </p:nvSpPr>
        <p:spPr>
          <a:xfrm>
            <a:off x="914400" y="4270248"/>
            <a:ext cx="365760" cy="914"/>
          </a:xfrm>
          <a:prstGeom prst="line">
            <a:avLst/>
          </a:prstGeom>
          <a:noFill/>
          <a:ln w="22225">
            <a:solidFill>
              <a:srgbClr val="0B9468"/>
            </a:solidFill>
            <a:prstDash val="solid"/>
          </a:ln>
        </p:spPr>
      </p:sp>
      <p:sp>
        <p:nvSpPr>
          <p:cNvPr id="78" name="Shape 76"/>
          <p:cNvSpPr/>
          <p:nvPr/>
        </p:nvSpPr>
        <p:spPr>
          <a:xfrm flipH="1">
            <a:off x="960120" y="4462272"/>
            <a:ext cx="137160" cy="228600"/>
          </a:xfrm>
          <a:prstGeom prst="line">
            <a:avLst/>
          </a:prstGeom>
          <a:noFill/>
          <a:ln w="22225">
            <a:solidFill>
              <a:srgbClr val="0B9468"/>
            </a:solidFill>
            <a:prstDash val="solid"/>
          </a:ln>
        </p:spPr>
      </p:sp>
      <p:sp>
        <p:nvSpPr>
          <p:cNvPr id="79" name="Shape 77"/>
          <p:cNvSpPr/>
          <p:nvPr/>
        </p:nvSpPr>
        <p:spPr>
          <a:xfrm>
            <a:off x="1097280" y="4462272"/>
            <a:ext cx="137160" cy="228600"/>
          </a:xfrm>
          <a:prstGeom prst="line">
            <a:avLst/>
          </a:prstGeom>
          <a:noFill/>
          <a:ln w="22225">
            <a:solidFill>
              <a:srgbClr val="0B9468"/>
            </a:solidFill>
            <a:prstDash val="solid"/>
          </a:ln>
        </p:spPr>
      </p:sp>
      <p:sp>
        <p:nvSpPr>
          <p:cNvPr id="80" name="Text 78"/>
          <p:cNvSpPr txBox="1"/>
          <p:nvPr/>
        </p:nvSpPr>
        <p:spPr>
          <a:xfrm>
            <a:off x="411480" y="4727448"/>
            <a:ext cx="1371600" cy="329184"/>
          </a:xfrm>
          <a:prstGeom prst="rect">
            <a:avLst/>
          </a:prstGeom>
          <a:noFill/>
          <a:ln/>
        </p:spPr>
        <p:txBody>
          <a:bodyPr wrap="square" lIns="0" tIns="0" rIns="0" bIns="0" rtlCol="0" anchor="t"/>
          <a:lstStyle/>
          <a:p>
            <a:pPr algn="ctr" indent="0" marL="0">
              <a:buNone/>
            </a:pPr>
            <a:r>
              <a:rPr lang="en-US" sz="800" b="1" dirty="0">
                <a:solidFill>
                  <a:srgbClr val="0B9468"/>
                </a:solidFill>
                <a:latin typeface="Open Sans" pitchFamily="34" charset="0"/>
                <a:ea typeface="Open Sans" pitchFamily="34" charset="-122"/>
                <a:cs typeface="Open Sans" pitchFamily="34" charset="-120"/>
              </a:rPr>
              <a:t>Comerciante / Comprador</a:t>
            </a:r>
            <a:endParaRPr lang="en-US" sz="800" dirty="0"/>
          </a:p>
        </p:txBody>
      </p:sp>
      <p:sp>
        <p:nvSpPr>
          <p:cNvPr id="81" name="Shape 79"/>
          <p:cNvSpPr/>
          <p:nvPr/>
        </p:nvSpPr>
        <p:spPr>
          <a:xfrm>
            <a:off x="996696" y="5193792"/>
            <a:ext cx="201168" cy="201168"/>
          </a:xfrm>
          <a:prstGeom prst="ellipse">
            <a:avLst/>
          </a:prstGeom>
          <a:solidFill>
            <a:srgbClr val="FFFFFF"/>
          </a:solidFill>
          <a:ln w="22225">
            <a:solidFill>
              <a:srgbClr val="FF5A5F"/>
            </a:solidFill>
            <a:prstDash val="solid"/>
          </a:ln>
        </p:spPr>
      </p:sp>
      <p:sp>
        <p:nvSpPr>
          <p:cNvPr id="82" name="Shape 80"/>
          <p:cNvSpPr/>
          <p:nvPr/>
        </p:nvSpPr>
        <p:spPr>
          <a:xfrm>
            <a:off x="1097280" y="5394960"/>
            <a:ext cx="914" cy="301752"/>
          </a:xfrm>
          <a:prstGeom prst="line">
            <a:avLst/>
          </a:prstGeom>
          <a:noFill/>
          <a:ln w="22225">
            <a:solidFill>
              <a:srgbClr val="FF5A5F"/>
            </a:solidFill>
            <a:prstDash val="solid"/>
          </a:ln>
        </p:spPr>
      </p:sp>
      <p:sp>
        <p:nvSpPr>
          <p:cNvPr id="83" name="Shape 81"/>
          <p:cNvSpPr/>
          <p:nvPr/>
        </p:nvSpPr>
        <p:spPr>
          <a:xfrm>
            <a:off x="914400" y="5504688"/>
            <a:ext cx="365760" cy="914"/>
          </a:xfrm>
          <a:prstGeom prst="line">
            <a:avLst/>
          </a:prstGeom>
          <a:noFill/>
          <a:ln w="22225">
            <a:solidFill>
              <a:srgbClr val="FF5A5F"/>
            </a:solidFill>
            <a:prstDash val="solid"/>
          </a:ln>
        </p:spPr>
      </p:sp>
      <p:sp>
        <p:nvSpPr>
          <p:cNvPr id="84" name="Shape 82"/>
          <p:cNvSpPr/>
          <p:nvPr/>
        </p:nvSpPr>
        <p:spPr>
          <a:xfrm flipH="1">
            <a:off x="960120" y="5696712"/>
            <a:ext cx="137160" cy="228600"/>
          </a:xfrm>
          <a:prstGeom prst="line">
            <a:avLst/>
          </a:prstGeom>
          <a:noFill/>
          <a:ln w="22225">
            <a:solidFill>
              <a:srgbClr val="FF5A5F"/>
            </a:solidFill>
            <a:prstDash val="solid"/>
          </a:ln>
        </p:spPr>
      </p:sp>
      <p:sp>
        <p:nvSpPr>
          <p:cNvPr id="85" name="Shape 83"/>
          <p:cNvSpPr/>
          <p:nvPr/>
        </p:nvSpPr>
        <p:spPr>
          <a:xfrm>
            <a:off x="1097280" y="5696712"/>
            <a:ext cx="137160" cy="228600"/>
          </a:xfrm>
          <a:prstGeom prst="line">
            <a:avLst/>
          </a:prstGeom>
          <a:noFill/>
          <a:ln w="22225">
            <a:solidFill>
              <a:srgbClr val="FF5A5F"/>
            </a:solidFill>
            <a:prstDash val="solid"/>
          </a:ln>
        </p:spPr>
      </p:sp>
      <p:sp>
        <p:nvSpPr>
          <p:cNvPr id="86" name="Text 84"/>
          <p:cNvSpPr txBox="1"/>
          <p:nvPr/>
        </p:nvSpPr>
        <p:spPr>
          <a:xfrm>
            <a:off x="411480" y="5961888"/>
            <a:ext cx="1371600" cy="329184"/>
          </a:xfrm>
          <a:prstGeom prst="rect">
            <a:avLst/>
          </a:prstGeom>
          <a:noFill/>
          <a:ln/>
        </p:spPr>
        <p:txBody>
          <a:bodyPr wrap="square" lIns="0" tIns="0" rIns="0" bIns="0" rtlCol="0" anchor="t"/>
          <a:lstStyle/>
          <a:p>
            <a:pPr algn="ctr" indent="0" marL="0">
              <a:buNone/>
            </a:pPr>
            <a:r>
              <a:rPr lang="en-US" sz="800" b="1" dirty="0">
                <a:solidFill>
                  <a:srgbClr val="FF5A5F"/>
                </a:solidFill>
                <a:latin typeface="Open Sans" pitchFamily="34" charset="0"/>
                <a:ea typeface="Open Sans" pitchFamily="34" charset="-122"/>
                <a:cs typeface="Open Sans" pitchFamily="34" charset="-120"/>
              </a:rPr>
              <a:t>Fiscalizador (PRODUCE / DIREPRO)</a:t>
            </a:r>
            <a:endParaRPr lang="en-US" sz="800" dirty="0"/>
          </a:p>
        </p:txBody>
      </p:sp>
      <p:sp>
        <p:nvSpPr>
          <p:cNvPr id="87" name="Shape 85"/>
          <p:cNvSpPr/>
          <p:nvPr/>
        </p:nvSpPr>
        <p:spPr>
          <a:xfrm>
            <a:off x="10963656" y="1810512"/>
            <a:ext cx="201168" cy="201168"/>
          </a:xfrm>
          <a:prstGeom prst="ellipse">
            <a:avLst/>
          </a:prstGeom>
          <a:solidFill>
            <a:srgbClr val="FFFFFF"/>
          </a:solidFill>
          <a:ln w="22225">
            <a:solidFill>
              <a:srgbClr val="7B5CFF"/>
            </a:solidFill>
            <a:prstDash val="solid"/>
          </a:ln>
        </p:spPr>
      </p:sp>
      <p:sp>
        <p:nvSpPr>
          <p:cNvPr id="88" name="Shape 86"/>
          <p:cNvSpPr/>
          <p:nvPr/>
        </p:nvSpPr>
        <p:spPr>
          <a:xfrm>
            <a:off x="11064240" y="2011680"/>
            <a:ext cx="914" cy="301752"/>
          </a:xfrm>
          <a:prstGeom prst="line">
            <a:avLst/>
          </a:prstGeom>
          <a:noFill/>
          <a:ln w="22225">
            <a:solidFill>
              <a:srgbClr val="7B5CFF"/>
            </a:solidFill>
            <a:prstDash val="solid"/>
          </a:ln>
        </p:spPr>
      </p:sp>
      <p:sp>
        <p:nvSpPr>
          <p:cNvPr id="89" name="Shape 87"/>
          <p:cNvSpPr/>
          <p:nvPr/>
        </p:nvSpPr>
        <p:spPr>
          <a:xfrm>
            <a:off x="10881360" y="2121408"/>
            <a:ext cx="365760" cy="914"/>
          </a:xfrm>
          <a:prstGeom prst="line">
            <a:avLst/>
          </a:prstGeom>
          <a:noFill/>
          <a:ln w="22225">
            <a:solidFill>
              <a:srgbClr val="7B5CFF"/>
            </a:solidFill>
            <a:prstDash val="solid"/>
          </a:ln>
        </p:spPr>
      </p:sp>
      <p:sp>
        <p:nvSpPr>
          <p:cNvPr id="90" name="Shape 88"/>
          <p:cNvSpPr/>
          <p:nvPr/>
        </p:nvSpPr>
        <p:spPr>
          <a:xfrm flipH="1">
            <a:off x="10927080" y="2313432"/>
            <a:ext cx="137160" cy="228600"/>
          </a:xfrm>
          <a:prstGeom prst="line">
            <a:avLst/>
          </a:prstGeom>
          <a:noFill/>
          <a:ln w="22225">
            <a:solidFill>
              <a:srgbClr val="7B5CFF"/>
            </a:solidFill>
            <a:prstDash val="solid"/>
          </a:ln>
        </p:spPr>
      </p:sp>
      <p:sp>
        <p:nvSpPr>
          <p:cNvPr id="91" name="Shape 89"/>
          <p:cNvSpPr/>
          <p:nvPr/>
        </p:nvSpPr>
        <p:spPr>
          <a:xfrm>
            <a:off x="11064240" y="2313432"/>
            <a:ext cx="137160" cy="228600"/>
          </a:xfrm>
          <a:prstGeom prst="line">
            <a:avLst/>
          </a:prstGeom>
          <a:noFill/>
          <a:ln w="22225">
            <a:solidFill>
              <a:srgbClr val="7B5CFF"/>
            </a:solidFill>
            <a:prstDash val="solid"/>
          </a:ln>
        </p:spPr>
      </p:sp>
      <p:sp>
        <p:nvSpPr>
          <p:cNvPr id="92" name="Text 90"/>
          <p:cNvSpPr txBox="1"/>
          <p:nvPr/>
        </p:nvSpPr>
        <p:spPr>
          <a:xfrm>
            <a:off x="10378440" y="2578608"/>
            <a:ext cx="1371600" cy="329184"/>
          </a:xfrm>
          <a:prstGeom prst="rect">
            <a:avLst/>
          </a:prstGeom>
          <a:noFill/>
          <a:ln/>
        </p:spPr>
        <p:txBody>
          <a:bodyPr wrap="square" lIns="0" tIns="0" rIns="0" bIns="0" rtlCol="0" anchor="t"/>
          <a:lstStyle/>
          <a:p>
            <a:pPr algn="ctr" indent="0" marL="0">
              <a:buNone/>
            </a:pPr>
            <a:r>
              <a:rPr lang="en-US" sz="800" b="1" dirty="0">
                <a:solidFill>
                  <a:srgbClr val="7B5CFF"/>
                </a:solidFill>
                <a:latin typeface="Open Sans" pitchFamily="34" charset="0"/>
                <a:ea typeface="Open Sans" pitchFamily="34" charset="-122"/>
                <a:cs typeface="Open Sans" pitchFamily="34" charset="-120"/>
              </a:rPr>
              <a:t>Administrador del DPA</a:t>
            </a:r>
            <a:endParaRPr lang="en-US" sz="800" dirty="0"/>
          </a:p>
        </p:txBody>
      </p:sp>
      <p:sp>
        <p:nvSpPr>
          <p:cNvPr id="93" name="Shape 91"/>
          <p:cNvSpPr/>
          <p:nvPr/>
        </p:nvSpPr>
        <p:spPr>
          <a:xfrm>
            <a:off x="10963656" y="5056632"/>
            <a:ext cx="201168" cy="201168"/>
          </a:xfrm>
          <a:prstGeom prst="ellipse">
            <a:avLst/>
          </a:prstGeom>
          <a:solidFill>
            <a:srgbClr val="FFFFFF"/>
          </a:solidFill>
          <a:ln w="22225">
            <a:solidFill>
              <a:srgbClr val="008FB0"/>
            </a:solidFill>
            <a:prstDash val="solid"/>
          </a:ln>
        </p:spPr>
      </p:sp>
      <p:sp>
        <p:nvSpPr>
          <p:cNvPr id="94" name="Shape 92"/>
          <p:cNvSpPr/>
          <p:nvPr/>
        </p:nvSpPr>
        <p:spPr>
          <a:xfrm>
            <a:off x="11064240" y="5257800"/>
            <a:ext cx="914" cy="301752"/>
          </a:xfrm>
          <a:prstGeom prst="line">
            <a:avLst/>
          </a:prstGeom>
          <a:noFill/>
          <a:ln w="22225">
            <a:solidFill>
              <a:srgbClr val="008FB0"/>
            </a:solidFill>
            <a:prstDash val="solid"/>
          </a:ln>
        </p:spPr>
      </p:sp>
      <p:sp>
        <p:nvSpPr>
          <p:cNvPr id="95" name="Shape 93"/>
          <p:cNvSpPr/>
          <p:nvPr/>
        </p:nvSpPr>
        <p:spPr>
          <a:xfrm>
            <a:off x="10881360" y="5367528"/>
            <a:ext cx="365760" cy="914"/>
          </a:xfrm>
          <a:prstGeom prst="line">
            <a:avLst/>
          </a:prstGeom>
          <a:noFill/>
          <a:ln w="22225">
            <a:solidFill>
              <a:srgbClr val="008FB0"/>
            </a:solidFill>
            <a:prstDash val="solid"/>
          </a:ln>
        </p:spPr>
      </p:sp>
      <p:sp>
        <p:nvSpPr>
          <p:cNvPr id="96" name="Shape 94"/>
          <p:cNvSpPr/>
          <p:nvPr/>
        </p:nvSpPr>
        <p:spPr>
          <a:xfrm flipH="1">
            <a:off x="10927080" y="5559552"/>
            <a:ext cx="137160" cy="228600"/>
          </a:xfrm>
          <a:prstGeom prst="line">
            <a:avLst/>
          </a:prstGeom>
          <a:noFill/>
          <a:ln w="22225">
            <a:solidFill>
              <a:srgbClr val="008FB0"/>
            </a:solidFill>
            <a:prstDash val="solid"/>
          </a:ln>
        </p:spPr>
      </p:sp>
      <p:sp>
        <p:nvSpPr>
          <p:cNvPr id="97" name="Shape 95"/>
          <p:cNvSpPr/>
          <p:nvPr/>
        </p:nvSpPr>
        <p:spPr>
          <a:xfrm>
            <a:off x="11064240" y="5559552"/>
            <a:ext cx="137160" cy="228600"/>
          </a:xfrm>
          <a:prstGeom prst="line">
            <a:avLst/>
          </a:prstGeom>
          <a:noFill/>
          <a:ln w="22225">
            <a:solidFill>
              <a:srgbClr val="008FB0"/>
            </a:solidFill>
            <a:prstDash val="solid"/>
          </a:ln>
        </p:spPr>
      </p:sp>
      <p:sp>
        <p:nvSpPr>
          <p:cNvPr id="98" name="Text 96"/>
          <p:cNvSpPr txBox="1"/>
          <p:nvPr/>
        </p:nvSpPr>
        <p:spPr>
          <a:xfrm>
            <a:off x="10378440" y="5824728"/>
            <a:ext cx="1371600" cy="329184"/>
          </a:xfrm>
          <a:prstGeom prst="rect">
            <a:avLst/>
          </a:prstGeom>
          <a:noFill/>
          <a:ln/>
        </p:spPr>
        <p:txBody>
          <a:bodyPr wrap="square" lIns="0" tIns="0" rIns="0" bIns="0" rtlCol="0" anchor="t"/>
          <a:lstStyle/>
          <a:p>
            <a:pPr algn="ctr" indent="0" marL="0">
              <a:buNone/>
            </a:pPr>
            <a:r>
              <a:rPr lang="en-US" sz="800" b="1" dirty="0">
                <a:solidFill>
                  <a:srgbClr val="008FB0"/>
                </a:solidFill>
                <a:latin typeface="Open Sans" pitchFamily="34" charset="0"/>
                <a:ea typeface="Open Sans" pitchFamily="34" charset="-122"/>
                <a:cs typeface="Open Sans" pitchFamily="34" charset="-120"/>
              </a:rPr>
              <a:t>Analista (IMARPE / PRODUCE)</a:t>
            </a:r>
            <a:endParaRPr lang="en-US" sz="800" dirty="0"/>
          </a:p>
        </p:txBody>
      </p:sp>
      <p:sp>
        <p:nvSpPr>
          <p:cNvPr id="99" name="Shape 97"/>
          <p:cNvSpPr/>
          <p:nvPr/>
        </p:nvSpPr>
        <p:spPr>
          <a:xfrm>
            <a:off x="10469880" y="3337560"/>
            <a:ext cx="1325880" cy="548640"/>
          </a:xfrm>
          <a:prstGeom prst="roundRect">
            <a:avLst>
              <a:gd name="adj" fmla="val 13333"/>
            </a:avLst>
          </a:prstGeom>
          <a:solidFill>
            <a:srgbClr val="5B6B8C"/>
          </a:solidFill>
          <a:ln/>
          <a:effectLst>
            <a:outerShdw sx="100000" sy="100000" kx="0" ky="0" algn="bl" rotWithShape="0" blurRad="177800" dist="38100" dir="5400000">
              <a:srgbClr val="0B1E4F">
                <a:alpha val="10000"/>
              </a:srgbClr>
            </a:outerShdw>
          </a:effectLst>
        </p:spPr>
      </p:sp>
      <p:sp>
        <p:nvSpPr>
          <p:cNvPr id="100" name="Text 98"/>
          <p:cNvSpPr txBox="1"/>
          <p:nvPr/>
        </p:nvSpPr>
        <p:spPr>
          <a:xfrm>
            <a:off x="10469880" y="3337560"/>
            <a:ext cx="1325880" cy="548640"/>
          </a:xfrm>
          <a:prstGeom prst="rect">
            <a:avLst/>
          </a:prstGeom>
          <a:noFill/>
          <a:ln/>
        </p:spPr>
        <p:txBody>
          <a:bodyPr wrap="square" lIns="0" tIns="0" rIns="0" bIns="0" rtlCol="0" anchor="ctr"/>
          <a:lstStyle/>
          <a:p>
            <a:pPr algn="ctr" indent="0" marL="0">
              <a:buNone/>
            </a:pPr>
            <a:r>
              <a:rPr lang="en-US" sz="750" i="1" dirty="0">
                <a:solidFill>
                  <a:srgbClr val="DCE5F3"/>
                </a:solidFill>
                <a:latin typeface="Open Sans" pitchFamily="34" charset="0"/>
                <a:ea typeface="Open Sans" pitchFamily="34" charset="-122"/>
                <a:cs typeface="Open Sans" pitchFamily="34" charset="-120"/>
              </a:rPr>
              <a:t>«system»</a:t>
            </a:r>
            <a:endParaRPr lang="en-US" sz="1200" dirty="0"/>
          </a:p>
          <a:p>
            <a:pPr algn="ctr" indent="0" marL="0">
              <a:buNone/>
            </a:pPr>
            <a:r>
              <a:rPr lang="en-US" sz="950" b="1" dirty="0">
                <a:solidFill>
                  <a:srgbClr val="FFFFFF"/>
                </a:solidFill>
                <a:latin typeface="Open Sans" pitchFamily="34" charset="0"/>
                <a:ea typeface="Open Sans" pitchFamily="34" charset="-122"/>
                <a:cs typeface="Open Sans" pitchFamily="34" charset="-120"/>
              </a:rPr>
              <a:t>Pasarela SMS</a:t>
            </a:r>
            <a:endParaRPr lang="en-US" sz="1200" dirty="0"/>
          </a:p>
        </p:txBody>
      </p:sp>
      <p:sp>
        <p:nvSpPr>
          <p:cNvPr id="101" name="Shape 99"/>
          <p:cNvSpPr/>
          <p:nvPr/>
        </p:nvSpPr>
        <p:spPr>
          <a:xfrm>
            <a:off x="10469880" y="4389120"/>
            <a:ext cx="1325880" cy="548640"/>
          </a:xfrm>
          <a:prstGeom prst="roundRect">
            <a:avLst>
              <a:gd name="adj" fmla="val 13333"/>
            </a:avLst>
          </a:prstGeom>
          <a:solidFill>
            <a:srgbClr val="5B6B8C"/>
          </a:solidFill>
          <a:ln/>
          <a:effectLst>
            <a:outerShdw sx="100000" sy="100000" kx="0" ky="0" algn="bl" rotWithShape="0" blurRad="177800" dist="38100" dir="5400000">
              <a:srgbClr val="0B1E4F">
                <a:alpha val="10000"/>
              </a:srgbClr>
            </a:outerShdw>
          </a:effectLst>
        </p:spPr>
      </p:sp>
      <p:sp>
        <p:nvSpPr>
          <p:cNvPr id="102" name="Text 100"/>
          <p:cNvSpPr txBox="1"/>
          <p:nvPr/>
        </p:nvSpPr>
        <p:spPr>
          <a:xfrm>
            <a:off x="10469880" y="4389120"/>
            <a:ext cx="1325880" cy="548640"/>
          </a:xfrm>
          <a:prstGeom prst="rect">
            <a:avLst/>
          </a:prstGeom>
          <a:noFill/>
          <a:ln/>
        </p:spPr>
        <p:txBody>
          <a:bodyPr wrap="square" lIns="0" tIns="0" rIns="0" bIns="0" rtlCol="0" anchor="ctr"/>
          <a:lstStyle/>
          <a:p>
            <a:pPr algn="ctr" indent="0" marL="0">
              <a:buNone/>
            </a:pPr>
            <a:r>
              <a:rPr lang="en-US" sz="750" i="1" dirty="0">
                <a:solidFill>
                  <a:srgbClr val="DCE5F3"/>
                </a:solidFill>
                <a:latin typeface="Open Sans" pitchFamily="34" charset="0"/>
                <a:ea typeface="Open Sans" pitchFamily="34" charset="-122"/>
                <a:cs typeface="Open Sans" pitchFamily="34" charset="-120"/>
              </a:rPr>
              <a:t>«system»</a:t>
            </a:r>
            <a:endParaRPr lang="en-US" sz="1200" dirty="0"/>
          </a:p>
          <a:p>
            <a:pPr algn="ctr" indent="0" marL="0">
              <a:buNone/>
            </a:pPr>
            <a:r>
              <a:rPr lang="en-US" sz="950" b="1" dirty="0">
                <a:solidFill>
                  <a:srgbClr val="FFFFFF"/>
                </a:solidFill>
                <a:latin typeface="Open Sans" pitchFamily="34" charset="0"/>
                <a:ea typeface="Open Sans" pitchFamily="34" charset="-122"/>
                <a:cs typeface="Open Sans" pitchFamily="34" charset="-120"/>
              </a:rPr>
              <a:t>SITRAPESCA</a:t>
            </a:r>
            <a:endParaRPr lang="en-US" sz="1200" dirty="0"/>
          </a:p>
        </p:txBody>
      </p:sp>
      <p:sp>
        <p:nvSpPr>
          <p:cNvPr id="103" name="Shape 101"/>
          <p:cNvSpPr/>
          <p:nvPr/>
        </p:nvSpPr>
        <p:spPr>
          <a:xfrm>
            <a:off x="5486400" y="6053328"/>
            <a:ext cx="4297680" cy="237744"/>
          </a:xfrm>
          <a:prstGeom prst="roundRect">
            <a:avLst>
              <a:gd name="adj" fmla="val 50000"/>
            </a:avLst>
          </a:prstGeom>
          <a:solidFill>
            <a:srgbClr val="FFFFFF"/>
          </a:solidFill>
          <a:ln w="9525">
            <a:solidFill>
              <a:srgbClr val="00B8D4"/>
            </a:solidFill>
            <a:prstDash val="solid"/>
          </a:ln>
        </p:spPr>
      </p:sp>
      <p:sp>
        <p:nvSpPr>
          <p:cNvPr id="104" name="Text 102"/>
          <p:cNvSpPr txBox="1"/>
          <p:nvPr/>
        </p:nvSpPr>
        <p:spPr>
          <a:xfrm>
            <a:off x="5486400" y="6053328"/>
            <a:ext cx="4297680" cy="237744"/>
          </a:xfrm>
          <a:prstGeom prst="rect">
            <a:avLst/>
          </a:prstGeom>
          <a:noFill/>
          <a:ln/>
        </p:spPr>
        <p:txBody>
          <a:bodyPr wrap="square" lIns="0" tIns="0" rIns="0" bIns="0" rtlCol="0" anchor="ctr"/>
          <a:lstStyle/>
          <a:p>
            <a:pPr algn="ctr" indent="0" marL="0">
              <a:buNone/>
            </a:pPr>
            <a:r>
              <a:rPr lang="en-US" sz="850" b="1" dirty="0">
                <a:solidFill>
                  <a:srgbClr val="008FB0"/>
                </a:solidFill>
                <a:latin typeface="Montserrat" pitchFamily="34" charset="0"/>
                <a:ea typeface="Montserrat" pitchFamily="34" charset="-122"/>
                <a:cs typeface="Montserrat" pitchFamily="34" charset="-120"/>
              </a:rPr>
              <a:t>CU01 Iniciar sesión: común a todos los actores (RF01)</a:t>
            </a:r>
            <a:endParaRPr lang="en-US" sz="850" dirty="0"/>
          </a:p>
        </p:txBody>
      </p:sp>
      <p:sp>
        <p:nvSpPr>
          <p:cNvPr id="105" name="Text 103"/>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06" name="Text 104"/>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4581144" cy="274320"/>
          </a:xfrm>
          <a:prstGeom prst="roundRect">
            <a:avLst>
              <a:gd name="adj" fmla="val 50000"/>
            </a:avLst>
          </a:prstGeom>
          <a:solidFill>
            <a:srgbClr val="00B8D4"/>
          </a:solidFill>
          <a:ln/>
        </p:spPr>
      </p:sp>
      <p:sp>
        <p:nvSpPr>
          <p:cNvPr id="3" name="Text 1"/>
          <p:cNvSpPr txBox="1"/>
          <p:nvPr/>
        </p:nvSpPr>
        <p:spPr>
          <a:xfrm>
            <a:off x="548640" y="411480"/>
            <a:ext cx="458114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3.1.2 DESCRIPCIÓN DE LOS CASOS DE USO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900" b="1" dirty="0">
                <a:solidFill>
                  <a:srgbClr val="0E1B3D"/>
                </a:solidFill>
                <a:latin typeface="Montserrat" pitchFamily="34" charset="0"/>
                <a:ea typeface="Montserrat" pitchFamily="34" charset="-122"/>
                <a:cs typeface="Montserrat" pitchFamily="34" charset="-120"/>
              </a:rPr>
              <a:t>16 casos de uso y los requerimientos que realizan</a:t>
            </a:r>
            <a:endParaRPr lang="en-US" sz="29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10 del informe. En turquesa, el flujo central: registrar, validar y emitir la constancia.</a:t>
            </a:r>
            <a:endParaRPr lang="en-US" sz="1300" dirty="0"/>
          </a:p>
        </p:txBody>
      </p:sp>
      <p:sp>
        <p:nvSpPr>
          <p:cNvPr id="6" name="Shape 4"/>
          <p:cNvSpPr/>
          <p:nvPr/>
        </p:nvSpPr>
        <p:spPr>
          <a:xfrm>
            <a:off x="548640" y="2011680"/>
            <a:ext cx="5440680" cy="457200"/>
          </a:xfrm>
          <a:prstGeom prst="roundRect">
            <a:avLst>
              <a:gd name="adj" fmla="val 20000"/>
            </a:avLst>
          </a:prstGeom>
          <a:solidFill>
            <a:srgbClr val="F4F8FF"/>
          </a:solidFill>
          <a:ln/>
        </p:spPr>
      </p:sp>
      <p:sp>
        <p:nvSpPr>
          <p:cNvPr id="7" name="Text 5"/>
          <p:cNvSpPr txBox="1"/>
          <p:nvPr/>
        </p:nvSpPr>
        <p:spPr>
          <a:xfrm>
            <a:off x="685800" y="201168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CU01</a:t>
            </a:r>
            <a:endParaRPr lang="en-US" sz="1050" dirty="0"/>
          </a:p>
        </p:txBody>
      </p:sp>
      <p:sp>
        <p:nvSpPr>
          <p:cNvPr id="8" name="Text 6"/>
          <p:cNvSpPr txBox="1"/>
          <p:nvPr/>
        </p:nvSpPr>
        <p:spPr>
          <a:xfrm>
            <a:off x="1325880" y="201168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Iniciar sesión</a:t>
            </a:r>
            <a:endParaRPr lang="en-US" sz="1000" dirty="0"/>
          </a:p>
        </p:txBody>
      </p:sp>
      <p:sp>
        <p:nvSpPr>
          <p:cNvPr id="9" name="Text 7"/>
          <p:cNvSpPr txBox="1"/>
          <p:nvPr/>
        </p:nvSpPr>
        <p:spPr>
          <a:xfrm>
            <a:off x="3886200" y="201168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Todos</a:t>
            </a:r>
            <a:endParaRPr lang="en-US" sz="850" dirty="0"/>
          </a:p>
        </p:txBody>
      </p:sp>
      <p:sp>
        <p:nvSpPr>
          <p:cNvPr id="10" name="Text 8"/>
          <p:cNvSpPr txBox="1"/>
          <p:nvPr/>
        </p:nvSpPr>
        <p:spPr>
          <a:xfrm>
            <a:off x="5074920" y="201168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RF01</a:t>
            </a:r>
            <a:endParaRPr lang="en-US" sz="850" dirty="0"/>
          </a:p>
        </p:txBody>
      </p:sp>
      <p:sp>
        <p:nvSpPr>
          <p:cNvPr id="11" name="Shape 9"/>
          <p:cNvSpPr/>
          <p:nvPr/>
        </p:nvSpPr>
        <p:spPr>
          <a:xfrm>
            <a:off x="548640" y="2537460"/>
            <a:ext cx="5440680" cy="457200"/>
          </a:xfrm>
          <a:prstGeom prst="roundRect">
            <a:avLst>
              <a:gd name="adj" fmla="val 20000"/>
            </a:avLst>
          </a:prstGeom>
          <a:solidFill>
            <a:srgbClr val="FFFFFF"/>
          </a:solidFill>
          <a:ln/>
        </p:spPr>
      </p:sp>
      <p:sp>
        <p:nvSpPr>
          <p:cNvPr id="12" name="Text 10"/>
          <p:cNvSpPr txBox="1"/>
          <p:nvPr/>
        </p:nvSpPr>
        <p:spPr>
          <a:xfrm>
            <a:off x="685800" y="253746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CU02</a:t>
            </a:r>
            <a:endParaRPr lang="en-US" sz="1050" dirty="0"/>
          </a:p>
        </p:txBody>
      </p:sp>
      <p:sp>
        <p:nvSpPr>
          <p:cNvPr id="13" name="Text 11"/>
          <p:cNvSpPr txBox="1"/>
          <p:nvPr/>
        </p:nvSpPr>
        <p:spPr>
          <a:xfrm>
            <a:off x="1325880" y="253746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Gestionar embarcaciones y permisos</a:t>
            </a:r>
            <a:endParaRPr lang="en-US" sz="1000" dirty="0"/>
          </a:p>
        </p:txBody>
      </p:sp>
      <p:sp>
        <p:nvSpPr>
          <p:cNvPr id="14" name="Text 12"/>
          <p:cNvSpPr txBox="1"/>
          <p:nvPr/>
        </p:nvSpPr>
        <p:spPr>
          <a:xfrm>
            <a:off x="3886200" y="253746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Administrador del DPA</a:t>
            </a:r>
            <a:endParaRPr lang="en-US" sz="850" dirty="0"/>
          </a:p>
        </p:txBody>
      </p:sp>
      <p:sp>
        <p:nvSpPr>
          <p:cNvPr id="15" name="Text 13"/>
          <p:cNvSpPr txBox="1"/>
          <p:nvPr/>
        </p:nvSpPr>
        <p:spPr>
          <a:xfrm>
            <a:off x="5074920" y="253746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RF02, RF03</a:t>
            </a:r>
            <a:endParaRPr lang="en-US" sz="850" dirty="0"/>
          </a:p>
        </p:txBody>
      </p:sp>
      <p:sp>
        <p:nvSpPr>
          <p:cNvPr id="16" name="Shape 14"/>
          <p:cNvSpPr/>
          <p:nvPr/>
        </p:nvSpPr>
        <p:spPr>
          <a:xfrm>
            <a:off x="548640" y="3063240"/>
            <a:ext cx="5440680" cy="457200"/>
          </a:xfrm>
          <a:prstGeom prst="roundRect">
            <a:avLst>
              <a:gd name="adj" fmla="val 20000"/>
            </a:avLst>
          </a:prstGeom>
          <a:solidFill>
            <a:srgbClr val="F4F8FF"/>
          </a:solidFill>
          <a:ln/>
        </p:spPr>
      </p:sp>
      <p:sp>
        <p:nvSpPr>
          <p:cNvPr id="17" name="Text 15"/>
          <p:cNvSpPr txBox="1"/>
          <p:nvPr/>
        </p:nvSpPr>
        <p:spPr>
          <a:xfrm>
            <a:off x="685800" y="306324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CU03</a:t>
            </a:r>
            <a:endParaRPr lang="en-US" sz="1050" dirty="0"/>
          </a:p>
        </p:txBody>
      </p:sp>
      <p:sp>
        <p:nvSpPr>
          <p:cNvPr id="18" name="Text 16"/>
          <p:cNvSpPr txBox="1"/>
          <p:nvPr/>
        </p:nvSpPr>
        <p:spPr>
          <a:xfrm>
            <a:off x="1325880" y="306324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Gestionar catálogos normativos</a:t>
            </a:r>
            <a:endParaRPr lang="en-US" sz="1000" dirty="0"/>
          </a:p>
        </p:txBody>
      </p:sp>
      <p:sp>
        <p:nvSpPr>
          <p:cNvPr id="19" name="Text 17"/>
          <p:cNvSpPr txBox="1"/>
          <p:nvPr/>
        </p:nvSpPr>
        <p:spPr>
          <a:xfrm>
            <a:off x="3886200" y="306324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Administrador del DPA</a:t>
            </a:r>
            <a:endParaRPr lang="en-US" sz="850" dirty="0"/>
          </a:p>
        </p:txBody>
      </p:sp>
      <p:sp>
        <p:nvSpPr>
          <p:cNvPr id="20" name="Text 18"/>
          <p:cNvSpPr txBox="1"/>
          <p:nvPr/>
        </p:nvSpPr>
        <p:spPr>
          <a:xfrm>
            <a:off x="5074920" y="306324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RF04</a:t>
            </a:r>
            <a:endParaRPr lang="en-US" sz="850" dirty="0"/>
          </a:p>
        </p:txBody>
      </p:sp>
      <p:sp>
        <p:nvSpPr>
          <p:cNvPr id="21" name="Shape 19"/>
          <p:cNvSpPr/>
          <p:nvPr/>
        </p:nvSpPr>
        <p:spPr>
          <a:xfrm>
            <a:off x="548640" y="3589020"/>
            <a:ext cx="5440680" cy="457200"/>
          </a:xfrm>
          <a:prstGeom prst="roundRect">
            <a:avLst>
              <a:gd name="adj" fmla="val 20000"/>
            </a:avLst>
          </a:prstGeom>
          <a:solidFill>
            <a:srgbClr val="FFFFFF"/>
          </a:solidFill>
          <a:ln/>
        </p:spPr>
      </p:sp>
      <p:sp>
        <p:nvSpPr>
          <p:cNvPr id="22" name="Text 20"/>
          <p:cNvSpPr txBox="1"/>
          <p:nvPr/>
        </p:nvSpPr>
        <p:spPr>
          <a:xfrm>
            <a:off x="685800" y="358902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CU04</a:t>
            </a:r>
            <a:endParaRPr lang="en-US" sz="1050" dirty="0"/>
          </a:p>
        </p:txBody>
      </p:sp>
      <p:sp>
        <p:nvSpPr>
          <p:cNvPr id="23" name="Text 21"/>
          <p:cNvSpPr txBox="1"/>
          <p:nvPr/>
        </p:nvSpPr>
        <p:spPr>
          <a:xfrm>
            <a:off x="1325880" y="358902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Registrar aviso de arribo</a:t>
            </a:r>
            <a:endParaRPr lang="en-US" sz="1000" dirty="0"/>
          </a:p>
        </p:txBody>
      </p:sp>
      <p:sp>
        <p:nvSpPr>
          <p:cNvPr id="24" name="Text 22"/>
          <p:cNvSpPr txBox="1"/>
          <p:nvPr/>
        </p:nvSpPr>
        <p:spPr>
          <a:xfrm>
            <a:off x="3886200" y="358902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Patrón / armador</a:t>
            </a:r>
            <a:endParaRPr lang="en-US" sz="850" dirty="0"/>
          </a:p>
        </p:txBody>
      </p:sp>
      <p:sp>
        <p:nvSpPr>
          <p:cNvPr id="25" name="Text 23"/>
          <p:cNvSpPr txBox="1"/>
          <p:nvPr/>
        </p:nvSpPr>
        <p:spPr>
          <a:xfrm>
            <a:off x="5074920" y="358902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RF05</a:t>
            </a:r>
            <a:endParaRPr lang="en-US" sz="850" dirty="0"/>
          </a:p>
        </p:txBody>
      </p:sp>
      <p:sp>
        <p:nvSpPr>
          <p:cNvPr id="26" name="Shape 24"/>
          <p:cNvSpPr/>
          <p:nvPr/>
        </p:nvSpPr>
        <p:spPr>
          <a:xfrm>
            <a:off x="548640" y="4114800"/>
            <a:ext cx="5440680" cy="457200"/>
          </a:xfrm>
          <a:prstGeom prst="roundRect">
            <a:avLst>
              <a:gd name="adj" fmla="val 20000"/>
            </a:avLst>
          </a:prstGeom>
          <a:solidFill>
            <a:srgbClr val="E0F8FB"/>
          </a:solidFill>
          <a:ln w="9525">
            <a:solidFill>
              <a:srgbClr val="00B8D4"/>
            </a:solidFill>
            <a:prstDash val="solid"/>
          </a:ln>
        </p:spPr>
      </p:sp>
      <p:sp>
        <p:nvSpPr>
          <p:cNvPr id="27" name="Text 25"/>
          <p:cNvSpPr txBox="1"/>
          <p:nvPr/>
        </p:nvSpPr>
        <p:spPr>
          <a:xfrm>
            <a:off x="685800" y="411480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CU05</a:t>
            </a:r>
            <a:endParaRPr lang="en-US" sz="1050" dirty="0"/>
          </a:p>
        </p:txBody>
      </p:sp>
      <p:sp>
        <p:nvSpPr>
          <p:cNvPr id="28" name="Text 26"/>
          <p:cNvSpPr txBox="1"/>
          <p:nvPr/>
        </p:nvSpPr>
        <p:spPr>
          <a:xfrm>
            <a:off x="1325880" y="411480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Registrar desembarque</a:t>
            </a:r>
            <a:endParaRPr lang="en-US" sz="1000" dirty="0"/>
          </a:p>
        </p:txBody>
      </p:sp>
      <p:sp>
        <p:nvSpPr>
          <p:cNvPr id="29" name="Text 27"/>
          <p:cNvSpPr txBox="1"/>
          <p:nvPr/>
        </p:nvSpPr>
        <p:spPr>
          <a:xfrm>
            <a:off x="3886200" y="411480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Registrador del DPA</a:t>
            </a:r>
            <a:endParaRPr lang="en-US" sz="850" dirty="0"/>
          </a:p>
        </p:txBody>
      </p:sp>
      <p:sp>
        <p:nvSpPr>
          <p:cNvPr id="30" name="Text 28"/>
          <p:cNvSpPr txBox="1"/>
          <p:nvPr/>
        </p:nvSpPr>
        <p:spPr>
          <a:xfrm>
            <a:off x="5074920" y="411480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RF06–RF09, RF11</a:t>
            </a:r>
            <a:endParaRPr lang="en-US" sz="850" dirty="0"/>
          </a:p>
        </p:txBody>
      </p:sp>
      <p:sp>
        <p:nvSpPr>
          <p:cNvPr id="31" name="Shape 29"/>
          <p:cNvSpPr/>
          <p:nvPr/>
        </p:nvSpPr>
        <p:spPr>
          <a:xfrm>
            <a:off x="548640" y="4640580"/>
            <a:ext cx="5440680" cy="457200"/>
          </a:xfrm>
          <a:prstGeom prst="roundRect">
            <a:avLst>
              <a:gd name="adj" fmla="val 20000"/>
            </a:avLst>
          </a:prstGeom>
          <a:solidFill>
            <a:srgbClr val="E0F8FB"/>
          </a:solidFill>
          <a:ln w="9525">
            <a:solidFill>
              <a:srgbClr val="00B8D4"/>
            </a:solidFill>
            <a:prstDash val="solid"/>
          </a:ln>
        </p:spPr>
      </p:sp>
      <p:sp>
        <p:nvSpPr>
          <p:cNvPr id="32" name="Text 30"/>
          <p:cNvSpPr txBox="1"/>
          <p:nvPr/>
        </p:nvSpPr>
        <p:spPr>
          <a:xfrm>
            <a:off x="685800" y="464058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CU06</a:t>
            </a:r>
            <a:endParaRPr lang="en-US" sz="1050" dirty="0"/>
          </a:p>
        </p:txBody>
      </p:sp>
      <p:sp>
        <p:nvSpPr>
          <p:cNvPr id="33" name="Text 31"/>
          <p:cNvSpPr txBox="1"/>
          <p:nvPr/>
        </p:nvSpPr>
        <p:spPr>
          <a:xfrm>
            <a:off x="1325880" y="464058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Validar cumplimiento normativo</a:t>
            </a:r>
            <a:endParaRPr lang="en-US" sz="1000" dirty="0"/>
          </a:p>
        </p:txBody>
      </p:sp>
      <p:sp>
        <p:nvSpPr>
          <p:cNvPr id="34" name="Text 32"/>
          <p:cNvSpPr txBox="1"/>
          <p:nvPr/>
        </p:nvSpPr>
        <p:spPr>
          <a:xfrm>
            <a:off x="3886200" y="464058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Sistema (incluido)</a:t>
            </a:r>
            <a:endParaRPr lang="en-US" sz="850" dirty="0"/>
          </a:p>
        </p:txBody>
      </p:sp>
      <p:sp>
        <p:nvSpPr>
          <p:cNvPr id="35" name="Text 33"/>
          <p:cNvSpPr txBox="1"/>
          <p:nvPr/>
        </p:nvSpPr>
        <p:spPr>
          <a:xfrm>
            <a:off x="5074920" y="464058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RF10, RF22</a:t>
            </a:r>
            <a:endParaRPr lang="en-US" sz="850" dirty="0"/>
          </a:p>
        </p:txBody>
      </p:sp>
      <p:sp>
        <p:nvSpPr>
          <p:cNvPr id="36" name="Shape 34"/>
          <p:cNvSpPr/>
          <p:nvPr/>
        </p:nvSpPr>
        <p:spPr>
          <a:xfrm>
            <a:off x="548640" y="5166360"/>
            <a:ext cx="5440680" cy="457200"/>
          </a:xfrm>
          <a:prstGeom prst="roundRect">
            <a:avLst>
              <a:gd name="adj" fmla="val 20000"/>
            </a:avLst>
          </a:prstGeom>
          <a:solidFill>
            <a:srgbClr val="E0F8FB"/>
          </a:solidFill>
          <a:ln w="9525">
            <a:solidFill>
              <a:srgbClr val="00B8D4"/>
            </a:solidFill>
            <a:prstDash val="solid"/>
          </a:ln>
        </p:spPr>
      </p:sp>
      <p:sp>
        <p:nvSpPr>
          <p:cNvPr id="37" name="Text 35"/>
          <p:cNvSpPr txBox="1"/>
          <p:nvPr/>
        </p:nvSpPr>
        <p:spPr>
          <a:xfrm>
            <a:off x="685800" y="516636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CU07</a:t>
            </a:r>
            <a:endParaRPr lang="en-US" sz="1050" dirty="0"/>
          </a:p>
        </p:txBody>
      </p:sp>
      <p:sp>
        <p:nvSpPr>
          <p:cNvPr id="38" name="Text 36"/>
          <p:cNvSpPr txBox="1"/>
          <p:nvPr/>
        </p:nvSpPr>
        <p:spPr>
          <a:xfrm>
            <a:off x="1325880" y="516636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Emitir constancia digital con QR</a:t>
            </a:r>
            <a:endParaRPr lang="en-US" sz="1000" dirty="0"/>
          </a:p>
        </p:txBody>
      </p:sp>
      <p:sp>
        <p:nvSpPr>
          <p:cNvPr id="39" name="Text 37"/>
          <p:cNvSpPr txBox="1"/>
          <p:nvPr/>
        </p:nvSpPr>
        <p:spPr>
          <a:xfrm>
            <a:off x="3886200" y="516636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Sistema (incluido)</a:t>
            </a:r>
            <a:endParaRPr lang="en-US" sz="850" dirty="0"/>
          </a:p>
        </p:txBody>
      </p:sp>
      <p:sp>
        <p:nvSpPr>
          <p:cNvPr id="40" name="Text 38"/>
          <p:cNvSpPr txBox="1"/>
          <p:nvPr/>
        </p:nvSpPr>
        <p:spPr>
          <a:xfrm>
            <a:off x="5074920" y="516636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RF13</a:t>
            </a:r>
            <a:endParaRPr lang="en-US" sz="850" dirty="0"/>
          </a:p>
        </p:txBody>
      </p:sp>
      <p:sp>
        <p:nvSpPr>
          <p:cNvPr id="41" name="Shape 39"/>
          <p:cNvSpPr/>
          <p:nvPr/>
        </p:nvSpPr>
        <p:spPr>
          <a:xfrm>
            <a:off x="548640" y="5692140"/>
            <a:ext cx="5440680" cy="457200"/>
          </a:xfrm>
          <a:prstGeom prst="roundRect">
            <a:avLst>
              <a:gd name="adj" fmla="val 20000"/>
            </a:avLst>
          </a:prstGeom>
          <a:solidFill>
            <a:srgbClr val="FFFFFF"/>
          </a:solidFill>
          <a:ln/>
        </p:spPr>
      </p:sp>
      <p:sp>
        <p:nvSpPr>
          <p:cNvPr id="42" name="Text 40"/>
          <p:cNvSpPr txBox="1"/>
          <p:nvPr/>
        </p:nvSpPr>
        <p:spPr>
          <a:xfrm>
            <a:off x="685800" y="569214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CU08</a:t>
            </a:r>
            <a:endParaRPr lang="en-US" sz="1050" dirty="0"/>
          </a:p>
        </p:txBody>
      </p:sp>
      <p:sp>
        <p:nvSpPr>
          <p:cNvPr id="43" name="Text 41"/>
          <p:cNvSpPr txBox="1"/>
          <p:nvPr/>
        </p:nvSpPr>
        <p:spPr>
          <a:xfrm>
            <a:off x="1325880" y="569214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Registrar destino y lotes</a:t>
            </a:r>
            <a:endParaRPr lang="en-US" sz="1000" dirty="0"/>
          </a:p>
        </p:txBody>
      </p:sp>
      <p:sp>
        <p:nvSpPr>
          <p:cNvPr id="44" name="Text 42"/>
          <p:cNvSpPr txBox="1"/>
          <p:nvPr/>
        </p:nvSpPr>
        <p:spPr>
          <a:xfrm>
            <a:off x="3886200" y="569214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Registrador del DPA</a:t>
            </a:r>
            <a:endParaRPr lang="en-US" sz="850" dirty="0"/>
          </a:p>
        </p:txBody>
      </p:sp>
      <p:sp>
        <p:nvSpPr>
          <p:cNvPr id="45" name="Text 43"/>
          <p:cNvSpPr txBox="1"/>
          <p:nvPr/>
        </p:nvSpPr>
        <p:spPr>
          <a:xfrm>
            <a:off x="5074920" y="569214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RF14</a:t>
            </a:r>
            <a:endParaRPr lang="en-US" sz="850" dirty="0"/>
          </a:p>
        </p:txBody>
      </p:sp>
      <p:sp>
        <p:nvSpPr>
          <p:cNvPr id="46" name="Shape 44"/>
          <p:cNvSpPr/>
          <p:nvPr/>
        </p:nvSpPr>
        <p:spPr>
          <a:xfrm>
            <a:off x="6172200" y="2011680"/>
            <a:ext cx="5440680" cy="457200"/>
          </a:xfrm>
          <a:prstGeom prst="roundRect">
            <a:avLst>
              <a:gd name="adj" fmla="val 20000"/>
            </a:avLst>
          </a:prstGeom>
          <a:solidFill>
            <a:srgbClr val="F4F8FF"/>
          </a:solidFill>
          <a:ln/>
        </p:spPr>
      </p:sp>
      <p:sp>
        <p:nvSpPr>
          <p:cNvPr id="47" name="Text 45"/>
          <p:cNvSpPr txBox="1"/>
          <p:nvPr/>
        </p:nvSpPr>
        <p:spPr>
          <a:xfrm>
            <a:off x="6309360" y="201168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CU09</a:t>
            </a:r>
            <a:endParaRPr lang="en-US" sz="1050" dirty="0"/>
          </a:p>
        </p:txBody>
      </p:sp>
      <p:sp>
        <p:nvSpPr>
          <p:cNvPr id="48" name="Text 46"/>
          <p:cNvSpPr txBox="1"/>
          <p:nvPr/>
        </p:nvSpPr>
        <p:spPr>
          <a:xfrm>
            <a:off x="6949440" y="201168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Confirmar recepción de lote</a:t>
            </a:r>
            <a:endParaRPr lang="en-US" sz="1000" dirty="0"/>
          </a:p>
        </p:txBody>
      </p:sp>
      <p:sp>
        <p:nvSpPr>
          <p:cNvPr id="49" name="Text 47"/>
          <p:cNvSpPr txBox="1"/>
          <p:nvPr/>
        </p:nvSpPr>
        <p:spPr>
          <a:xfrm>
            <a:off x="9509760" y="201168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Comerciante</a:t>
            </a:r>
            <a:endParaRPr lang="en-US" sz="850" dirty="0"/>
          </a:p>
        </p:txBody>
      </p:sp>
      <p:sp>
        <p:nvSpPr>
          <p:cNvPr id="50" name="Text 48"/>
          <p:cNvSpPr txBox="1"/>
          <p:nvPr/>
        </p:nvSpPr>
        <p:spPr>
          <a:xfrm>
            <a:off x="10698480" y="201168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RF15</a:t>
            </a:r>
            <a:endParaRPr lang="en-US" sz="850" dirty="0"/>
          </a:p>
        </p:txBody>
      </p:sp>
      <p:sp>
        <p:nvSpPr>
          <p:cNvPr id="51" name="Shape 49"/>
          <p:cNvSpPr/>
          <p:nvPr/>
        </p:nvSpPr>
        <p:spPr>
          <a:xfrm>
            <a:off x="6172200" y="2537460"/>
            <a:ext cx="5440680" cy="457200"/>
          </a:xfrm>
          <a:prstGeom prst="roundRect">
            <a:avLst>
              <a:gd name="adj" fmla="val 20000"/>
            </a:avLst>
          </a:prstGeom>
          <a:solidFill>
            <a:srgbClr val="FFFFFF"/>
          </a:solidFill>
          <a:ln/>
        </p:spPr>
      </p:sp>
      <p:sp>
        <p:nvSpPr>
          <p:cNvPr id="52" name="Text 50"/>
          <p:cNvSpPr txBox="1"/>
          <p:nvPr/>
        </p:nvSpPr>
        <p:spPr>
          <a:xfrm>
            <a:off x="6309360" y="253746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CU10</a:t>
            </a:r>
            <a:endParaRPr lang="en-US" sz="1050" dirty="0"/>
          </a:p>
        </p:txBody>
      </p:sp>
      <p:sp>
        <p:nvSpPr>
          <p:cNvPr id="53" name="Text 51"/>
          <p:cNvSpPr txBox="1"/>
          <p:nvPr/>
        </p:nvSpPr>
        <p:spPr>
          <a:xfrm>
            <a:off x="6949440" y="253746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Verificar constancia por QR</a:t>
            </a:r>
            <a:endParaRPr lang="en-US" sz="1000" dirty="0"/>
          </a:p>
        </p:txBody>
      </p:sp>
      <p:sp>
        <p:nvSpPr>
          <p:cNvPr id="54" name="Text 52"/>
          <p:cNvSpPr txBox="1"/>
          <p:nvPr/>
        </p:nvSpPr>
        <p:spPr>
          <a:xfrm>
            <a:off x="9509760" y="253746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Comerciante, fiscalizador</a:t>
            </a:r>
            <a:endParaRPr lang="en-US" sz="850" dirty="0"/>
          </a:p>
        </p:txBody>
      </p:sp>
      <p:sp>
        <p:nvSpPr>
          <p:cNvPr id="55" name="Text 53"/>
          <p:cNvSpPr txBox="1"/>
          <p:nvPr/>
        </p:nvSpPr>
        <p:spPr>
          <a:xfrm>
            <a:off x="10698480" y="253746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RF16</a:t>
            </a:r>
            <a:endParaRPr lang="en-US" sz="850" dirty="0"/>
          </a:p>
        </p:txBody>
      </p:sp>
      <p:sp>
        <p:nvSpPr>
          <p:cNvPr id="56" name="Shape 54"/>
          <p:cNvSpPr/>
          <p:nvPr/>
        </p:nvSpPr>
        <p:spPr>
          <a:xfrm>
            <a:off x="6172200" y="3063240"/>
            <a:ext cx="5440680" cy="457200"/>
          </a:xfrm>
          <a:prstGeom prst="roundRect">
            <a:avLst>
              <a:gd name="adj" fmla="val 20000"/>
            </a:avLst>
          </a:prstGeom>
          <a:solidFill>
            <a:srgbClr val="F4F8FF"/>
          </a:solidFill>
          <a:ln/>
        </p:spPr>
      </p:sp>
      <p:sp>
        <p:nvSpPr>
          <p:cNvPr id="57" name="Text 55"/>
          <p:cNvSpPr txBox="1"/>
          <p:nvPr/>
        </p:nvSpPr>
        <p:spPr>
          <a:xfrm>
            <a:off x="6309360" y="306324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CU11</a:t>
            </a:r>
            <a:endParaRPr lang="en-US" sz="1050" dirty="0"/>
          </a:p>
        </p:txBody>
      </p:sp>
      <p:sp>
        <p:nvSpPr>
          <p:cNvPr id="58" name="Text 56"/>
          <p:cNvSpPr txBox="1"/>
          <p:nvPr/>
        </p:nvSpPr>
        <p:spPr>
          <a:xfrm>
            <a:off x="6949440" y="306324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Registrar observación de fiscalización</a:t>
            </a:r>
            <a:endParaRPr lang="en-US" sz="1000" dirty="0"/>
          </a:p>
        </p:txBody>
      </p:sp>
      <p:sp>
        <p:nvSpPr>
          <p:cNvPr id="59" name="Text 57"/>
          <p:cNvSpPr txBox="1"/>
          <p:nvPr/>
        </p:nvSpPr>
        <p:spPr>
          <a:xfrm>
            <a:off x="9509760" y="306324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Fiscalizador</a:t>
            </a:r>
            <a:endParaRPr lang="en-US" sz="850" dirty="0"/>
          </a:p>
        </p:txBody>
      </p:sp>
      <p:sp>
        <p:nvSpPr>
          <p:cNvPr id="60" name="Text 58"/>
          <p:cNvSpPr txBox="1"/>
          <p:nvPr/>
        </p:nvSpPr>
        <p:spPr>
          <a:xfrm>
            <a:off x="10698480" y="306324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RF17</a:t>
            </a:r>
            <a:endParaRPr lang="en-US" sz="850" dirty="0"/>
          </a:p>
        </p:txBody>
      </p:sp>
      <p:sp>
        <p:nvSpPr>
          <p:cNvPr id="61" name="Shape 59"/>
          <p:cNvSpPr/>
          <p:nvPr/>
        </p:nvSpPr>
        <p:spPr>
          <a:xfrm>
            <a:off x="6172200" y="3589020"/>
            <a:ext cx="5440680" cy="457200"/>
          </a:xfrm>
          <a:prstGeom prst="roundRect">
            <a:avLst>
              <a:gd name="adj" fmla="val 20000"/>
            </a:avLst>
          </a:prstGeom>
          <a:solidFill>
            <a:srgbClr val="FFFFFF"/>
          </a:solidFill>
          <a:ln/>
        </p:spPr>
      </p:sp>
      <p:sp>
        <p:nvSpPr>
          <p:cNvPr id="62" name="Text 60"/>
          <p:cNvSpPr txBox="1"/>
          <p:nvPr/>
        </p:nvSpPr>
        <p:spPr>
          <a:xfrm>
            <a:off x="6309360" y="358902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CU12</a:t>
            </a:r>
            <a:endParaRPr lang="en-US" sz="1050" dirty="0"/>
          </a:p>
        </p:txBody>
      </p:sp>
      <p:sp>
        <p:nvSpPr>
          <p:cNvPr id="63" name="Text 61"/>
          <p:cNvSpPr txBox="1"/>
          <p:nvPr/>
        </p:nvSpPr>
        <p:spPr>
          <a:xfrm>
            <a:off x="6949440" y="358902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Consultar historial y constancias</a:t>
            </a:r>
            <a:endParaRPr lang="en-US" sz="1000" dirty="0"/>
          </a:p>
        </p:txBody>
      </p:sp>
      <p:sp>
        <p:nvSpPr>
          <p:cNvPr id="64" name="Text 62"/>
          <p:cNvSpPr txBox="1"/>
          <p:nvPr/>
        </p:nvSpPr>
        <p:spPr>
          <a:xfrm>
            <a:off x="9509760" y="358902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Patrón / armador</a:t>
            </a:r>
            <a:endParaRPr lang="en-US" sz="850" dirty="0"/>
          </a:p>
        </p:txBody>
      </p:sp>
      <p:sp>
        <p:nvSpPr>
          <p:cNvPr id="65" name="Text 63"/>
          <p:cNvSpPr txBox="1"/>
          <p:nvPr/>
        </p:nvSpPr>
        <p:spPr>
          <a:xfrm>
            <a:off x="10698480" y="358902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RF21</a:t>
            </a:r>
            <a:endParaRPr lang="en-US" sz="850" dirty="0"/>
          </a:p>
        </p:txBody>
      </p:sp>
      <p:sp>
        <p:nvSpPr>
          <p:cNvPr id="66" name="Shape 64"/>
          <p:cNvSpPr/>
          <p:nvPr/>
        </p:nvSpPr>
        <p:spPr>
          <a:xfrm>
            <a:off x="6172200" y="4114800"/>
            <a:ext cx="5440680" cy="457200"/>
          </a:xfrm>
          <a:prstGeom prst="roundRect">
            <a:avLst>
              <a:gd name="adj" fmla="val 20000"/>
            </a:avLst>
          </a:prstGeom>
          <a:solidFill>
            <a:srgbClr val="F4F8FF"/>
          </a:solidFill>
          <a:ln/>
        </p:spPr>
      </p:sp>
      <p:sp>
        <p:nvSpPr>
          <p:cNvPr id="67" name="Text 65"/>
          <p:cNvSpPr txBox="1"/>
          <p:nvPr/>
        </p:nvSpPr>
        <p:spPr>
          <a:xfrm>
            <a:off x="6309360" y="411480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CU13</a:t>
            </a:r>
            <a:endParaRPr lang="en-US" sz="1050" dirty="0"/>
          </a:p>
        </p:txBody>
      </p:sp>
      <p:sp>
        <p:nvSpPr>
          <p:cNvPr id="68" name="Text 66"/>
          <p:cNvSpPr txBox="1"/>
          <p:nvPr/>
        </p:nvSpPr>
        <p:spPr>
          <a:xfrm>
            <a:off x="6949440" y="411480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Consultar tablero de indicadores</a:t>
            </a:r>
            <a:endParaRPr lang="en-US" sz="1000" dirty="0"/>
          </a:p>
        </p:txBody>
      </p:sp>
      <p:sp>
        <p:nvSpPr>
          <p:cNvPr id="69" name="Text 67"/>
          <p:cNvSpPr txBox="1"/>
          <p:nvPr/>
        </p:nvSpPr>
        <p:spPr>
          <a:xfrm>
            <a:off x="9509760" y="411480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Administrador del DPA, analista</a:t>
            </a:r>
            <a:endParaRPr lang="en-US" sz="850" dirty="0"/>
          </a:p>
        </p:txBody>
      </p:sp>
      <p:sp>
        <p:nvSpPr>
          <p:cNvPr id="70" name="Text 68"/>
          <p:cNvSpPr txBox="1"/>
          <p:nvPr/>
        </p:nvSpPr>
        <p:spPr>
          <a:xfrm>
            <a:off x="10698480" y="411480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RF18, RF24</a:t>
            </a:r>
            <a:endParaRPr lang="en-US" sz="850" dirty="0"/>
          </a:p>
        </p:txBody>
      </p:sp>
      <p:sp>
        <p:nvSpPr>
          <p:cNvPr id="71" name="Shape 69"/>
          <p:cNvSpPr/>
          <p:nvPr/>
        </p:nvSpPr>
        <p:spPr>
          <a:xfrm>
            <a:off x="6172200" y="4640580"/>
            <a:ext cx="5440680" cy="457200"/>
          </a:xfrm>
          <a:prstGeom prst="roundRect">
            <a:avLst>
              <a:gd name="adj" fmla="val 20000"/>
            </a:avLst>
          </a:prstGeom>
          <a:solidFill>
            <a:srgbClr val="FFFFFF"/>
          </a:solidFill>
          <a:ln/>
        </p:spPr>
      </p:sp>
      <p:sp>
        <p:nvSpPr>
          <p:cNvPr id="72" name="Text 70"/>
          <p:cNvSpPr txBox="1"/>
          <p:nvPr/>
        </p:nvSpPr>
        <p:spPr>
          <a:xfrm>
            <a:off x="6309360" y="464058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CU14</a:t>
            </a:r>
            <a:endParaRPr lang="en-US" sz="1050" dirty="0"/>
          </a:p>
        </p:txBody>
      </p:sp>
      <p:sp>
        <p:nvSpPr>
          <p:cNvPr id="73" name="Text 71"/>
          <p:cNvSpPr txBox="1"/>
          <p:nvPr/>
        </p:nvSpPr>
        <p:spPr>
          <a:xfrm>
            <a:off x="6949440" y="464058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Generar y exportar reportes</a:t>
            </a:r>
            <a:endParaRPr lang="en-US" sz="1000" dirty="0"/>
          </a:p>
        </p:txBody>
      </p:sp>
      <p:sp>
        <p:nvSpPr>
          <p:cNvPr id="74" name="Text 72"/>
          <p:cNvSpPr txBox="1"/>
          <p:nvPr/>
        </p:nvSpPr>
        <p:spPr>
          <a:xfrm>
            <a:off x="9509760" y="464058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Analista; SITRAPESCA</a:t>
            </a:r>
            <a:endParaRPr lang="en-US" sz="850" dirty="0"/>
          </a:p>
        </p:txBody>
      </p:sp>
      <p:sp>
        <p:nvSpPr>
          <p:cNvPr id="75" name="Text 73"/>
          <p:cNvSpPr txBox="1"/>
          <p:nvPr/>
        </p:nvSpPr>
        <p:spPr>
          <a:xfrm>
            <a:off x="10698480" y="464058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RF19, RF20</a:t>
            </a:r>
            <a:endParaRPr lang="en-US" sz="850" dirty="0"/>
          </a:p>
        </p:txBody>
      </p:sp>
      <p:sp>
        <p:nvSpPr>
          <p:cNvPr id="76" name="Shape 74"/>
          <p:cNvSpPr/>
          <p:nvPr/>
        </p:nvSpPr>
        <p:spPr>
          <a:xfrm>
            <a:off x="6172200" y="5166360"/>
            <a:ext cx="5440680" cy="457200"/>
          </a:xfrm>
          <a:prstGeom prst="roundRect">
            <a:avLst>
              <a:gd name="adj" fmla="val 20000"/>
            </a:avLst>
          </a:prstGeom>
          <a:solidFill>
            <a:srgbClr val="F4F8FF"/>
          </a:solidFill>
          <a:ln/>
        </p:spPr>
      </p:sp>
      <p:sp>
        <p:nvSpPr>
          <p:cNvPr id="77" name="Text 75"/>
          <p:cNvSpPr txBox="1"/>
          <p:nvPr/>
        </p:nvSpPr>
        <p:spPr>
          <a:xfrm>
            <a:off x="6309360" y="516636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CU15</a:t>
            </a:r>
            <a:endParaRPr lang="en-US" sz="1050" dirty="0"/>
          </a:p>
        </p:txBody>
      </p:sp>
      <p:sp>
        <p:nvSpPr>
          <p:cNvPr id="78" name="Text 76"/>
          <p:cNvSpPr txBox="1"/>
          <p:nvPr/>
        </p:nvSpPr>
        <p:spPr>
          <a:xfrm>
            <a:off x="6949440" y="516636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Sincronizar registros fuera de línea</a:t>
            </a:r>
            <a:endParaRPr lang="en-US" sz="1000" dirty="0"/>
          </a:p>
        </p:txBody>
      </p:sp>
      <p:sp>
        <p:nvSpPr>
          <p:cNvPr id="79" name="Text 77"/>
          <p:cNvSpPr txBox="1"/>
          <p:nvPr/>
        </p:nvSpPr>
        <p:spPr>
          <a:xfrm>
            <a:off x="9509760" y="516636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Registrador del DPA</a:t>
            </a:r>
            <a:endParaRPr lang="en-US" sz="850" dirty="0"/>
          </a:p>
        </p:txBody>
      </p:sp>
      <p:sp>
        <p:nvSpPr>
          <p:cNvPr id="80" name="Text 78"/>
          <p:cNvSpPr txBox="1"/>
          <p:nvPr/>
        </p:nvSpPr>
        <p:spPr>
          <a:xfrm>
            <a:off x="10698480" y="516636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RF12</a:t>
            </a:r>
            <a:endParaRPr lang="en-US" sz="850" dirty="0"/>
          </a:p>
        </p:txBody>
      </p:sp>
      <p:sp>
        <p:nvSpPr>
          <p:cNvPr id="81" name="Shape 79"/>
          <p:cNvSpPr/>
          <p:nvPr/>
        </p:nvSpPr>
        <p:spPr>
          <a:xfrm>
            <a:off x="6172200" y="5692140"/>
            <a:ext cx="5440680" cy="457200"/>
          </a:xfrm>
          <a:prstGeom prst="roundRect">
            <a:avLst>
              <a:gd name="adj" fmla="val 20000"/>
            </a:avLst>
          </a:prstGeom>
          <a:solidFill>
            <a:srgbClr val="FFFFFF"/>
          </a:solidFill>
          <a:ln/>
        </p:spPr>
      </p:sp>
      <p:sp>
        <p:nvSpPr>
          <p:cNvPr id="82" name="Text 80"/>
          <p:cNvSpPr txBox="1"/>
          <p:nvPr/>
        </p:nvSpPr>
        <p:spPr>
          <a:xfrm>
            <a:off x="6309360" y="5692140"/>
            <a:ext cx="640080" cy="457200"/>
          </a:xfrm>
          <a:prstGeom prst="rect">
            <a:avLst/>
          </a:prstGeom>
          <a:noFill/>
          <a:ln/>
        </p:spPr>
        <p:txBody>
          <a:bodyPr wrap="square" lIns="0" tIns="0" rIns="0" bIns="0" rtlCol="0" anchor="ctr"/>
          <a:lstStyle/>
          <a:p>
            <a:pPr indent="0" marL="0">
              <a:buNone/>
            </a:pPr>
            <a:r>
              <a:rPr lang="en-US" sz="1050" b="1" dirty="0">
                <a:solidFill>
                  <a:srgbClr val="008FB0"/>
                </a:solidFill>
                <a:latin typeface="Montserrat" pitchFamily="34" charset="0"/>
                <a:ea typeface="Montserrat" pitchFamily="34" charset="-122"/>
                <a:cs typeface="Montserrat" pitchFamily="34" charset="-120"/>
              </a:rPr>
              <a:t>CU16</a:t>
            </a:r>
            <a:endParaRPr lang="en-US" sz="1050" dirty="0"/>
          </a:p>
        </p:txBody>
      </p:sp>
      <p:sp>
        <p:nvSpPr>
          <p:cNvPr id="83" name="Text 81"/>
          <p:cNvSpPr txBox="1"/>
          <p:nvPr/>
        </p:nvSpPr>
        <p:spPr>
          <a:xfrm>
            <a:off x="6949440" y="5692140"/>
            <a:ext cx="2514600" cy="457200"/>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Anular desembarque</a:t>
            </a:r>
            <a:endParaRPr lang="en-US" sz="1000" dirty="0"/>
          </a:p>
        </p:txBody>
      </p:sp>
      <p:sp>
        <p:nvSpPr>
          <p:cNvPr id="84" name="Text 82"/>
          <p:cNvSpPr txBox="1"/>
          <p:nvPr/>
        </p:nvSpPr>
        <p:spPr>
          <a:xfrm>
            <a:off x="9509760" y="5692140"/>
            <a:ext cx="1280160" cy="4572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Administrador del DPA</a:t>
            </a:r>
            <a:endParaRPr lang="en-US" sz="850" dirty="0"/>
          </a:p>
        </p:txBody>
      </p:sp>
      <p:sp>
        <p:nvSpPr>
          <p:cNvPr id="85" name="Text 83"/>
          <p:cNvSpPr txBox="1"/>
          <p:nvPr/>
        </p:nvSpPr>
        <p:spPr>
          <a:xfrm>
            <a:off x="10698480" y="5692140"/>
            <a:ext cx="868680" cy="457200"/>
          </a:xfrm>
          <a:prstGeom prst="rect">
            <a:avLst/>
          </a:prstGeom>
          <a:noFill/>
          <a:ln/>
        </p:spPr>
        <p:txBody>
          <a:bodyPr wrap="square" lIns="0" tIns="0" rIns="0" bIns="0" rtlCol="0" anchor="ctr"/>
          <a:lstStyle/>
          <a:p>
            <a:pPr algn="r" indent="0" marL="0">
              <a:buNone/>
            </a:pPr>
            <a:r>
              <a:rPr lang="en-US" sz="850" b="1" dirty="0">
                <a:solidFill>
                  <a:srgbClr val="5B3EE0"/>
                </a:solidFill>
                <a:latin typeface="Open Sans" pitchFamily="34" charset="0"/>
                <a:ea typeface="Open Sans" pitchFamily="34" charset="-122"/>
                <a:cs typeface="Open Sans" pitchFamily="34" charset="-120"/>
              </a:rPr>
              <a:t>RF23</a:t>
            </a:r>
            <a:endParaRPr lang="en-US" sz="850" dirty="0"/>
          </a:p>
        </p:txBody>
      </p:sp>
      <p:sp>
        <p:nvSpPr>
          <p:cNvPr id="86" name="Text 8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87" name="Text 8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4411066" cy="274320"/>
          </a:xfrm>
          <a:prstGeom prst="roundRect">
            <a:avLst>
              <a:gd name="adj" fmla="val 50000"/>
            </a:avLst>
          </a:prstGeom>
          <a:solidFill>
            <a:srgbClr val="00B8D4"/>
          </a:solidFill>
          <a:ln/>
        </p:spPr>
      </p:sp>
      <p:sp>
        <p:nvSpPr>
          <p:cNvPr id="3" name="Text 1"/>
          <p:cNvSpPr txBox="1"/>
          <p:nvPr/>
        </p:nvSpPr>
        <p:spPr>
          <a:xfrm>
            <a:off x="548640" y="292608"/>
            <a:ext cx="441106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3.2.1 MODELO DE PROCESOS (BPMN 2.0)</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Proceso actual (AS-IS): tres registros aislados en papel</a:t>
            </a:r>
            <a:endParaRPr lang="en-US" sz="2400" dirty="0"/>
          </a:p>
        </p:txBody>
      </p:sp>
      <p:sp>
        <p:nvSpPr>
          <p:cNvPr id="5" name="Shape 3"/>
          <p:cNvSpPr/>
          <p:nvPr/>
        </p:nvSpPr>
        <p:spPr>
          <a:xfrm>
            <a:off x="548640" y="1188720"/>
            <a:ext cx="11064240" cy="1213866"/>
          </a:xfrm>
          <a:prstGeom prst="roundRect">
            <a:avLst>
              <a:gd name="adj" fmla="val 7533"/>
            </a:avLst>
          </a:prstGeom>
          <a:solidFill>
            <a:srgbClr val="FFF1DE"/>
          </a:solidFill>
          <a:ln/>
        </p:spPr>
      </p:sp>
      <p:sp>
        <p:nvSpPr>
          <p:cNvPr id="6" name="Shape 4"/>
          <p:cNvSpPr/>
          <p:nvPr/>
        </p:nvSpPr>
        <p:spPr>
          <a:xfrm>
            <a:off x="548640" y="1188720"/>
            <a:ext cx="1188720" cy="1213866"/>
          </a:xfrm>
          <a:prstGeom prst="roundRect">
            <a:avLst>
              <a:gd name="adj" fmla="val 7692"/>
            </a:avLst>
          </a:prstGeom>
          <a:solidFill>
            <a:srgbClr val="E06F00"/>
          </a:solidFill>
          <a:ln/>
        </p:spPr>
      </p:sp>
      <p:sp>
        <p:nvSpPr>
          <p:cNvPr id="7" name="Text 5"/>
          <p:cNvSpPr txBox="1"/>
          <p:nvPr/>
        </p:nvSpPr>
        <p:spPr>
          <a:xfrm>
            <a:off x="603504" y="118872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Patrón / Armador</a:t>
            </a:r>
            <a:endParaRPr lang="en-US" sz="900" dirty="0"/>
          </a:p>
        </p:txBody>
      </p:sp>
      <p:sp>
        <p:nvSpPr>
          <p:cNvPr id="8" name="Shape 6"/>
          <p:cNvSpPr/>
          <p:nvPr/>
        </p:nvSpPr>
        <p:spPr>
          <a:xfrm>
            <a:off x="548640" y="2457450"/>
            <a:ext cx="11064240" cy="1213866"/>
          </a:xfrm>
          <a:prstGeom prst="roundRect">
            <a:avLst>
              <a:gd name="adj" fmla="val 7533"/>
            </a:avLst>
          </a:prstGeom>
          <a:solidFill>
            <a:srgbClr val="E2F8EF"/>
          </a:solidFill>
          <a:ln/>
        </p:spPr>
      </p:sp>
      <p:sp>
        <p:nvSpPr>
          <p:cNvPr id="9" name="Shape 7"/>
          <p:cNvSpPr/>
          <p:nvPr/>
        </p:nvSpPr>
        <p:spPr>
          <a:xfrm>
            <a:off x="548640" y="2457450"/>
            <a:ext cx="1188720" cy="1213866"/>
          </a:xfrm>
          <a:prstGeom prst="roundRect">
            <a:avLst>
              <a:gd name="adj" fmla="val 7692"/>
            </a:avLst>
          </a:prstGeom>
          <a:solidFill>
            <a:srgbClr val="0B9468"/>
          </a:solidFill>
          <a:ln/>
        </p:spPr>
      </p:sp>
      <p:sp>
        <p:nvSpPr>
          <p:cNvPr id="10" name="Text 8"/>
          <p:cNvSpPr txBox="1"/>
          <p:nvPr/>
        </p:nvSpPr>
        <p:spPr>
          <a:xfrm>
            <a:off x="603504" y="245745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Comerciante / Comprador</a:t>
            </a:r>
            <a:endParaRPr lang="en-US" sz="900" dirty="0"/>
          </a:p>
        </p:txBody>
      </p:sp>
      <p:sp>
        <p:nvSpPr>
          <p:cNvPr id="11" name="Shape 9"/>
          <p:cNvSpPr/>
          <p:nvPr/>
        </p:nvSpPr>
        <p:spPr>
          <a:xfrm>
            <a:off x="548640" y="3726180"/>
            <a:ext cx="11064240" cy="1213866"/>
          </a:xfrm>
          <a:prstGeom prst="roundRect">
            <a:avLst>
              <a:gd name="adj" fmla="val 7533"/>
            </a:avLst>
          </a:prstGeom>
          <a:solidFill>
            <a:srgbClr val="FFE9EA"/>
          </a:solidFill>
          <a:ln/>
        </p:spPr>
      </p:sp>
      <p:sp>
        <p:nvSpPr>
          <p:cNvPr id="12" name="Shape 10"/>
          <p:cNvSpPr/>
          <p:nvPr/>
        </p:nvSpPr>
        <p:spPr>
          <a:xfrm>
            <a:off x="548640" y="3726180"/>
            <a:ext cx="1188720" cy="1213866"/>
          </a:xfrm>
          <a:prstGeom prst="roundRect">
            <a:avLst>
              <a:gd name="adj" fmla="val 7692"/>
            </a:avLst>
          </a:prstGeom>
          <a:solidFill>
            <a:srgbClr val="FF5A5F"/>
          </a:solidFill>
          <a:ln/>
        </p:spPr>
      </p:sp>
      <p:sp>
        <p:nvSpPr>
          <p:cNvPr id="13" name="Text 11"/>
          <p:cNvSpPr txBox="1"/>
          <p:nvPr/>
        </p:nvSpPr>
        <p:spPr>
          <a:xfrm>
            <a:off x="603504" y="372618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Fiscalizador (PRODUCE / DIREPRO)</a:t>
            </a:r>
            <a:endParaRPr lang="en-US" sz="900" dirty="0"/>
          </a:p>
        </p:txBody>
      </p:sp>
      <p:sp>
        <p:nvSpPr>
          <p:cNvPr id="14" name="Shape 12"/>
          <p:cNvSpPr/>
          <p:nvPr/>
        </p:nvSpPr>
        <p:spPr>
          <a:xfrm>
            <a:off x="548640" y="4994910"/>
            <a:ext cx="11064240" cy="1213866"/>
          </a:xfrm>
          <a:prstGeom prst="roundRect">
            <a:avLst>
              <a:gd name="adj" fmla="val 7533"/>
            </a:avLst>
          </a:prstGeom>
          <a:solidFill>
            <a:srgbClr val="E0F8FB"/>
          </a:solidFill>
          <a:ln/>
        </p:spPr>
      </p:sp>
      <p:sp>
        <p:nvSpPr>
          <p:cNvPr id="15" name="Shape 13"/>
          <p:cNvSpPr/>
          <p:nvPr/>
        </p:nvSpPr>
        <p:spPr>
          <a:xfrm>
            <a:off x="548640" y="4994910"/>
            <a:ext cx="1188720" cy="1213866"/>
          </a:xfrm>
          <a:prstGeom prst="roundRect">
            <a:avLst>
              <a:gd name="adj" fmla="val 7692"/>
            </a:avLst>
          </a:prstGeom>
          <a:solidFill>
            <a:srgbClr val="008FB0"/>
          </a:solidFill>
          <a:ln/>
        </p:spPr>
      </p:sp>
      <p:sp>
        <p:nvSpPr>
          <p:cNvPr id="16" name="Text 14"/>
          <p:cNvSpPr txBox="1"/>
          <p:nvPr/>
        </p:nvSpPr>
        <p:spPr>
          <a:xfrm>
            <a:off x="603504" y="499491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Observador de campo (IMARPE)</a:t>
            </a:r>
            <a:endParaRPr lang="en-US" sz="900" dirty="0"/>
          </a:p>
        </p:txBody>
      </p:sp>
      <p:sp>
        <p:nvSpPr>
          <p:cNvPr id="17" name="Shape 15"/>
          <p:cNvSpPr/>
          <p:nvPr/>
        </p:nvSpPr>
        <p:spPr>
          <a:xfrm>
            <a:off x="1856232" y="1640205"/>
            <a:ext cx="310896" cy="310896"/>
          </a:xfrm>
          <a:prstGeom prst="ellipse">
            <a:avLst/>
          </a:prstGeom>
          <a:solidFill>
            <a:srgbClr val="D9F99D"/>
          </a:solidFill>
          <a:ln w="25400">
            <a:solidFill>
              <a:srgbClr val="65A30D"/>
            </a:solidFill>
            <a:prstDash val="solid"/>
          </a:ln>
        </p:spPr>
      </p:sp>
      <p:sp>
        <p:nvSpPr>
          <p:cNvPr id="18" name="Text 16"/>
          <p:cNvSpPr txBox="1"/>
          <p:nvPr/>
        </p:nvSpPr>
        <p:spPr>
          <a:xfrm>
            <a:off x="1783080" y="1978533"/>
            <a:ext cx="685800" cy="274320"/>
          </a:xfrm>
          <a:prstGeom prst="rect">
            <a:avLst/>
          </a:prstGeom>
          <a:noFill/>
          <a:ln/>
        </p:spPr>
        <p:txBody>
          <a:bodyPr wrap="square" lIns="0" tIns="0" rIns="0" bIns="0" rtlCol="0" anchor="t"/>
          <a:lstStyle/>
          <a:p>
            <a:pPr algn="l" indent="0" marL="0">
              <a:buNone/>
            </a:pPr>
            <a:r>
              <a:rPr lang="en-US" sz="700" dirty="0">
                <a:solidFill>
                  <a:srgbClr val="4A5878"/>
                </a:solidFill>
                <a:latin typeface="Open Sans" pitchFamily="34" charset="0"/>
                <a:ea typeface="Open Sans" pitchFamily="34" charset="-122"/>
                <a:cs typeface="Open Sans" pitchFamily="34" charset="-120"/>
              </a:rPr>
              <a:t>Faena de pesca concluida</a:t>
            </a:r>
            <a:endParaRPr lang="en-US" sz="700" dirty="0"/>
          </a:p>
        </p:txBody>
      </p:sp>
      <p:sp>
        <p:nvSpPr>
          <p:cNvPr id="19" name="Shape 17"/>
          <p:cNvSpPr/>
          <p:nvPr/>
        </p:nvSpPr>
        <p:spPr>
          <a:xfrm rot="5400000">
            <a:off x="2398014" y="1737360"/>
            <a:ext cx="116586" cy="116586"/>
          </a:xfrm>
          <a:prstGeom prst="triangle">
            <a:avLst/>
          </a:prstGeom>
          <a:solidFill>
            <a:srgbClr val="0B1E4F"/>
          </a:solidFill>
          <a:ln/>
        </p:spPr>
      </p:sp>
      <p:sp>
        <p:nvSpPr>
          <p:cNvPr id="20" name="Shape 18"/>
          <p:cNvSpPr/>
          <p:nvPr/>
        </p:nvSpPr>
        <p:spPr>
          <a:xfrm>
            <a:off x="2167128" y="1795653"/>
            <a:ext cx="242545" cy="914"/>
          </a:xfrm>
          <a:prstGeom prst="line">
            <a:avLst/>
          </a:prstGeom>
          <a:noFill/>
          <a:ln w="15875">
            <a:solidFill>
              <a:srgbClr val="0B1E4F"/>
            </a:solidFill>
            <a:prstDash val="solid"/>
          </a:ln>
        </p:spPr>
      </p:sp>
      <p:sp>
        <p:nvSpPr>
          <p:cNvPr id="21" name="Shape 19"/>
          <p:cNvSpPr/>
          <p:nvPr/>
        </p:nvSpPr>
        <p:spPr>
          <a:xfrm>
            <a:off x="2514600" y="1512189"/>
            <a:ext cx="1234440" cy="566928"/>
          </a:xfrm>
          <a:prstGeom prst="roundRect">
            <a:avLst>
              <a:gd name="adj" fmla="val 16129"/>
            </a:avLst>
          </a:prstGeom>
          <a:solidFill>
            <a:srgbClr val="FFFFFF"/>
          </a:solidFill>
          <a:ln w="15875">
            <a:solidFill>
              <a:srgbClr val="E06F00"/>
            </a:solidFill>
            <a:prstDash val="solid"/>
          </a:ln>
          <a:effectLst>
            <a:outerShdw sx="100000" sy="100000" kx="0" ky="0" algn="bl" rotWithShape="0" blurRad="177800" dist="38100" dir="5400000">
              <a:srgbClr val="0B1E4F">
                <a:alpha val="8000"/>
              </a:srgbClr>
            </a:outerShdw>
          </a:effectLst>
        </p:spPr>
      </p:sp>
      <p:sp>
        <p:nvSpPr>
          <p:cNvPr id="22" name="Text 20"/>
          <p:cNvSpPr txBox="1"/>
          <p:nvPr/>
        </p:nvSpPr>
        <p:spPr>
          <a:xfrm>
            <a:off x="2587752" y="1512189"/>
            <a:ext cx="1088136" cy="566928"/>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Arribar al DPA y desembarcar captura</a:t>
            </a:r>
            <a:endParaRPr lang="en-US" sz="850" dirty="0"/>
          </a:p>
        </p:txBody>
      </p:sp>
      <p:sp>
        <p:nvSpPr>
          <p:cNvPr id="23" name="Shape 21"/>
          <p:cNvSpPr/>
          <p:nvPr/>
        </p:nvSpPr>
        <p:spPr>
          <a:xfrm rot="10800000">
            <a:off x="3068955" y="2664333"/>
            <a:ext cx="116586" cy="116586"/>
          </a:xfrm>
          <a:prstGeom prst="triangle">
            <a:avLst/>
          </a:prstGeom>
          <a:solidFill>
            <a:srgbClr val="0B1E4F"/>
          </a:solidFill>
          <a:ln/>
        </p:spPr>
      </p:sp>
      <p:sp>
        <p:nvSpPr>
          <p:cNvPr id="24" name="Shape 22"/>
          <p:cNvSpPr/>
          <p:nvPr/>
        </p:nvSpPr>
        <p:spPr>
          <a:xfrm>
            <a:off x="3127248" y="2079117"/>
            <a:ext cx="914" cy="596875"/>
          </a:xfrm>
          <a:prstGeom prst="line">
            <a:avLst/>
          </a:prstGeom>
          <a:noFill/>
          <a:ln w="15875">
            <a:solidFill>
              <a:srgbClr val="0B1E4F"/>
            </a:solidFill>
            <a:prstDash val="solid"/>
          </a:ln>
        </p:spPr>
      </p:sp>
      <p:sp>
        <p:nvSpPr>
          <p:cNvPr id="25" name="Shape 23"/>
          <p:cNvSpPr/>
          <p:nvPr/>
        </p:nvSpPr>
        <p:spPr>
          <a:xfrm>
            <a:off x="2514600" y="2780919"/>
            <a:ext cx="1234440" cy="566928"/>
          </a:xfrm>
          <a:prstGeom prst="roundRect">
            <a:avLst>
              <a:gd name="adj" fmla="val 16129"/>
            </a:avLst>
          </a:prstGeom>
          <a:solidFill>
            <a:srgbClr val="FFFFFF"/>
          </a:solidFill>
          <a:ln w="15875">
            <a:solidFill>
              <a:srgbClr val="0B9468"/>
            </a:solidFill>
            <a:prstDash val="solid"/>
          </a:ln>
          <a:effectLst>
            <a:outerShdw sx="100000" sy="100000" kx="0" ky="0" algn="bl" rotWithShape="0" blurRad="177800" dist="38100" dir="5400000">
              <a:srgbClr val="0B1E4F">
                <a:alpha val="8000"/>
              </a:srgbClr>
            </a:outerShdw>
          </a:effectLst>
        </p:spPr>
      </p:sp>
      <p:sp>
        <p:nvSpPr>
          <p:cNvPr id="26" name="Text 24"/>
          <p:cNvSpPr txBox="1"/>
          <p:nvPr/>
        </p:nvSpPr>
        <p:spPr>
          <a:xfrm>
            <a:off x="2587752" y="2780919"/>
            <a:ext cx="1088136" cy="566928"/>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Pesar producto y acordar precio</a:t>
            </a:r>
            <a:endParaRPr lang="en-US" sz="850" dirty="0"/>
          </a:p>
        </p:txBody>
      </p:sp>
      <p:sp>
        <p:nvSpPr>
          <p:cNvPr id="27" name="Shape 25"/>
          <p:cNvSpPr/>
          <p:nvPr/>
        </p:nvSpPr>
        <p:spPr>
          <a:xfrm rot="5400000">
            <a:off x="3998214" y="3006090"/>
            <a:ext cx="116586" cy="116586"/>
          </a:xfrm>
          <a:prstGeom prst="triangle">
            <a:avLst/>
          </a:prstGeom>
          <a:solidFill>
            <a:srgbClr val="0B1E4F"/>
          </a:solidFill>
          <a:ln/>
        </p:spPr>
      </p:sp>
      <p:sp>
        <p:nvSpPr>
          <p:cNvPr id="28" name="Shape 26"/>
          <p:cNvSpPr/>
          <p:nvPr/>
        </p:nvSpPr>
        <p:spPr>
          <a:xfrm>
            <a:off x="3749040" y="3064383"/>
            <a:ext cx="260833" cy="914"/>
          </a:xfrm>
          <a:prstGeom prst="line">
            <a:avLst/>
          </a:prstGeom>
          <a:noFill/>
          <a:ln w="15875">
            <a:solidFill>
              <a:srgbClr val="0B1E4F"/>
            </a:solidFill>
            <a:prstDash val="solid"/>
          </a:ln>
        </p:spPr>
      </p:sp>
      <p:sp>
        <p:nvSpPr>
          <p:cNvPr id="29" name="Shape 27"/>
          <p:cNvSpPr/>
          <p:nvPr/>
        </p:nvSpPr>
        <p:spPr>
          <a:xfrm>
            <a:off x="4114800" y="2780919"/>
            <a:ext cx="1234440" cy="566928"/>
          </a:xfrm>
          <a:prstGeom prst="roundRect">
            <a:avLst>
              <a:gd name="adj" fmla="val 16129"/>
            </a:avLst>
          </a:prstGeom>
          <a:solidFill>
            <a:srgbClr val="FFFFFF"/>
          </a:solidFill>
          <a:ln w="15875">
            <a:solidFill>
              <a:srgbClr val="0B9468"/>
            </a:solidFill>
            <a:prstDash val="solid"/>
          </a:ln>
          <a:effectLst>
            <a:outerShdw sx="100000" sy="100000" kx="0" ky="0" algn="bl" rotWithShape="0" blurRad="177800" dist="38100" dir="5400000">
              <a:srgbClr val="0B1E4F">
                <a:alpha val="8000"/>
              </a:srgbClr>
            </a:outerShdw>
          </a:effectLst>
        </p:spPr>
      </p:sp>
      <p:sp>
        <p:nvSpPr>
          <p:cNvPr id="30" name="Text 28"/>
          <p:cNvSpPr txBox="1"/>
          <p:nvPr/>
        </p:nvSpPr>
        <p:spPr>
          <a:xfrm>
            <a:off x="4187952" y="2780919"/>
            <a:ext cx="1088136" cy="566928"/>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Emitir recibo/guía física en papel</a:t>
            </a:r>
            <a:endParaRPr lang="en-US" sz="850" dirty="0"/>
          </a:p>
        </p:txBody>
      </p:sp>
      <p:sp>
        <p:nvSpPr>
          <p:cNvPr id="31" name="Shape 29"/>
          <p:cNvSpPr/>
          <p:nvPr/>
        </p:nvSpPr>
        <p:spPr>
          <a:xfrm>
            <a:off x="3977640" y="2497455"/>
            <a:ext cx="274320" cy="329184"/>
          </a:xfrm>
          <a:prstGeom prst="rect">
            <a:avLst/>
          </a:prstGeom>
          <a:solidFill>
            <a:srgbClr val="F1F5F9"/>
          </a:solidFill>
          <a:ln w="9525">
            <a:solidFill>
              <a:srgbClr val="8A96AE"/>
            </a:solidFill>
            <a:prstDash val="solid"/>
          </a:ln>
        </p:spPr>
      </p:sp>
      <p:sp>
        <p:nvSpPr>
          <p:cNvPr id="32" name="Text 30"/>
          <p:cNvSpPr txBox="1"/>
          <p:nvPr/>
        </p:nvSpPr>
        <p:spPr>
          <a:xfrm>
            <a:off x="4297680" y="2460879"/>
            <a:ext cx="1280160" cy="329184"/>
          </a:xfrm>
          <a:prstGeom prst="rect">
            <a:avLst/>
          </a:prstGeom>
          <a:noFill/>
          <a:ln/>
        </p:spPr>
        <p:txBody>
          <a:bodyPr wrap="square" lIns="0" tIns="0" rIns="0" bIns="0" rtlCol="0" anchor="ctr"/>
          <a:lstStyle/>
          <a:p>
            <a:pPr indent="0" marL="0">
              <a:buNone/>
            </a:pPr>
            <a:r>
              <a:rPr lang="en-US" sz="700" i="1" dirty="0">
                <a:solidFill>
                  <a:srgbClr val="4A5878"/>
                </a:solidFill>
                <a:latin typeface="Open Sans" pitchFamily="34" charset="0"/>
                <a:ea typeface="Open Sans" pitchFamily="34" charset="-122"/>
                <a:cs typeface="Open Sans" pitchFamily="34" charset="-120"/>
              </a:rPr>
              <a:t>Guía / comprobante impreso</a:t>
            </a:r>
            <a:endParaRPr lang="en-US" sz="700" dirty="0"/>
          </a:p>
        </p:txBody>
      </p:sp>
      <p:sp>
        <p:nvSpPr>
          <p:cNvPr id="33" name="Shape 31"/>
          <p:cNvSpPr/>
          <p:nvPr/>
        </p:nvSpPr>
        <p:spPr>
          <a:xfrm>
            <a:off x="5349240" y="3064383"/>
            <a:ext cx="228600" cy="914"/>
          </a:xfrm>
          <a:prstGeom prst="line">
            <a:avLst/>
          </a:prstGeom>
          <a:noFill/>
          <a:ln w="15875">
            <a:solidFill>
              <a:srgbClr val="0B1E4F"/>
            </a:solidFill>
            <a:prstDash val="solid"/>
          </a:ln>
        </p:spPr>
      </p:sp>
      <p:sp>
        <p:nvSpPr>
          <p:cNvPr id="34" name="Shape 32"/>
          <p:cNvSpPr/>
          <p:nvPr/>
        </p:nvSpPr>
        <p:spPr>
          <a:xfrm rot="10800000">
            <a:off x="5519547" y="3933063"/>
            <a:ext cx="116586" cy="116586"/>
          </a:xfrm>
          <a:prstGeom prst="triangle">
            <a:avLst/>
          </a:prstGeom>
          <a:solidFill>
            <a:srgbClr val="0B1E4F"/>
          </a:solidFill>
          <a:ln/>
        </p:spPr>
      </p:sp>
      <p:sp>
        <p:nvSpPr>
          <p:cNvPr id="35" name="Shape 33"/>
          <p:cNvSpPr/>
          <p:nvPr/>
        </p:nvSpPr>
        <p:spPr>
          <a:xfrm>
            <a:off x="5577840" y="3064383"/>
            <a:ext cx="914" cy="880339"/>
          </a:xfrm>
          <a:prstGeom prst="line">
            <a:avLst/>
          </a:prstGeom>
          <a:noFill/>
          <a:ln w="15875">
            <a:solidFill>
              <a:srgbClr val="0B1E4F"/>
            </a:solidFill>
            <a:prstDash val="solid"/>
          </a:ln>
        </p:spPr>
      </p:sp>
      <p:sp>
        <p:nvSpPr>
          <p:cNvPr id="36" name="Shape 34"/>
          <p:cNvSpPr/>
          <p:nvPr/>
        </p:nvSpPr>
        <p:spPr>
          <a:xfrm>
            <a:off x="4983480" y="4049649"/>
            <a:ext cx="1234440" cy="566928"/>
          </a:xfrm>
          <a:prstGeom prst="roundRect">
            <a:avLst>
              <a:gd name="adj" fmla="val 16129"/>
            </a:avLst>
          </a:prstGeom>
          <a:solidFill>
            <a:srgbClr val="FFFFFF"/>
          </a:solidFill>
          <a:ln w="15875">
            <a:solidFill>
              <a:srgbClr val="FF5A5F"/>
            </a:solidFill>
            <a:prstDash val="solid"/>
          </a:ln>
          <a:effectLst>
            <a:outerShdw sx="100000" sy="100000" kx="0" ky="0" algn="bl" rotWithShape="0" blurRad="177800" dist="38100" dir="5400000">
              <a:srgbClr val="0B1E4F">
                <a:alpha val="8000"/>
              </a:srgbClr>
            </a:outerShdw>
          </a:effectLst>
        </p:spPr>
      </p:sp>
      <p:sp>
        <p:nvSpPr>
          <p:cNvPr id="37" name="Text 35"/>
          <p:cNvSpPr txBox="1"/>
          <p:nvPr/>
        </p:nvSpPr>
        <p:spPr>
          <a:xfrm>
            <a:off x="5056632" y="4049649"/>
            <a:ext cx="1088136" cy="566928"/>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Revisar documentos físicos (bitácora, permisos, guía)</a:t>
            </a:r>
            <a:endParaRPr lang="en-US" sz="850" dirty="0"/>
          </a:p>
        </p:txBody>
      </p:sp>
      <p:sp>
        <p:nvSpPr>
          <p:cNvPr id="38" name="Shape 36"/>
          <p:cNvSpPr/>
          <p:nvPr/>
        </p:nvSpPr>
        <p:spPr>
          <a:xfrm rot="5400000">
            <a:off x="6467094" y="4274820"/>
            <a:ext cx="116586" cy="116586"/>
          </a:xfrm>
          <a:prstGeom prst="triangle">
            <a:avLst/>
          </a:prstGeom>
          <a:solidFill>
            <a:srgbClr val="0B1E4F"/>
          </a:solidFill>
          <a:ln/>
        </p:spPr>
      </p:sp>
      <p:sp>
        <p:nvSpPr>
          <p:cNvPr id="39" name="Shape 37"/>
          <p:cNvSpPr/>
          <p:nvPr/>
        </p:nvSpPr>
        <p:spPr>
          <a:xfrm>
            <a:off x="6217920" y="4333113"/>
            <a:ext cx="260833" cy="914"/>
          </a:xfrm>
          <a:prstGeom prst="line">
            <a:avLst/>
          </a:prstGeom>
          <a:noFill/>
          <a:ln w="15875">
            <a:solidFill>
              <a:srgbClr val="0B1E4F"/>
            </a:solidFill>
            <a:prstDash val="solid"/>
          </a:ln>
        </p:spPr>
      </p:sp>
      <p:sp>
        <p:nvSpPr>
          <p:cNvPr id="40" name="Shape 38"/>
          <p:cNvSpPr/>
          <p:nvPr/>
        </p:nvSpPr>
        <p:spPr>
          <a:xfrm>
            <a:off x="6583680" y="4141089"/>
            <a:ext cx="384048" cy="384048"/>
          </a:xfrm>
          <a:prstGeom prst="diamond">
            <a:avLst/>
          </a:prstGeom>
          <a:solidFill>
            <a:srgbClr val="FEF9C3"/>
          </a:solidFill>
          <a:ln w="15875">
            <a:solidFill>
              <a:srgbClr val="CA8A04"/>
            </a:solidFill>
            <a:prstDash val="solid"/>
          </a:ln>
        </p:spPr>
      </p:sp>
      <p:sp>
        <p:nvSpPr>
          <p:cNvPr id="41" name="Text 39"/>
          <p:cNvSpPr txBox="1"/>
          <p:nvPr/>
        </p:nvSpPr>
        <p:spPr>
          <a:xfrm>
            <a:off x="6263640" y="4570857"/>
            <a:ext cx="914400" cy="310896"/>
          </a:xfrm>
          <a:prstGeom prst="rect">
            <a:avLst/>
          </a:prstGeom>
          <a:noFill/>
          <a:ln/>
        </p:spPr>
        <p:txBody>
          <a:bodyPr wrap="square" lIns="0" tIns="0" rIns="0" bIns="0" rtlCol="0" anchor="ctr"/>
          <a:lstStyle/>
          <a:p>
            <a:pPr algn="l" indent="0" marL="0">
              <a:buNone/>
            </a:pPr>
            <a:r>
              <a:rPr lang="en-US" sz="750" i="1" dirty="0">
                <a:solidFill>
                  <a:srgbClr val="0E1B3D"/>
                </a:solidFill>
                <a:latin typeface="Open Sans" pitchFamily="34" charset="0"/>
                <a:ea typeface="Open Sans" pitchFamily="34" charset="-122"/>
                <a:cs typeface="Open Sans" pitchFamily="34" charset="-120"/>
              </a:rPr>
              <a:t>¿Documentos completos y legibles?</a:t>
            </a:r>
            <a:endParaRPr lang="en-US" sz="750" dirty="0"/>
          </a:p>
        </p:txBody>
      </p:sp>
      <p:sp>
        <p:nvSpPr>
          <p:cNvPr id="42" name="Shape 40"/>
          <p:cNvSpPr/>
          <p:nvPr/>
        </p:nvSpPr>
        <p:spPr>
          <a:xfrm>
            <a:off x="7635240" y="3757041"/>
            <a:ext cx="1188720" cy="457200"/>
          </a:xfrm>
          <a:prstGeom prst="roundRect">
            <a:avLst>
              <a:gd name="adj" fmla="val 20000"/>
            </a:avLst>
          </a:prstGeom>
          <a:solidFill>
            <a:srgbClr val="FFFFFF"/>
          </a:solidFill>
          <a:ln w="15875">
            <a:solidFill>
              <a:srgbClr val="FF5A5F"/>
            </a:solidFill>
            <a:prstDash val="solid"/>
          </a:ln>
          <a:effectLst>
            <a:outerShdw sx="100000" sy="100000" kx="0" ky="0" algn="bl" rotWithShape="0" blurRad="177800" dist="38100" dir="5400000">
              <a:srgbClr val="0B1E4F">
                <a:alpha val="8000"/>
              </a:srgbClr>
            </a:outerShdw>
          </a:effectLst>
        </p:spPr>
      </p:sp>
      <p:sp>
        <p:nvSpPr>
          <p:cNvPr id="43" name="Text 41"/>
          <p:cNvSpPr txBox="1"/>
          <p:nvPr/>
        </p:nvSpPr>
        <p:spPr>
          <a:xfrm>
            <a:off x="7708392" y="3757041"/>
            <a:ext cx="1042416" cy="457200"/>
          </a:xfrm>
          <a:prstGeom prst="rect">
            <a:avLst/>
          </a:prstGeom>
          <a:noFill/>
          <a:ln/>
        </p:spPr>
        <p:txBody>
          <a:bodyPr wrap="square" lIns="0" tIns="0" rIns="0" bIns="0" rtlCol="0" anchor="ctr"/>
          <a:lstStyle/>
          <a:p>
            <a:pPr algn="ctr" indent="0" marL="0">
              <a:buNone/>
            </a:pPr>
            <a:r>
              <a:rPr lang="en-US" sz="800" dirty="0">
                <a:solidFill>
                  <a:srgbClr val="0E1B3D"/>
                </a:solidFill>
                <a:latin typeface="Open Sans" pitchFamily="34" charset="0"/>
                <a:ea typeface="Open Sans" pitchFamily="34" charset="-122"/>
                <a:cs typeface="Open Sans" pitchFamily="34" charset="-120"/>
              </a:rPr>
              <a:t>Solicitar corrección en papel</a:t>
            </a:r>
            <a:endParaRPr lang="en-US" sz="800" dirty="0"/>
          </a:p>
        </p:txBody>
      </p:sp>
      <p:sp>
        <p:nvSpPr>
          <p:cNvPr id="44" name="Shape 42"/>
          <p:cNvSpPr/>
          <p:nvPr/>
        </p:nvSpPr>
        <p:spPr>
          <a:xfrm>
            <a:off x="7635240" y="4470273"/>
            <a:ext cx="1188720" cy="457200"/>
          </a:xfrm>
          <a:prstGeom prst="roundRect">
            <a:avLst>
              <a:gd name="adj" fmla="val 20000"/>
            </a:avLst>
          </a:prstGeom>
          <a:solidFill>
            <a:srgbClr val="FFFFFF"/>
          </a:solidFill>
          <a:ln w="15875">
            <a:solidFill>
              <a:srgbClr val="FF5A5F"/>
            </a:solidFill>
            <a:prstDash val="solid"/>
          </a:ln>
          <a:effectLst>
            <a:outerShdw sx="100000" sy="100000" kx="0" ky="0" algn="bl" rotWithShape="0" blurRad="177800" dist="38100" dir="5400000">
              <a:srgbClr val="0B1E4F">
                <a:alpha val="8000"/>
              </a:srgbClr>
            </a:outerShdw>
          </a:effectLst>
        </p:spPr>
      </p:sp>
      <p:sp>
        <p:nvSpPr>
          <p:cNvPr id="45" name="Text 43"/>
          <p:cNvSpPr txBox="1"/>
          <p:nvPr/>
        </p:nvSpPr>
        <p:spPr>
          <a:xfrm>
            <a:off x="7708392" y="4470273"/>
            <a:ext cx="1042416" cy="457200"/>
          </a:xfrm>
          <a:prstGeom prst="rect">
            <a:avLst/>
          </a:prstGeom>
          <a:noFill/>
          <a:ln/>
        </p:spPr>
        <p:txBody>
          <a:bodyPr wrap="square" lIns="0" tIns="0" rIns="0" bIns="0" rtlCol="0" anchor="ctr"/>
          <a:lstStyle/>
          <a:p>
            <a:pPr algn="ctr" indent="0" marL="0">
              <a:buNone/>
            </a:pPr>
            <a:r>
              <a:rPr lang="en-US" sz="800" dirty="0">
                <a:solidFill>
                  <a:srgbClr val="0E1B3D"/>
                </a:solidFill>
                <a:latin typeface="Open Sans" pitchFamily="34" charset="0"/>
                <a:ea typeface="Open Sans" pitchFamily="34" charset="-122"/>
                <a:cs typeface="Open Sans" pitchFamily="34" charset="-120"/>
              </a:rPr>
              <a:t>Firmar conformidad en papel</a:t>
            </a:r>
            <a:endParaRPr lang="en-US" sz="800" dirty="0"/>
          </a:p>
        </p:txBody>
      </p:sp>
      <p:sp>
        <p:nvSpPr>
          <p:cNvPr id="46" name="Shape 44"/>
          <p:cNvSpPr/>
          <p:nvPr/>
        </p:nvSpPr>
        <p:spPr>
          <a:xfrm flipV="1">
            <a:off x="6775704" y="3985641"/>
            <a:ext cx="914" cy="155448"/>
          </a:xfrm>
          <a:prstGeom prst="line">
            <a:avLst/>
          </a:prstGeom>
          <a:noFill/>
          <a:ln w="15875">
            <a:solidFill>
              <a:srgbClr val="0B1E4F"/>
            </a:solidFill>
            <a:prstDash val="solid"/>
          </a:ln>
        </p:spPr>
      </p:sp>
      <p:sp>
        <p:nvSpPr>
          <p:cNvPr id="47" name="Shape 45"/>
          <p:cNvSpPr/>
          <p:nvPr/>
        </p:nvSpPr>
        <p:spPr>
          <a:xfrm rot="5400000">
            <a:off x="7518654" y="3927348"/>
            <a:ext cx="116586" cy="116586"/>
          </a:xfrm>
          <a:prstGeom prst="triangle">
            <a:avLst/>
          </a:prstGeom>
          <a:solidFill>
            <a:srgbClr val="0B1E4F"/>
          </a:solidFill>
          <a:ln/>
        </p:spPr>
      </p:sp>
      <p:sp>
        <p:nvSpPr>
          <p:cNvPr id="48" name="Shape 46"/>
          <p:cNvSpPr/>
          <p:nvPr/>
        </p:nvSpPr>
        <p:spPr>
          <a:xfrm>
            <a:off x="6775704" y="3985641"/>
            <a:ext cx="754609" cy="914"/>
          </a:xfrm>
          <a:prstGeom prst="line">
            <a:avLst/>
          </a:prstGeom>
          <a:noFill/>
          <a:ln w="15875">
            <a:solidFill>
              <a:srgbClr val="0B1E4F"/>
            </a:solidFill>
            <a:prstDash val="solid"/>
          </a:ln>
        </p:spPr>
      </p:sp>
      <p:sp>
        <p:nvSpPr>
          <p:cNvPr id="49" name="Text 47"/>
          <p:cNvSpPr txBox="1"/>
          <p:nvPr/>
        </p:nvSpPr>
        <p:spPr>
          <a:xfrm>
            <a:off x="6858000" y="3747897"/>
            <a:ext cx="365760" cy="201168"/>
          </a:xfrm>
          <a:prstGeom prst="rect">
            <a:avLst/>
          </a:prstGeom>
          <a:noFill/>
          <a:ln/>
        </p:spPr>
        <p:txBody>
          <a:bodyPr wrap="square" lIns="0" tIns="0" rIns="0" bIns="0" rtlCol="0" anchor="t"/>
          <a:lstStyle/>
          <a:p>
            <a:pPr indent="0" marL="0">
              <a:buNone/>
            </a:pPr>
            <a:r>
              <a:rPr lang="en-US" sz="750" b="1" dirty="0">
                <a:solidFill>
                  <a:srgbClr val="E0393F"/>
                </a:solidFill>
                <a:latin typeface="Open Sans" pitchFamily="34" charset="0"/>
                <a:ea typeface="Open Sans" pitchFamily="34" charset="-122"/>
                <a:cs typeface="Open Sans" pitchFamily="34" charset="-120"/>
              </a:rPr>
              <a:t>NO</a:t>
            </a:r>
            <a:endParaRPr lang="en-US" sz="750" dirty="0"/>
          </a:p>
        </p:txBody>
      </p:sp>
      <p:sp>
        <p:nvSpPr>
          <p:cNvPr id="50" name="Shape 48"/>
          <p:cNvSpPr/>
          <p:nvPr/>
        </p:nvSpPr>
        <p:spPr>
          <a:xfrm>
            <a:off x="6967728" y="4333113"/>
            <a:ext cx="256032" cy="914"/>
          </a:xfrm>
          <a:prstGeom prst="line">
            <a:avLst/>
          </a:prstGeom>
          <a:noFill/>
          <a:ln w="15875">
            <a:solidFill>
              <a:srgbClr val="0B1E4F"/>
            </a:solidFill>
            <a:prstDash val="solid"/>
          </a:ln>
        </p:spPr>
      </p:sp>
      <p:sp>
        <p:nvSpPr>
          <p:cNvPr id="51" name="Shape 49"/>
          <p:cNvSpPr/>
          <p:nvPr/>
        </p:nvSpPr>
        <p:spPr>
          <a:xfrm>
            <a:off x="7223760" y="4333113"/>
            <a:ext cx="914" cy="365760"/>
          </a:xfrm>
          <a:prstGeom prst="line">
            <a:avLst/>
          </a:prstGeom>
          <a:noFill/>
          <a:ln w="15875">
            <a:solidFill>
              <a:srgbClr val="0B1E4F"/>
            </a:solidFill>
            <a:prstDash val="solid"/>
          </a:ln>
        </p:spPr>
      </p:sp>
      <p:sp>
        <p:nvSpPr>
          <p:cNvPr id="52" name="Shape 50"/>
          <p:cNvSpPr/>
          <p:nvPr/>
        </p:nvSpPr>
        <p:spPr>
          <a:xfrm rot="5400000">
            <a:off x="7518654" y="4640580"/>
            <a:ext cx="116586" cy="116586"/>
          </a:xfrm>
          <a:prstGeom prst="triangle">
            <a:avLst/>
          </a:prstGeom>
          <a:solidFill>
            <a:srgbClr val="0B1E4F"/>
          </a:solidFill>
          <a:ln/>
        </p:spPr>
      </p:sp>
      <p:sp>
        <p:nvSpPr>
          <p:cNvPr id="53" name="Shape 51"/>
          <p:cNvSpPr/>
          <p:nvPr/>
        </p:nvSpPr>
        <p:spPr>
          <a:xfrm>
            <a:off x="7223760" y="4698873"/>
            <a:ext cx="306553" cy="914"/>
          </a:xfrm>
          <a:prstGeom prst="line">
            <a:avLst/>
          </a:prstGeom>
          <a:noFill/>
          <a:ln w="15875">
            <a:solidFill>
              <a:srgbClr val="0B1E4F"/>
            </a:solidFill>
            <a:prstDash val="solid"/>
          </a:ln>
        </p:spPr>
      </p:sp>
      <p:sp>
        <p:nvSpPr>
          <p:cNvPr id="54" name="Text 52"/>
          <p:cNvSpPr txBox="1"/>
          <p:nvPr/>
        </p:nvSpPr>
        <p:spPr>
          <a:xfrm>
            <a:off x="7269480" y="4479417"/>
            <a:ext cx="365760" cy="201168"/>
          </a:xfrm>
          <a:prstGeom prst="rect">
            <a:avLst/>
          </a:prstGeom>
          <a:noFill/>
          <a:ln/>
        </p:spPr>
        <p:txBody>
          <a:bodyPr wrap="square" lIns="0" tIns="0" rIns="0" bIns="0" rtlCol="0" anchor="t"/>
          <a:lstStyle/>
          <a:p>
            <a:pPr indent="0" marL="0">
              <a:buNone/>
            </a:pPr>
            <a:r>
              <a:rPr lang="en-US" sz="750" b="1" dirty="0">
                <a:solidFill>
                  <a:srgbClr val="0B9468"/>
                </a:solidFill>
                <a:latin typeface="Open Sans" pitchFamily="34" charset="0"/>
                <a:ea typeface="Open Sans" pitchFamily="34" charset="-122"/>
                <a:cs typeface="Open Sans" pitchFamily="34" charset="-120"/>
              </a:rPr>
              <a:t>SÍ</a:t>
            </a:r>
            <a:endParaRPr lang="en-US" sz="750" dirty="0"/>
          </a:p>
        </p:txBody>
      </p:sp>
      <p:sp>
        <p:nvSpPr>
          <p:cNvPr id="55" name="Shape 53"/>
          <p:cNvSpPr/>
          <p:nvPr/>
        </p:nvSpPr>
        <p:spPr>
          <a:xfrm>
            <a:off x="8229600" y="3757041"/>
            <a:ext cx="914" cy="9144"/>
          </a:xfrm>
          <a:prstGeom prst="line">
            <a:avLst/>
          </a:prstGeom>
          <a:noFill/>
          <a:ln w="15875">
            <a:solidFill>
              <a:srgbClr val="0B1E4F"/>
            </a:solidFill>
            <a:prstDash val="solid"/>
          </a:ln>
        </p:spPr>
      </p:sp>
      <p:sp>
        <p:nvSpPr>
          <p:cNvPr id="56" name="Shape 54"/>
          <p:cNvSpPr/>
          <p:nvPr/>
        </p:nvSpPr>
        <p:spPr>
          <a:xfrm flipH="1">
            <a:off x="5760720" y="3766185"/>
            <a:ext cx="2468880" cy="914"/>
          </a:xfrm>
          <a:prstGeom prst="line">
            <a:avLst/>
          </a:prstGeom>
          <a:noFill/>
          <a:ln w="15875">
            <a:solidFill>
              <a:srgbClr val="0B1E4F"/>
            </a:solidFill>
            <a:prstDash val="solid"/>
          </a:ln>
        </p:spPr>
      </p:sp>
      <p:sp>
        <p:nvSpPr>
          <p:cNvPr id="57" name="Shape 55"/>
          <p:cNvSpPr/>
          <p:nvPr/>
        </p:nvSpPr>
        <p:spPr>
          <a:xfrm rot="10800000">
            <a:off x="5702427" y="3933063"/>
            <a:ext cx="116586" cy="116586"/>
          </a:xfrm>
          <a:prstGeom prst="triangle">
            <a:avLst/>
          </a:prstGeom>
          <a:solidFill>
            <a:srgbClr val="0B1E4F"/>
          </a:solidFill>
          <a:ln/>
        </p:spPr>
      </p:sp>
      <p:sp>
        <p:nvSpPr>
          <p:cNvPr id="58" name="Shape 56"/>
          <p:cNvSpPr/>
          <p:nvPr/>
        </p:nvSpPr>
        <p:spPr>
          <a:xfrm>
            <a:off x="5760720" y="3766185"/>
            <a:ext cx="914" cy="178537"/>
          </a:xfrm>
          <a:prstGeom prst="line">
            <a:avLst/>
          </a:prstGeom>
          <a:noFill/>
          <a:ln w="15875">
            <a:solidFill>
              <a:srgbClr val="0B1E4F"/>
            </a:solidFill>
            <a:prstDash val="solid"/>
          </a:ln>
        </p:spPr>
      </p:sp>
      <p:sp>
        <p:nvSpPr>
          <p:cNvPr id="59" name="Shape 57"/>
          <p:cNvSpPr/>
          <p:nvPr/>
        </p:nvSpPr>
        <p:spPr>
          <a:xfrm rot="10800000">
            <a:off x="8171307" y="5293233"/>
            <a:ext cx="116586" cy="116586"/>
          </a:xfrm>
          <a:prstGeom prst="triangle">
            <a:avLst/>
          </a:prstGeom>
          <a:solidFill>
            <a:srgbClr val="0B1E4F"/>
          </a:solidFill>
          <a:ln/>
        </p:spPr>
      </p:sp>
      <p:sp>
        <p:nvSpPr>
          <p:cNvPr id="60" name="Shape 58"/>
          <p:cNvSpPr/>
          <p:nvPr/>
        </p:nvSpPr>
        <p:spPr>
          <a:xfrm>
            <a:off x="8229600" y="4927473"/>
            <a:ext cx="914" cy="377419"/>
          </a:xfrm>
          <a:prstGeom prst="line">
            <a:avLst/>
          </a:prstGeom>
          <a:noFill/>
          <a:ln w="15875">
            <a:solidFill>
              <a:srgbClr val="0B1E4F"/>
            </a:solidFill>
            <a:prstDash val="solid"/>
          </a:ln>
        </p:spPr>
      </p:sp>
      <p:sp>
        <p:nvSpPr>
          <p:cNvPr id="61" name="Shape 59"/>
          <p:cNvSpPr/>
          <p:nvPr/>
        </p:nvSpPr>
        <p:spPr>
          <a:xfrm>
            <a:off x="8037576" y="5409819"/>
            <a:ext cx="384048" cy="384048"/>
          </a:xfrm>
          <a:prstGeom prst="diamond">
            <a:avLst/>
          </a:prstGeom>
          <a:solidFill>
            <a:srgbClr val="FEF9C3"/>
          </a:solidFill>
          <a:ln w="15875">
            <a:solidFill>
              <a:srgbClr val="CA8A04"/>
            </a:solidFill>
            <a:prstDash val="solid"/>
          </a:ln>
        </p:spPr>
      </p:sp>
      <p:sp>
        <p:nvSpPr>
          <p:cNvPr id="62" name="Text 60"/>
          <p:cNvSpPr txBox="1"/>
          <p:nvPr/>
        </p:nvSpPr>
        <p:spPr>
          <a:xfrm>
            <a:off x="6858000" y="5446395"/>
            <a:ext cx="1234440" cy="310896"/>
          </a:xfrm>
          <a:prstGeom prst="rect">
            <a:avLst/>
          </a:prstGeom>
          <a:noFill/>
          <a:ln/>
        </p:spPr>
        <p:txBody>
          <a:bodyPr wrap="square" lIns="0" tIns="0" rIns="0" bIns="0" rtlCol="0" anchor="ctr"/>
          <a:lstStyle/>
          <a:p>
            <a:pPr algn="l" indent="0" marL="0">
              <a:buNone/>
            </a:pPr>
            <a:r>
              <a:rPr lang="en-US" sz="750" i="1" dirty="0">
                <a:solidFill>
                  <a:srgbClr val="0E1B3D"/>
                </a:solidFill>
                <a:latin typeface="Open Sans" pitchFamily="34" charset="0"/>
                <a:ea typeface="Open Sans" pitchFamily="34" charset="-122"/>
                <a:cs typeface="Open Sans" pitchFamily="34" charset="-120"/>
              </a:rPr>
              <a:t>¿Existe observador en el puerto?</a:t>
            </a:r>
            <a:endParaRPr lang="en-US" sz="750" dirty="0"/>
          </a:p>
        </p:txBody>
      </p:sp>
      <p:sp>
        <p:nvSpPr>
          <p:cNvPr id="63" name="Shape 61"/>
          <p:cNvSpPr/>
          <p:nvPr/>
        </p:nvSpPr>
        <p:spPr>
          <a:xfrm>
            <a:off x="8421624" y="5601843"/>
            <a:ext cx="173736" cy="914"/>
          </a:xfrm>
          <a:prstGeom prst="line">
            <a:avLst/>
          </a:prstGeom>
          <a:noFill/>
          <a:ln w="15875">
            <a:solidFill>
              <a:srgbClr val="0B1E4F"/>
            </a:solidFill>
            <a:prstDash val="solid"/>
          </a:ln>
        </p:spPr>
      </p:sp>
      <p:sp>
        <p:nvSpPr>
          <p:cNvPr id="64" name="Shape 62"/>
          <p:cNvSpPr/>
          <p:nvPr/>
        </p:nvSpPr>
        <p:spPr>
          <a:xfrm flipV="1">
            <a:off x="8595360" y="5236083"/>
            <a:ext cx="914" cy="365760"/>
          </a:xfrm>
          <a:prstGeom prst="line">
            <a:avLst/>
          </a:prstGeom>
          <a:noFill/>
          <a:ln w="15875">
            <a:solidFill>
              <a:srgbClr val="0B1E4F"/>
            </a:solidFill>
            <a:prstDash val="solid"/>
          </a:ln>
        </p:spPr>
      </p:sp>
      <p:sp>
        <p:nvSpPr>
          <p:cNvPr id="65" name="Shape 63"/>
          <p:cNvSpPr/>
          <p:nvPr/>
        </p:nvSpPr>
        <p:spPr>
          <a:xfrm rot="5400000">
            <a:off x="8679942" y="5177790"/>
            <a:ext cx="116586" cy="116586"/>
          </a:xfrm>
          <a:prstGeom prst="triangle">
            <a:avLst/>
          </a:prstGeom>
          <a:solidFill>
            <a:srgbClr val="0B1E4F"/>
          </a:solidFill>
          <a:ln/>
        </p:spPr>
      </p:sp>
      <p:sp>
        <p:nvSpPr>
          <p:cNvPr id="66" name="Shape 64"/>
          <p:cNvSpPr/>
          <p:nvPr/>
        </p:nvSpPr>
        <p:spPr>
          <a:xfrm>
            <a:off x="8595360" y="5236083"/>
            <a:ext cx="96241" cy="914"/>
          </a:xfrm>
          <a:prstGeom prst="line">
            <a:avLst/>
          </a:prstGeom>
          <a:noFill/>
          <a:ln w="15875">
            <a:solidFill>
              <a:srgbClr val="0B1E4F"/>
            </a:solidFill>
            <a:prstDash val="solid"/>
          </a:ln>
        </p:spPr>
      </p:sp>
      <p:sp>
        <p:nvSpPr>
          <p:cNvPr id="67" name="Text 65"/>
          <p:cNvSpPr txBox="1"/>
          <p:nvPr/>
        </p:nvSpPr>
        <p:spPr>
          <a:xfrm>
            <a:off x="8641080" y="5382387"/>
            <a:ext cx="274320" cy="182880"/>
          </a:xfrm>
          <a:prstGeom prst="rect">
            <a:avLst/>
          </a:prstGeom>
          <a:noFill/>
          <a:ln/>
        </p:spPr>
        <p:txBody>
          <a:bodyPr wrap="square" lIns="0" tIns="0" rIns="0" bIns="0" rtlCol="0" anchor="t"/>
          <a:lstStyle/>
          <a:p>
            <a:pPr indent="0" marL="0">
              <a:buNone/>
            </a:pPr>
            <a:r>
              <a:rPr lang="en-US" sz="750" b="1" dirty="0">
                <a:solidFill>
                  <a:srgbClr val="E0393F"/>
                </a:solidFill>
                <a:latin typeface="Open Sans" pitchFamily="34" charset="0"/>
                <a:ea typeface="Open Sans" pitchFamily="34" charset="-122"/>
                <a:cs typeface="Open Sans" pitchFamily="34" charset="-120"/>
              </a:rPr>
              <a:t>NO</a:t>
            </a:r>
            <a:endParaRPr lang="en-US" sz="750" dirty="0"/>
          </a:p>
        </p:txBody>
      </p:sp>
      <p:sp>
        <p:nvSpPr>
          <p:cNvPr id="68" name="Shape 66"/>
          <p:cNvSpPr/>
          <p:nvPr/>
        </p:nvSpPr>
        <p:spPr>
          <a:xfrm>
            <a:off x="8796528" y="5080635"/>
            <a:ext cx="310896" cy="310896"/>
          </a:xfrm>
          <a:prstGeom prst="ellipse">
            <a:avLst/>
          </a:prstGeom>
          <a:solidFill>
            <a:srgbClr val="FCA5A5"/>
          </a:solidFill>
          <a:ln w="28575">
            <a:solidFill>
              <a:srgbClr val="B91C1C"/>
            </a:solidFill>
            <a:prstDash val="solid"/>
          </a:ln>
        </p:spPr>
      </p:sp>
      <p:sp>
        <p:nvSpPr>
          <p:cNvPr id="69" name="Text 67"/>
          <p:cNvSpPr txBox="1"/>
          <p:nvPr/>
        </p:nvSpPr>
        <p:spPr>
          <a:xfrm>
            <a:off x="9162288" y="5053203"/>
            <a:ext cx="2011680" cy="384048"/>
          </a:xfrm>
          <a:prstGeom prst="rect">
            <a:avLst/>
          </a:prstGeom>
          <a:noFill/>
          <a:ln/>
        </p:spPr>
        <p:txBody>
          <a:bodyPr wrap="square" lIns="0" tIns="0" rIns="0" bIns="0" rtlCol="0" anchor="ctr"/>
          <a:lstStyle/>
          <a:p>
            <a:pPr indent="0" marL="0">
              <a:buNone/>
            </a:pPr>
            <a:r>
              <a:rPr lang="en-US" sz="750" b="1" dirty="0">
                <a:solidFill>
                  <a:srgbClr val="E0393F"/>
                </a:solidFill>
                <a:latin typeface="Open Sans" pitchFamily="34" charset="0"/>
                <a:ea typeface="Open Sans" pitchFamily="34" charset="-122"/>
                <a:cs typeface="Open Sans" pitchFamily="34" charset="-120"/>
              </a:rPr>
              <a:t>Desembarque omitido de la estadística oficial</a:t>
            </a:r>
            <a:endParaRPr lang="en-US" sz="750" dirty="0"/>
          </a:p>
        </p:txBody>
      </p:sp>
      <p:sp>
        <p:nvSpPr>
          <p:cNvPr id="70" name="Shape 68"/>
          <p:cNvSpPr/>
          <p:nvPr/>
        </p:nvSpPr>
        <p:spPr>
          <a:xfrm>
            <a:off x="8229600" y="5793867"/>
            <a:ext cx="914" cy="173736"/>
          </a:xfrm>
          <a:prstGeom prst="line">
            <a:avLst/>
          </a:prstGeom>
          <a:noFill/>
          <a:ln w="15875">
            <a:solidFill>
              <a:srgbClr val="0B1E4F"/>
            </a:solidFill>
            <a:prstDash val="solid"/>
          </a:ln>
        </p:spPr>
      </p:sp>
      <p:sp>
        <p:nvSpPr>
          <p:cNvPr id="71" name="Shape 69"/>
          <p:cNvSpPr/>
          <p:nvPr/>
        </p:nvSpPr>
        <p:spPr>
          <a:xfrm rot="5400000">
            <a:off x="8414766" y="5909310"/>
            <a:ext cx="116586" cy="116586"/>
          </a:xfrm>
          <a:prstGeom prst="triangle">
            <a:avLst/>
          </a:prstGeom>
          <a:solidFill>
            <a:srgbClr val="0B1E4F"/>
          </a:solidFill>
          <a:ln/>
        </p:spPr>
      </p:sp>
      <p:sp>
        <p:nvSpPr>
          <p:cNvPr id="72" name="Shape 70"/>
          <p:cNvSpPr/>
          <p:nvPr/>
        </p:nvSpPr>
        <p:spPr>
          <a:xfrm>
            <a:off x="8229600" y="5967603"/>
            <a:ext cx="196825" cy="914"/>
          </a:xfrm>
          <a:prstGeom prst="line">
            <a:avLst/>
          </a:prstGeom>
          <a:noFill/>
          <a:ln w="15875">
            <a:solidFill>
              <a:srgbClr val="0B1E4F"/>
            </a:solidFill>
            <a:prstDash val="solid"/>
          </a:ln>
        </p:spPr>
      </p:sp>
      <p:sp>
        <p:nvSpPr>
          <p:cNvPr id="73" name="Text 71"/>
          <p:cNvSpPr txBox="1"/>
          <p:nvPr/>
        </p:nvSpPr>
        <p:spPr>
          <a:xfrm>
            <a:off x="8284464" y="5748147"/>
            <a:ext cx="274320" cy="182880"/>
          </a:xfrm>
          <a:prstGeom prst="rect">
            <a:avLst/>
          </a:prstGeom>
          <a:noFill/>
          <a:ln/>
        </p:spPr>
        <p:txBody>
          <a:bodyPr wrap="square" lIns="0" tIns="0" rIns="0" bIns="0" rtlCol="0" anchor="t"/>
          <a:lstStyle/>
          <a:p>
            <a:pPr indent="0" marL="0">
              <a:buNone/>
            </a:pPr>
            <a:r>
              <a:rPr lang="en-US" sz="750" b="1" dirty="0">
                <a:solidFill>
                  <a:srgbClr val="0B9468"/>
                </a:solidFill>
                <a:latin typeface="Open Sans" pitchFamily="34" charset="0"/>
                <a:ea typeface="Open Sans" pitchFamily="34" charset="-122"/>
                <a:cs typeface="Open Sans" pitchFamily="34" charset="-120"/>
              </a:rPr>
              <a:t>SÍ</a:t>
            </a:r>
            <a:endParaRPr lang="en-US" sz="750" dirty="0"/>
          </a:p>
        </p:txBody>
      </p:sp>
      <p:sp>
        <p:nvSpPr>
          <p:cNvPr id="74" name="Shape 72"/>
          <p:cNvSpPr/>
          <p:nvPr/>
        </p:nvSpPr>
        <p:spPr>
          <a:xfrm>
            <a:off x="8531352" y="5757291"/>
            <a:ext cx="1051560" cy="420624"/>
          </a:xfrm>
          <a:prstGeom prst="roundRect">
            <a:avLst>
              <a:gd name="adj" fmla="val 21739"/>
            </a:avLst>
          </a:prstGeom>
          <a:solidFill>
            <a:srgbClr val="FFFFFF"/>
          </a:solidFill>
          <a:ln w="15875">
            <a:solidFill>
              <a:srgbClr val="008FB0"/>
            </a:solidFill>
            <a:prstDash val="solid"/>
          </a:ln>
          <a:effectLst>
            <a:outerShdw sx="100000" sy="100000" kx="0" ky="0" algn="bl" rotWithShape="0" blurRad="177800" dist="38100" dir="5400000">
              <a:srgbClr val="0B1E4F">
                <a:alpha val="8000"/>
              </a:srgbClr>
            </a:outerShdw>
          </a:effectLst>
        </p:spPr>
      </p:sp>
      <p:sp>
        <p:nvSpPr>
          <p:cNvPr id="75" name="Text 73"/>
          <p:cNvSpPr txBox="1"/>
          <p:nvPr/>
        </p:nvSpPr>
        <p:spPr>
          <a:xfrm>
            <a:off x="8604504" y="5757291"/>
            <a:ext cx="905256" cy="420624"/>
          </a:xfrm>
          <a:prstGeom prst="rect">
            <a:avLst/>
          </a:prstGeom>
          <a:noFill/>
          <a:ln/>
        </p:spPr>
        <p:txBody>
          <a:bodyPr wrap="square" lIns="0" tIns="0" rIns="0" bIns="0" rtlCol="0" anchor="ctr"/>
          <a:lstStyle/>
          <a:p>
            <a:pPr algn="ctr" indent="0" marL="0">
              <a:buNone/>
            </a:pPr>
            <a:r>
              <a:rPr lang="en-US" sz="750" dirty="0">
                <a:solidFill>
                  <a:srgbClr val="0E1B3D"/>
                </a:solidFill>
                <a:latin typeface="Open Sans" pitchFamily="34" charset="0"/>
                <a:ea typeface="Open Sans" pitchFamily="34" charset="-122"/>
                <a:cs typeface="Open Sans" pitchFamily="34" charset="-120"/>
              </a:rPr>
              <a:t>Encuestar al patrón y tomar datos</a:t>
            </a:r>
            <a:endParaRPr lang="en-US" sz="750" dirty="0"/>
          </a:p>
        </p:txBody>
      </p:sp>
      <p:sp>
        <p:nvSpPr>
          <p:cNvPr id="76" name="Shape 74"/>
          <p:cNvSpPr/>
          <p:nvPr/>
        </p:nvSpPr>
        <p:spPr>
          <a:xfrm rot="5400000">
            <a:off x="9630918" y="5909310"/>
            <a:ext cx="116586" cy="116586"/>
          </a:xfrm>
          <a:prstGeom prst="triangle">
            <a:avLst/>
          </a:prstGeom>
          <a:solidFill>
            <a:srgbClr val="0B1E4F"/>
          </a:solidFill>
          <a:ln/>
        </p:spPr>
      </p:sp>
      <p:sp>
        <p:nvSpPr>
          <p:cNvPr id="77" name="Shape 75"/>
          <p:cNvSpPr/>
          <p:nvPr/>
        </p:nvSpPr>
        <p:spPr>
          <a:xfrm>
            <a:off x="9582912" y="5967603"/>
            <a:ext cx="59665" cy="914"/>
          </a:xfrm>
          <a:prstGeom prst="line">
            <a:avLst/>
          </a:prstGeom>
          <a:noFill/>
          <a:ln w="15875">
            <a:solidFill>
              <a:srgbClr val="0B1E4F"/>
            </a:solidFill>
            <a:prstDash val="solid"/>
          </a:ln>
        </p:spPr>
      </p:sp>
      <p:sp>
        <p:nvSpPr>
          <p:cNvPr id="78" name="Shape 76"/>
          <p:cNvSpPr/>
          <p:nvPr/>
        </p:nvSpPr>
        <p:spPr>
          <a:xfrm>
            <a:off x="9747504" y="5757291"/>
            <a:ext cx="987552" cy="420624"/>
          </a:xfrm>
          <a:prstGeom prst="roundRect">
            <a:avLst>
              <a:gd name="adj" fmla="val 21739"/>
            </a:avLst>
          </a:prstGeom>
          <a:solidFill>
            <a:srgbClr val="FFFFFF"/>
          </a:solidFill>
          <a:ln w="15875">
            <a:solidFill>
              <a:srgbClr val="008FB0"/>
            </a:solidFill>
            <a:prstDash val="solid"/>
          </a:ln>
          <a:effectLst>
            <a:outerShdw sx="100000" sy="100000" kx="0" ky="0" algn="bl" rotWithShape="0" blurRad="177800" dist="38100" dir="5400000">
              <a:srgbClr val="0B1E4F">
                <a:alpha val="8000"/>
              </a:srgbClr>
            </a:outerShdw>
          </a:effectLst>
        </p:spPr>
      </p:sp>
      <p:sp>
        <p:nvSpPr>
          <p:cNvPr id="79" name="Text 77"/>
          <p:cNvSpPr txBox="1"/>
          <p:nvPr/>
        </p:nvSpPr>
        <p:spPr>
          <a:xfrm>
            <a:off x="9820656" y="5757291"/>
            <a:ext cx="841248" cy="420624"/>
          </a:xfrm>
          <a:prstGeom prst="rect">
            <a:avLst/>
          </a:prstGeom>
          <a:noFill/>
          <a:ln/>
        </p:spPr>
        <p:txBody>
          <a:bodyPr wrap="square" lIns="0" tIns="0" rIns="0" bIns="0" rtlCol="0" anchor="ctr"/>
          <a:lstStyle/>
          <a:p>
            <a:pPr algn="ctr" indent="0" marL="0">
              <a:buNone/>
            </a:pPr>
            <a:r>
              <a:rPr lang="en-US" sz="750" dirty="0">
                <a:solidFill>
                  <a:srgbClr val="0E1B3D"/>
                </a:solidFill>
                <a:latin typeface="Open Sans" pitchFamily="34" charset="0"/>
                <a:ea typeface="Open Sans" pitchFamily="34" charset="-122"/>
                <a:cs typeface="Open Sans" pitchFamily="34" charset="-120"/>
              </a:rPr>
              <a:t>Digitar en Excel/IMARSIS</a:t>
            </a:r>
            <a:endParaRPr lang="en-US" sz="750" dirty="0"/>
          </a:p>
        </p:txBody>
      </p:sp>
      <p:sp>
        <p:nvSpPr>
          <p:cNvPr id="80" name="Shape 78"/>
          <p:cNvSpPr/>
          <p:nvPr/>
        </p:nvSpPr>
        <p:spPr>
          <a:xfrm rot="5400000">
            <a:off x="10837926" y="5909310"/>
            <a:ext cx="116586" cy="116586"/>
          </a:xfrm>
          <a:prstGeom prst="triangle">
            <a:avLst/>
          </a:prstGeom>
          <a:solidFill>
            <a:srgbClr val="0B1E4F"/>
          </a:solidFill>
          <a:ln/>
        </p:spPr>
      </p:sp>
      <p:sp>
        <p:nvSpPr>
          <p:cNvPr id="81" name="Shape 79"/>
          <p:cNvSpPr/>
          <p:nvPr/>
        </p:nvSpPr>
        <p:spPr>
          <a:xfrm>
            <a:off x="10735056" y="5967603"/>
            <a:ext cx="114529" cy="914"/>
          </a:xfrm>
          <a:prstGeom prst="line">
            <a:avLst/>
          </a:prstGeom>
          <a:noFill/>
          <a:ln w="15875">
            <a:solidFill>
              <a:srgbClr val="0B1E4F"/>
            </a:solidFill>
            <a:prstDash val="solid"/>
          </a:ln>
        </p:spPr>
      </p:sp>
      <p:sp>
        <p:nvSpPr>
          <p:cNvPr id="82" name="Shape 80"/>
          <p:cNvSpPr/>
          <p:nvPr/>
        </p:nvSpPr>
        <p:spPr>
          <a:xfrm>
            <a:off x="10954512" y="5812155"/>
            <a:ext cx="310896" cy="310896"/>
          </a:xfrm>
          <a:prstGeom prst="ellipse">
            <a:avLst/>
          </a:prstGeom>
          <a:solidFill>
            <a:srgbClr val="FCA5A5"/>
          </a:solidFill>
          <a:ln w="28575">
            <a:solidFill>
              <a:srgbClr val="B91C1C"/>
            </a:solidFill>
            <a:prstDash val="solid"/>
          </a:ln>
        </p:spPr>
      </p:sp>
      <p:sp>
        <p:nvSpPr>
          <p:cNvPr id="83" name="Text 81"/>
          <p:cNvSpPr txBox="1"/>
          <p:nvPr/>
        </p:nvSpPr>
        <p:spPr>
          <a:xfrm>
            <a:off x="10789920" y="5492115"/>
            <a:ext cx="822960" cy="274320"/>
          </a:xfrm>
          <a:prstGeom prst="rect">
            <a:avLst/>
          </a:prstGeom>
          <a:noFill/>
          <a:ln/>
        </p:spPr>
        <p:txBody>
          <a:bodyPr wrap="square" lIns="0" tIns="0" rIns="0" bIns="0" rtlCol="0" anchor="b"/>
          <a:lstStyle/>
          <a:p>
            <a:pPr algn="ctr" indent="0" marL="0">
              <a:buNone/>
            </a:pPr>
            <a:r>
              <a:rPr lang="en-US" sz="650" dirty="0">
                <a:solidFill>
                  <a:srgbClr val="4A5878"/>
                </a:solidFill>
                <a:latin typeface="Open Sans" pitchFamily="34" charset="0"/>
                <a:ea typeface="Open Sans" pitchFamily="34" charset="-122"/>
                <a:cs typeface="Open Sans" pitchFamily="34" charset="-120"/>
              </a:rPr>
              <a:t>Registro finalizado con retraso</a:t>
            </a:r>
            <a:endParaRPr lang="en-US" sz="650" dirty="0"/>
          </a:p>
        </p:txBody>
      </p:sp>
      <p:sp>
        <p:nvSpPr>
          <p:cNvPr id="84" name="Shape 82"/>
          <p:cNvSpPr/>
          <p:nvPr/>
        </p:nvSpPr>
        <p:spPr>
          <a:xfrm>
            <a:off x="1828800" y="5217795"/>
            <a:ext cx="4846320" cy="768096"/>
          </a:xfrm>
          <a:prstGeom prst="roundRect">
            <a:avLst>
              <a:gd name="adj" fmla="val 14286"/>
            </a:avLst>
          </a:prstGeom>
          <a:solidFill>
            <a:srgbClr val="FFFFFF"/>
          </a:solidFill>
          <a:ln w="12700">
            <a:solidFill>
              <a:srgbClr val="FF5A5F"/>
            </a:solidFill>
            <a:prstDash val="solid"/>
          </a:ln>
        </p:spPr>
      </p:sp>
      <p:pic>
        <p:nvPicPr>
          <p:cNvPr id="85" name="Image 0" descr="preencoded.png">    </p:cNvPr>
          <p:cNvPicPr>
            <a:picLocks noChangeAspect="1"/>
          </p:cNvPicPr>
          <p:nvPr/>
        </p:nvPicPr>
        <p:blipFill>
          <a:blip r:embed="rId2"/>
          <a:stretch>
            <a:fillRect/>
          </a:stretch>
        </p:blipFill>
        <p:spPr>
          <a:xfrm>
            <a:off x="1965960" y="5418963"/>
            <a:ext cx="365760" cy="365760"/>
          </a:xfrm>
          <a:prstGeom prst="rect">
            <a:avLst/>
          </a:prstGeom>
        </p:spPr>
      </p:pic>
      <p:sp>
        <p:nvSpPr>
          <p:cNvPr id="86" name="Text 83"/>
          <p:cNvSpPr txBox="1"/>
          <p:nvPr/>
        </p:nvSpPr>
        <p:spPr>
          <a:xfrm>
            <a:off x="2468880" y="5217795"/>
            <a:ext cx="4114800" cy="768096"/>
          </a:xfrm>
          <a:prstGeom prst="rect">
            <a:avLst/>
          </a:prstGeom>
          <a:noFill/>
          <a:ln/>
        </p:spPr>
        <p:txBody>
          <a:bodyPr wrap="square" lIns="0" tIns="0" rIns="0" bIns="0" rtlCol="0" anchor="ctr"/>
          <a:lstStyle/>
          <a:p>
            <a:pPr indent="0" marL="0">
              <a:buNone/>
            </a:pPr>
            <a:r>
              <a:rPr lang="en-US" sz="950" b="1" dirty="0">
                <a:solidFill>
                  <a:srgbClr val="E0393F"/>
                </a:solidFill>
                <a:latin typeface="Open Sans" pitchFamily="34" charset="0"/>
                <a:ea typeface="Open Sans" pitchFamily="34" charset="-122"/>
                <a:cs typeface="Open Sans" pitchFamily="34" charset="-120"/>
              </a:rPr>
              <a:t>Resultado: </a:t>
            </a:r>
            <a:pPr indent="0" marL="0">
              <a:buNone/>
            </a:pPr>
            <a:r>
              <a:rPr lang="en-US" sz="950" dirty="0">
                <a:solidFill>
                  <a:srgbClr val="0E1B3D"/>
                </a:solidFill>
                <a:latin typeface="Open Sans" pitchFamily="34" charset="0"/>
                <a:ea typeface="Open Sans" pitchFamily="34" charset="-122"/>
                <a:cs typeface="Open Sans" pitchFamily="34" charset="-120"/>
              </a:rPr>
              <a:t>registro finalizado con retraso, datos triplicados y desembarques omitidos cuando no hay observador.</a:t>
            </a:r>
            <a:endParaRPr lang="en-US" sz="950" dirty="0"/>
          </a:p>
        </p:txBody>
      </p:sp>
      <p:sp>
        <p:nvSpPr>
          <p:cNvPr id="87" name="Text 8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88" name="Text 8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4411066" cy="274320"/>
          </a:xfrm>
          <a:prstGeom prst="roundRect">
            <a:avLst>
              <a:gd name="adj" fmla="val 50000"/>
            </a:avLst>
          </a:prstGeom>
          <a:solidFill>
            <a:srgbClr val="00B8D4"/>
          </a:solidFill>
          <a:ln/>
        </p:spPr>
      </p:sp>
      <p:sp>
        <p:nvSpPr>
          <p:cNvPr id="3" name="Text 1"/>
          <p:cNvSpPr txBox="1"/>
          <p:nvPr/>
        </p:nvSpPr>
        <p:spPr>
          <a:xfrm>
            <a:off x="548640" y="292608"/>
            <a:ext cx="441106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3.2.2 MODELO DE PROCESOS (BPMN 2.0)</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Proceso propuesto (TO-BE): una sola captura digital</a:t>
            </a:r>
            <a:endParaRPr lang="en-US" sz="2400" dirty="0"/>
          </a:p>
        </p:txBody>
      </p:sp>
      <p:sp>
        <p:nvSpPr>
          <p:cNvPr id="5" name="Shape 3"/>
          <p:cNvSpPr/>
          <p:nvPr/>
        </p:nvSpPr>
        <p:spPr>
          <a:xfrm>
            <a:off x="548640" y="1188720"/>
            <a:ext cx="11064240" cy="1213866"/>
          </a:xfrm>
          <a:prstGeom prst="roundRect">
            <a:avLst>
              <a:gd name="adj" fmla="val 7533"/>
            </a:avLst>
          </a:prstGeom>
          <a:solidFill>
            <a:srgbClr val="FFF1DE"/>
          </a:solidFill>
          <a:ln/>
        </p:spPr>
      </p:sp>
      <p:sp>
        <p:nvSpPr>
          <p:cNvPr id="6" name="Shape 4"/>
          <p:cNvSpPr/>
          <p:nvPr/>
        </p:nvSpPr>
        <p:spPr>
          <a:xfrm>
            <a:off x="548640" y="1188720"/>
            <a:ext cx="1188720" cy="1213866"/>
          </a:xfrm>
          <a:prstGeom prst="roundRect">
            <a:avLst>
              <a:gd name="adj" fmla="val 7692"/>
            </a:avLst>
          </a:prstGeom>
          <a:solidFill>
            <a:srgbClr val="E06F00"/>
          </a:solidFill>
          <a:ln/>
        </p:spPr>
      </p:sp>
      <p:sp>
        <p:nvSpPr>
          <p:cNvPr id="7" name="Text 5"/>
          <p:cNvSpPr txBox="1"/>
          <p:nvPr/>
        </p:nvSpPr>
        <p:spPr>
          <a:xfrm>
            <a:off x="603504" y="118872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Patrón / Armador</a:t>
            </a:r>
            <a:endParaRPr lang="en-US" sz="900" dirty="0"/>
          </a:p>
        </p:txBody>
      </p:sp>
      <p:sp>
        <p:nvSpPr>
          <p:cNvPr id="8" name="Shape 6"/>
          <p:cNvSpPr/>
          <p:nvPr/>
        </p:nvSpPr>
        <p:spPr>
          <a:xfrm>
            <a:off x="548640" y="2457450"/>
            <a:ext cx="11064240" cy="1213866"/>
          </a:xfrm>
          <a:prstGeom prst="roundRect">
            <a:avLst>
              <a:gd name="adj" fmla="val 7533"/>
            </a:avLst>
          </a:prstGeom>
          <a:solidFill>
            <a:srgbClr val="EAF1FF"/>
          </a:solidFill>
          <a:ln/>
        </p:spPr>
      </p:sp>
      <p:sp>
        <p:nvSpPr>
          <p:cNvPr id="9" name="Shape 7"/>
          <p:cNvSpPr/>
          <p:nvPr/>
        </p:nvSpPr>
        <p:spPr>
          <a:xfrm>
            <a:off x="548640" y="2457450"/>
            <a:ext cx="1188720" cy="1213866"/>
          </a:xfrm>
          <a:prstGeom prst="roundRect">
            <a:avLst>
              <a:gd name="adj" fmla="val 7692"/>
            </a:avLst>
          </a:prstGeom>
          <a:solidFill>
            <a:srgbClr val="0B5FFF"/>
          </a:solidFill>
          <a:ln/>
        </p:spPr>
      </p:sp>
      <p:sp>
        <p:nvSpPr>
          <p:cNvPr id="10" name="Text 8"/>
          <p:cNvSpPr txBox="1"/>
          <p:nvPr/>
        </p:nvSpPr>
        <p:spPr>
          <a:xfrm>
            <a:off x="603504" y="245745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Registrador del DPA</a:t>
            </a:r>
            <a:endParaRPr lang="en-US" sz="900" dirty="0"/>
          </a:p>
        </p:txBody>
      </p:sp>
      <p:sp>
        <p:nvSpPr>
          <p:cNvPr id="11" name="Shape 9"/>
          <p:cNvSpPr/>
          <p:nvPr/>
        </p:nvSpPr>
        <p:spPr>
          <a:xfrm>
            <a:off x="548640" y="3726180"/>
            <a:ext cx="11064240" cy="1213866"/>
          </a:xfrm>
          <a:prstGeom prst="roundRect">
            <a:avLst>
              <a:gd name="adj" fmla="val 7533"/>
            </a:avLst>
          </a:prstGeom>
          <a:solidFill>
            <a:srgbClr val="E8ECF7"/>
          </a:solidFill>
          <a:ln/>
        </p:spPr>
      </p:sp>
      <p:sp>
        <p:nvSpPr>
          <p:cNvPr id="12" name="Shape 10"/>
          <p:cNvSpPr/>
          <p:nvPr/>
        </p:nvSpPr>
        <p:spPr>
          <a:xfrm>
            <a:off x="548640" y="3726180"/>
            <a:ext cx="1188720" cy="1213866"/>
          </a:xfrm>
          <a:prstGeom prst="roundRect">
            <a:avLst>
              <a:gd name="adj" fmla="val 7692"/>
            </a:avLst>
          </a:prstGeom>
          <a:solidFill>
            <a:srgbClr val="0B1E4F"/>
          </a:solidFill>
          <a:ln/>
        </p:spPr>
      </p:sp>
      <p:sp>
        <p:nvSpPr>
          <p:cNvPr id="13" name="Text 11"/>
          <p:cNvSpPr txBox="1"/>
          <p:nvPr/>
        </p:nvSpPr>
        <p:spPr>
          <a:xfrm>
            <a:off x="603504" y="372618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Sistema SIRDEPA (servidor / nube)</a:t>
            </a:r>
            <a:endParaRPr lang="en-US" sz="900" dirty="0"/>
          </a:p>
        </p:txBody>
      </p:sp>
      <p:sp>
        <p:nvSpPr>
          <p:cNvPr id="14" name="Shape 12"/>
          <p:cNvSpPr/>
          <p:nvPr/>
        </p:nvSpPr>
        <p:spPr>
          <a:xfrm>
            <a:off x="548640" y="4994910"/>
            <a:ext cx="11064240" cy="1213866"/>
          </a:xfrm>
          <a:prstGeom prst="roundRect">
            <a:avLst>
              <a:gd name="adj" fmla="val 7533"/>
            </a:avLst>
          </a:prstGeom>
          <a:solidFill>
            <a:srgbClr val="E2F8EF"/>
          </a:solidFill>
          <a:ln/>
        </p:spPr>
      </p:sp>
      <p:sp>
        <p:nvSpPr>
          <p:cNvPr id="15" name="Shape 13"/>
          <p:cNvSpPr/>
          <p:nvPr/>
        </p:nvSpPr>
        <p:spPr>
          <a:xfrm>
            <a:off x="548640" y="4994910"/>
            <a:ext cx="1188720" cy="1213866"/>
          </a:xfrm>
          <a:prstGeom prst="roundRect">
            <a:avLst>
              <a:gd name="adj" fmla="val 7692"/>
            </a:avLst>
          </a:prstGeom>
          <a:solidFill>
            <a:srgbClr val="0B9468"/>
          </a:solidFill>
          <a:ln/>
        </p:spPr>
      </p:sp>
      <p:sp>
        <p:nvSpPr>
          <p:cNvPr id="16" name="Text 14"/>
          <p:cNvSpPr txBox="1"/>
          <p:nvPr/>
        </p:nvSpPr>
        <p:spPr>
          <a:xfrm>
            <a:off x="603504" y="4994910"/>
            <a:ext cx="1078992" cy="1213866"/>
          </a:xfrm>
          <a:prstGeom prst="rect">
            <a:avLst/>
          </a:prstGeom>
          <a:noFill/>
          <a:ln/>
        </p:spPr>
        <p:txBody>
          <a:bodyPr wrap="square" lIns="0" tIns="0" rIns="0" bIns="0" rtlCol="0" anchor="ctr"/>
          <a:lstStyle/>
          <a:p>
            <a:pPr algn="ctr" indent="0" marL="0">
              <a:buNone/>
            </a:pPr>
            <a:r>
              <a:rPr lang="en-US" sz="900" b="1" dirty="0">
                <a:solidFill>
                  <a:srgbClr val="FFFFFF"/>
                </a:solidFill>
                <a:latin typeface="Montserrat" pitchFamily="34" charset="0"/>
                <a:ea typeface="Montserrat" pitchFamily="34" charset="-122"/>
                <a:cs typeface="Montserrat" pitchFamily="34" charset="-120"/>
              </a:rPr>
              <a:t>Fiscalizador / Comerciante / IMARPE</a:t>
            </a:r>
            <a:endParaRPr lang="en-US" sz="900" dirty="0"/>
          </a:p>
        </p:txBody>
      </p:sp>
      <p:sp>
        <p:nvSpPr>
          <p:cNvPr id="17" name="Shape 15"/>
          <p:cNvSpPr/>
          <p:nvPr/>
        </p:nvSpPr>
        <p:spPr>
          <a:xfrm>
            <a:off x="1856232" y="1640205"/>
            <a:ext cx="310896" cy="310896"/>
          </a:xfrm>
          <a:prstGeom prst="ellipse">
            <a:avLst/>
          </a:prstGeom>
          <a:solidFill>
            <a:srgbClr val="D9F99D"/>
          </a:solidFill>
          <a:ln w="25400">
            <a:solidFill>
              <a:srgbClr val="65A30D"/>
            </a:solidFill>
            <a:prstDash val="solid"/>
          </a:ln>
        </p:spPr>
      </p:sp>
      <p:sp>
        <p:nvSpPr>
          <p:cNvPr id="18" name="Text 16"/>
          <p:cNvSpPr txBox="1"/>
          <p:nvPr/>
        </p:nvSpPr>
        <p:spPr>
          <a:xfrm>
            <a:off x="1783080" y="1978533"/>
            <a:ext cx="685800" cy="274320"/>
          </a:xfrm>
          <a:prstGeom prst="rect">
            <a:avLst/>
          </a:prstGeom>
          <a:noFill/>
          <a:ln/>
        </p:spPr>
        <p:txBody>
          <a:bodyPr wrap="square" lIns="0" tIns="0" rIns="0" bIns="0" rtlCol="0" anchor="t"/>
          <a:lstStyle/>
          <a:p>
            <a:pPr algn="l" indent="0" marL="0">
              <a:buNone/>
            </a:pPr>
            <a:r>
              <a:rPr lang="en-US" sz="700" dirty="0">
                <a:solidFill>
                  <a:srgbClr val="4A5878"/>
                </a:solidFill>
                <a:latin typeface="Open Sans" pitchFamily="34" charset="0"/>
                <a:ea typeface="Open Sans" pitchFamily="34" charset="-122"/>
                <a:cs typeface="Open Sans" pitchFamily="34" charset="-120"/>
              </a:rPr>
              <a:t>Faena de pesca concluida</a:t>
            </a:r>
            <a:endParaRPr lang="en-US" sz="700" dirty="0"/>
          </a:p>
        </p:txBody>
      </p:sp>
      <p:sp>
        <p:nvSpPr>
          <p:cNvPr id="19" name="Shape 17"/>
          <p:cNvSpPr/>
          <p:nvPr/>
        </p:nvSpPr>
        <p:spPr>
          <a:xfrm rot="5400000">
            <a:off x="2398014" y="1737360"/>
            <a:ext cx="116586" cy="116586"/>
          </a:xfrm>
          <a:prstGeom prst="triangle">
            <a:avLst/>
          </a:prstGeom>
          <a:solidFill>
            <a:srgbClr val="0B1E4F"/>
          </a:solidFill>
          <a:ln/>
        </p:spPr>
      </p:sp>
      <p:sp>
        <p:nvSpPr>
          <p:cNvPr id="20" name="Shape 18"/>
          <p:cNvSpPr/>
          <p:nvPr/>
        </p:nvSpPr>
        <p:spPr>
          <a:xfrm>
            <a:off x="2167128" y="1795653"/>
            <a:ext cx="242545" cy="914"/>
          </a:xfrm>
          <a:prstGeom prst="line">
            <a:avLst/>
          </a:prstGeom>
          <a:noFill/>
          <a:ln w="15875">
            <a:solidFill>
              <a:srgbClr val="0B1E4F"/>
            </a:solidFill>
            <a:prstDash val="solid"/>
          </a:ln>
        </p:spPr>
      </p:sp>
      <p:sp>
        <p:nvSpPr>
          <p:cNvPr id="21" name="Shape 19"/>
          <p:cNvSpPr/>
          <p:nvPr/>
        </p:nvSpPr>
        <p:spPr>
          <a:xfrm>
            <a:off x="2514600" y="1493901"/>
            <a:ext cx="1463040" cy="603504"/>
          </a:xfrm>
          <a:prstGeom prst="roundRect">
            <a:avLst>
              <a:gd name="adj" fmla="val 15152"/>
            </a:avLst>
          </a:prstGeom>
          <a:solidFill>
            <a:srgbClr val="FFFFFF"/>
          </a:solidFill>
          <a:ln w="15875">
            <a:solidFill>
              <a:srgbClr val="E06F00"/>
            </a:solidFill>
            <a:prstDash val="solid"/>
          </a:ln>
          <a:effectLst>
            <a:outerShdw sx="100000" sy="100000" kx="0" ky="0" algn="bl" rotWithShape="0" blurRad="177800" dist="38100" dir="5400000">
              <a:srgbClr val="0B1E4F">
                <a:alpha val="8000"/>
              </a:srgbClr>
            </a:outerShdw>
          </a:effectLst>
        </p:spPr>
      </p:sp>
      <p:sp>
        <p:nvSpPr>
          <p:cNvPr id="22" name="Text 20"/>
          <p:cNvSpPr txBox="1"/>
          <p:nvPr/>
        </p:nvSpPr>
        <p:spPr>
          <a:xfrm>
            <a:off x="2587752" y="1493901"/>
            <a:ext cx="1316736" cy="603504"/>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Registrar aviso de arribo (vía app o SMS)</a:t>
            </a:r>
            <a:endParaRPr lang="en-US" sz="850" dirty="0"/>
          </a:p>
        </p:txBody>
      </p:sp>
      <p:sp>
        <p:nvSpPr>
          <p:cNvPr id="23" name="Shape 21"/>
          <p:cNvSpPr/>
          <p:nvPr/>
        </p:nvSpPr>
        <p:spPr>
          <a:xfrm rot="10800000">
            <a:off x="3187827" y="2646045"/>
            <a:ext cx="116586" cy="116586"/>
          </a:xfrm>
          <a:prstGeom prst="triangle">
            <a:avLst/>
          </a:prstGeom>
          <a:solidFill>
            <a:srgbClr val="0B1E4F"/>
          </a:solidFill>
          <a:ln/>
        </p:spPr>
      </p:sp>
      <p:sp>
        <p:nvSpPr>
          <p:cNvPr id="24" name="Shape 22"/>
          <p:cNvSpPr/>
          <p:nvPr/>
        </p:nvSpPr>
        <p:spPr>
          <a:xfrm>
            <a:off x="3246120" y="2097405"/>
            <a:ext cx="914" cy="560299"/>
          </a:xfrm>
          <a:prstGeom prst="line">
            <a:avLst/>
          </a:prstGeom>
          <a:noFill/>
          <a:ln w="15875">
            <a:solidFill>
              <a:srgbClr val="0B1E4F"/>
            </a:solidFill>
            <a:prstDash val="solid"/>
          </a:ln>
        </p:spPr>
      </p:sp>
      <p:sp>
        <p:nvSpPr>
          <p:cNvPr id="25" name="Shape 23"/>
          <p:cNvSpPr/>
          <p:nvPr/>
        </p:nvSpPr>
        <p:spPr>
          <a:xfrm>
            <a:off x="2514600" y="2707767"/>
            <a:ext cx="1463040" cy="713232"/>
          </a:xfrm>
          <a:prstGeom prst="roundRect">
            <a:avLst>
              <a:gd name="adj" fmla="val 12821"/>
            </a:avLst>
          </a:prstGeom>
          <a:solidFill>
            <a:srgbClr val="FFFFFF"/>
          </a:solidFill>
          <a:ln w="15875">
            <a:solidFill>
              <a:srgbClr val="0B5FFF"/>
            </a:solidFill>
            <a:prstDash val="solid"/>
          </a:ln>
          <a:effectLst>
            <a:outerShdw sx="100000" sy="100000" kx="0" ky="0" algn="bl" rotWithShape="0" blurRad="177800" dist="38100" dir="5400000">
              <a:srgbClr val="0B1E4F">
                <a:alpha val="8000"/>
              </a:srgbClr>
            </a:outerShdw>
          </a:effectLst>
        </p:spPr>
      </p:sp>
      <p:sp>
        <p:nvSpPr>
          <p:cNvPr id="26" name="Text 24"/>
          <p:cNvSpPr txBox="1"/>
          <p:nvPr/>
        </p:nvSpPr>
        <p:spPr>
          <a:xfrm>
            <a:off x="2587752" y="2707767"/>
            <a:ext cx="1316736" cy="713232"/>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Ingresar datos de desembarque (embarcación, especies, peso y foto)</a:t>
            </a:r>
            <a:endParaRPr lang="en-US" sz="850" dirty="0"/>
          </a:p>
        </p:txBody>
      </p:sp>
      <p:sp>
        <p:nvSpPr>
          <p:cNvPr id="27" name="Shape 25"/>
          <p:cNvSpPr/>
          <p:nvPr/>
        </p:nvSpPr>
        <p:spPr>
          <a:xfrm rot="10800000">
            <a:off x="3187827" y="3914775"/>
            <a:ext cx="116586" cy="116586"/>
          </a:xfrm>
          <a:prstGeom prst="triangle">
            <a:avLst/>
          </a:prstGeom>
          <a:solidFill>
            <a:srgbClr val="0B1E4F"/>
          </a:solidFill>
          <a:ln/>
        </p:spPr>
      </p:sp>
      <p:sp>
        <p:nvSpPr>
          <p:cNvPr id="28" name="Shape 26"/>
          <p:cNvSpPr/>
          <p:nvPr/>
        </p:nvSpPr>
        <p:spPr>
          <a:xfrm>
            <a:off x="3246120" y="3420999"/>
            <a:ext cx="914" cy="505435"/>
          </a:xfrm>
          <a:prstGeom prst="line">
            <a:avLst/>
          </a:prstGeom>
          <a:noFill/>
          <a:ln w="15875">
            <a:solidFill>
              <a:srgbClr val="0B1E4F"/>
            </a:solidFill>
            <a:prstDash val="solid"/>
          </a:ln>
        </p:spPr>
      </p:sp>
      <p:sp>
        <p:nvSpPr>
          <p:cNvPr id="29" name="Shape 27"/>
          <p:cNvSpPr/>
          <p:nvPr/>
        </p:nvSpPr>
        <p:spPr>
          <a:xfrm>
            <a:off x="2514600" y="4031361"/>
            <a:ext cx="1463040" cy="603504"/>
          </a:xfrm>
          <a:prstGeom prst="roundRect">
            <a:avLst>
              <a:gd name="adj" fmla="val 15152"/>
            </a:avLst>
          </a:prstGeom>
          <a:solidFill>
            <a:srgbClr val="FFFFFF"/>
          </a:solidFill>
          <a:ln w="15875">
            <a:solidFill>
              <a:srgbClr val="0B1E4F"/>
            </a:solidFill>
            <a:prstDash val="solid"/>
          </a:ln>
          <a:effectLst>
            <a:outerShdw sx="100000" sy="100000" kx="0" ky="0" algn="bl" rotWithShape="0" blurRad="177800" dist="38100" dir="5400000">
              <a:srgbClr val="0B1E4F">
                <a:alpha val="8000"/>
              </a:srgbClr>
            </a:outerShdw>
          </a:effectLst>
        </p:spPr>
      </p:sp>
      <p:sp>
        <p:nvSpPr>
          <p:cNvPr id="30" name="Text 28"/>
          <p:cNvSpPr txBox="1"/>
          <p:nvPr/>
        </p:nvSpPr>
        <p:spPr>
          <a:xfrm>
            <a:off x="2587752" y="4031361"/>
            <a:ext cx="1316736" cy="603504"/>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Validar cumplimiento normativo (tallas, vedas y permisos)</a:t>
            </a:r>
            <a:endParaRPr lang="en-US" sz="850" dirty="0"/>
          </a:p>
        </p:txBody>
      </p:sp>
      <p:sp>
        <p:nvSpPr>
          <p:cNvPr id="31" name="Shape 29"/>
          <p:cNvSpPr/>
          <p:nvPr/>
        </p:nvSpPr>
        <p:spPr>
          <a:xfrm rot="5400000">
            <a:off x="4226814" y="4274820"/>
            <a:ext cx="116586" cy="116586"/>
          </a:xfrm>
          <a:prstGeom prst="triangle">
            <a:avLst/>
          </a:prstGeom>
          <a:solidFill>
            <a:srgbClr val="0B1E4F"/>
          </a:solidFill>
          <a:ln/>
        </p:spPr>
      </p:sp>
      <p:sp>
        <p:nvSpPr>
          <p:cNvPr id="32" name="Shape 30"/>
          <p:cNvSpPr/>
          <p:nvPr/>
        </p:nvSpPr>
        <p:spPr>
          <a:xfrm>
            <a:off x="3977640" y="4333113"/>
            <a:ext cx="260833" cy="914"/>
          </a:xfrm>
          <a:prstGeom prst="line">
            <a:avLst/>
          </a:prstGeom>
          <a:noFill/>
          <a:ln w="15875">
            <a:solidFill>
              <a:srgbClr val="0B1E4F"/>
            </a:solidFill>
            <a:prstDash val="solid"/>
          </a:ln>
        </p:spPr>
      </p:sp>
      <p:sp>
        <p:nvSpPr>
          <p:cNvPr id="33" name="Shape 31"/>
          <p:cNvSpPr/>
          <p:nvPr/>
        </p:nvSpPr>
        <p:spPr>
          <a:xfrm>
            <a:off x="4343400" y="4141089"/>
            <a:ext cx="384048" cy="384048"/>
          </a:xfrm>
          <a:prstGeom prst="diamond">
            <a:avLst/>
          </a:prstGeom>
          <a:solidFill>
            <a:srgbClr val="FEF9C3"/>
          </a:solidFill>
          <a:ln w="15875">
            <a:solidFill>
              <a:srgbClr val="CA8A04"/>
            </a:solidFill>
            <a:prstDash val="solid"/>
          </a:ln>
        </p:spPr>
      </p:sp>
      <p:sp>
        <p:nvSpPr>
          <p:cNvPr id="34" name="Text 32"/>
          <p:cNvSpPr txBox="1"/>
          <p:nvPr/>
        </p:nvSpPr>
        <p:spPr>
          <a:xfrm>
            <a:off x="4005072" y="4570857"/>
            <a:ext cx="868680" cy="310896"/>
          </a:xfrm>
          <a:prstGeom prst="rect">
            <a:avLst/>
          </a:prstGeom>
          <a:noFill/>
          <a:ln/>
        </p:spPr>
        <p:txBody>
          <a:bodyPr wrap="square" lIns="0" tIns="0" rIns="0" bIns="0" rtlCol="0" anchor="ctr"/>
          <a:lstStyle/>
          <a:p>
            <a:pPr algn="l" indent="0" marL="0">
              <a:buNone/>
            </a:pPr>
            <a:r>
              <a:rPr lang="en-US" sz="750" i="1" dirty="0">
                <a:solidFill>
                  <a:srgbClr val="0E1B3D"/>
                </a:solidFill>
                <a:latin typeface="Open Sans" pitchFamily="34" charset="0"/>
                <a:ea typeface="Open Sans" pitchFamily="34" charset="-122"/>
                <a:cs typeface="Open Sans" pitchFamily="34" charset="-120"/>
              </a:rPr>
              <a:t>¿Registro conforme a normativa?</a:t>
            </a:r>
            <a:endParaRPr lang="en-US" sz="750" dirty="0"/>
          </a:p>
        </p:txBody>
      </p:sp>
      <p:sp>
        <p:nvSpPr>
          <p:cNvPr id="35" name="Shape 33"/>
          <p:cNvSpPr/>
          <p:nvPr/>
        </p:nvSpPr>
        <p:spPr>
          <a:xfrm>
            <a:off x="5257800" y="3775329"/>
            <a:ext cx="1554480" cy="457200"/>
          </a:xfrm>
          <a:prstGeom prst="roundRect">
            <a:avLst>
              <a:gd name="adj" fmla="val 20000"/>
            </a:avLst>
          </a:prstGeom>
          <a:solidFill>
            <a:srgbClr val="FFE9EA"/>
          </a:solidFill>
          <a:ln w="15875">
            <a:solidFill>
              <a:srgbClr val="FF5A5F"/>
            </a:solidFill>
            <a:prstDash val="solid"/>
          </a:ln>
          <a:effectLst>
            <a:outerShdw sx="100000" sy="100000" kx="0" ky="0" algn="bl" rotWithShape="0" blurRad="177800" dist="38100" dir="5400000">
              <a:srgbClr val="0B1E4F">
                <a:alpha val="8000"/>
              </a:srgbClr>
            </a:outerShdw>
          </a:effectLst>
        </p:spPr>
      </p:sp>
      <p:sp>
        <p:nvSpPr>
          <p:cNvPr id="36" name="Text 34"/>
          <p:cNvSpPr txBox="1"/>
          <p:nvPr/>
        </p:nvSpPr>
        <p:spPr>
          <a:xfrm>
            <a:off x="5330952" y="3775329"/>
            <a:ext cx="1408176" cy="457200"/>
          </a:xfrm>
          <a:prstGeom prst="rect">
            <a:avLst/>
          </a:prstGeom>
          <a:noFill/>
          <a:ln/>
        </p:spPr>
        <p:txBody>
          <a:bodyPr wrap="square" lIns="0" tIns="0" rIns="0" bIns="0" rtlCol="0" anchor="ctr"/>
          <a:lstStyle/>
          <a:p>
            <a:pPr algn="ctr" indent="0" marL="0">
              <a:buNone/>
            </a:pPr>
            <a:r>
              <a:rPr lang="en-US" sz="800" dirty="0">
                <a:solidFill>
                  <a:srgbClr val="0E1B3D"/>
                </a:solidFill>
                <a:latin typeface="Open Sans" pitchFamily="34" charset="0"/>
                <a:ea typeface="Open Sans" pitchFamily="34" charset="-122"/>
                <a:cs typeface="Open Sans" pitchFamily="34" charset="-120"/>
              </a:rPr>
              <a:t>Marcar registro con alerta de presunta infracción</a:t>
            </a:r>
            <a:endParaRPr lang="en-US" sz="800" dirty="0"/>
          </a:p>
        </p:txBody>
      </p:sp>
      <p:sp>
        <p:nvSpPr>
          <p:cNvPr id="37" name="Shape 35"/>
          <p:cNvSpPr/>
          <p:nvPr/>
        </p:nvSpPr>
        <p:spPr>
          <a:xfrm flipV="1">
            <a:off x="4535424" y="4003929"/>
            <a:ext cx="914" cy="137160"/>
          </a:xfrm>
          <a:prstGeom prst="line">
            <a:avLst/>
          </a:prstGeom>
          <a:noFill/>
          <a:ln w="15875">
            <a:solidFill>
              <a:srgbClr val="0B1E4F"/>
            </a:solidFill>
            <a:prstDash val="solid"/>
          </a:ln>
        </p:spPr>
      </p:sp>
      <p:sp>
        <p:nvSpPr>
          <p:cNvPr id="38" name="Shape 36"/>
          <p:cNvSpPr/>
          <p:nvPr/>
        </p:nvSpPr>
        <p:spPr>
          <a:xfrm rot="5400000">
            <a:off x="5141214" y="3945636"/>
            <a:ext cx="116586" cy="116586"/>
          </a:xfrm>
          <a:prstGeom prst="triangle">
            <a:avLst/>
          </a:prstGeom>
          <a:solidFill>
            <a:srgbClr val="0B1E4F"/>
          </a:solidFill>
          <a:ln/>
        </p:spPr>
      </p:sp>
      <p:sp>
        <p:nvSpPr>
          <p:cNvPr id="39" name="Shape 37"/>
          <p:cNvSpPr/>
          <p:nvPr/>
        </p:nvSpPr>
        <p:spPr>
          <a:xfrm>
            <a:off x="4535424" y="4003929"/>
            <a:ext cx="617449" cy="914"/>
          </a:xfrm>
          <a:prstGeom prst="line">
            <a:avLst/>
          </a:prstGeom>
          <a:noFill/>
          <a:ln w="15875">
            <a:solidFill>
              <a:srgbClr val="0B1E4F"/>
            </a:solidFill>
            <a:prstDash val="solid"/>
          </a:ln>
        </p:spPr>
      </p:sp>
      <p:sp>
        <p:nvSpPr>
          <p:cNvPr id="40" name="Text 38"/>
          <p:cNvSpPr txBox="1"/>
          <p:nvPr/>
        </p:nvSpPr>
        <p:spPr>
          <a:xfrm>
            <a:off x="4617720" y="3766185"/>
            <a:ext cx="365760" cy="201168"/>
          </a:xfrm>
          <a:prstGeom prst="rect">
            <a:avLst/>
          </a:prstGeom>
          <a:noFill/>
          <a:ln/>
        </p:spPr>
        <p:txBody>
          <a:bodyPr wrap="square" lIns="0" tIns="0" rIns="0" bIns="0" rtlCol="0" anchor="t"/>
          <a:lstStyle/>
          <a:p>
            <a:pPr indent="0" marL="0">
              <a:buNone/>
            </a:pPr>
            <a:r>
              <a:rPr lang="en-US" sz="750" b="1" dirty="0">
                <a:solidFill>
                  <a:srgbClr val="E0393F"/>
                </a:solidFill>
                <a:latin typeface="Open Sans" pitchFamily="34" charset="0"/>
                <a:ea typeface="Open Sans" pitchFamily="34" charset="-122"/>
                <a:cs typeface="Open Sans" pitchFamily="34" charset="-120"/>
              </a:rPr>
              <a:t>NO</a:t>
            </a:r>
            <a:endParaRPr lang="en-US" sz="750" dirty="0"/>
          </a:p>
        </p:txBody>
      </p:sp>
      <p:sp>
        <p:nvSpPr>
          <p:cNvPr id="41" name="Shape 39"/>
          <p:cNvSpPr/>
          <p:nvPr/>
        </p:nvSpPr>
        <p:spPr>
          <a:xfrm>
            <a:off x="5257800" y="4451985"/>
            <a:ext cx="1554480" cy="457200"/>
          </a:xfrm>
          <a:prstGeom prst="roundRect">
            <a:avLst>
              <a:gd name="adj" fmla="val 20000"/>
            </a:avLst>
          </a:prstGeom>
          <a:solidFill>
            <a:srgbClr val="E2F8EF"/>
          </a:solidFill>
          <a:ln w="15875">
            <a:solidFill>
              <a:srgbClr val="0B9468"/>
            </a:solidFill>
            <a:prstDash val="solid"/>
          </a:ln>
          <a:effectLst>
            <a:outerShdw sx="100000" sy="100000" kx="0" ky="0" algn="bl" rotWithShape="0" blurRad="177800" dist="38100" dir="5400000">
              <a:srgbClr val="0B1E4F">
                <a:alpha val="8000"/>
              </a:srgbClr>
            </a:outerShdw>
          </a:effectLst>
        </p:spPr>
      </p:sp>
      <p:sp>
        <p:nvSpPr>
          <p:cNvPr id="42" name="Text 40"/>
          <p:cNvSpPr txBox="1"/>
          <p:nvPr/>
        </p:nvSpPr>
        <p:spPr>
          <a:xfrm>
            <a:off x="5330952" y="4451985"/>
            <a:ext cx="1408176" cy="457200"/>
          </a:xfrm>
          <a:prstGeom prst="rect">
            <a:avLst/>
          </a:prstGeom>
          <a:noFill/>
          <a:ln/>
        </p:spPr>
        <p:txBody>
          <a:bodyPr wrap="square" lIns="0" tIns="0" rIns="0" bIns="0" rtlCol="0" anchor="ctr"/>
          <a:lstStyle/>
          <a:p>
            <a:pPr algn="ctr" indent="0" marL="0">
              <a:buNone/>
            </a:pPr>
            <a:r>
              <a:rPr lang="en-US" sz="800" dirty="0">
                <a:solidFill>
                  <a:srgbClr val="0E1B3D"/>
                </a:solidFill>
                <a:latin typeface="Open Sans" pitchFamily="34" charset="0"/>
                <a:ea typeface="Open Sans" pitchFamily="34" charset="-122"/>
                <a:cs typeface="Open Sans" pitchFamily="34" charset="-120"/>
              </a:rPr>
              <a:t>Generar constancia digital con código QR</a:t>
            </a:r>
            <a:endParaRPr lang="en-US" sz="800" dirty="0"/>
          </a:p>
        </p:txBody>
      </p:sp>
      <p:sp>
        <p:nvSpPr>
          <p:cNvPr id="43" name="Shape 41"/>
          <p:cNvSpPr/>
          <p:nvPr/>
        </p:nvSpPr>
        <p:spPr>
          <a:xfrm>
            <a:off x="4727448" y="4333113"/>
            <a:ext cx="210312" cy="914"/>
          </a:xfrm>
          <a:prstGeom prst="line">
            <a:avLst/>
          </a:prstGeom>
          <a:noFill/>
          <a:ln w="15875">
            <a:solidFill>
              <a:srgbClr val="0B1E4F"/>
            </a:solidFill>
            <a:prstDash val="solid"/>
          </a:ln>
        </p:spPr>
      </p:sp>
      <p:sp>
        <p:nvSpPr>
          <p:cNvPr id="44" name="Shape 42"/>
          <p:cNvSpPr/>
          <p:nvPr/>
        </p:nvSpPr>
        <p:spPr>
          <a:xfrm>
            <a:off x="4937760" y="4333113"/>
            <a:ext cx="914" cy="347472"/>
          </a:xfrm>
          <a:prstGeom prst="line">
            <a:avLst/>
          </a:prstGeom>
          <a:noFill/>
          <a:ln w="15875">
            <a:solidFill>
              <a:srgbClr val="0B1E4F"/>
            </a:solidFill>
            <a:prstDash val="solid"/>
          </a:ln>
        </p:spPr>
      </p:sp>
      <p:sp>
        <p:nvSpPr>
          <p:cNvPr id="45" name="Shape 43"/>
          <p:cNvSpPr/>
          <p:nvPr/>
        </p:nvSpPr>
        <p:spPr>
          <a:xfrm rot="5400000">
            <a:off x="5141214" y="4622292"/>
            <a:ext cx="116586" cy="116586"/>
          </a:xfrm>
          <a:prstGeom prst="triangle">
            <a:avLst/>
          </a:prstGeom>
          <a:solidFill>
            <a:srgbClr val="0B1E4F"/>
          </a:solidFill>
          <a:ln/>
        </p:spPr>
      </p:sp>
      <p:sp>
        <p:nvSpPr>
          <p:cNvPr id="46" name="Shape 44"/>
          <p:cNvSpPr/>
          <p:nvPr/>
        </p:nvSpPr>
        <p:spPr>
          <a:xfrm>
            <a:off x="4937760" y="4680585"/>
            <a:ext cx="215113" cy="914"/>
          </a:xfrm>
          <a:prstGeom prst="line">
            <a:avLst/>
          </a:prstGeom>
          <a:noFill/>
          <a:ln w="15875">
            <a:solidFill>
              <a:srgbClr val="0B1E4F"/>
            </a:solidFill>
            <a:prstDash val="solid"/>
          </a:ln>
        </p:spPr>
      </p:sp>
      <p:sp>
        <p:nvSpPr>
          <p:cNvPr id="47" name="Text 45"/>
          <p:cNvSpPr txBox="1"/>
          <p:nvPr/>
        </p:nvSpPr>
        <p:spPr>
          <a:xfrm>
            <a:off x="4983480" y="4406265"/>
            <a:ext cx="274320" cy="201168"/>
          </a:xfrm>
          <a:prstGeom prst="rect">
            <a:avLst/>
          </a:prstGeom>
          <a:noFill/>
          <a:ln/>
        </p:spPr>
        <p:txBody>
          <a:bodyPr wrap="square" lIns="0" tIns="0" rIns="0" bIns="0" rtlCol="0" anchor="t"/>
          <a:lstStyle/>
          <a:p>
            <a:pPr indent="0" marL="0">
              <a:buNone/>
            </a:pPr>
            <a:r>
              <a:rPr lang="en-US" sz="750" b="1" dirty="0">
                <a:solidFill>
                  <a:srgbClr val="0B9468"/>
                </a:solidFill>
                <a:latin typeface="Open Sans" pitchFamily="34" charset="0"/>
                <a:ea typeface="Open Sans" pitchFamily="34" charset="-122"/>
                <a:cs typeface="Open Sans" pitchFamily="34" charset="-120"/>
              </a:rPr>
              <a:t>SÍ</a:t>
            </a:r>
            <a:endParaRPr lang="en-US" sz="750" dirty="0"/>
          </a:p>
        </p:txBody>
      </p:sp>
      <p:sp>
        <p:nvSpPr>
          <p:cNvPr id="48" name="Shape 46"/>
          <p:cNvSpPr/>
          <p:nvPr/>
        </p:nvSpPr>
        <p:spPr>
          <a:xfrm rot="5400000">
            <a:off x="7015734" y="4622292"/>
            <a:ext cx="116586" cy="116586"/>
          </a:xfrm>
          <a:prstGeom prst="triangle">
            <a:avLst/>
          </a:prstGeom>
          <a:solidFill>
            <a:srgbClr val="0B1E4F"/>
          </a:solidFill>
          <a:ln/>
        </p:spPr>
      </p:sp>
      <p:sp>
        <p:nvSpPr>
          <p:cNvPr id="49" name="Shape 47"/>
          <p:cNvSpPr/>
          <p:nvPr/>
        </p:nvSpPr>
        <p:spPr>
          <a:xfrm>
            <a:off x="6812280" y="4680585"/>
            <a:ext cx="215113" cy="914"/>
          </a:xfrm>
          <a:prstGeom prst="line">
            <a:avLst/>
          </a:prstGeom>
          <a:noFill/>
          <a:ln w="15875">
            <a:solidFill>
              <a:srgbClr val="0B1E4F"/>
            </a:solidFill>
            <a:prstDash val="solid"/>
          </a:ln>
        </p:spPr>
      </p:sp>
      <p:sp>
        <p:nvSpPr>
          <p:cNvPr id="50" name="Shape 48"/>
          <p:cNvSpPr/>
          <p:nvPr/>
        </p:nvSpPr>
        <p:spPr>
          <a:xfrm>
            <a:off x="7132320" y="4451985"/>
            <a:ext cx="1737360" cy="457200"/>
          </a:xfrm>
          <a:prstGeom prst="roundRect">
            <a:avLst>
              <a:gd name="adj" fmla="val 20000"/>
            </a:avLst>
          </a:prstGeom>
          <a:solidFill>
            <a:srgbClr val="FFFFFF"/>
          </a:solidFill>
          <a:ln w="15875">
            <a:solidFill>
              <a:srgbClr val="0B1E4F"/>
            </a:solidFill>
            <a:prstDash val="solid"/>
          </a:ln>
          <a:effectLst>
            <a:outerShdw sx="100000" sy="100000" kx="0" ky="0" algn="bl" rotWithShape="0" blurRad="177800" dist="38100" dir="5400000">
              <a:srgbClr val="0B1E4F">
                <a:alpha val="8000"/>
              </a:srgbClr>
            </a:outerShdw>
          </a:effectLst>
        </p:spPr>
      </p:sp>
      <p:sp>
        <p:nvSpPr>
          <p:cNvPr id="51" name="Text 49"/>
          <p:cNvSpPr txBox="1"/>
          <p:nvPr/>
        </p:nvSpPr>
        <p:spPr>
          <a:xfrm>
            <a:off x="7205472" y="4451985"/>
            <a:ext cx="1591056" cy="457200"/>
          </a:xfrm>
          <a:prstGeom prst="rect">
            <a:avLst/>
          </a:prstGeom>
          <a:noFill/>
          <a:ln/>
        </p:spPr>
        <p:txBody>
          <a:bodyPr wrap="square" lIns="0" tIns="0" rIns="0" bIns="0" rtlCol="0" anchor="ctr"/>
          <a:lstStyle/>
          <a:p>
            <a:pPr algn="ctr" indent="0" marL="0">
              <a:buNone/>
            </a:pPr>
            <a:r>
              <a:rPr lang="en-US" sz="750" dirty="0">
                <a:solidFill>
                  <a:srgbClr val="0E1B3D"/>
                </a:solidFill>
                <a:latin typeface="Open Sans" pitchFamily="34" charset="0"/>
                <a:ea typeface="Open Sans" pitchFamily="34" charset="-122"/>
                <a:cs typeface="Open Sans" pitchFamily="34" charset="-120"/>
              </a:rPr>
              <a:t>Enviar SMS con constancia al patrón y sincronizar la BD central</a:t>
            </a:r>
            <a:endParaRPr lang="en-US" sz="750" dirty="0"/>
          </a:p>
        </p:txBody>
      </p:sp>
      <p:sp>
        <p:nvSpPr>
          <p:cNvPr id="52" name="Shape 50"/>
          <p:cNvSpPr/>
          <p:nvPr/>
        </p:nvSpPr>
        <p:spPr>
          <a:xfrm>
            <a:off x="6812280" y="4003929"/>
            <a:ext cx="2286000" cy="914"/>
          </a:xfrm>
          <a:prstGeom prst="line">
            <a:avLst/>
          </a:prstGeom>
          <a:noFill/>
          <a:ln w="15875">
            <a:solidFill>
              <a:srgbClr val="FF5A5F"/>
            </a:solidFill>
            <a:prstDash val="solid"/>
          </a:ln>
        </p:spPr>
      </p:sp>
      <p:sp>
        <p:nvSpPr>
          <p:cNvPr id="53" name="Shape 51"/>
          <p:cNvSpPr/>
          <p:nvPr/>
        </p:nvSpPr>
        <p:spPr>
          <a:xfrm rot="10800000">
            <a:off x="9039987" y="5183505"/>
            <a:ext cx="116586" cy="116586"/>
          </a:xfrm>
          <a:prstGeom prst="triangle">
            <a:avLst/>
          </a:prstGeom>
          <a:solidFill>
            <a:srgbClr val="FF5A5F"/>
          </a:solidFill>
          <a:ln/>
        </p:spPr>
      </p:sp>
      <p:sp>
        <p:nvSpPr>
          <p:cNvPr id="54" name="Shape 52"/>
          <p:cNvSpPr/>
          <p:nvPr/>
        </p:nvSpPr>
        <p:spPr>
          <a:xfrm>
            <a:off x="9098280" y="4003929"/>
            <a:ext cx="914" cy="1191235"/>
          </a:xfrm>
          <a:prstGeom prst="line">
            <a:avLst/>
          </a:prstGeom>
          <a:noFill/>
          <a:ln w="15875">
            <a:solidFill>
              <a:srgbClr val="FF5A5F"/>
            </a:solidFill>
            <a:prstDash val="solid"/>
          </a:ln>
        </p:spPr>
      </p:sp>
      <p:sp>
        <p:nvSpPr>
          <p:cNvPr id="55" name="Shape 53"/>
          <p:cNvSpPr/>
          <p:nvPr/>
        </p:nvSpPr>
        <p:spPr>
          <a:xfrm>
            <a:off x="8001000" y="4909185"/>
            <a:ext cx="914" cy="601218"/>
          </a:xfrm>
          <a:prstGeom prst="line">
            <a:avLst/>
          </a:prstGeom>
          <a:noFill/>
          <a:ln w="15875">
            <a:solidFill>
              <a:srgbClr val="0B1E4F"/>
            </a:solidFill>
            <a:prstDash val="solid"/>
          </a:ln>
        </p:spPr>
      </p:sp>
      <p:sp>
        <p:nvSpPr>
          <p:cNvPr id="56" name="Shape 54"/>
          <p:cNvSpPr/>
          <p:nvPr/>
        </p:nvSpPr>
        <p:spPr>
          <a:xfrm>
            <a:off x="8001000" y="5510403"/>
            <a:ext cx="45720" cy="914"/>
          </a:xfrm>
          <a:prstGeom prst="line">
            <a:avLst/>
          </a:prstGeom>
          <a:noFill/>
          <a:ln w="15875">
            <a:solidFill>
              <a:srgbClr val="0B1E4F"/>
            </a:solidFill>
            <a:prstDash val="solid"/>
          </a:ln>
        </p:spPr>
      </p:sp>
      <p:sp>
        <p:nvSpPr>
          <p:cNvPr id="57" name="Shape 55"/>
          <p:cNvSpPr/>
          <p:nvPr/>
        </p:nvSpPr>
        <p:spPr>
          <a:xfrm rot="5400000">
            <a:off x="8158734" y="5452110"/>
            <a:ext cx="116586" cy="116586"/>
          </a:xfrm>
          <a:prstGeom prst="triangle">
            <a:avLst/>
          </a:prstGeom>
          <a:solidFill>
            <a:srgbClr val="0B1E4F"/>
          </a:solidFill>
          <a:ln/>
        </p:spPr>
      </p:sp>
      <p:sp>
        <p:nvSpPr>
          <p:cNvPr id="58" name="Shape 56"/>
          <p:cNvSpPr/>
          <p:nvPr/>
        </p:nvSpPr>
        <p:spPr>
          <a:xfrm>
            <a:off x="8001000" y="5510403"/>
            <a:ext cx="169393" cy="914"/>
          </a:xfrm>
          <a:prstGeom prst="line">
            <a:avLst/>
          </a:prstGeom>
          <a:noFill/>
          <a:ln w="15875">
            <a:solidFill>
              <a:srgbClr val="0B1E4F"/>
            </a:solidFill>
            <a:prstDash val="solid"/>
          </a:ln>
        </p:spPr>
      </p:sp>
      <p:sp>
        <p:nvSpPr>
          <p:cNvPr id="59" name="Shape 57"/>
          <p:cNvSpPr/>
          <p:nvPr/>
        </p:nvSpPr>
        <p:spPr>
          <a:xfrm>
            <a:off x="8275320" y="5300091"/>
            <a:ext cx="1463040" cy="603504"/>
          </a:xfrm>
          <a:prstGeom prst="roundRect">
            <a:avLst>
              <a:gd name="adj" fmla="val 15152"/>
            </a:avLst>
          </a:prstGeom>
          <a:solidFill>
            <a:srgbClr val="FFFFFF"/>
          </a:solidFill>
          <a:ln w="15875">
            <a:solidFill>
              <a:srgbClr val="0B9468"/>
            </a:solidFill>
            <a:prstDash val="solid"/>
          </a:ln>
          <a:effectLst>
            <a:outerShdw sx="100000" sy="100000" kx="0" ky="0" algn="bl" rotWithShape="0" blurRad="177800" dist="38100" dir="5400000">
              <a:srgbClr val="0B1E4F">
                <a:alpha val="8000"/>
              </a:srgbClr>
            </a:outerShdw>
          </a:effectLst>
        </p:spPr>
      </p:sp>
      <p:sp>
        <p:nvSpPr>
          <p:cNvPr id="60" name="Text 58"/>
          <p:cNvSpPr txBox="1"/>
          <p:nvPr/>
        </p:nvSpPr>
        <p:spPr>
          <a:xfrm>
            <a:off x="8348472" y="5300091"/>
            <a:ext cx="1316736" cy="603504"/>
          </a:xfrm>
          <a:prstGeom prst="rect">
            <a:avLst/>
          </a:prstGeom>
          <a:noFill/>
          <a:ln/>
        </p:spPr>
        <p:txBody>
          <a:bodyPr wrap="square" lIns="0" tIns="0" rIns="0" bIns="0" rtlCol="0" anchor="ctr"/>
          <a:lstStyle/>
          <a:p>
            <a:pPr algn="ctr" indent="0" marL="0">
              <a:buNone/>
            </a:pPr>
            <a:r>
              <a:rPr lang="en-US" sz="850" dirty="0">
                <a:solidFill>
                  <a:srgbClr val="0E1B3D"/>
                </a:solidFill>
                <a:latin typeface="Open Sans" pitchFamily="34" charset="0"/>
                <a:ea typeface="Open Sans" pitchFamily="34" charset="-122"/>
                <a:cs typeface="Open Sans" pitchFamily="34" charset="-120"/>
              </a:rPr>
              <a:t>Escanear QR para autorizar compra o inspeccionar</a:t>
            </a:r>
            <a:endParaRPr lang="en-US" sz="850" dirty="0"/>
          </a:p>
        </p:txBody>
      </p:sp>
      <p:sp>
        <p:nvSpPr>
          <p:cNvPr id="61" name="Shape 59"/>
          <p:cNvSpPr/>
          <p:nvPr/>
        </p:nvSpPr>
        <p:spPr>
          <a:xfrm rot="5400000">
            <a:off x="9804654" y="5543550"/>
            <a:ext cx="116586" cy="116586"/>
          </a:xfrm>
          <a:prstGeom prst="triangle">
            <a:avLst/>
          </a:prstGeom>
          <a:solidFill>
            <a:srgbClr val="0B1E4F"/>
          </a:solidFill>
          <a:ln/>
        </p:spPr>
      </p:sp>
      <p:sp>
        <p:nvSpPr>
          <p:cNvPr id="62" name="Shape 60"/>
          <p:cNvSpPr/>
          <p:nvPr/>
        </p:nvSpPr>
        <p:spPr>
          <a:xfrm>
            <a:off x="9738360" y="5601843"/>
            <a:ext cx="77953" cy="914"/>
          </a:xfrm>
          <a:prstGeom prst="line">
            <a:avLst/>
          </a:prstGeom>
          <a:noFill/>
          <a:ln w="15875">
            <a:solidFill>
              <a:srgbClr val="0B1E4F"/>
            </a:solidFill>
            <a:prstDash val="solid"/>
          </a:ln>
        </p:spPr>
      </p:sp>
      <p:sp>
        <p:nvSpPr>
          <p:cNvPr id="63" name="Shape 61"/>
          <p:cNvSpPr/>
          <p:nvPr/>
        </p:nvSpPr>
        <p:spPr>
          <a:xfrm>
            <a:off x="9921240" y="5300091"/>
            <a:ext cx="1143000" cy="603504"/>
          </a:xfrm>
          <a:prstGeom prst="roundRect">
            <a:avLst>
              <a:gd name="adj" fmla="val 15152"/>
            </a:avLst>
          </a:prstGeom>
          <a:solidFill>
            <a:srgbClr val="FFFFFF"/>
          </a:solidFill>
          <a:ln w="15875">
            <a:solidFill>
              <a:srgbClr val="0B9468"/>
            </a:solidFill>
            <a:prstDash val="solid"/>
          </a:ln>
          <a:effectLst>
            <a:outerShdw sx="100000" sy="100000" kx="0" ky="0" algn="bl" rotWithShape="0" blurRad="177800" dist="38100" dir="5400000">
              <a:srgbClr val="0B1E4F">
                <a:alpha val="8000"/>
              </a:srgbClr>
            </a:outerShdw>
          </a:effectLst>
        </p:spPr>
      </p:sp>
      <p:sp>
        <p:nvSpPr>
          <p:cNvPr id="64" name="Text 62"/>
          <p:cNvSpPr txBox="1"/>
          <p:nvPr/>
        </p:nvSpPr>
        <p:spPr>
          <a:xfrm>
            <a:off x="9994392" y="5300091"/>
            <a:ext cx="996696" cy="603504"/>
          </a:xfrm>
          <a:prstGeom prst="rect">
            <a:avLst/>
          </a:prstGeom>
          <a:noFill/>
          <a:ln/>
        </p:spPr>
        <p:txBody>
          <a:bodyPr wrap="square" lIns="0" tIns="0" rIns="0" bIns="0" rtlCol="0" anchor="ctr"/>
          <a:lstStyle/>
          <a:p>
            <a:pPr algn="ctr" indent="0" marL="0">
              <a:buNone/>
            </a:pPr>
            <a:r>
              <a:rPr lang="en-US" sz="750" dirty="0">
                <a:solidFill>
                  <a:srgbClr val="0E1B3D"/>
                </a:solidFill>
                <a:latin typeface="Open Sans" pitchFamily="34" charset="0"/>
                <a:ea typeface="Open Sans" pitchFamily="34" charset="-122"/>
                <a:cs typeface="Open Sans" pitchFamily="34" charset="-120"/>
              </a:rPr>
              <a:t>Actualizar tablero de IMARPE / PRODUCE en tiempo real</a:t>
            </a:r>
            <a:endParaRPr lang="en-US" sz="750" dirty="0"/>
          </a:p>
        </p:txBody>
      </p:sp>
      <p:sp>
        <p:nvSpPr>
          <p:cNvPr id="65" name="Shape 63"/>
          <p:cNvSpPr/>
          <p:nvPr/>
        </p:nvSpPr>
        <p:spPr>
          <a:xfrm rot="5400000">
            <a:off x="11112246" y="5543550"/>
            <a:ext cx="116586" cy="116586"/>
          </a:xfrm>
          <a:prstGeom prst="triangle">
            <a:avLst/>
          </a:prstGeom>
          <a:solidFill>
            <a:srgbClr val="0B1E4F"/>
          </a:solidFill>
          <a:ln/>
        </p:spPr>
      </p:sp>
      <p:sp>
        <p:nvSpPr>
          <p:cNvPr id="66" name="Shape 64"/>
          <p:cNvSpPr/>
          <p:nvPr/>
        </p:nvSpPr>
        <p:spPr>
          <a:xfrm>
            <a:off x="11064240" y="5601843"/>
            <a:ext cx="59665" cy="914"/>
          </a:xfrm>
          <a:prstGeom prst="line">
            <a:avLst/>
          </a:prstGeom>
          <a:noFill/>
          <a:ln w="15875">
            <a:solidFill>
              <a:srgbClr val="0B1E4F"/>
            </a:solidFill>
            <a:prstDash val="solid"/>
          </a:ln>
        </p:spPr>
      </p:sp>
      <p:sp>
        <p:nvSpPr>
          <p:cNvPr id="67" name="Shape 65"/>
          <p:cNvSpPr/>
          <p:nvPr/>
        </p:nvSpPr>
        <p:spPr>
          <a:xfrm>
            <a:off x="11228832" y="5446395"/>
            <a:ext cx="310896" cy="310896"/>
          </a:xfrm>
          <a:prstGeom prst="ellipse">
            <a:avLst/>
          </a:prstGeom>
          <a:solidFill>
            <a:srgbClr val="FCA5A5"/>
          </a:solidFill>
          <a:ln w="28575">
            <a:solidFill>
              <a:srgbClr val="B91C1C"/>
            </a:solidFill>
            <a:prstDash val="solid"/>
          </a:ln>
        </p:spPr>
      </p:sp>
      <p:sp>
        <p:nvSpPr>
          <p:cNvPr id="68" name="Text 66"/>
          <p:cNvSpPr txBox="1"/>
          <p:nvPr/>
        </p:nvSpPr>
        <p:spPr>
          <a:xfrm>
            <a:off x="11082528" y="5784723"/>
            <a:ext cx="566928" cy="274320"/>
          </a:xfrm>
          <a:prstGeom prst="rect">
            <a:avLst/>
          </a:prstGeom>
          <a:noFill/>
          <a:ln/>
        </p:spPr>
        <p:txBody>
          <a:bodyPr wrap="square" lIns="0" tIns="0" rIns="0" bIns="0" rtlCol="0" anchor="t"/>
          <a:lstStyle/>
          <a:p>
            <a:pPr algn="ctr" indent="0" marL="0">
              <a:buNone/>
            </a:pPr>
            <a:r>
              <a:rPr lang="en-US" sz="650" dirty="0">
                <a:solidFill>
                  <a:srgbClr val="4A5878"/>
                </a:solidFill>
                <a:latin typeface="Open Sans" pitchFamily="34" charset="0"/>
                <a:ea typeface="Open Sans" pitchFamily="34" charset="-122"/>
                <a:cs typeface="Open Sans" pitchFamily="34" charset="-120"/>
              </a:rPr>
              <a:t>Desembarque trazable</a:t>
            </a:r>
            <a:endParaRPr lang="en-US" sz="650" dirty="0"/>
          </a:p>
        </p:txBody>
      </p:sp>
      <p:sp>
        <p:nvSpPr>
          <p:cNvPr id="69" name="Shape 67"/>
          <p:cNvSpPr/>
          <p:nvPr/>
        </p:nvSpPr>
        <p:spPr>
          <a:xfrm>
            <a:off x="1828800" y="5217795"/>
            <a:ext cx="4846320" cy="768096"/>
          </a:xfrm>
          <a:prstGeom prst="roundRect">
            <a:avLst>
              <a:gd name="adj" fmla="val 14286"/>
            </a:avLst>
          </a:prstGeom>
          <a:solidFill>
            <a:srgbClr val="FFFFFF"/>
          </a:solidFill>
          <a:ln w="12700">
            <a:solidFill>
              <a:srgbClr val="10B981"/>
            </a:solidFill>
            <a:prstDash val="solid"/>
          </a:ln>
        </p:spPr>
      </p:sp>
      <p:pic>
        <p:nvPicPr>
          <p:cNvPr id="70" name="Image 0" descr="preencoded.png">    </p:cNvPr>
          <p:cNvPicPr>
            <a:picLocks noChangeAspect="1"/>
          </p:cNvPicPr>
          <p:nvPr/>
        </p:nvPicPr>
        <p:blipFill>
          <a:blip r:embed="rId2"/>
          <a:stretch>
            <a:fillRect/>
          </a:stretch>
        </p:blipFill>
        <p:spPr>
          <a:xfrm>
            <a:off x="1965960" y="5418963"/>
            <a:ext cx="365760" cy="365760"/>
          </a:xfrm>
          <a:prstGeom prst="rect">
            <a:avLst/>
          </a:prstGeom>
        </p:spPr>
      </p:pic>
      <p:sp>
        <p:nvSpPr>
          <p:cNvPr id="71" name="Text 68"/>
          <p:cNvSpPr txBox="1"/>
          <p:nvPr/>
        </p:nvSpPr>
        <p:spPr>
          <a:xfrm>
            <a:off x="2468880" y="5217795"/>
            <a:ext cx="4114800" cy="768096"/>
          </a:xfrm>
          <a:prstGeom prst="rect">
            <a:avLst/>
          </a:prstGeom>
          <a:noFill/>
          <a:ln/>
        </p:spPr>
        <p:txBody>
          <a:bodyPr wrap="square" lIns="0" tIns="0" rIns="0" bIns="0" rtlCol="0" anchor="ctr"/>
          <a:lstStyle/>
          <a:p>
            <a:pPr indent="0" marL="0">
              <a:buNone/>
            </a:pPr>
            <a:r>
              <a:rPr lang="en-US" sz="950" b="1" dirty="0">
                <a:solidFill>
                  <a:srgbClr val="0B9468"/>
                </a:solidFill>
                <a:latin typeface="Open Sans" pitchFamily="34" charset="0"/>
                <a:ea typeface="Open Sans" pitchFamily="34" charset="-122"/>
                <a:cs typeface="Open Sans" pitchFamily="34" charset="-120"/>
              </a:rPr>
              <a:t>Resultado: </a:t>
            </a:r>
            <a:pPr indent="0" marL="0">
              <a:buNone/>
            </a:pPr>
            <a:r>
              <a:rPr lang="en-US" sz="950" dirty="0">
                <a:solidFill>
                  <a:srgbClr val="0E1B3D"/>
                </a:solidFill>
                <a:latin typeface="Open Sans" pitchFamily="34" charset="0"/>
                <a:ea typeface="Open Sans" pitchFamily="34" charset="-122"/>
                <a:cs typeface="Open Sans" pitchFamily="34" charset="-120"/>
              </a:rPr>
              <a:t>desembarque registrado, verificado y trazable. El dato se ingresa una sola vez, en el muelle.</a:t>
            </a:r>
            <a:endParaRPr lang="en-US" sz="950" dirty="0"/>
          </a:p>
        </p:txBody>
      </p:sp>
      <p:sp>
        <p:nvSpPr>
          <p:cNvPr id="72" name="Text 69"/>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73" name="Text 70"/>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390595"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3" name="Text 1"/>
          <p:cNvSpPr txBox="1"/>
          <p:nvPr/>
        </p:nvSpPr>
        <p:spPr>
          <a:xfrm>
            <a:off x="548640" y="411480"/>
            <a:ext cx="3390595"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COMPARACIÓN DE PROCESOS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Antes y después de SIRDEPA</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DCE9FF"/>
                </a:solidFill>
                <a:latin typeface="Open Sans" pitchFamily="34" charset="0"/>
                <a:ea typeface="Open Sans" pitchFamily="34" charset="-122"/>
                <a:cs typeface="Open Sans" pitchFamily="34" charset="-120"/>
              </a:rPr>
              <a:t>Tabla 11 del informe.</a:t>
            </a:r>
            <a:endParaRPr lang="en-US" sz="1300" dirty="0"/>
          </a:p>
        </p:txBody>
      </p:sp>
      <p:sp>
        <p:nvSpPr>
          <p:cNvPr id="6" name="Shape 4"/>
          <p:cNvSpPr/>
          <p:nvPr/>
        </p:nvSpPr>
        <p:spPr>
          <a:xfrm>
            <a:off x="548640" y="2011680"/>
            <a:ext cx="5440680" cy="1828800"/>
          </a:xfrm>
          <a:prstGeom prst="roundRect">
            <a:avLst>
              <a:gd name="adj" fmla="val 9000"/>
            </a:avLst>
          </a:prstGeom>
          <a:solidFill>
            <a:srgbClr val="FFFFFF"/>
          </a:solidFill>
          <a:ln/>
          <a:effectLst>
            <a:outerShdw sx="100000" sy="100000" kx="0" ky="0" algn="bl" rotWithShape="0" blurRad="279400" dist="76200" dir="5400000">
              <a:srgbClr val="031040">
                <a:alpha val="30000"/>
              </a:srgbClr>
            </a:outerShdw>
          </a:effectLst>
        </p:spPr>
      </p:sp>
      <p:sp>
        <p:nvSpPr>
          <p:cNvPr id="7" name="Shape 5"/>
          <p:cNvSpPr/>
          <p:nvPr/>
        </p:nvSpPr>
        <p:spPr>
          <a:xfrm>
            <a:off x="777240" y="2240280"/>
            <a:ext cx="502920" cy="502920"/>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897941" y="2360981"/>
            <a:ext cx="261518" cy="261518"/>
          </a:xfrm>
          <a:prstGeom prst="rect">
            <a:avLst/>
          </a:prstGeom>
        </p:spPr>
      </p:pic>
      <p:sp>
        <p:nvSpPr>
          <p:cNvPr id="9" name="Text 6"/>
          <p:cNvSpPr txBox="1"/>
          <p:nvPr/>
        </p:nvSpPr>
        <p:spPr>
          <a:xfrm>
            <a:off x="1417320" y="2240280"/>
            <a:ext cx="4434840" cy="50292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Tiempo total de registro por desembarque</a:t>
            </a:r>
            <a:endParaRPr lang="en-US" sz="1250" dirty="0"/>
          </a:p>
        </p:txBody>
      </p:sp>
      <p:sp>
        <p:nvSpPr>
          <p:cNvPr id="10" name="Text 7"/>
          <p:cNvSpPr txBox="1"/>
          <p:nvPr/>
        </p:nvSpPr>
        <p:spPr>
          <a:xfrm>
            <a:off x="777240" y="2880360"/>
            <a:ext cx="2377440" cy="868680"/>
          </a:xfrm>
          <a:prstGeom prst="rect">
            <a:avLst/>
          </a:prstGeom>
          <a:noFill/>
          <a:ln/>
        </p:spPr>
        <p:txBody>
          <a:bodyPr wrap="square" lIns="0" tIns="0" rIns="0" bIns="0" rtlCol="0" anchor="ctr"/>
          <a:lstStyle/>
          <a:p>
            <a:pPr indent="0" marL="0">
              <a:buNone/>
            </a:pPr>
            <a:r>
              <a:rPr lang="en-US" sz="800" b="1" spc="150" kern="0" dirty="0">
                <a:solidFill>
                  <a:srgbClr val="E0393F"/>
                </a:solidFill>
                <a:latin typeface="Open Sans" pitchFamily="34" charset="0"/>
                <a:ea typeface="Open Sans" pitchFamily="34" charset="-122"/>
                <a:cs typeface="Open Sans" pitchFamily="34" charset="-120"/>
              </a:rPr>
              <a:t>ANTES</a:t>
            </a:r>
            <a:endParaRPr lang="en-US" sz="1200" dirty="0"/>
          </a:p>
          <a:p>
            <a:pPr indent="0" marL="0">
              <a:buNone/>
            </a:pPr>
            <a:r>
              <a:rPr lang="en-US" sz="2600" b="1" dirty="0">
                <a:solidFill>
                  <a:srgbClr val="FF5A5F"/>
                </a:solidFill>
                <a:latin typeface="Montserrat" pitchFamily="34" charset="0"/>
                <a:ea typeface="Montserrat" pitchFamily="34" charset="-122"/>
                <a:cs typeface="Montserrat" pitchFamily="34" charset="-120"/>
              </a:rPr>
              <a:t>60–120 min</a:t>
            </a:r>
            <a:endParaRPr lang="en-US" sz="1200" dirty="0"/>
          </a:p>
        </p:txBody>
      </p:sp>
      <p:sp>
        <p:nvSpPr>
          <p:cNvPr id="11" name="Shape 8"/>
          <p:cNvSpPr/>
          <p:nvPr/>
        </p:nvSpPr>
        <p:spPr>
          <a:xfrm rot="5400000">
            <a:off x="3470148" y="3266694"/>
            <a:ext cx="141732" cy="141732"/>
          </a:xfrm>
          <a:prstGeom prst="triangle">
            <a:avLst/>
          </a:prstGeom>
          <a:solidFill>
            <a:srgbClr val="0B5FFF"/>
          </a:solidFill>
          <a:ln/>
        </p:spPr>
      </p:sp>
      <p:sp>
        <p:nvSpPr>
          <p:cNvPr id="12" name="Shape 9"/>
          <p:cNvSpPr/>
          <p:nvPr/>
        </p:nvSpPr>
        <p:spPr>
          <a:xfrm>
            <a:off x="3063240" y="3337560"/>
            <a:ext cx="421081" cy="914"/>
          </a:xfrm>
          <a:prstGeom prst="line">
            <a:avLst/>
          </a:prstGeom>
          <a:noFill/>
          <a:ln w="31750">
            <a:solidFill>
              <a:srgbClr val="0B5FFF"/>
            </a:solidFill>
            <a:prstDash val="solid"/>
          </a:ln>
        </p:spPr>
      </p:sp>
      <p:sp>
        <p:nvSpPr>
          <p:cNvPr id="13" name="Text 10"/>
          <p:cNvSpPr txBox="1"/>
          <p:nvPr/>
        </p:nvSpPr>
        <p:spPr>
          <a:xfrm>
            <a:off x="3794760" y="2880360"/>
            <a:ext cx="2103120" cy="868680"/>
          </a:xfrm>
          <a:prstGeom prst="rect">
            <a:avLst/>
          </a:prstGeom>
          <a:noFill/>
          <a:ln/>
        </p:spPr>
        <p:txBody>
          <a:bodyPr wrap="square" lIns="0" tIns="0" rIns="0" bIns="0" rtlCol="0" anchor="ctr"/>
          <a:lstStyle/>
          <a:p>
            <a:pPr indent="0" marL="0">
              <a:buNone/>
            </a:pPr>
            <a:r>
              <a:rPr lang="en-US" sz="800" b="1" spc="150" kern="0" dirty="0">
                <a:solidFill>
                  <a:srgbClr val="0B9468"/>
                </a:solidFill>
                <a:latin typeface="Open Sans" pitchFamily="34" charset="0"/>
                <a:ea typeface="Open Sans" pitchFamily="34" charset="-122"/>
                <a:cs typeface="Open Sans" pitchFamily="34" charset="-120"/>
              </a:rPr>
              <a:t>CON SIRDEPA</a:t>
            </a:r>
            <a:endParaRPr lang="en-US" sz="1200" dirty="0"/>
          </a:p>
          <a:p>
            <a:pPr indent="0" marL="0">
              <a:buNone/>
            </a:pPr>
            <a:r>
              <a:rPr lang="en-US" sz="2600" b="1" dirty="0">
                <a:solidFill>
                  <a:srgbClr val="10B981"/>
                </a:solidFill>
                <a:latin typeface="Montserrat" pitchFamily="34" charset="0"/>
                <a:ea typeface="Montserrat" pitchFamily="34" charset="-122"/>
                <a:cs typeface="Montserrat" pitchFamily="34" charset="-120"/>
              </a:rPr>
              <a:t>&lt; 5 min</a:t>
            </a:r>
            <a:endParaRPr lang="en-US" sz="1200" dirty="0"/>
          </a:p>
        </p:txBody>
      </p:sp>
      <p:sp>
        <p:nvSpPr>
          <p:cNvPr id="14" name="Shape 11"/>
          <p:cNvSpPr/>
          <p:nvPr/>
        </p:nvSpPr>
        <p:spPr>
          <a:xfrm>
            <a:off x="6172200" y="2011680"/>
            <a:ext cx="5440680" cy="1828800"/>
          </a:xfrm>
          <a:prstGeom prst="roundRect">
            <a:avLst>
              <a:gd name="adj" fmla="val 9000"/>
            </a:avLst>
          </a:prstGeom>
          <a:solidFill>
            <a:srgbClr val="FFFFFF"/>
          </a:solidFill>
          <a:ln/>
          <a:effectLst>
            <a:outerShdw sx="100000" sy="100000" kx="0" ky="0" algn="bl" rotWithShape="0" blurRad="279400" dist="76200" dir="5400000">
              <a:srgbClr val="031040">
                <a:alpha val="30000"/>
              </a:srgbClr>
            </a:outerShdw>
          </a:effectLst>
        </p:spPr>
      </p:sp>
      <p:sp>
        <p:nvSpPr>
          <p:cNvPr id="15" name="Shape 12"/>
          <p:cNvSpPr/>
          <p:nvPr/>
        </p:nvSpPr>
        <p:spPr>
          <a:xfrm>
            <a:off x="6400800" y="2240280"/>
            <a:ext cx="502920" cy="502920"/>
          </a:xfrm>
          <a:prstGeom prst="roundRect">
            <a:avLst>
              <a:gd name="adj" fmla="val 28000"/>
            </a:avLst>
          </a:prstGeom>
          <a:solidFill>
            <a:srgbClr val="0B5FFF"/>
          </a:solidFill>
          <a:ln/>
        </p:spPr>
      </p:sp>
      <p:pic>
        <p:nvPicPr>
          <p:cNvPr id="16" name="Image 1" descr="preencoded.png">    </p:cNvPr>
          <p:cNvPicPr>
            <a:picLocks noChangeAspect="1"/>
          </p:cNvPicPr>
          <p:nvPr/>
        </p:nvPicPr>
        <p:blipFill>
          <a:blip r:embed="rId3"/>
          <a:stretch>
            <a:fillRect/>
          </a:stretch>
        </p:blipFill>
        <p:spPr>
          <a:xfrm>
            <a:off x="6521501" y="2360981"/>
            <a:ext cx="261518" cy="261518"/>
          </a:xfrm>
          <a:prstGeom prst="rect">
            <a:avLst/>
          </a:prstGeom>
        </p:spPr>
      </p:pic>
      <p:sp>
        <p:nvSpPr>
          <p:cNvPr id="17" name="Text 13"/>
          <p:cNvSpPr txBox="1"/>
          <p:nvPr/>
        </p:nvSpPr>
        <p:spPr>
          <a:xfrm>
            <a:off x="7040880" y="2240280"/>
            <a:ext cx="4434840" cy="502920"/>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Cobertura de datos del IMARPE</a:t>
            </a:r>
            <a:endParaRPr lang="en-US" sz="1250" dirty="0"/>
          </a:p>
        </p:txBody>
      </p:sp>
      <p:sp>
        <p:nvSpPr>
          <p:cNvPr id="18" name="Text 14"/>
          <p:cNvSpPr txBox="1"/>
          <p:nvPr/>
        </p:nvSpPr>
        <p:spPr>
          <a:xfrm>
            <a:off x="6400800" y="2880360"/>
            <a:ext cx="2377440" cy="868680"/>
          </a:xfrm>
          <a:prstGeom prst="rect">
            <a:avLst/>
          </a:prstGeom>
          <a:noFill/>
          <a:ln/>
        </p:spPr>
        <p:txBody>
          <a:bodyPr wrap="square" lIns="0" tIns="0" rIns="0" bIns="0" rtlCol="0" anchor="ctr"/>
          <a:lstStyle/>
          <a:p>
            <a:pPr indent="0" marL="0">
              <a:buNone/>
            </a:pPr>
            <a:r>
              <a:rPr lang="en-US" sz="800" b="1" spc="150" kern="0" dirty="0">
                <a:solidFill>
                  <a:srgbClr val="E0393F"/>
                </a:solidFill>
                <a:latin typeface="Open Sans" pitchFamily="34" charset="0"/>
                <a:ea typeface="Open Sans" pitchFamily="34" charset="-122"/>
                <a:cs typeface="Open Sans" pitchFamily="34" charset="-120"/>
              </a:rPr>
              <a:t>ANTES</a:t>
            </a:r>
            <a:endParaRPr lang="en-US" sz="1200" dirty="0"/>
          </a:p>
          <a:p>
            <a:pPr indent="0" marL="0">
              <a:buNone/>
            </a:pPr>
            <a:r>
              <a:rPr lang="en-US" sz="2600" b="1" dirty="0">
                <a:solidFill>
                  <a:srgbClr val="FF5A5F"/>
                </a:solidFill>
                <a:latin typeface="Montserrat" pitchFamily="34" charset="0"/>
                <a:ea typeface="Montserrat" pitchFamily="34" charset="-122"/>
                <a:cs typeface="Montserrat" pitchFamily="34" charset="-120"/>
              </a:rPr>
              <a:t>~30 %</a:t>
            </a:r>
            <a:endParaRPr lang="en-US" sz="1200" dirty="0"/>
          </a:p>
        </p:txBody>
      </p:sp>
      <p:sp>
        <p:nvSpPr>
          <p:cNvPr id="19" name="Shape 15"/>
          <p:cNvSpPr/>
          <p:nvPr/>
        </p:nvSpPr>
        <p:spPr>
          <a:xfrm rot="5400000">
            <a:off x="9093708" y="3266694"/>
            <a:ext cx="141732" cy="141732"/>
          </a:xfrm>
          <a:prstGeom prst="triangle">
            <a:avLst/>
          </a:prstGeom>
          <a:solidFill>
            <a:srgbClr val="0B5FFF"/>
          </a:solidFill>
          <a:ln/>
        </p:spPr>
      </p:sp>
      <p:sp>
        <p:nvSpPr>
          <p:cNvPr id="20" name="Shape 16"/>
          <p:cNvSpPr/>
          <p:nvPr/>
        </p:nvSpPr>
        <p:spPr>
          <a:xfrm>
            <a:off x="8686800" y="3337560"/>
            <a:ext cx="421081" cy="914"/>
          </a:xfrm>
          <a:prstGeom prst="line">
            <a:avLst/>
          </a:prstGeom>
          <a:noFill/>
          <a:ln w="31750">
            <a:solidFill>
              <a:srgbClr val="0B5FFF"/>
            </a:solidFill>
            <a:prstDash val="solid"/>
          </a:ln>
        </p:spPr>
      </p:sp>
      <p:sp>
        <p:nvSpPr>
          <p:cNvPr id="21" name="Text 17"/>
          <p:cNvSpPr txBox="1"/>
          <p:nvPr/>
        </p:nvSpPr>
        <p:spPr>
          <a:xfrm>
            <a:off x="9418320" y="2880360"/>
            <a:ext cx="2103120" cy="868680"/>
          </a:xfrm>
          <a:prstGeom prst="rect">
            <a:avLst/>
          </a:prstGeom>
          <a:noFill/>
          <a:ln/>
        </p:spPr>
        <p:txBody>
          <a:bodyPr wrap="square" lIns="0" tIns="0" rIns="0" bIns="0" rtlCol="0" anchor="ctr"/>
          <a:lstStyle/>
          <a:p>
            <a:pPr indent="0" marL="0">
              <a:buNone/>
            </a:pPr>
            <a:r>
              <a:rPr lang="en-US" sz="800" b="1" spc="150" kern="0" dirty="0">
                <a:solidFill>
                  <a:srgbClr val="0B9468"/>
                </a:solidFill>
                <a:latin typeface="Open Sans" pitchFamily="34" charset="0"/>
                <a:ea typeface="Open Sans" pitchFamily="34" charset="-122"/>
                <a:cs typeface="Open Sans" pitchFamily="34" charset="-120"/>
              </a:rPr>
              <a:t>CON SIRDEPA</a:t>
            </a:r>
            <a:endParaRPr lang="en-US" sz="1200" dirty="0"/>
          </a:p>
          <a:p>
            <a:pPr indent="0" marL="0">
              <a:buNone/>
            </a:pPr>
            <a:r>
              <a:rPr lang="en-US" sz="2600" b="1" dirty="0">
                <a:solidFill>
                  <a:srgbClr val="10B981"/>
                </a:solidFill>
                <a:latin typeface="Montserrat" pitchFamily="34" charset="0"/>
                <a:ea typeface="Montserrat" pitchFamily="34" charset="-122"/>
                <a:cs typeface="Montserrat" pitchFamily="34" charset="-120"/>
              </a:rPr>
              <a:t>100 %</a:t>
            </a:r>
            <a:endParaRPr lang="en-US" sz="1200" dirty="0"/>
          </a:p>
        </p:txBody>
      </p:sp>
      <p:sp>
        <p:nvSpPr>
          <p:cNvPr id="22" name="Shape 18"/>
          <p:cNvSpPr/>
          <p:nvPr/>
        </p:nvSpPr>
        <p:spPr>
          <a:xfrm>
            <a:off x="548640" y="4023360"/>
            <a:ext cx="11064240" cy="2194560"/>
          </a:xfrm>
          <a:prstGeom prst="roundRect">
            <a:avLst>
              <a:gd name="adj" fmla="val 6667"/>
            </a:avLst>
          </a:prstGeom>
          <a:solidFill>
            <a:srgbClr val="FFFFFF"/>
          </a:solidFill>
          <a:ln/>
        </p:spPr>
      </p:sp>
      <p:sp>
        <p:nvSpPr>
          <p:cNvPr id="23" name="Text 19"/>
          <p:cNvSpPr txBox="1"/>
          <p:nvPr/>
        </p:nvSpPr>
        <p:spPr>
          <a:xfrm>
            <a:off x="777240" y="4114800"/>
            <a:ext cx="2377440" cy="274320"/>
          </a:xfrm>
          <a:prstGeom prst="rect">
            <a:avLst/>
          </a:prstGeom>
          <a:noFill/>
          <a:ln/>
        </p:spPr>
        <p:txBody>
          <a:bodyPr wrap="square" lIns="0" tIns="0" rIns="0" bIns="0" rtlCol="0" anchor="ctr"/>
          <a:lstStyle/>
          <a:p>
            <a:pPr indent="0" marL="0">
              <a:buNone/>
            </a:pPr>
            <a:r>
              <a:rPr lang="en-US" sz="800" b="1" spc="150" kern="0" dirty="0">
                <a:solidFill>
                  <a:srgbClr val="8A96AE"/>
                </a:solidFill>
                <a:latin typeface="Montserrat" pitchFamily="34" charset="0"/>
                <a:ea typeface="Montserrat" pitchFamily="34" charset="-122"/>
                <a:cs typeface="Montserrat" pitchFamily="34" charset="-120"/>
              </a:rPr>
              <a:t>ASPECTO</a:t>
            </a:r>
            <a:endParaRPr lang="en-US" sz="800" dirty="0"/>
          </a:p>
        </p:txBody>
      </p:sp>
      <p:sp>
        <p:nvSpPr>
          <p:cNvPr id="24" name="Text 20"/>
          <p:cNvSpPr txBox="1"/>
          <p:nvPr/>
        </p:nvSpPr>
        <p:spPr>
          <a:xfrm>
            <a:off x="3246120" y="4114800"/>
            <a:ext cx="3840480" cy="274320"/>
          </a:xfrm>
          <a:prstGeom prst="rect">
            <a:avLst/>
          </a:prstGeom>
          <a:noFill/>
          <a:ln/>
        </p:spPr>
        <p:txBody>
          <a:bodyPr wrap="square" lIns="0" tIns="0" rIns="0" bIns="0" rtlCol="0" anchor="ctr"/>
          <a:lstStyle/>
          <a:p>
            <a:pPr indent="0" marL="0">
              <a:buNone/>
            </a:pPr>
            <a:r>
              <a:rPr lang="en-US" sz="800" b="1" spc="150" kern="0" dirty="0">
                <a:solidFill>
                  <a:srgbClr val="E0393F"/>
                </a:solidFill>
                <a:latin typeface="Montserrat" pitchFamily="34" charset="0"/>
                <a:ea typeface="Montserrat" pitchFamily="34" charset="-122"/>
                <a:cs typeface="Montserrat" pitchFamily="34" charset="-120"/>
              </a:rPr>
              <a:t>PROCESO ACTUAL</a:t>
            </a:r>
            <a:endParaRPr lang="en-US" sz="800" dirty="0"/>
          </a:p>
        </p:txBody>
      </p:sp>
      <p:sp>
        <p:nvSpPr>
          <p:cNvPr id="25" name="Text 21"/>
          <p:cNvSpPr txBox="1"/>
          <p:nvPr/>
        </p:nvSpPr>
        <p:spPr>
          <a:xfrm>
            <a:off x="7315200" y="4114800"/>
            <a:ext cx="4023360" cy="274320"/>
          </a:xfrm>
          <a:prstGeom prst="rect">
            <a:avLst/>
          </a:prstGeom>
          <a:noFill/>
          <a:ln/>
        </p:spPr>
        <p:txBody>
          <a:bodyPr wrap="square" lIns="0" tIns="0" rIns="0" bIns="0" rtlCol="0" anchor="ctr"/>
          <a:lstStyle/>
          <a:p>
            <a:pPr indent="0" marL="0">
              <a:buNone/>
            </a:pPr>
            <a:r>
              <a:rPr lang="en-US" sz="800" b="1" spc="150" kern="0" dirty="0">
                <a:solidFill>
                  <a:srgbClr val="0B9468"/>
                </a:solidFill>
                <a:latin typeface="Montserrat" pitchFamily="34" charset="0"/>
                <a:ea typeface="Montserrat" pitchFamily="34" charset="-122"/>
                <a:cs typeface="Montserrat" pitchFamily="34" charset="-120"/>
              </a:rPr>
              <a:t>PROCESO PROPUESTO</a:t>
            </a:r>
            <a:endParaRPr lang="en-US" sz="800" dirty="0"/>
          </a:p>
        </p:txBody>
      </p:sp>
      <p:sp>
        <p:nvSpPr>
          <p:cNvPr id="26" name="Text 22"/>
          <p:cNvSpPr txBox="1"/>
          <p:nvPr/>
        </p:nvSpPr>
        <p:spPr>
          <a:xfrm>
            <a:off x="777240" y="4434840"/>
            <a:ext cx="2377440" cy="402336"/>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Soporte de la información</a:t>
            </a:r>
            <a:endParaRPr lang="en-US" sz="1050" dirty="0"/>
          </a:p>
        </p:txBody>
      </p:sp>
      <p:pic>
        <p:nvPicPr>
          <p:cNvPr id="27" name="Image 2" descr="preencoded.png">    </p:cNvPr>
          <p:cNvPicPr>
            <a:picLocks noChangeAspect="1"/>
          </p:cNvPicPr>
          <p:nvPr/>
        </p:nvPicPr>
        <p:blipFill>
          <a:blip r:embed="rId4"/>
          <a:stretch>
            <a:fillRect/>
          </a:stretch>
        </p:blipFill>
        <p:spPr>
          <a:xfrm>
            <a:off x="3246120" y="4535424"/>
            <a:ext cx="201168" cy="201168"/>
          </a:xfrm>
          <a:prstGeom prst="rect">
            <a:avLst/>
          </a:prstGeom>
        </p:spPr>
      </p:pic>
      <p:sp>
        <p:nvSpPr>
          <p:cNvPr id="28" name="Text 23"/>
          <p:cNvSpPr txBox="1"/>
          <p:nvPr/>
        </p:nvSpPr>
        <p:spPr>
          <a:xfrm>
            <a:off x="3520440" y="4434840"/>
            <a:ext cx="3657600" cy="402336"/>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Papel: cuadernos, bitácoras, guías impresas.</a:t>
            </a:r>
            <a:endParaRPr lang="en-US" sz="1000" dirty="0"/>
          </a:p>
        </p:txBody>
      </p:sp>
      <p:pic>
        <p:nvPicPr>
          <p:cNvPr id="29" name="Image 3" descr="preencoded.png">    </p:cNvPr>
          <p:cNvPicPr>
            <a:picLocks noChangeAspect="1"/>
          </p:cNvPicPr>
          <p:nvPr/>
        </p:nvPicPr>
        <p:blipFill>
          <a:blip r:embed="rId5"/>
          <a:stretch>
            <a:fillRect/>
          </a:stretch>
        </p:blipFill>
        <p:spPr>
          <a:xfrm>
            <a:off x="7315200" y="4535424"/>
            <a:ext cx="201168" cy="201168"/>
          </a:xfrm>
          <a:prstGeom prst="rect">
            <a:avLst/>
          </a:prstGeom>
        </p:spPr>
      </p:pic>
      <p:sp>
        <p:nvSpPr>
          <p:cNvPr id="30" name="Text 24"/>
          <p:cNvSpPr txBox="1"/>
          <p:nvPr/>
        </p:nvSpPr>
        <p:spPr>
          <a:xfrm>
            <a:off x="7589520" y="4434840"/>
            <a:ext cx="3840480" cy="40233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Digital, app móvil con sincronización a la nube.</a:t>
            </a:r>
            <a:endParaRPr lang="en-US" sz="1000" dirty="0"/>
          </a:p>
        </p:txBody>
      </p:sp>
      <p:sp>
        <p:nvSpPr>
          <p:cNvPr id="31" name="Shape 25"/>
          <p:cNvSpPr/>
          <p:nvPr/>
        </p:nvSpPr>
        <p:spPr>
          <a:xfrm>
            <a:off x="777240" y="4846320"/>
            <a:ext cx="10607040" cy="914"/>
          </a:xfrm>
          <a:prstGeom prst="line">
            <a:avLst/>
          </a:prstGeom>
          <a:noFill/>
          <a:ln w="9525">
            <a:solidFill>
              <a:srgbClr val="DCE5F3"/>
            </a:solidFill>
            <a:prstDash val="solid"/>
          </a:ln>
        </p:spPr>
      </p:sp>
      <p:sp>
        <p:nvSpPr>
          <p:cNvPr id="32" name="Text 26"/>
          <p:cNvSpPr txBox="1"/>
          <p:nvPr/>
        </p:nvSpPr>
        <p:spPr>
          <a:xfrm>
            <a:off x="777240" y="4864608"/>
            <a:ext cx="2377440" cy="402336"/>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Captura de datos</a:t>
            </a:r>
            <a:endParaRPr lang="en-US" sz="1050" dirty="0"/>
          </a:p>
        </p:txBody>
      </p:sp>
      <p:pic>
        <p:nvPicPr>
          <p:cNvPr id="33" name="Image 4" descr="preencoded.png">    </p:cNvPr>
          <p:cNvPicPr>
            <a:picLocks noChangeAspect="1"/>
          </p:cNvPicPr>
          <p:nvPr/>
        </p:nvPicPr>
        <p:blipFill>
          <a:blip r:embed="rId6"/>
          <a:stretch>
            <a:fillRect/>
          </a:stretch>
        </p:blipFill>
        <p:spPr>
          <a:xfrm>
            <a:off x="3246120" y="4965192"/>
            <a:ext cx="201168" cy="201168"/>
          </a:xfrm>
          <a:prstGeom prst="rect">
            <a:avLst/>
          </a:prstGeom>
        </p:spPr>
      </p:pic>
      <p:sp>
        <p:nvSpPr>
          <p:cNvPr id="34" name="Text 27"/>
          <p:cNvSpPr txBox="1"/>
          <p:nvPr/>
        </p:nvSpPr>
        <p:spPr>
          <a:xfrm>
            <a:off x="3520440" y="4864608"/>
            <a:ext cx="3657600" cy="402336"/>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Redundante y triplicada (comerciante, IMARPE, fiscalizador).</a:t>
            </a:r>
            <a:endParaRPr lang="en-US" sz="1000" dirty="0"/>
          </a:p>
        </p:txBody>
      </p:sp>
      <p:pic>
        <p:nvPicPr>
          <p:cNvPr id="35" name="Image 5" descr="preencoded.png">    </p:cNvPr>
          <p:cNvPicPr>
            <a:picLocks noChangeAspect="1"/>
          </p:cNvPicPr>
          <p:nvPr/>
        </p:nvPicPr>
        <p:blipFill>
          <a:blip r:embed="rId7"/>
          <a:stretch>
            <a:fillRect/>
          </a:stretch>
        </p:blipFill>
        <p:spPr>
          <a:xfrm>
            <a:off x="7315200" y="4965192"/>
            <a:ext cx="201168" cy="201168"/>
          </a:xfrm>
          <a:prstGeom prst="rect">
            <a:avLst/>
          </a:prstGeom>
        </p:spPr>
      </p:pic>
      <p:sp>
        <p:nvSpPr>
          <p:cNvPr id="36" name="Text 28"/>
          <p:cNvSpPr txBox="1"/>
          <p:nvPr/>
        </p:nvSpPr>
        <p:spPr>
          <a:xfrm>
            <a:off x="7589520" y="4864608"/>
            <a:ext cx="3840480" cy="40233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Única captura digital en el muelle, repositorio central.</a:t>
            </a:r>
            <a:endParaRPr lang="en-US" sz="1000" dirty="0"/>
          </a:p>
        </p:txBody>
      </p:sp>
      <p:sp>
        <p:nvSpPr>
          <p:cNvPr id="37" name="Shape 29"/>
          <p:cNvSpPr/>
          <p:nvPr/>
        </p:nvSpPr>
        <p:spPr>
          <a:xfrm>
            <a:off x="777240" y="5276088"/>
            <a:ext cx="10607040" cy="914"/>
          </a:xfrm>
          <a:prstGeom prst="line">
            <a:avLst/>
          </a:prstGeom>
          <a:noFill/>
          <a:ln w="9525">
            <a:solidFill>
              <a:srgbClr val="DCE5F3"/>
            </a:solidFill>
            <a:prstDash val="solid"/>
          </a:ln>
        </p:spPr>
      </p:sp>
      <p:sp>
        <p:nvSpPr>
          <p:cNvPr id="38" name="Text 30"/>
          <p:cNvSpPr txBox="1"/>
          <p:nvPr/>
        </p:nvSpPr>
        <p:spPr>
          <a:xfrm>
            <a:off x="777240" y="5294376"/>
            <a:ext cx="2377440" cy="402336"/>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Validación normativa</a:t>
            </a:r>
            <a:endParaRPr lang="en-US" sz="1050" dirty="0"/>
          </a:p>
        </p:txBody>
      </p:sp>
      <p:pic>
        <p:nvPicPr>
          <p:cNvPr id="39" name="Image 6" descr="preencoded.png">    </p:cNvPr>
          <p:cNvPicPr>
            <a:picLocks noChangeAspect="1"/>
          </p:cNvPicPr>
          <p:nvPr/>
        </p:nvPicPr>
        <p:blipFill>
          <a:blip r:embed="rId8"/>
          <a:stretch>
            <a:fillRect/>
          </a:stretch>
        </p:blipFill>
        <p:spPr>
          <a:xfrm>
            <a:off x="3246120" y="5394960"/>
            <a:ext cx="201168" cy="201168"/>
          </a:xfrm>
          <a:prstGeom prst="rect">
            <a:avLst/>
          </a:prstGeom>
        </p:spPr>
      </p:pic>
      <p:sp>
        <p:nvSpPr>
          <p:cNvPr id="40" name="Text 31"/>
          <p:cNvSpPr txBox="1"/>
          <p:nvPr/>
        </p:nvSpPr>
        <p:spPr>
          <a:xfrm>
            <a:off x="3520440" y="5294376"/>
            <a:ext cx="3657600" cy="402336"/>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Manual y visual; 1 a 2 horas si hay errores.</a:t>
            </a:r>
            <a:endParaRPr lang="en-US" sz="1000" dirty="0"/>
          </a:p>
        </p:txBody>
      </p:sp>
      <p:pic>
        <p:nvPicPr>
          <p:cNvPr id="41" name="Image 7" descr="preencoded.png">    </p:cNvPr>
          <p:cNvPicPr>
            <a:picLocks noChangeAspect="1"/>
          </p:cNvPicPr>
          <p:nvPr/>
        </p:nvPicPr>
        <p:blipFill>
          <a:blip r:embed="rId9"/>
          <a:stretch>
            <a:fillRect/>
          </a:stretch>
        </p:blipFill>
        <p:spPr>
          <a:xfrm>
            <a:off x="7315200" y="5394960"/>
            <a:ext cx="201168" cy="201168"/>
          </a:xfrm>
          <a:prstGeom prst="rect">
            <a:avLst/>
          </a:prstGeom>
        </p:spPr>
      </p:pic>
      <p:sp>
        <p:nvSpPr>
          <p:cNvPr id="42" name="Text 32"/>
          <p:cNvSpPr txBox="1"/>
          <p:nvPr/>
        </p:nvSpPr>
        <p:spPr>
          <a:xfrm>
            <a:off x="7589520" y="5294376"/>
            <a:ext cx="3840480" cy="40233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Automatizada e instantánea con el motor de reglas.</a:t>
            </a:r>
            <a:endParaRPr lang="en-US" sz="1000" dirty="0"/>
          </a:p>
        </p:txBody>
      </p:sp>
      <p:sp>
        <p:nvSpPr>
          <p:cNvPr id="43" name="Shape 33"/>
          <p:cNvSpPr/>
          <p:nvPr/>
        </p:nvSpPr>
        <p:spPr>
          <a:xfrm>
            <a:off x="777240" y="5705856"/>
            <a:ext cx="10607040" cy="914"/>
          </a:xfrm>
          <a:prstGeom prst="line">
            <a:avLst/>
          </a:prstGeom>
          <a:noFill/>
          <a:ln w="9525">
            <a:solidFill>
              <a:srgbClr val="DCE5F3"/>
            </a:solidFill>
            <a:prstDash val="solid"/>
          </a:ln>
        </p:spPr>
      </p:sp>
      <p:sp>
        <p:nvSpPr>
          <p:cNvPr id="44" name="Text 34"/>
          <p:cNvSpPr txBox="1"/>
          <p:nvPr/>
        </p:nvSpPr>
        <p:spPr>
          <a:xfrm>
            <a:off x="777240" y="5724144"/>
            <a:ext cx="2377440" cy="402336"/>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Trazabilidad y constancia</a:t>
            </a:r>
            <a:endParaRPr lang="en-US" sz="1050" dirty="0"/>
          </a:p>
        </p:txBody>
      </p:sp>
      <p:pic>
        <p:nvPicPr>
          <p:cNvPr id="45" name="Image 8" descr="preencoded.png">    </p:cNvPr>
          <p:cNvPicPr>
            <a:picLocks noChangeAspect="1"/>
          </p:cNvPicPr>
          <p:nvPr/>
        </p:nvPicPr>
        <p:blipFill>
          <a:blip r:embed="rId10"/>
          <a:stretch>
            <a:fillRect/>
          </a:stretch>
        </p:blipFill>
        <p:spPr>
          <a:xfrm>
            <a:off x="3246120" y="5824728"/>
            <a:ext cx="201168" cy="201168"/>
          </a:xfrm>
          <a:prstGeom prst="rect">
            <a:avLst/>
          </a:prstGeom>
        </p:spPr>
      </p:pic>
      <p:sp>
        <p:nvSpPr>
          <p:cNvPr id="46" name="Text 35"/>
          <p:cNvSpPr txBox="1"/>
          <p:nvPr/>
        </p:nvSpPr>
        <p:spPr>
          <a:xfrm>
            <a:off x="3520440" y="5724144"/>
            <a:ext cx="3657600" cy="402336"/>
          </a:xfrm>
          <a:prstGeom prst="rect">
            <a:avLst/>
          </a:prstGeom>
          <a:noFill/>
          <a:ln/>
        </p:spPr>
        <p:txBody>
          <a:bodyPr wrap="square" lIns="0" tIns="0" rIns="0" bIns="0" rtlCol="0" anchor="ctr"/>
          <a:lstStyle/>
          <a:p>
            <a:pPr indent="0" marL="0">
              <a:buNone/>
            </a:pPr>
            <a:r>
              <a:rPr lang="en-US" sz="1000" dirty="0">
                <a:solidFill>
                  <a:srgbClr val="4A5878"/>
                </a:solidFill>
                <a:latin typeface="Open Sans" pitchFamily="34" charset="0"/>
                <a:ea typeface="Open Sans" pitchFamily="34" charset="-122"/>
                <a:cs typeface="Open Sans" pitchFamily="34" charset="-120"/>
              </a:rPr>
              <a:t>Inexistente; guías fáciles de falsificar.</a:t>
            </a:r>
            <a:endParaRPr lang="en-US" sz="1000" dirty="0"/>
          </a:p>
        </p:txBody>
      </p:sp>
      <p:pic>
        <p:nvPicPr>
          <p:cNvPr id="47" name="Image 9" descr="preencoded.png">    </p:cNvPr>
          <p:cNvPicPr>
            <a:picLocks noChangeAspect="1"/>
          </p:cNvPicPr>
          <p:nvPr/>
        </p:nvPicPr>
        <p:blipFill>
          <a:blip r:embed="rId11"/>
          <a:stretch>
            <a:fillRect/>
          </a:stretch>
        </p:blipFill>
        <p:spPr>
          <a:xfrm>
            <a:off x="7315200" y="5824728"/>
            <a:ext cx="201168" cy="201168"/>
          </a:xfrm>
          <a:prstGeom prst="rect">
            <a:avLst/>
          </a:prstGeom>
        </p:spPr>
      </p:pic>
      <p:sp>
        <p:nvSpPr>
          <p:cNvPr id="48" name="Text 36"/>
          <p:cNvSpPr txBox="1"/>
          <p:nvPr/>
        </p:nvSpPr>
        <p:spPr>
          <a:xfrm>
            <a:off x="7589520" y="5724144"/>
            <a:ext cx="3840480" cy="402336"/>
          </a:xfrm>
          <a:prstGeom prst="rect">
            <a:avLst/>
          </a:prstGeom>
          <a:noFill/>
          <a:ln/>
        </p:spPr>
        <p:txBody>
          <a:bodyPr wrap="square" lIns="0" tIns="0" rIns="0" bIns="0" rtlCol="0" anchor="ctr"/>
          <a:lstStyle/>
          <a:p>
            <a:pPr indent="0" marL="0">
              <a:buNone/>
            </a:pPr>
            <a:r>
              <a:rPr lang="en-US" sz="1000" dirty="0">
                <a:solidFill>
                  <a:srgbClr val="0E1B3D"/>
                </a:solidFill>
                <a:latin typeface="Open Sans" pitchFamily="34" charset="0"/>
                <a:ea typeface="Open Sans" pitchFamily="34" charset="-122"/>
                <a:cs typeface="Open Sans" pitchFamily="34" charset="-120"/>
              </a:rPr>
              <a:t>Constancia digital con QR y notificación por SMS.</a:t>
            </a:r>
            <a:endParaRPr lang="en-US" sz="1000" dirty="0"/>
          </a:p>
        </p:txBody>
      </p:sp>
      <p:sp>
        <p:nvSpPr>
          <p:cNvPr id="49" name="Text 37"/>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0" name="Text 38"/>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220517" cy="274320"/>
          </a:xfrm>
          <a:prstGeom prst="roundRect">
            <a:avLst>
              <a:gd name="adj" fmla="val 50000"/>
            </a:avLst>
          </a:prstGeom>
          <a:solidFill>
            <a:srgbClr val="00B8D4"/>
          </a:solidFill>
          <a:ln/>
        </p:spPr>
      </p:sp>
      <p:sp>
        <p:nvSpPr>
          <p:cNvPr id="3" name="Text 1"/>
          <p:cNvSpPr txBox="1"/>
          <p:nvPr/>
        </p:nvSpPr>
        <p:spPr>
          <a:xfrm>
            <a:off x="548640" y="292608"/>
            <a:ext cx="3220517"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3.3.1 MODELO DE DATOS</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Modelo entidad-relación conceptual</a:t>
            </a:r>
            <a:endParaRPr lang="en-US" sz="2400" dirty="0"/>
          </a:p>
        </p:txBody>
      </p:sp>
      <p:sp>
        <p:nvSpPr>
          <p:cNvPr id="5" name="Shape 3"/>
          <p:cNvSpPr/>
          <p:nvPr/>
        </p:nvSpPr>
        <p:spPr>
          <a:xfrm>
            <a:off x="3634740" y="2212848"/>
            <a:ext cx="502920" cy="914"/>
          </a:xfrm>
          <a:prstGeom prst="line">
            <a:avLst/>
          </a:prstGeom>
          <a:noFill/>
          <a:ln w="13970">
            <a:solidFill>
              <a:srgbClr val="008FB0"/>
            </a:solidFill>
            <a:prstDash val="solid"/>
          </a:ln>
        </p:spPr>
      </p:sp>
      <p:sp>
        <p:nvSpPr>
          <p:cNvPr id="6" name="Shape 4"/>
          <p:cNvSpPr/>
          <p:nvPr/>
        </p:nvSpPr>
        <p:spPr>
          <a:xfrm>
            <a:off x="5532120" y="2377440"/>
            <a:ext cx="1097280" cy="338328"/>
          </a:xfrm>
          <a:prstGeom prst="line">
            <a:avLst/>
          </a:prstGeom>
          <a:noFill/>
          <a:ln w="13970">
            <a:solidFill>
              <a:srgbClr val="008FB0"/>
            </a:solidFill>
            <a:prstDash val="solid"/>
          </a:ln>
        </p:spPr>
      </p:sp>
      <p:sp>
        <p:nvSpPr>
          <p:cNvPr id="7" name="Shape 5"/>
          <p:cNvSpPr/>
          <p:nvPr/>
        </p:nvSpPr>
        <p:spPr>
          <a:xfrm>
            <a:off x="6995160" y="1737360"/>
            <a:ext cx="914" cy="310896"/>
          </a:xfrm>
          <a:prstGeom prst="line">
            <a:avLst/>
          </a:prstGeom>
          <a:noFill/>
          <a:ln w="13970">
            <a:solidFill>
              <a:srgbClr val="008FB0"/>
            </a:solidFill>
            <a:prstDash val="solid"/>
          </a:ln>
        </p:spPr>
      </p:sp>
      <p:sp>
        <p:nvSpPr>
          <p:cNvPr id="8" name="Shape 6"/>
          <p:cNvSpPr/>
          <p:nvPr/>
        </p:nvSpPr>
        <p:spPr>
          <a:xfrm>
            <a:off x="6995160" y="2377440"/>
            <a:ext cx="914" cy="338328"/>
          </a:xfrm>
          <a:prstGeom prst="line">
            <a:avLst/>
          </a:prstGeom>
          <a:noFill/>
          <a:ln w="13970">
            <a:solidFill>
              <a:srgbClr val="008FB0"/>
            </a:solidFill>
            <a:prstDash val="solid"/>
          </a:ln>
        </p:spPr>
      </p:sp>
      <p:sp>
        <p:nvSpPr>
          <p:cNvPr id="9" name="Shape 7"/>
          <p:cNvSpPr/>
          <p:nvPr/>
        </p:nvSpPr>
        <p:spPr>
          <a:xfrm>
            <a:off x="3634740" y="2880360"/>
            <a:ext cx="923925" cy="914"/>
          </a:xfrm>
          <a:prstGeom prst="line">
            <a:avLst/>
          </a:prstGeom>
          <a:noFill/>
          <a:ln w="13970">
            <a:solidFill>
              <a:srgbClr val="008FB0"/>
            </a:solidFill>
            <a:prstDash val="dash"/>
          </a:ln>
        </p:spPr>
      </p:sp>
      <p:sp>
        <p:nvSpPr>
          <p:cNvPr id="10" name="Shape 8"/>
          <p:cNvSpPr/>
          <p:nvPr/>
        </p:nvSpPr>
        <p:spPr>
          <a:xfrm>
            <a:off x="5591175" y="2880360"/>
            <a:ext cx="1000125" cy="914"/>
          </a:xfrm>
          <a:prstGeom prst="line">
            <a:avLst/>
          </a:prstGeom>
          <a:noFill/>
          <a:ln w="13970">
            <a:solidFill>
              <a:srgbClr val="008FB0"/>
            </a:solidFill>
            <a:prstDash val="dash"/>
          </a:ln>
        </p:spPr>
      </p:sp>
      <p:sp>
        <p:nvSpPr>
          <p:cNvPr id="11" name="Shape 9"/>
          <p:cNvSpPr/>
          <p:nvPr/>
        </p:nvSpPr>
        <p:spPr>
          <a:xfrm>
            <a:off x="7947660" y="2880360"/>
            <a:ext cx="779145" cy="914"/>
          </a:xfrm>
          <a:prstGeom prst="line">
            <a:avLst/>
          </a:prstGeom>
          <a:noFill/>
          <a:ln w="13970">
            <a:solidFill>
              <a:srgbClr val="008FB0"/>
            </a:solidFill>
            <a:prstDash val="dash"/>
          </a:ln>
        </p:spPr>
      </p:sp>
      <p:sp>
        <p:nvSpPr>
          <p:cNvPr id="12" name="Shape 10"/>
          <p:cNvSpPr/>
          <p:nvPr/>
        </p:nvSpPr>
        <p:spPr>
          <a:xfrm flipH="1">
            <a:off x="6172200" y="3044952"/>
            <a:ext cx="2926080" cy="630936"/>
          </a:xfrm>
          <a:prstGeom prst="line">
            <a:avLst/>
          </a:prstGeom>
          <a:noFill/>
          <a:ln w="13970">
            <a:solidFill>
              <a:srgbClr val="008FB0"/>
            </a:solidFill>
            <a:prstDash val="dash"/>
          </a:ln>
        </p:spPr>
      </p:sp>
      <p:sp>
        <p:nvSpPr>
          <p:cNvPr id="13" name="Shape 11"/>
          <p:cNvSpPr/>
          <p:nvPr/>
        </p:nvSpPr>
        <p:spPr>
          <a:xfrm>
            <a:off x="5074920" y="3044952"/>
            <a:ext cx="914" cy="630936"/>
          </a:xfrm>
          <a:prstGeom prst="line">
            <a:avLst/>
          </a:prstGeom>
          <a:noFill/>
          <a:ln w="13970">
            <a:solidFill>
              <a:srgbClr val="008FB0"/>
            </a:solidFill>
            <a:prstDash val="dash"/>
          </a:ln>
        </p:spPr>
      </p:sp>
      <p:sp>
        <p:nvSpPr>
          <p:cNvPr id="14" name="Shape 12"/>
          <p:cNvSpPr/>
          <p:nvPr/>
        </p:nvSpPr>
        <p:spPr>
          <a:xfrm>
            <a:off x="1623060" y="3886200"/>
            <a:ext cx="731520" cy="914"/>
          </a:xfrm>
          <a:prstGeom prst="line">
            <a:avLst/>
          </a:prstGeom>
          <a:noFill/>
          <a:ln w="13970">
            <a:solidFill>
              <a:srgbClr val="008FB0"/>
            </a:solidFill>
            <a:prstDash val="dash"/>
          </a:ln>
        </p:spPr>
      </p:sp>
      <p:sp>
        <p:nvSpPr>
          <p:cNvPr id="15" name="Shape 13"/>
          <p:cNvSpPr/>
          <p:nvPr/>
        </p:nvSpPr>
        <p:spPr>
          <a:xfrm>
            <a:off x="3314700" y="3886200"/>
            <a:ext cx="1074420" cy="914"/>
          </a:xfrm>
          <a:prstGeom prst="line">
            <a:avLst/>
          </a:prstGeom>
          <a:noFill/>
          <a:ln w="13970">
            <a:solidFill>
              <a:srgbClr val="008FB0"/>
            </a:solidFill>
            <a:prstDash val="dash"/>
          </a:ln>
        </p:spPr>
      </p:sp>
      <p:sp>
        <p:nvSpPr>
          <p:cNvPr id="16" name="Shape 14"/>
          <p:cNvSpPr/>
          <p:nvPr/>
        </p:nvSpPr>
        <p:spPr>
          <a:xfrm flipV="1">
            <a:off x="2225040" y="4041648"/>
            <a:ext cx="2164080" cy="621792"/>
          </a:xfrm>
          <a:prstGeom prst="line">
            <a:avLst/>
          </a:prstGeom>
          <a:noFill/>
          <a:ln w="13970">
            <a:solidFill>
              <a:srgbClr val="008FB0"/>
            </a:solidFill>
            <a:prstDash val="dash"/>
          </a:ln>
        </p:spPr>
      </p:sp>
      <p:sp>
        <p:nvSpPr>
          <p:cNvPr id="17" name="Shape 15"/>
          <p:cNvSpPr/>
          <p:nvPr/>
        </p:nvSpPr>
        <p:spPr>
          <a:xfrm flipV="1">
            <a:off x="6309360" y="3749040"/>
            <a:ext cx="2025015" cy="18288"/>
          </a:xfrm>
          <a:prstGeom prst="line">
            <a:avLst/>
          </a:prstGeom>
          <a:noFill/>
          <a:ln w="13970">
            <a:solidFill>
              <a:srgbClr val="008FB0"/>
            </a:solidFill>
            <a:prstDash val="dash"/>
          </a:ln>
        </p:spPr>
      </p:sp>
      <p:sp>
        <p:nvSpPr>
          <p:cNvPr id="18" name="Shape 16"/>
          <p:cNvSpPr/>
          <p:nvPr/>
        </p:nvSpPr>
        <p:spPr>
          <a:xfrm>
            <a:off x="9496425" y="3749040"/>
            <a:ext cx="904875" cy="914"/>
          </a:xfrm>
          <a:prstGeom prst="line">
            <a:avLst/>
          </a:prstGeom>
          <a:noFill/>
          <a:ln w="13970">
            <a:solidFill>
              <a:srgbClr val="008FB0"/>
            </a:solidFill>
            <a:prstDash val="dash"/>
          </a:ln>
        </p:spPr>
      </p:sp>
      <p:sp>
        <p:nvSpPr>
          <p:cNvPr id="19" name="Shape 17"/>
          <p:cNvSpPr/>
          <p:nvPr/>
        </p:nvSpPr>
        <p:spPr>
          <a:xfrm flipH="1">
            <a:off x="1737360" y="4096512"/>
            <a:ext cx="2926080" cy="1271016"/>
          </a:xfrm>
          <a:prstGeom prst="line">
            <a:avLst/>
          </a:prstGeom>
          <a:noFill/>
          <a:ln w="13970">
            <a:solidFill>
              <a:srgbClr val="008FB0"/>
            </a:solidFill>
            <a:prstDash val="dash"/>
          </a:ln>
        </p:spPr>
      </p:sp>
      <p:sp>
        <p:nvSpPr>
          <p:cNvPr id="20" name="Shape 18"/>
          <p:cNvSpPr/>
          <p:nvPr/>
        </p:nvSpPr>
        <p:spPr>
          <a:xfrm flipH="1">
            <a:off x="3429000" y="4096512"/>
            <a:ext cx="1554480" cy="1271016"/>
          </a:xfrm>
          <a:prstGeom prst="line">
            <a:avLst/>
          </a:prstGeom>
          <a:noFill/>
          <a:ln w="13970">
            <a:solidFill>
              <a:srgbClr val="008FB0"/>
            </a:solidFill>
            <a:prstDash val="dash"/>
          </a:ln>
        </p:spPr>
      </p:sp>
      <p:sp>
        <p:nvSpPr>
          <p:cNvPr id="21" name="Shape 19"/>
          <p:cNvSpPr/>
          <p:nvPr/>
        </p:nvSpPr>
        <p:spPr>
          <a:xfrm>
            <a:off x="5440680" y="4096512"/>
            <a:ext cx="914" cy="1271016"/>
          </a:xfrm>
          <a:prstGeom prst="line">
            <a:avLst/>
          </a:prstGeom>
          <a:noFill/>
          <a:ln w="13970">
            <a:solidFill>
              <a:srgbClr val="008FB0"/>
            </a:solidFill>
            <a:prstDash val="dash"/>
          </a:ln>
        </p:spPr>
      </p:sp>
      <p:sp>
        <p:nvSpPr>
          <p:cNvPr id="22" name="Shape 20"/>
          <p:cNvSpPr/>
          <p:nvPr/>
        </p:nvSpPr>
        <p:spPr>
          <a:xfrm>
            <a:off x="6080760" y="4096512"/>
            <a:ext cx="1097280" cy="1271016"/>
          </a:xfrm>
          <a:prstGeom prst="line">
            <a:avLst/>
          </a:prstGeom>
          <a:noFill/>
          <a:ln w="13970">
            <a:solidFill>
              <a:srgbClr val="008FB0"/>
            </a:solidFill>
            <a:prstDash val="dash"/>
          </a:ln>
        </p:spPr>
      </p:sp>
      <p:sp>
        <p:nvSpPr>
          <p:cNvPr id="23" name="Shape 21"/>
          <p:cNvSpPr/>
          <p:nvPr/>
        </p:nvSpPr>
        <p:spPr>
          <a:xfrm>
            <a:off x="8227695" y="5532120"/>
            <a:ext cx="721995" cy="914"/>
          </a:xfrm>
          <a:prstGeom prst="line">
            <a:avLst/>
          </a:prstGeom>
          <a:noFill/>
          <a:ln w="13970">
            <a:solidFill>
              <a:srgbClr val="008FB0"/>
            </a:solidFill>
            <a:prstDash val="dash"/>
          </a:ln>
        </p:spPr>
      </p:sp>
      <p:sp>
        <p:nvSpPr>
          <p:cNvPr id="24" name="Shape 22"/>
          <p:cNvSpPr/>
          <p:nvPr/>
        </p:nvSpPr>
        <p:spPr>
          <a:xfrm>
            <a:off x="7452360" y="5696712"/>
            <a:ext cx="914" cy="402336"/>
          </a:xfrm>
          <a:prstGeom prst="line">
            <a:avLst/>
          </a:prstGeom>
          <a:noFill/>
          <a:ln w="13970">
            <a:solidFill>
              <a:srgbClr val="008FB0"/>
            </a:solidFill>
            <a:prstDash val="dash"/>
          </a:ln>
        </p:spPr>
      </p:sp>
      <p:sp>
        <p:nvSpPr>
          <p:cNvPr id="25" name="Shape 23"/>
          <p:cNvSpPr/>
          <p:nvPr/>
        </p:nvSpPr>
        <p:spPr>
          <a:xfrm>
            <a:off x="8098155" y="6263640"/>
            <a:ext cx="1114425" cy="914"/>
          </a:xfrm>
          <a:prstGeom prst="line">
            <a:avLst/>
          </a:prstGeom>
          <a:noFill/>
          <a:ln w="13970">
            <a:solidFill>
              <a:srgbClr val="008FB0"/>
            </a:solidFill>
            <a:prstDash val="dash"/>
          </a:ln>
        </p:spPr>
      </p:sp>
      <p:sp>
        <p:nvSpPr>
          <p:cNvPr id="26" name="Shape 24"/>
          <p:cNvSpPr/>
          <p:nvPr/>
        </p:nvSpPr>
        <p:spPr>
          <a:xfrm flipH="1">
            <a:off x="411480" y="2212848"/>
            <a:ext cx="2263140" cy="914"/>
          </a:xfrm>
          <a:prstGeom prst="line">
            <a:avLst/>
          </a:prstGeom>
          <a:noFill/>
          <a:ln w="13970">
            <a:solidFill>
              <a:srgbClr val="008FB0"/>
            </a:solidFill>
            <a:prstDash val="dash"/>
          </a:ln>
        </p:spPr>
      </p:sp>
      <p:sp>
        <p:nvSpPr>
          <p:cNvPr id="27" name="Shape 25"/>
          <p:cNvSpPr/>
          <p:nvPr/>
        </p:nvSpPr>
        <p:spPr>
          <a:xfrm>
            <a:off x="411480" y="2212848"/>
            <a:ext cx="914" cy="3776472"/>
          </a:xfrm>
          <a:prstGeom prst="line">
            <a:avLst/>
          </a:prstGeom>
          <a:noFill/>
          <a:ln w="13970">
            <a:solidFill>
              <a:srgbClr val="008FB0"/>
            </a:solidFill>
            <a:prstDash val="dash"/>
          </a:ln>
        </p:spPr>
      </p:sp>
      <p:sp>
        <p:nvSpPr>
          <p:cNvPr id="28" name="Shape 26"/>
          <p:cNvSpPr/>
          <p:nvPr/>
        </p:nvSpPr>
        <p:spPr>
          <a:xfrm>
            <a:off x="411480" y="5989320"/>
            <a:ext cx="6492240" cy="914"/>
          </a:xfrm>
          <a:prstGeom prst="line">
            <a:avLst/>
          </a:prstGeom>
          <a:noFill/>
          <a:ln w="13970">
            <a:solidFill>
              <a:srgbClr val="008FB0"/>
            </a:solidFill>
            <a:prstDash val="dash"/>
          </a:ln>
        </p:spPr>
      </p:sp>
      <p:sp>
        <p:nvSpPr>
          <p:cNvPr id="29" name="Shape 27"/>
          <p:cNvSpPr/>
          <p:nvPr/>
        </p:nvSpPr>
        <p:spPr>
          <a:xfrm flipV="1">
            <a:off x="6903720" y="5696712"/>
            <a:ext cx="914" cy="292608"/>
          </a:xfrm>
          <a:prstGeom prst="line">
            <a:avLst/>
          </a:prstGeom>
          <a:noFill/>
          <a:ln w="13970">
            <a:solidFill>
              <a:srgbClr val="008FB0"/>
            </a:solidFill>
            <a:prstDash val="dash"/>
          </a:ln>
        </p:spPr>
      </p:sp>
      <p:sp>
        <p:nvSpPr>
          <p:cNvPr id="30" name="Shape 28"/>
          <p:cNvSpPr/>
          <p:nvPr/>
        </p:nvSpPr>
        <p:spPr>
          <a:xfrm>
            <a:off x="7576185" y="1572768"/>
            <a:ext cx="4082415" cy="914"/>
          </a:xfrm>
          <a:prstGeom prst="line">
            <a:avLst/>
          </a:prstGeom>
          <a:noFill/>
          <a:ln w="13970">
            <a:solidFill>
              <a:srgbClr val="008FB0"/>
            </a:solidFill>
            <a:prstDash val="dash"/>
          </a:ln>
        </p:spPr>
      </p:sp>
      <p:sp>
        <p:nvSpPr>
          <p:cNvPr id="31" name="Shape 29"/>
          <p:cNvSpPr/>
          <p:nvPr/>
        </p:nvSpPr>
        <p:spPr>
          <a:xfrm>
            <a:off x="11658600" y="1572768"/>
            <a:ext cx="914" cy="2743200"/>
          </a:xfrm>
          <a:prstGeom prst="line">
            <a:avLst/>
          </a:prstGeom>
          <a:noFill/>
          <a:ln w="13970">
            <a:solidFill>
              <a:srgbClr val="008FB0"/>
            </a:solidFill>
            <a:prstDash val="dash"/>
          </a:ln>
        </p:spPr>
      </p:sp>
      <p:sp>
        <p:nvSpPr>
          <p:cNvPr id="32" name="Shape 30"/>
          <p:cNvSpPr/>
          <p:nvPr/>
        </p:nvSpPr>
        <p:spPr>
          <a:xfrm flipH="1">
            <a:off x="6629400" y="4315968"/>
            <a:ext cx="5029200" cy="914"/>
          </a:xfrm>
          <a:prstGeom prst="line">
            <a:avLst/>
          </a:prstGeom>
          <a:noFill/>
          <a:ln w="13970">
            <a:solidFill>
              <a:srgbClr val="008FB0"/>
            </a:solidFill>
            <a:prstDash val="dash"/>
          </a:ln>
        </p:spPr>
      </p:sp>
      <p:sp>
        <p:nvSpPr>
          <p:cNvPr id="33" name="Shape 31"/>
          <p:cNvSpPr/>
          <p:nvPr/>
        </p:nvSpPr>
        <p:spPr>
          <a:xfrm flipV="1">
            <a:off x="6629400" y="4023360"/>
            <a:ext cx="914" cy="292608"/>
          </a:xfrm>
          <a:prstGeom prst="line">
            <a:avLst/>
          </a:prstGeom>
          <a:noFill/>
          <a:ln w="13970">
            <a:solidFill>
              <a:srgbClr val="008FB0"/>
            </a:solidFill>
            <a:prstDash val="dash"/>
          </a:ln>
        </p:spPr>
      </p:sp>
      <p:sp>
        <p:nvSpPr>
          <p:cNvPr id="34" name="Shape 32"/>
          <p:cNvSpPr/>
          <p:nvPr/>
        </p:nvSpPr>
        <p:spPr>
          <a:xfrm flipH="1">
            <a:off x="6309360" y="4023360"/>
            <a:ext cx="320040" cy="914"/>
          </a:xfrm>
          <a:prstGeom prst="line">
            <a:avLst/>
          </a:prstGeom>
          <a:noFill/>
          <a:ln w="13970">
            <a:solidFill>
              <a:srgbClr val="008FB0"/>
            </a:solidFill>
            <a:prstDash val="dash"/>
          </a:ln>
        </p:spPr>
      </p:sp>
      <p:sp>
        <p:nvSpPr>
          <p:cNvPr id="35" name="Shape 33"/>
          <p:cNvSpPr/>
          <p:nvPr/>
        </p:nvSpPr>
        <p:spPr>
          <a:xfrm>
            <a:off x="3879056" y="2907792"/>
            <a:ext cx="435293" cy="201168"/>
          </a:xfrm>
          <a:prstGeom prst="roundRect">
            <a:avLst>
              <a:gd name="adj" fmla="val 22727"/>
            </a:avLst>
          </a:prstGeom>
          <a:solidFill>
            <a:srgbClr val="FFFFFF"/>
          </a:solidFill>
          <a:ln/>
        </p:spPr>
      </p:sp>
      <p:sp>
        <p:nvSpPr>
          <p:cNvPr id="36" name="Text 34"/>
          <p:cNvSpPr txBox="1"/>
          <p:nvPr/>
        </p:nvSpPr>
        <p:spPr>
          <a:xfrm>
            <a:off x="3879056" y="2907792"/>
            <a:ext cx="435293"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posee</a:t>
            </a:r>
            <a:endParaRPr lang="en-US" sz="750" dirty="0"/>
          </a:p>
        </p:txBody>
      </p:sp>
      <p:sp>
        <p:nvSpPr>
          <p:cNvPr id="37" name="Shape 35"/>
          <p:cNvSpPr/>
          <p:nvPr/>
        </p:nvSpPr>
        <p:spPr>
          <a:xfrm>
            <a:off x="5747385" y="2907792"/>
            <a:ext cx="687705" cy="201168"/>
          </a:xfrm>
          <a:prstGeom prst="roundRect">
            <a:avLst>
              <a:gd name="adj" fmla="val 22727"/>
            </a:avLst>
          </a:prstGeom>
          <a:solidFill>
            <a:srgbClr val="FFFFFF"/>
          </a:solidFill>
          <a:ln/>
        </p:spPr>
      </p:sp>
      <p:sp>
        <p:nvSpPr>
          <p:cNvPr id="38" name="Text 36"/>
          <p:cNvSpPr txBox="1"/>
          <p:nvPr/>
        </p:nvSpPr>
        <p:spPr>
          <a:xfrm>
            <a:off x="5747385" y="2907792"/>
            <a:ext cx="687705"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cuenta con</a:t>
            </a:r>
            <a:endParaRPr lang="en-US" sz="750" dirty="0"/>
          </a:p>
        </p:txBody>
      </p:sp>
      <p:sp>
        <p:nvSpPr>
          <p:cNvPr id="39" name="Shape 37"/>
          <p:cNvSpPr/>
          <p:nvPr/>
        </p:nvSpPr>
        <p:spPr>
          <a:xfrm>
            <a:off x="8119586" y="2907792"/>
            <a:ext cx="435293" cy="201168"/>
          </a:xfrm>
          <a:prstGeom prst="roundRect">
            <a:avLst>
              <a:gd name="adj" fmla="val 22727"/>
            </a:avLst>
          </a:prstGeom>
          <a:solidFill>
            <a:srgbClr val="FFFFFF"/>
          </a:solidFill>
          <a:ln/>
        </p:spPr>
      </p:sp>
      <p:sp>
        <p:nvSpPr>
          <p:cNvPr id="40" name="Text 38"/>
          <p:cNvSpPr txBox="1"/>
          <p:nvPr/>
        </p:nvSpPr>
        <p:spPr>
          <a:xfrm>
            <a:off x="8119586" y="2907792"/>
            <a:ext cx="435293"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envía</a:t>
            </a:r>
            <a:endParaRPr lang="en-US" sz="750" dirty="0"/>
          </a:p>
        </p:txBody>
      </p:sp>
      <p:sp>
        <p:nvSpPr>
          <p:cNvPr id="41" name="Shape 39"/>
          <p:cNvSpPr/>
          <p:nvPr/>
        </p:nvSpPr>
        <p:spPr>
          <a:xfrm>
            <a:off x="7367111" y="3387852"/>
            <a:ext cx="536258" cy="201168"/>
          </a:xfrm>
          <a:prstGeom prst="roundRect">
            <a:avLst>
              <a:gd name="adj" fmla="val 22727"/>
            </a:avLst>
          </a:prstGeom>
          <a:solidFill>
            <a:srgbClr val="FFFFFF"/>
          </a:solidFill>
          <a:ln/>
        </p:spPr>
      </p:sp>
      <p:sp>
        <p:nvSpPr>
          <p:cNvPr id="42" name="Text 40"/>
          <p:cNvSpPr txBox="1"/>
          <p:nvPr/>
        </p:nvSpPr>
        <p:spPr>
          <a:xfrm>
            <a:off x="7367111" y="3387852"/>
            <a:ext cx="536258"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origina</a:t>
            </a:r>
            <a:endParaRPr lang="en-US" sz="750" dirty="0"/>
          </a:p>
        </p:txBody>
      </p:sp>
      <p:sp>
        <p:nvSpPr>
          <p:cNvPr id="43" name="Shape 41"/>
          <p:cNvSpPr/>
          <p:nvPr/>
        </p:nvSpPr>
        <p:spPr>
          <a:xfrm>
            <a:off x="4806791" y="3259836"/>
            <a:ext cx="536258" cy="201168"/>
          </a:xfrm>
          <a:prstGeom prst="roundRect">
            <a:avLst>
              <a:gd name="adj" fmla="val 22727"/>
            </a:avLst>
          </a:prstGeom>
          <a:solidFill>
            <a:srgbClr val="FFFFFF"/>
          </a:solidFill>
          <a:ln/>
        </p:spPr>
      </p:sp>
      <p:sp>
        <p:nvSpPr>
          <p:cNvPr id="44" name="Text 42"/>
          <p:cNvSpPr txBox="1"/>
          <p:nvPr/>
        </p:nvSpPr>
        <p:spPr>
          <a:xfrm>
            <a:off x="4806791" y="3259836"/>
            <a:ext cx="536258"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realiza</a:t>
            </a:r>
            <a:endParaRPr lang="en-US" sz="750" dirty="0"/>
          </a:p>
        </p:txBody>
      </p:sp>
      <p:sp>
        <p:nvSpPr>
          <p:cNvPr id="45" name="Shape 43"/>
          <p:cNvSpPr/>
          <p:nvPr/>
        </p:nvSpPr>
        <p:spPr>
          <a:xfrm>
            <a:off x="1745932" y="3913632"/>
            <a:ext cx="485775" cy="201168"/>
          </a:xfrm>
          <a:prstGeom prst="roundRect">
            <a:avLst>
              <a:gd name="adj" fmla="val 22727"/>
            </a:avLst>
          </a:prstGeom>
          <a:solidFill>
            <a:srgbClr val="FFFFFF"/>
          </a:solidFill>
          <a:ln/>
        </p:spPr>
      </p:sp>
      <p:sp>
        <p:nvSpPr>
          <p:cNvPr id="46" name="Text 44"/>
          <p:cNvSpPr txBox="1"/>
          <p:nvPr/>
        </p:nvSpPr>
        <p:spPr>
          <a:xfrm>
            <a:off x="1745932" y="3913632"/>
            <a:ext cx="485775"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asigna</a:t>
            </a:r>
            <a:endParaRPr lang="en-US" sz="750" dirty="0"/>
          </a:p>
        </p:txBody>
      </p:sp>
      <p:sp>
        <p:nvSpPr>
          <p:cNvPr id="47" name="Shape 45"/>
          <p:cNvSpPr/>
          <p:nvPr/>
        </p:nvSpPr>
        <p:spPr>
          <a:xfrm>
            <a:off x="3558540" y="3913632"/>
            <a:ext cx="586740" cy="201168"/>
          </a:xfrm>
          <a:prstGeom prst="roundRect">
            <a:avLst>
              <a:gd name="adj" fmla="val 22727"/>
            </a:avLst>
          </a:prstGeom>
          <a:solidFill>
            <a:srgbClr val="FFFFFF"/>
          </a:solidFill>
          <a:ln/>
        </p:spPr>
      </p:sp>
      <p:sp>
        <p:nvSpPr>
          <p:cNvPr id="48" name="Text 46"/>
          <p:cNvSpPr txBox="1"/>
          <p:nvPr/>
        </p:nvSpPr>
        <p:spPr>
          <a:xfrm>
            <a:off x="3558540" y="3913632"/>
            <a:ext cx="586740"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registra</a:t>
            </a:r>
            <a:endParaRPr lang="en-US" sz="750" dirty="0"/>
          </a:p>
        </p:txBody>
      </p:sp>
      <p:sp>
        <p:nvSpPr>
          <p:cNvPr id="49" name="Shape 47"/>
          <p:cNvSpPr/>
          <p:nvPr/>
        </p:nvSpPr>
        <p:spPr>
          <a:xfrm>
            <a:off x="3064193" y="4379976"/>
            <a:ext cx="485775" cy="201168"/>
          </a:xfrm>
          <a:prstGeom prst="roundRect">
            <a:avLst>
              <a:gd name="adj" fmla="val 22727"/>
            </a:avLst>
          </a:prstGeom>
          <a:solidFill>
            <a:srgbClr val="FFFFFF"/>
          </a:solidFill>
          <a:ln/>
        </p:spPr>
      </p:sp>
      <p:sp>
        <p:nvSpPr>
          <p:cNvPr id="50" name="Text 48"/>
          <p:cNvSpPr txBox="1"/>
          <p:nvPr/>
        </p:nvSpPr>
        <p:spPr>
          <a:xfrm>
            <a:off x="3064193" y="4379976"/>
            <a:ext cx="485775"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recibe</a:t>
            </a:r>
            <a:endParaRPr lang="en-US" sz="750" dirty="0"/>
          </a:p>
        </p:txBody>
      </p:sp>
      <p:sp>
        <p:nvSpPr>
          <p:cNvPr id="51" name="Shape 49"/>
          <p:cNvSpPr/>
          <p:nvPr/>
        </p:nvSpPr>
        <p:spPr>
          <a:xfrm>
            <a:off x="6927533" y="3785616"/>
            <a:ext cx="788670" cy="201168"/>
          </a:xfrm>
          <a:prstGeom prst="roundRect">
            <a:avLst>
              <a:gd name="adj" fmla="val 22727"/>
            </a:avLst>
          </a:prstGeom>
          <a:solidFill>
            <a:srgbClr val="FFFFFF"/>
          </a:solidFill>
          <a:ln/>
        </p:spPr>
      </p:sp>
      <p:sp>
        <p:nvSpPr>
          <p:cNvPr id="52" name="Text 50"/>
          <p:cNvSpPr txBox="1"/>
          <p:nvPr/>
        </p:nvSpPr>
        <p:spPr>
          <a:xfrm>
            <a:off x="6927533" y="3785616"/>
            <a:ext cx="788670"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es origen de</a:t>
            </a:r>
            <a:endParaRPr lang="en-US" sz="750" dirty="0"/>
          </a:p>
        </p:txBody>
      </p:sp>
      <p:sp>
        <p:nvSpPr>
          <p:cNvPr id="53" name="Shape 51"/>
          <p:cNvSpPr/>
          <p:nvPr/>
        </p:nvSpPr>
        <p:spPr>
          <a:xfrm>
            <a:off x="9655493" y="3776472"/>
            <a:ext cx="586740" cy="201168"/>
          </a:xfrm>
          <a:prstGeom prst="roundRect">
            <a:avLst>
              <a:gd name="adj" fmla="val 22727"/>
            </a:avLst>
          </a:prstGeom>
          <a:solidFill>
            <a:srgbClr val="FFFFFF"/>
          </a:solidFill>
          <a:ln/>
        </p:spPr>
      </p:sp>
      <p:sp>
        <p:nvSpPr>
          <p:cNvPr id="54" name="Text 52"/>
          <p:cNvSpPr txBox="1"/>
          <p:nvPr/>
        </p:nvSpPr>
        <p:spPr>
          <a:xfrm>
            <a:off x="9655493" y="3776472"/>
            <a:ext cx="586740"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delimita</a:t>
            </a:r>
            <a:endParaRPr lang="en-US" sz="750" dirty="0"/>
          </a:p>
        </p:txBody>
      </p:sp>
      <p:sp>
        <p:nvSpPr>
          <p:cNvPr id="55" name="Shape 53"/>
          <p:cNvSpPr/>
          <p:nvPr/>
        </p:nvSpPr>
        <p:spPr>
          <a:xfrm>
            <a:off x="457200" y="3154680"/>
            <a:ext cx="637223" cy="201168"/>
          </a:xfrm>
          <a:prstGeom prst="roundRect">
            <a:avLst>
              <a:gd name="adj" fmla="val 22727"/>
            </a:avLst>
          </a:prstGeom>
          <a:solidFill>
            <a:srgbClr val="FFFFFF"/>
          </a:solidFill>
          <a:ln/>
        </p:spPr>
      </p:sp>
      <p:sp>
        <p:nvSpPr>
          <p:cNvPr id="56" name="Text 54"/>
          <p:cNvSpPr txBox="1"/>
          <p:nvPr/>
        </p:nvSpPr>
        <p:spPr>
          <a:xfrm>
            <a:off x="457200" y="3154680"/>
            <a:ext cx="637223"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clasifica</a:t>
            </a:r>
            <a:endParaRPr lang="en-US" sz="750" dirty="0"/>
          </a:p>
        </p:txBody>
      </p:sp>
      <p:sp>
        <p:nvSpPr>
          <p:cNvPr id="57" name="Shape 55"/>
          <p:cNvSpPr/>
          <p:nvPr/>
        </p:nvSpPr>
        <p:spPr>
          <a:xfrm>
            <a:off x="10241280" y="4215384"/>
            <a:ext cx="788670" cy="201168"/>
          </a:xfrm>
          <a:prstGeom prst="roundRect">
            <a:avLst>
              <a:gd name="adj" fmla="val 22727"/>
            </a:avLst>
          </a:prstGeom>
          <a:solidFill>
            <a:srgbClr val="FFFFFF"/>
          </a:solidFill>
          <a:ln/>
        </p:spPr>
      </p:sp>
      <p:sp>
        <p:nvSpPr>
          <p:cNvPr id="58" name="Text 56"/>
          <p:cNvSpPr txBox="1"/>
          <p:nvPr/>
        </p:nvSpPr>
        <p:spPr>
          <a:xfrm>
            <a:off x="10241280" y="4215384"/>
            <a:ext cx="788670" cy="201168"/>
          </a:xfrm>
          <a:prstGeom prst="rect">
            <a:avLst/>
          </a:prstGeom>
          <a:noFill/>
          <a:ln/>
        </p:spPr>
        <p:txBody>
          <a:bodyPr wrap="square" lIns="0" tIns="0" rIns="0" bIns="0" rtlCol="0" anchor="ctr"/>
          <a:lstStyle/>
          <a:p>
            <a:pPr algn="ctr" indent="0" marL="0">
              <a:buNone/>
            </a:pPr>
            <a:r>
              <a:rPr lang="en-US" sz="750" i="1" dirty="0">
                <a:solidFill>
                  <a:srgbClr val="4A5878"/>
                </a:solidFill>
                <a:latin typeface="Open Sans" pitchFamily="34" charset="0"/>
                <a:ea typeface="Open Sans" pitchFamily="34" charset="-122"/>
                <a:cs typeface="Open Sans" pitchFamily="34" charset="-120"/>
              </a:rPr>
              <a:t>se emplea en</a:t>
            </a:r>
            <a:endParaRPr lang="en-US" sz="750" dirty="0"/>
          </a:p>
        </p:txBody>
      </p:sp>
      <p:sp>
        <p:nvSpPr>
          <p:cNvPr id="59" name="Text 57"/>
          <p:cNvSpPr txBox="1"/>
          <p:nvPr/>
        </p:nvSpPr>
        <p:spPr>
          <a:xfrm>
            <a:off x="3671316" y="202996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60" name="Text 58"/>
          <p:cNvSpPr txBox="1"/>
          <p:nvPr/>
        </p:nvSpPr>
        <p:spPr>
          <a:xfrm>
            <a:off x="3689604" y="2029968"/>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61" name="Text 59"/>
          <p:cNvSpPr txBox="1"/>
          <p:nvPr/>
        </p:nvSpPr>
        <p:spPr>
          <a:xfrm>
            <a:off x="5568696" y="219456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62" name="Text 60"/>
          <p:cNvSpPr txBox="1"/>
          <p:nvPr/>
        </p:nvSpPr>
        <p:spPr>
          <a:xfrm>
            <a:off x="6181344" y="2532888"/>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63" name="Text 61"/>
          <p:cNvSpPr txBox="1"/>
          <p:nvPr/>
        </p:nvSpPr>
        <p:spPr>
          <a:xfrm>
            <a:off x="7040880" y="17556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64" name="Text 62"/>
          <p:cNvSpPr txBox="1"/>
          <p:nvPr/>
        </p:nvSpPr>
        <p:spPr>
          <a:xfrm>
            <a:off x="7040880" y="1865376"/>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65" name="Text 63"/>
          <p:cNvSpPr txBox="1"/>
          <p:nvPr/>
        </p:nvSpPr>
        <p:spPr>
          <a:xfrm>
            <a:off x="7040880" y="239572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66" name="Text 64"/>
          <p:cNvSpPr txBox="1"/>
          <p:nvPr/>
        </p:nvSpPr>
        <p:spPr>
          <a:xfrm>
            <a:off x="7040880" y="253288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67" name="Text 65"/>
          <p:cNvSpPr txBox="1"/>
          <p:nvPr/>
        </p:nvSpPr>
        <p:spPr>
          <a:xfrm>
            <a:off x="3671316" y="269748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68" name="Text 66"/>
          <p:cNvSpPr txBox="1"/>
          <p:nvPr/>
        </p:nvSpPr>
        <p:spPr>
          <a:xfrm>
            <a:off x="4110609" y="269748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69" name="Text 67"/>
          <p:cNvSpPr txBox="1"/>
          <p:nvPr/>
        </p:nvSpPr>
        <p:spPr>
          <a:xfrm>
            <a:off x="5627751" y="269748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70" name="Text 68"/>
          <p:cNvSpPr txBox="1"/>
          <p:nvPr/>
        </p:nvSpPr>
        <p:spPr>
          <a:xfrm>
            <a:off x="6143244" y="269748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71" name="Text 69"/>
          <p:cNvSpPr txBox="1"/>
          <p:nvPr/>
        </p:nvSpPr>
        <p:spPr>
          <a:xfrm>
            <a:off x="7984236" y="269748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72" name="Text 70"/>
          <p:cNvSpPr txBox="1"/>
          <p:nvPr/>
        </p:nvSpPr>
        <p:spPr>
          <a:xfrm>
            <a:off x="8278749" y="269748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73" name="Text 71"/>
          <p:cNvSpPr txBox="1"/>
          <p:nvPr/>
        </p:nvSpPr>
        <p:spPr>
          <a:xfrm>
            <a:off x="8650224" y="2862072"/>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74" name="Text 72"/>
          <p:cNvSpPr txBox="1"/>
          <p:nvPr/>
        </p:nvSpPr>
        <p:spPr>
          <a:xfrm>
            <a:off x="6208776" y="349300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75" name="Text 73"/>
          <p:cNvSpPr txBox="1"/>
          <p:nvPr/>
        </p:nvSpPr>
        <p:spPr>
          <a:xfrm>
            <a:off x="5120640" y="306324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76" name="Text 74"/>
          <p:cNvSpPr txBox="1"/>
          <p:nvPr/>
        </p:nvSpPr>
        <p:spPr>
          <a:xfrm>
            <a:off x="5120640" y="349300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77" name="Text 75"/>
          <p:cNvSpPr txBox="1"/>
          <p:nvPr/>
        </p:nvSpPr>
        <p:spPr>
          <a:xfrm>
            <a:off x="1659636" y="370332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78" name="Text 76"/>
          <p:cNvSpPr txBox="1"/>
          <p:nvPr/>
        </p:nvSpPr>
        <p:spPr>
          <a:xfrm>
            <a:off x="1906524" y="370332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79" name="Text 77"/>
          <p:cNvSpPr txBox="1"/>
          <p:nvPr/>
        </p:nvSpPr>
        <p:spPr>
          <a:xfrm>
            <a:off x="3351276" y="370332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80" name="Text 78"/>
          <p:cNvSpPr txBox="1"/>
          <p:nvPr/>
        </p:nvSpPr>
        <p:spPr>
          <a:xfrm>
            <a:off x="3941064" y="370332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81" name="Text 79"/>
          <p:cNvSpPr txBox="1"/>
          <p:nvPr/>
        </p:nvSpPr>
        <p:spPr>
          <a:xfrm>
            <a:off x="2261616" y="448056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82" name="Text 80"/>
          <p:cNvSpPr txBox="1"/>
          <p:nvPr/>
        </p:nvSpPr>
        <p:spPr>
          <a:xfrm>
            <a:off x="3941064" y="3858768"/>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83" name="Text 81"/>
          <p:cNvSpPr txBox="1"/>
          <p:nvPr/>
        </p:nvSpPr>
        <p:spPr>
          <a:xfrm>
            <a:off x="6345936" y="35844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84" name="Text 82"/>
          <p:cNvSpPr txBox="1"/>
          <p:nvPr/>
        </p:nvSpPr>
        <p:spPr>
          <a:xfrm>
            <a:off x="7886319" y="356616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85" name="Text 83"/>
          <p:cNvSpPr txBox="1"/>
          <p:nvPr/>
        </p:nvSpPr>
        <p:spPr>
          <a:xfrm>
            <a:off x="9533001" y="356616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86" name="Text 84"/>
          <p:cNvSpPr txBox="1"/>
          <p:nvPr/>
        </p:nvSpPr>
        <p:spPr>
          <a:xfrm>
            <a:off x="9953244" y="356616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87" name="Text 85"/>
          <p:cNvSpPr txBox="1"/>
          <p:nvPr/>
        </p:nvSpPr>
        <p:spPr>
          <a:xfrm>
            <a:off x="4215384" y="3913632"/>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88" name="Text 86"/>
          <p:cNvSpPr txBox="1"/>
          <p:nvPr/>
        </p:nvSpPr>
        <p:spPr>
          <a:xfrm>
            <a:off x="1773936" y="51846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89" name="Text 87"/>
          <p:cNvSpPr txBox="1"/>
          <p:nvPr/>
        </p:nvSpPr>
        <p:spPr>
          <a:xfrm>
            <a:off x="4535424" y="3913632"/>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90" name="Text 88"/>
          <p:cNvSpPr txBox="1"/>
          <p:nvPr/>
        </p:nvSpPr>
        <p:spPr>
          <a:xfrm>
            <a:off x="3465576" y="51846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91" name="Text 89"/>
          <p:cNvSpPr txBox="1"/>
          <p:nvPr/>
        </p:nvSpPr>
        <p:spPr>
          <a:xfrm>
            <a:off x="5486400" y="411480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92" name="Text 90"/>
          <p:cNvSpPr txBox="1"/>
          <p:nvPr/>
        </p:nvSpPr>
        <p:spPr>
          <a:xfrm>
            <a:off x="5486400" y="51846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93" name="Text 91"/>
          <p:cNvSpPr txBox="1"/>
          <p:nvPr/>
        </p:nvSpPr>
        <p:spPr>
          <a:xfrm>
            <a:off x="6126480" y="411480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94" name="Text 92"/>
          <p:cNvSpPr txBox="1"/>
          <p:nvPr/>
        </p:nvSpPr>
        <p:spPr>
          <a:xfrm>
            <a:off x="7223760" y="518464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95" name="Text 93"/>
          <p:cNvSpPr txBox="1"/>
          <p:nvPr/>
        </p:nvSpPr>
        <p:spPr>
          <a:xfrm>
            <a:off x="8264271" y="534924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96" name="Text 94"/>
          <p:cNvSpPr txBox="1"/>
          <p:nvPr/>
        </p:nvSpPr>
        <p:spPr>
          <a:xfrm>
            <a:off x="8501634" y="534924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97" name="Text 95"/>
          <p:cNvSpPr txBox="1"/>
          <p:nvPr/>
        </p:nvSpPr>
        <p:spPr>
          <a:xfrm>
            <a:off x="7498080" y="571500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98" name="Text 96"/>
          <p:cNvSpPr txBox="1"/>
          <p:nvPr/>
        </p:nvSpPr>
        <p:spPr>
          <a:xfrm>
            <a:off x="7498080" y="591616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99" name="Text 97"/>
          <p:cNvSpPr txBox="1"/>
          <p:nvPr/>
        </p:nvSpPr>
        <p:spPr>
          <a:xfrm>
            <a:off x="8134731" y="608076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100" name="Text 98"/>
          <p:cNvSpPr txBox="1"/>
          <p:nvPr/>
        </p:nvSpPr>
        <p:spPr>
          <a:xfrm>
            <a:off x="8764524" y="6080760"/>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101" name="Text 99"/>
          <p:cNvSpPr txBox="1"/>
          <p:nvPr/>
        </p:nvSpPr>
        <p:spPr>
          <a:xfrm>
            <a:off x="2226564" y="2029968"/>
            <a:ext cx="411480" cy="164592"/>
          </a:xfrm>
          <a:prstGeom prst="rect">
            <a:avLst/>
          </a:prstGeom>
          <a:noFill/>
          <a:ln/>
        </p:spPr>
        <p:txBody>
          <a:bodyPr wrap="square" lIns="0" tIns="0" rIns="0" bIns="0" rtlCol="0" anchor="ctr"/>
          <a:lstStyle/>
          <a:p>
            <a:pPr algn="r"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102" name="Text 100"/>
          <p:cNvSpPr txBox="1"/>
          <p:nvPr/>
        </p:nvSpPr>
        <p:spPr>
          <a:xfrm>
            <a:off x="6949440" y="571500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103" name="Text 101"/>
          <p:cNvSpPr txBox="1"/>
          <p:nvPr/>
        </p:nvSpPr>
        <p:spPr>
          <a:xfrm>
            <a:off x="7612761" y="1389888"/>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1</a:t>
            </a:r>
            <a:endParaRPr lang="en-US" sz="700" dirty="0"/>
          </a:p>
        </p:txBody>
      </p:sp>
      <p:sp>
        <p:nvSpPr>
          <p:cNvPr id="104" name="Text 102"/>
          <p:cNvSpPr txBox="1"/>
          <p:nvPr/>
        </p:nvSpPr>
        <p:spPr>
          <a:xfrm>
            <a:off x="6345936" y="3840480"/>
            <a:ext cx="411480" cy="164592"/>
          </a:xfrm>
          <a:prstGeom prst="rect">
            <a:avLst/>
          </a:prstGeom>
          <a:noFill/>
          <a:ln/>
        </p:spPr>
        <p:txBody>
          <a:bodyPr wrap="square" lIns="0" tIns="0" rIns="0" bIns="0" rtlCol="0" anchor="ctr"/>
          <a:lstStyle/>
          <a:p>
            <a:pPr algn="l" indent="0" marL="0">
              <a:buNone/>
            </a:pPr>
            <a:r>
              <a:rPr lang="en-US" sz="700" b="1" dirty="0">
                <a:solidFill>
                  <a:srgbClr val="5B3EE0"/>
                </a:solidFill>
                <a:latin typeface="Open Sans" pitchFamily="34" charset="0"/>
                <a:ea typeface="Open Sans" pitchFamily="34" charset="-122"/>
                <a:cs typeface="Open Sans" pitchFamily="34" charset="-120"/>
              </a:rPr>
              <a:t>0..N</a:t>
            </a:r>
            <a:endParaRPr lang="en-US" sz="700" dirty="0"/>
          </a:p>
        </p:txBody>
      </p:sp>
      <p:sp>
        <p:nvSpPr>
          <p:cNvPr id="105" name="Shape 103"/>
          <p:cNvSpPr/>
          <p:nvPr/>
        </p:nvSpPr>
        <p:spPr>
          <a:xfrm>
            <a:off x="6414135" y="1408176"/>
            <a:ext cx="116205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06" name="Text 104"/>
          <p:cNvSpPr txBox="1"/>
          <p:nvPr/>
        </p:nvSpPr>
        <p:spPr>
          <a:xfrm>
            <a:off x="6468999" y="1408176"/>
            <a:ext cx="105232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Arte de pesca</a:t>
            </a:r>
            <a:endParaRPr lang="en-US" sz="850" dirty="0"/>
          </a:p>
        </p:txBody>
      </p:sp>
      <p:sp>
        <p:nvSpPr>
          <p:cNvPr id="107" name="Shape 105"/>
          <p:cNvSpPr/>
          <p:nvPr/>
        </p:nvSpPr>
        <p:spPr>
          <a:xfrm>
            <a:off x="2674620" y="2048256"/>
            <a:ext cx="96012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08" name="Text 106"/>
          <p:cNvSpPr txBox="1"/>
          <p:nvPr/>
        </p:nvSpPr>
        <p:spPr>
          <a:xfrm>
            <a:off x="2729484" y="2048256"/>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Especie</a:t>
            </a:r>
            <a:endParaRPr lang="en-US" sz="850" dirty="0"/>
          </a:p>
        </p:txBody>
      </p:sp>
      <p:sp>
        <p:nvSpPr>
          <p:cNvPr id="109" name="Shape 107"/>
          <p:cNvSpPr/>
          <p:nvPr/>
        </p:nvSpPr>
        <p:spPr>
          <a:xfrm>
            <a:off x="4137660" y="2048256"/>
            <a:ext cx="187452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10" name="Text 108"/>
          <p:cNvSpPr txBox="1"/>
          <p:nvPr/>
        </p:nvSpPr>
        <p:spPr>
          <a:xfrm>
            <a:off x="4192524" y="2048256"/>
            <a:ext cx="17647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Especie_Permiso de pesca</a:t>
            </a:r>
            <a:endParaRPr lang="en-US" sz="850" dirty="0"/>
          </a:p>
        </p:txBody>
      </p:sp>
      <p:sp>
        <p:nvSpPr>
          <p:cNvPr id="111" name="Shape 109"/>
          <p:cNvSpPr/>
          <p:nvPr/>
        </p:nvSpPr>
        <p:spPr>
          <a:xfrm>
            <a:off x="6137910" y="2048256"/>
            <a:ext cx="226314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12" name="Text 110"/>
          <p:cNvSpPr txBox="1"/>
          <p:nvPr/>
        </p:nvSpPr>
        <p:spPr>
          <a:xfrm>
            <a:off x="6192774" y="2048256"/>
            <a:ext cx="215341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Permiso de pesca_Arte de pesca</a:t>
            </a:r>
            <a:endParaRPr lang="en-US" sz="850" dirty="0"/>
          </a:p>
        </p:txBody>
      </p:sp>
      <p:sp>
        <p:nvSpPr>
          <p:cNvPr id="113" name="Shape 111"/>
          <p:cNvSpPr/>
          <p:nvPr/>
        </p:nvSpPr>
        <p:spPr>
          <a:xfrm>
            <a:off x="2674620" y="2715768"/>
            <a:ext cx="960120" cy="329184"/>
          </a:xfrm>
          <a:prstGeom prst="roundRect">
            <a:avLst>
              <a:gd name="adj" fmla="val 27778"/>
            </a:avLst>
          </a:prstGeom>
          <a:solidFill>
            <a:srgbClr val="FFFFFF"/>
          </a:solidFill>
          <a:ln w="19050">
            <a:solidFill>
              <a:srgbClr val="0B5FFF"/>
            </a:solidFill>
            <a:prstDash val="solid"/>
          </a:ln>
          <a:effectLst>
            <a:outerShdw sx="100000" sy="100000" kx="0" ky="0" algn="bl" rotWithShape="0" blurRad="177800" dist="38100" dir="5400000">
              <a:srgbClr val="0B1E4F">
                <a:alpha val="8000"/>
              </a:srgbClr>
            </a:outerShdw>
          </a:effectLst>
        </p:spPr>
      </p:sp>
      <p:sp>
        <p:nvSpPr>
          <p:cNvPr id="114" name="Text 112"/>
          <p:cNvSpPr txBox="1"/>
          <p:nvPr/>
        </p:nvSpPr>
        <p:spPr>
          <a:xfrm>
            <a:off x="2729484" y="2715768"/>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Armador</a:t>
            </a:r>
            <a:endParaRPr lang="en-US" sz="850" dirty="0"/>
          </a:p>
        </p:txBody>
      </p:sp>
      <p:sp>
        <p:nvSpPr>
          <p:cNvPr id="115" name="Shape 113"/>
          <p:cNvSpPr/>
          <p:nvPr/>
        </p:nvSpPr>
        <p:spPr>
          <a:xfrm>
            <a:off x="4558665" y="2715768"/>
            <a:ext cx="1032510" cy="329184"/>
          </a:xfrm>
          <a:prstGeom prst="roundRect">
            <a:avLst>
              <a:gd name="adj" fmla="val 27778"/>
            </a:avLst>
          </a:prstGeom>
          <a:solidFill>
            <a:srgbClr val="FFFFFF"/>
          </a:solidFill>
          <a:ln w="19050">
            <a:solidFill>
              <a:srgbClr val="0B5FFF"/>
            </a:solidFill>
            <a:prstDash val="solid"/>
          </a:ln>
          <a:effectLst>
            <a:outerShdw sx="100000" sy="100000" kx="0" ky="0" algn="bl" rotWithShape="0" blurRad="177800" dist="38100" dir="5400000">
              <a:srgbClr val="0B1E4F">
                <a:alpha val="8000"/>
              </a:srgbClr>
            </a:outerShdw>
          </a:effectLst>
        </p:spPr>
      </p:sp>
      <p:sp>
        <p:nvSpPr>
          <p:cNvPr id="116" name="Text 114"/>
          <p:cNvSpPr txBox="1"/>
          <p:nvPr/>
        </p:nvSpPr>
        <p:spPr>
          <a:xfrm>
            <a:off x="4613529" y="2715768"/>
            <a:ext cx="92278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Embarcación</a:t>
            </a:r>
            <a:endParaRPr lang="en-US" sz="850" dirty="0"/>
          </a:p>
        </p:txBody>
      </p:sp>
      <p:sp>
        <p:nvSpPr>
          <p:cNvPr id="117" name="Shape 115"/>
          <p:cNvSpPr/>
          <p:nvPr/>
        </p:nvSpPr>
        <p:spPr>
          <a:xfrm>
            <a:off x="6591300" y="2715768"/>
            <a:ext cx="1356360" cy="329184"/>
          </a:xfrm>
          <a:prstGeom prst="roundRect">
            <a:avLst>
              <a:gd name="adj" fmla="val 27778"/>
            </a:avLst>
          </a:prstGeom>
          <a:solidFill>
            <a:srgbClr val="FFFFFF"/>
          </a:solidFill>
          <a:ln w="19050">
            <a:solidFill>
              <a:srgbClr val="0B5FFF"/>
            </a:solidFill>
            <a:prstDash val="solid"/>
          </a:ln>
          <a:effectLst>
            <a:outerShdw sx="100000" sy="100000" kx="0" ky="0" algn="bl" rotWithShape="0" blurRad="177800" dist="38100" dir="5400000">
              <a:srgbClr val="0B1E4F">
                <a:alpha val="8000"/>
              </a:srgbClr>
            </a:outerShdw>
          </a:effectLst>
        </p:spPr>
      </p:sp>
      <p:sp>
        <p:nvSpPr>
          <p:cNvPr id="118" name="Text 116"/>
          <p:cNvSpPr txBox="1"/>
          <p:nvPr/>
        </p:nvSpPr>
        <p:spPr>
          <a:xfrm>
            <a:off x="6646164" y="2715768"/>
            <a:ext cx="124663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Permiso de pesca</a:t>
            </a:r>
            <a:endParaRPr lang="en-US" sz="850" dirty="0"/>
          </a:p>
        </p:txBody>
      </p:sp>
      <p:sp>
        <p:nvSpPr>
          <p:cNvPr id="119" name="Shape 117"/>
          <p:cNvSpPr/>
          <p:nvPr/>
        </p:nvSpPr>
        <p:spPr>
          <a:xfrm>
            <a:off x="8726805" y="2715768"/>
            <a:ext cx="1291590" cy="329184"/>
          </a:xfrm>
          <a:prstGeom prst="roundRect">
            <a:avLst>
              <a:gd name="adj" fmla="val 27778"/>
            </a:avLst>
          </a:prstGeom>
          <a:solidFill>
            <a:srgbClr val="FFFFFF"/>
          </a:solidFill>
          <a:ln w="19050">
            <a:solidFill>
              <a:srgbClr val="0B5FFF"/>
            </a:solidFill>
            <a:prstDash val="solid"/>
          </a:ln>
          <a:effectLst>
            <a:outerShdw sx="100000" sy="100000" kx="0" ky="0" algn="bl" rotWithShape="0" blurRad="177800" dist="38100" dir="5400000">
              <a:srgbClr val="0B1E4F">
                <a:alpha val="8000"/>
              </a:srgbClr>
            </a:outerShdw>
          </a:effectLst>
        </p:spPr>
      </p:sp>
      <p:sp>
        <p:nvSpPr>
          <p:cNvPr id="120" name="Text 118"/>
          <p:cNvSpPr txBox="1"/>
          <p:nvPr/>
        </p:nvSpPr>
        <p:spPr>
          <a:xfrm>
            <a:off x="8781669" y="2715768"/>
            <a:ext cx="118186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Aviso de arribo</a:t>
            </a:r>
            <a:endParaRPr lang="en-US" sz="850" dirty="0"/>
          </a:p>
        </p:txBody>
      </p:sp>
      <p:sp>
        <p:nvSpPr>
          <p:cNvPr id="121" name="Shape 119"/>
          <p:cNvSpPr/>
          <p:nvPr/>
        </p:nvSpPr>
        <p:spPr>
          <a:xfrm>
            <a:off x="662940" y="3721608"/>
            <a:ext cx="96012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22" name="Text 120"/>
          <p:cNvSpPr txBox="1"/>
          <p:nvPr/>
        </p:nvSpPr>
        <p:spPr>
          <a:xfrm>
            <a:off x="717804" y="3721608"/>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Rol</a:t>
            </a:r>
            <a:endParaRPr lang="en-US" sz="850" dirty="0"/>
          </a:p>
        </p:txBody>
      </p:sp>
      <p:sp>
        <p:nvSpPr>
          <p:cNvPr id="123" name="Shape 121"/>
          <p:cNvSpPr/>
          <p:nvPr/>
        </p:nvSpPr>
        <p:spPr>
          <a:xfrm>
            <a:off x="2354580" y="3721608"/>
            <a:ext cx="96012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24" name="Text 122"/>
          <p:cNvSpPr txBox="1"/>
          <p:nvPr/>
        </p:nvSpPr>
        <p:spPr>
          <a:xfrm>
            <a:off x="2409444" y="3721608"/>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Usuario</a:t>
            </a:r>
            <a:endParaRPr lang="en-US" sz="850" dirty="0"/>
          </a:p>
        </p:txBody>
      </p:sp>
      <p:sp>
        <p:nvSpPr>
          <p:cNvPr id="125" name="Shape 123"/>
          <p:cNvSpPr/>
          <p:nvPr/>
        </p:nvSpPr>
        <p:spPr>
          <a:xfrm>
            <a:off x="4389120" y="3675888"/>
            <a:ext cx="1920240" cy="420624"/>
          </a:xfrm>
          <a:prstGeom prst="roundRect">
            <a:avLst>
              <a:gd name="adj" fmla="val 21739"/>
            </a:avLst>
          </a:prstGeom>
          <a:solidFill>
            <a:srgbClr val="0B1E4F"/>
          </a:solidFill>
          <a:ln w="19050">
            <a:solidFill>
              <a:srgbClr val="0B1E4F"/>
            </a:solidFill>
            <a:prstDash val="solid"/>
          </a:ln>
          <a:effectLst>
            <a:outerShdw sx="100000" sy="100000" kx="0" ky="0" algn="bl" rotWithShape="0" blurRad="177800" dist="38100" dir="5400000">
              <a:srgbClr val="0B1E4F">
                <a:alpha val="25000"/>
              </a:srgbClr>
            </a:outerShdw>
          </a:effectLst>
        </p:spPr>
      </p:sp>
      <p:sp>
        <p:nvSpPr>
          <p:cNvPr id="126" name="Text 124"/>
          <p:cNvSpPr txBox="1"/>
          <p:nvPr/>
        </p:nvSpPr>
        <p:spPr>
          <a:xfrm>
            <a:off x="4443984" y="3675888"/>
            <a:ext cx="1810512"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Desembarque</a:t>
            </a:r>
            <a:endParaRPr lang="en-US" sz="1100" dirty="0"/>
          </a:p>
        </p:txBody>
      </p:sp>
      <p:sp>
        <p:nvSpPr>
          <p:cNvPr id="127" name="Shape 125"/>
          <p:cNvSpPr/>
          <p:nvPr/>
        </p:nvSpPr>
        <p:spPr>
          <a:xfrm>
            <a:off x="8334375" y="3584448"/>
            <a:ext cx="116205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28" name="Text 126"/>
          <p:cNvSpPr txBox="1"/>
          <p:nvPr/>
        </p:nvSpPr>
        <p:spPr>
          <a:xfrm>
            <a:off x="8389239" y="3584448"/>
            <a:ext cx="105232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Zona de pesca</a:t>
            </a:r>
            <a:endParaRPr lang="en-US" sz="850" dirty="0"/>
          </a:p>
        </p:txBody>
      </p:sp>
      <p:sp>
        <p:nvSpPr>
          <p:cNvPr id="129" name="Shape 127"/>
          <p:cNvSpPr/>
          <p:nvPr/>
        </p:nvSpPr>
        <p:spPr>
          <a:xfrm>
            <a:off x="10401300" y="3584448"/>
            <a:ext cx="960120" cy="329184"/>
          </a:xfrm>
          <a:prstGeom prst="roundRect">
            <a:avLst>
              <a:gd name="adj" fmla="val 27778"/>
            </a:avLst>
          </a:prstGeom>
          <a:solidFill>
            <a:srgbClr val="FFFFFF"/>
          </a:solidFill>
          <a:ln w="19050">
            <a:solidFill>
              <a:srgbClr val="7B5CFF"/>
            </a:solidFill>
            <a:prstDash val="solid"/>
          </a:ln>
          <a:effectLst>
            <a:outerShdw sx="100000" sy="100000" kx="0" ky="0" algn="bl" rotWithShape="0" blurRad="177800" dist="38100" dir="5400000">
              <a:srgbClr val="0B1E4F">
                <a:alpha val="8000"/>
              </a:srgbClr>
            </a:outerShdw>
          </a:effectLst>
        </p:spPr>
      </p:sp>
      <p:sp>
        <p:nvSpPr>
          <p:cNvPr id="130" name="Text 128"/>
          <p:cNvSpPr txBox="1"/>
          <p:nvPr/>
        </p:nvSpPr>
        <p:spPr>
          <a:xfrm>
            <a:off x="10456164" y="3584448"/>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Veda</a:t>
            </a:r>
            <a:endParaRPr lang="en-US" sz="850" dirty="0"/>
          </a:p>
        </p:txBody>
      </p:sp>
      <p:sp>
        <p:nvSpPr>
          <p:cNvPr id="131" name="Shape 129"/>
          <p:cNvSpPr/>
          <p:nvPr/>
        </p:nvSpPr>
        <p:spPr>
          <a:xfrm>
            <a:off x="609600" y="4498848"/>
            <a:ext cx="161544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32" name="Text 130"/>
          <p:cNvSpPr txBox="1"/>
          <p:nvPr/>
        </p:nvSpPr>
        <p:spPr>
          <a:xfrm>
            <a:off x="664464" y="4498848"/>
            <a:ext cx="150571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Lugar de desembarque</a:t>
            </a:r>
            <a:endParaRPr lang="en-US" sz="850" dirty="0"/>
          </a:p>
        </p:txBody>
      </p:sp>
      <p:sp>
        <p:nvSpPr>
          <p:cNvPr id="133" name="Shape 131"/>
          <p:cNvSpPr/>
          <p:nvPr/>
        </p:nvSpPr>
        <p:spPr>
          <a:xfrm>
            <a:off x="1253490" y="5367528"/>
            <a:ext cx="96774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34" name="Text 132"/>
          <p:cNvSpPr txBox="1"/>
          <p:nvPr/>
        </p:nvSpPr>
        <p:spPr>
          <a:xfrm>
            <a:off x="1308354" y="5367528"/>
            <a:ext cx="85801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Inspección</a:t>
            </a:r>
            <a:endParaRPr lang="en-US" sz="850" dirty="0"/>
          </a:p>
        </p:txBody>
      </p:sp>
      <p:sp>
        <p:nvSpPr>
          <p:cNvPr id="135" name="Shape 133"/>
          <p:cNvSpPr/>
          <p:nvPr/>
        </p:nvSpPr>
        <p:spPr>
          <a:xfrm>
            <a:off x="2588895" y="5367528"/>
            <a:ext cx="168021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36" name="Text 134"/>
          <p:cNvSpPr txBox="1"/>
          <p:nvPr/>
        </p:nvSpPr>
        <p:spPr>
          <a:xfrm>
            <a:off x="2643759" y="5367528"/>
            <a:ext cx="157048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Evidencia fotográfica</a:t>
            </a:r>
            <a:endParaRPr lang="en-US" sz="850" dirty="0"/>
          </a:p>
        </p:txBody>
      </p:sp>
      <p:sp>
        <p:nvSpPr>
          <p:cNvPr id="137" name="Shape 135"/>
          <p:cNvSpPr/>
          <p:nvPr/>
        </p:nvSpPr>
        <p:spPr>
          <a:xfrm>
            <a:off x="4535805" y="5367528"/>
            <a:ext cx="1809750" cy="329184"/>
          </a:xfrm>
          <a:prstGeom prst="roundRect">
            <a:avLst>
              <a:gd name="adj" fmla="val 27778"/>
            </a:avLst>
          </a:prstGeom>
          <a:solidFill>
            <a:srgbClr val="FFFFFF"/>
          </a:solidFill>
          <a:ln w="19050">
            <a:solidFill>
              <a:srgbClr val="008FB0"/>
            </a:solidFill>
            <a:prstDash val="solid"/>
          </a:ln>
          <a:effectLst>
            <a:outerShdw sx="100000" sy="100000" kx="0" ky="0" algn="bl" rotWithShape="0" blurRad="177800" dist="38100" dir="5400000">
              <a:srgbClr val="0B1E4F">
                <a:alpha val="8000"/>
              </a:srgbClr>
            </a:outerShdw>
          </a:effectLst>
        </p:spPr>
      </p:sp>
      <p:sp>
        <p:nvSpPr>
          <p:cNvPr id="138" name="Text 136"/>
          <p:cNvSpPr txBox="1"/>
          <p:nvPr/>
        </p:nvSpPr>
        <p:spPr>
          <a:xfrm>
            <a:off x="4590669" y="5367528"/>
            <a:ext cx="170002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Resultado de validación</a:t>
            </a:r>
            <a:endParaRPr lang="en-US" sz="850" dirty="0"/>
          </a:p>
        </p:txBody>
      </p:sp>
      <p:sp>
        <p:nvSpPr>
          <p:cNvPr id="139" name="Shape 137"/>
          <p:cNvSpPr/>
          <p:nvPr/>
        </p:nvSpPr>
        <p:spPr>
          <a:xfrm>
            <a:off x="6677025" y="5367528"/>
            <a:ext cx="1550670" cy="329184"/>
          </a:xfrm>
          <a:prstGeom prst="roundRect">
            <a:avLst>
              <a:gd name="adj" fmla="val 27778"/>
            </a:avLst>
          </a:prstGeom>
          <a:solidFill>
            <a:srgbClr val="FFFFFF"/>
          </a:solidFill>
          <a:ln w="19050">
            <a:solidFill>
              <a:srgbClr val="0B9468"/>
            </a:solidFill>
            <a:prstDash val="solid"/>
          </a:ln>
          <a:effectLst>
            <a:outerShdw sx="100000" sy="100000" kx="0" ky="0" algn="bl" rotWithShape="0" blurRad="177800" dist="38100" dir="5400000">
              <a:srgbClr val="0B1E4F">
                <a:alpha val="8000"/>
              </a:srgbClr>
            </a:outerShdw>
          </a:effectLst>
        </p:spPr>
      </p:sp>
      <p:sp>
        <p:nvSpPr>
          <p:cNvPr id="140" name="Text 138"/>
          <p:cNvSpPr txBox="1"/>
          <p:nvPr/>
        </p:nvSpPr>
        <p:spPr>
          <a:xfrm>
            <a:off x="6731889" y="5367528"/>
            <a:ext cx="144094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Detalle por especie</a:t>
            </a:r>
            <a:endParaRPr lang="en-US" sz="850" dirty="0"/>
          </a:p>
        </p:txBody>
      </p:sp>
      <p:sp>
        <p:nvSpPr>
          <p:cNvPr id="141" name="Shape 139"/>
          <p:cNvSpPr/>
          <p:nvPr/>
        </p:nvSpPr>
        <p:spPr>
          <a:xfrm>
            <a:off x="8949690" y="5367528"/>
            <a:ext cx="1485900" cy="329184"/>
          </a:xfrm>
          <a:prstGeom prst="roundRect">
            <a:avLst>
              <a:gd name="adj" fmla="val 27778"/>
            </a:avLst>
          </a:prstGeom>
          <a:solidFill>
            <a:srgbClr val="FFFFFF"/>
          </a:solidFill>
          <a:ln w="19050">
            <a:solidFill>
              <a:srgbClr val="0B9468"/>
            </a:solidFill>
            <a:prstDash val="solid"/>
          </a:ln>
          <a:effectLst>
            <a:outerShdw sx="100000" sy="100000" kx="0" ky="0" algn="bl" rotWithShape="0" blurRad="177800" dist="38100" dir="5400000">
              <a:srgbClr val="0B1E4F">
                <a:alpha val="8000"/>
              </a:srgbClr>
            </a:outerShdw>
          </a:effectLst>
        </p:spPr>
      </p:sp>
      <p:sp>
        <p:nvSpPr>
          <p:cNvPr id="142" name="Text 140"/>
          <p:cNvSpPr txBox="1"/>
          <p:nvPr/>
        </p:nvSpPr>
        <p:spPr>
          <a:xfrm>
            <a:off x="9004554" y="5367528"/>
            <a:ext cx="137617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Muestreo de tallas</a:t>
            </a:r>
            <a:endParaRPr lang="en-US" sz="850" dirty="0"/>
          </a:p>
        </p:txBody>
      </p:sp>
      <p:sp>
        <p:nvSpPr>
          <p:cNvPr id="143" name="Shape 141"/>
          <p:cNvSpPr/>
          <p:nvPr/>
        </p:nvSpPr>
        <p:spPr>
          <a:xfrm>
            <a:off x="6806565" y="6099048"/>
            <a:ext cx="1291590" cy="329184"/>
          </a:xfrm>
          <a:prstGeom prst="roundRect">
            <a:avLst>
              <a:gd name="adj" fmla="val 27778"/>
            </a:avLst>
          </a:prstGeom>
          <a:solidFill>
            <a:srgbClr val="FFFFFF"/>
          </a:solidFill>
          <a:ln w="19050">
            <a:solidFill>
              <a:srgbClr val="0B9468"/>
            </a:solidFill>
            <a:prstDash val="solid"/>
          </a:ln>
          <a:effectLst>
            <a:outerShdw sx="100000" sy="100000" kx="0" ky="0" algn="bl" rotWithShape="0" blurRad="177800" dist="38100" dir="5400000">
              <a:srgbClr val="0B1E4F">
                <a:alpha val="8000"/>
              </a:srgbClr>
            </a:outerShdw>
          </a:effectLst>
        </p:spPr>
      </p:sp>
      <p:sp>
        <p:nvSpPr>
          <p:cNvPr id="144" name="Text 142"/>
          <p:cNvSpPr txBox="1"/>
          <p:nvPr/>
        </p:nvSpPr>
        <p:spPr>
          <a:xfrm>
            <a:off x="6861429" y="6099048"/>
            <a:ext cx="118186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Lote de destino</a:t>
            </a:r>
            <a:endParaRPr lang="en-US" sz="850" dirty="0"/>
          </a:p>
        </p:txBody>
      </p:sp>
      <p:sp>
        <p:nvSpPr>
          <p:cNvPr id="145" name="Shape 143"/>
          <p:cNvSpPr/>
          <p:nvPr/>
        </p:nvSpPr>
        <p:spPr>
          <a:xfrm>
            <a:off x="9212580" y="6099048"/>
            <a:ext cx="960120" cy="329184"/>
          </a:xfrm>
          <a:prstGeom prst="roundRect">
            <a:avLst>
              <a:gd name="adj" fmla="val 27778"/>
            </a:avLst>
          </a:prstGeom>
          <a:solidFill>
            <a:srgbClr val="FFFFFF"/>
          </a:solidFill>
          <a:ln w="19050">
            <a:solidFill>
              <a:srgbClr val="0B9468"/>
            </a:solidFill>
            <a:prstDash val="solid"/>
          </a:ln>
          <a:effectLst>
            <a:outerShdw sx="100000" sy="100000" kx="0" ky="0" algn="bl" rotWithShape="0" blurRad="177800" dist="38100" dir="5400000">
              <a:srgbClr val="0B1E4F">
                <a:alpha val="8000"/>
              </a:srgbClr>
            </a:outerShdw>
          </a:effectLst>
        </p:spPr>
      </p:sp>
      <p:sp>
        <p:nvSpPr>
          <p:cNvPr id="146" name="Text 144"/>
          <p:cNvSpPr txBox="1"/>
          <p:nvPr/>
        </p:nvSpPr>
        <p:spPr>
          <a:xfrm>
            <a:off x="9267444" y="6099048"/>
            <a:ext cx="850392" cy="329184"/>
          </a:xfrm>
          <a:prstGeom prst="rect">
            <a:avLst/>
          </a:prstGeom>
          <a:noFill/>
          <a:ln/>
        </p:spPr>
        <p:txBody>
          <a:bodyPr wrap="square" lIns="0" tIns="0" rIns="0" bIns="0" rtlCol="0" anchor="ctr"/>
          <a:lstStyle/>
          <a:p>
            <a:pPr algn="ctr" indent="0" marL="0">
              <a:buNone/>
            </a:pPr>
            <a:r>
              <a:rPr lang="en-US" sz="850" b="1" dirty="0">
                <a:solidFill>
                  <a:srgbClr val="0E1B3D"/>
                </a:solidFill>
                <a:latin typeface="Montserrat" pitchFamily="34" charset="0"/>
                <a:ea typeface="Montserrat" pitchFamily="34" charset="-122"/>
                <a:cs typeface="Montserrat" pitchFamily="34" charset="-120"/>
              </a:rPr>
              <a:t>Comprador</a:t>
            </a:r>
            <a:endParaRPr lang="en-US" sz="850" dirty="0"/>
          </a:p>
        </p:txBody>
      </p:sp>
      <p:sp>
        <p:nvSpPr>
          <p:cNvPr id="147" name="Shape 145"/>
          <p:cNvSpPr/>
          <p:nvPr/>
        </p:nvSpPr>
        <p:spPr>
          <a:xfrm>
            <a:off x="7498080" y="374904"/>
            <a:ext cx="201168" cy="137160"/>
          </a:xfrm>
          <a:prstGeom prst="roundRect">
            <a:avLst>
              <a:gd name="adj" fmla="val 20000"/>
            </a:avLst>
          </a:prstGeom>
          <a:solidFill>
            <a:srgbClr val="FFFFFF"/>
          </a:solidFill>
          <a:ln w="19050">
            <a:solidFill>
              <a:srgbClr val="0B5FFF"/>
            </a:solidFill>
            <a:prstDash val="solid"/>
          </a:ln>
        </p:spPr>
      </p:sp>
      <p:sp>
        <p:nvSpPr>
          <p:cNvPr id="148" name="Text 146"/>
          <p:cNvSpPr txBox="1"/>
          <p:nvPr/>
        </p:nvSpPr>
        <p:spPr>
          <a:xfrm>
            <a:off x="7772400" y="329184"/>
            <a:ext cx="173736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Flota y permisos</a:t>
            </a:r>
            <a:endParaRPr lang="en-US" sz="850" dirty="0"/>
          </a:p>
        </p:txBody>
      </p:sp>
      <p:sp>
        <p:nvSpPr>
          <p:cNvPr id="149" name="Shape 147"/>
          <p:cNvSpPr/>
          <p:nvPr/>
        </p:nvSpPr>
        <p:spPr>
          <a:xfrm>
            <a:off x="9601200" y="374904"/>
            <a:ext cx="201168" cy="137160"/>
          </a:xfrm>
          <a:prstGeom prst="roundRect">
            <a:avLst>
              <a:gd name="adj" fmla="val 20000"/>
            </a:avLst>
          </a:prstGeom>
          <a:solidFill>
            <a:srgbClr val="FFFFFF"/>
          </a:solidFill>
          <a:ln w="19050">
            <a:solidFill>
              <a:srgbClr val="7B5CFF"/>
            </a:solidFill>
            <a:prstDash val="solid"/>
          </a:ln>
        </p:spPr>
      </p:sp>
      <p:sp>
        <p:nvSpPr>
          <p:cNvPr id="150" name="Text 148"/>
          <p:cNvSpPr txBox="1"/>
          <p:nvPr/>
        </p:nvSpPr>
        <p:spPr>
          <a:xfrm>
            <a:off x="9875520" y="329184"/>
            <a:ext cx="173736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Catálogo normativo</a:t>
            </a:r>
            <a:endParaRPr lang="en-US" sz="850" dirty="0"/>
          </a:p>
        </p:txBody>
      </p:sp>
      <p:sp>
        <p:nvSpPr>
          <p:cNvPr id="151" name="Shape 149"/>
          <p:cNvSpPr/>
          <p:nvPr/>
        </p:nvSpPr>
        <p:spPr>
          <a:xfrm>
            <a:off x="7498080" y="630936"/>
            <a:ext cx="201168" cy="137160"/>
          </a:xfrm>
          <a:prstGeom prst="roundRect">
            <a:avLst>
              <a:gd name="adj" fmla="val 20000"/>
            </a:avLst>
          </a:prstGeom>
          <a:solidFill>
            <a:srgbClr val="FFFFFF"/>
          </a:solidFill>
          <a:ln w="19050">
            <a:solidFill>
              <a:srgbClr val="008FB0"/>
            </a:solidFill>
            <a:prstDash val="solid"/>
          </a:ln>
        </p:spPr>
      </p:sp>
      <p:sp>
        <p:nvSpPr>
          <p:cNvPr id="152" name="Text 150"/>
          <p:cNvSpPr txBox="1"/>
          <p:nvPr/>
        </p:nvSpPr>
        <p:spPr>
          <a:xfrm>
            <a:off x="7772400" y="585216"/>
            <a:ext cx="173736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Registro y control</a:t>
            </a:r>
            <a:endParaRPr lang="en-US" sz="850" dirty="0"/>
          </a:p>
        </p:txBody>
      </p:sp>
      <p:sp>
        <p:nvSpPr>
          <p:cNvPr id="153" name="Shape 151"/>
          <p:cNvSpPr/>
          <p:nvPr/>
        </p:nvSpPr>
        <p:spPr>
          <a:xfrm>
            <a:off x="9601200" y="630936"/>
            <a:ext cx="201168" cy="137160"/>
          </a:xfrm>
          <a:prstGeom prst="roundRect">
            <a:avLst>
              <a:gd name="adj" fmla="val 20000"/>
            </a:avLst>
          </a:prstGeom>
          <a:solidFill>
            <a:srgbClr val="FFFFFF"/>
          </a:solidFill>
          <a:ln w="19050">
            <a:solidFill>
              <a:srgbClr val="0B9468"/>
            </a:solidFill>
            <a:prstDash val="solid"/>
          </a:ln>
        </p:spPr>
      </p:sp>
      <p:sp>
        <p:nvSpPr>
          <p:cNvPr id="154" name="Text 152"/>
          <p:cNvSpPr txBox="1"/>
          <p:nvPr/>
        </p:nvSpPr>
        <p:spPr>
          <a:xfrm>
            <a:off x="9875520" y="585216"/>
            <a:ext cx="173736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Trazabilidad</a:t>
            </a:r>
            <a:endParaRPr lang="en-US" sz="850" dirty="0"/>
          </a:p>
        </p:txBody>
      </p:sp>
      <p:sp>
        <p:nvSpPr>
          <p:cNvPr id="155" name="Shape 153"/>
          <p:cNvSpPr/>
          <p:nvPr/>
        </p:nvSpPr>
        <p:spPr>
          <a:xfrm>
            <a:off x="7498080" y="950976"/>
            <a:ext cx="292608" cy="914"/>
          </a:xfrm>
          <a:prstGeom prst="line">
            <a:avLst/>
          </a:prstGeom>
          <a:noFill/>
          <a:ln w="13970">
            <a:solidFill>
              <a:srgbClr val="008FB0"/>
            </a:solidFill>
            <a:prstDash val="solid"/>
          </a:ln>
        </p:spPr>
      </p:sp>
      <p:sp>
        <p:nvSpPr>
          <p:cNvPr id="156" name="Text 154"/>
          <p:cNvSpPr txBox="1"/>
          <p:nvPr/>
        </p:nvSpPr>
        <p:spPr>
          <a:xfrm>
            <a:off x="7863840" y="841248"/>
            <a:ext cx="109728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identificadora</a:t>
            </a:r>
            <a:endParaRPr lang="en-US" sz="850" dirty="0"/>
          </a:p>
        </p:txBody>
      </p:sp>
      <p:sp>
        <p:nvSpPr>
          <p:cNvPr id="157" name="Shape 155"/>
          <p:cNvSpPr/>
          <p:nvPr/>
        </p:nvSpPr>
        <p:spPr>
          <a:xfrm>
            <a:off x="9006840" y="950976"/>
            <a:ext cx="292608" cy="914"/>
          </a:xfrm>
          <a:prstGeom prst="line">
            <a:avLst/>
          </a:prstGeom>
          <a:noFill/>
          <a:ln w="13970">
            <a:solidFill>
              <a:srgbClr val="008FB0"/>
            </a:solidFill>
            <a:prstDash val="dash"/>
          </a:ln>
        </p:spPr>
      </p:sp>
      <p:sp>
        <p:nvSpPr>
          <p:cNvPr id="158" name="Text 156"/>
          <p:cNvSpPr txBox="1"/>
          <p:nvPr/>
        </p:nvSpPr>
        <p:spPr>
          <a:xfrm>
            <a:off x="9372600" y="841248"/>
            <a:ext cx="1280160" cy="228600"/>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no identificadora</a:t>
            </a:r>
            <a:endParaRPr lang="en-US" sz="850" dirty="0"/>
          </a:p>
        </p:txBody>
      </p:sp>
      <p:sp>
        <p:nvSpPr>
          <p:cNvPr id="159" name="Text 157"/>
          <p:cNvSpPr txBox="1"/>
          <p:nvPr/>
        </p:nvSpPr>
        <p:spPr>
          <a:xfrm>
            <a:off x="10652760" y="841248"/>
            <a:ext cx="1097280" cy="228600"/>
          </a:xfrm>
          <a:prstGeom prst="rect">
            <a:avLst/>
          </a:prstGeom>
          <a:noFill/>
          <a:ln/>
        </p:spPr>
        <p:txBody>
          <a:bodyPr wrap="square" lIns="0" tIns="0" rIns="0" bIns="0" rtlCol="0" anchor="ctr"/>
          <a:lstStyle/>
          <a:p>
            <a:pPr indent="0" marL="0">
              <a:buNone/>
            </a:pPr>
            <a:r>
              <a:rPr lang="en-US" sz="850" b="1" dirty="0">
                <a:solidFill>
                  <a:srgbClr val="5B3EE0"/>
                </a:solidFill>
                <a:latin typeface="Open Sans" pitchFamily="34" charset="0"/>
                <a:ea typeface="Open Sans" pitchFamily="34" charset="-122"/>
                <a:cs typeface="Open Sans" pitchFamily="34" charset="-120"/>
              </a:rPr>
              <a:t>1 · 0..N </a:t>
            </a:r>
            <a:pPr indent="0" marL="0">
              <a:buNone/>
            </a:pPr>
            <a:r>
              <a:rPr lang="en-US" sz="850" dirty="0">
                <a:solidFill>
                  <a:srgbClr val="4A5878"/>
                </a:solidFill>
                <a:latin typeface="Open Sans" pitchFamily="34" charset="0"/>
                <a:ea typeface="Open Sans" pitchFamily="34" charset="-122"/>
                <a:cs typeface="Open Sans" pitchFamily="34" charset="-120"/>
              </a:rPr>
              <a:t>cardinalidad</a:t>
            </a:r>
            <a:endParaRPr lang="en-US" sz="850" dirty="0"/>
          </a:p>
        </p:txBody>
      </p:sp>
      <p:sp>
        <p:nvSpPr>
          <p:cNvPr id="160" name="Text 158"/>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61" name="Text 159"/>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645713" cy="274320"/>
          </a:xfrm>
          <a:prstGeom prst="roundRect">
            <a:avLst>
              <a:gd name="adj" fmla="val 50000"/>
            </a:avLst>
          </a:prstGeom>
          <a:solidFill>
            <a:srgbClr val="00B8D4"/>
          </a:solidFill>
          <a:ln/>
        </p:spPr>
      </p:sp>
      <p:sp>
        <p:nvSpPr>
          <p:cNvPr id="3" name="Text 1"/>
          <p:cNvSpPr txBox="1"/>
          <p:nvPr/>
        </p:nvSpPr>
        <p:spPr>
          <a:xfrm>
            <a:off x="548640" y="411480"/>
            <a:ext cx="3645713"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3 · 3.3 DECISIONES DE MODELADO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Cinco decisiones que sostienen la trazabilidad</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Modelo conceptual (E-R) y modelo relacional lógico para PostgreSQL, con notación “pata de gallo”. [18], [19], [29]</a:t>
            </a:r>
            <a:endParaRPr lang="en-US" sz="1300" dirty="0"/>
          </a:p>
        </p:txBody>
      </p:sp>
      <p:sp>
        <p:nvSpPr>
          <p:cNvPr id="6" name="Shape 4"/>
          <p:cNvSpPr/>
          <p:nvPr/>
        </p:nvSpPr>
        <p:spPr>
          <a:xfrm>
            <a:off x="548640" y="2011680"/>
            <a:ext cx="2103120" cy="274320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49808" y="2231136"/>
            <a:ext cx="566928" cy="566928"/>
          </a:xfrm>
          <a:prstGeom prst="roundRect">
            <a:avLst>
              <a:gd name="adj" fmla="val 28000"/>
            </a:avLst>
          </a:prstGeom>
          <a:solidFill>
            <a:srgbClr val="0B1E4F"/>
          </a:solidFill>
          <a:ln/>
        </p:spPr>
      </p:sp>
      <p:pic>
        <p:nvPicPr>
          <p:cNvPr id="8" name="Image 0" descr="preencoded.png">    </p:cNvPr>
          <p:cNvPicPr>
            <a:picLocks noChangeAspect="1"/>
          </p:cNvPicPr>
          <p:nvPr/>
        </p:nvPicPr>
        <p:blipFill>
          <a:blip r:embed="rId2"/>
          <a:stretch>
            <a:fillRect/>
          </a:stretch>
        </p:blipFill>
        <p:spPr>
          <a:xfrm>
            <a:off x="885871" y="2367199"/>
            <a:ext cx="294803" cy="294803"/>
          </a:xfrm>
          <a:prstGeom prst="rect">
            <a:avLst/>
          </a:prstGeom>
        </p:spPr>
      </p:pic>
      <p:sp>
        <p:nvSpPr>
          <p:cNvPr id="9" name="Text 6"/>
          <p:cNvSpPr txBox="1"/>
          <p:nvPr/>
        </p:nvSpPr>
        <p:spPr>
          <a:xfrm>
            <a:off x="749808" y="2944368"/>
            <a:ext cx="1737360" cy="566928"/>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El desembarque es la entidad central</a:t>
            </a:r>
            <a:endParaRPr lang="en-US" sz="1200" dirty="0"/>
          </a:p>
        </p:txBody>
      </p:sp>
      <p:sp>
        <p:nvSpPr>
          <p:cNvPr id="10" name="Text 7"/>
          <p:cNvSpPr txBox="1"/>
          <p:nvPr/>
        </p:nvSpPr>
        <p:spPr>
          <a:xfrm>
            <a:off x="749808" y="3529584"/>
            <a:ext cx="1737360" cy="114300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La llegada de una faena de una embarcación a un lugar de desembarque, registrada por un usuario.</a:t>
            </a:r>
            <a:endParaRPr lang="en-US" sz="1000" dirty="0"/>
          </a:p>
        </p:txBody>
      </p:sp>
      <p:sp>
        <p:nvSpPr>
          <p:cNvPr id="11" name="Shape 8"/>
          <p:cNvSpPr/>
          <p:nvPr/>
        </p:nvSpPr>
        <p:spPr>
          <a:xfrm>
            <a:off x="2798064" y="2011680"/>
            <a:ext cx="2103120" cy="274320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2" name="Shape 9"/>
          <p:cNvSpPr/>
          <p:nvPr/>
        </p:nvSpPr>
        <p:spPr>
          <a:xfrm>
            <a:off x="2999232" y="2231136"/>
            <a:ext cx="566928" cy="566928"/>
          </a:xfrm>
          <a:prstGeom prst="roundRect">
            <a:avLst>
              <a:gd name="adj" fmla="val 28000"/>
            </a:avLst>
          </a:prstGeom>
          <a:solidFill>
            <a:srgbClr val="008FB0"/>
          </a:solidFill>
          <a:ln/>
        </p:spPr>
      </p:sp>
      <p:pic>
        <p:nvPicPr>
          <p:cNvPr id="13" name="Image 1" descr="preencoded.png">    </p:cNvPr>
          <p:cNvPicPr>
            <a:picLocks noChangeAspect="1"/>
          </p:cNvPicPr>
          <p:nvPr/>
        </p:nvPicPr>
        <p:blipFill>
          <a:blip r:embed="rId3"/>
          <a:stretch>
            <a:fillRect/>
          </a:stretch>
        </p:blipFill>
        <p:spPr>
          <a:xfrm>
            <a:off x="3135295" y="2367199"/>
            <a:ext cx="294803" cy="294803"/>
          </a:xfrm>
          <a:prstGeom prst="rect">
            <a:avLst/>
          </a:prstGeom>
        </p:spPr>
      </p:pic>
      <p:sp>
        <p:nvSpPr>
          <p:cNvPr id="14" name="Text 10"/>
          <p:cNvSpPr txBox="1"/>
          <p:nvPr/>
        </p:nvSpPr>
        <p:spPr>
          <a:xfrm>
            <a:off x="2999232" y="2944368"/>
            <a:ext cx="1737360" cy="566928"/>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Detalle por especie</a:t>
            </a:r>
            <a:endParaRPr lang="en-US" sz="1200" dirty="0"/>
          </a:p>
        </p:txBody>
      </p:sp>
      <p:sp>
        <p:nvSpPr>
          <p:cNvPr id="15" name="Text 11"/>
          <p:cNvSpPr txBox="1"/>
          <p:nvPr/>
        </p:nvSpPr>
        <p:spPr>
          <a:xfrm>
            <a:off x="2999232" y="3529584"/>
            <a:ext cx="1737360" cy="114300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Un desembarque contiene un detalle por especie y presentación, sin repetir columnas.</a:t>
            </a:r>
            <a:endParaRPr lang="en-US" sz="1000" dirty="0"/>
          </a:p>
        </p:txBody>
      </p:sp>
      <p:sp>
        <p:nvSpPr>
          <p:cNvPr id="16" name="Shape 12"/>
          <p:cNvSpPr/>
          <p:nvPr/>
        </p:nvSpPr>
        <p:spPr>
          <a:xfrm>
            <a:off x="5047488" y="2011680"/>
            <a:ext cx="2103120" cy="274320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7" name="Shape 13"/>
          <p:cNvSpPr/>
          <p:nvPr/>
        </p:nvSpPr>
        <p:spPr>
          <a:xfrm>
            <a:off x="5248656" y="2231136"/>
            <a:ext cx="566928" cy="566928"/>
          </a:xfrm>
          <a:prstGeom prst="roundRect">
            <a:avLst>
              <a:gd name="adj" fmla="val 28000"/>
            </a:avLst>
          </a:prstGeom>
          <a:solidFill>
            <a:srgbClr val="0B9468"/>
          </a:solidFill>
          <a:ln/>
        </p:spPr>
      </p:sp>
      <p:pic>
        <p:nvPicPr>
          <p:cNvPr id="18" name="Image 2" descr="preencoded.png">    </p:cNvPr>
          <p:cNvPicPr>
            <a:picLocks noChangeAspect="1"/>
          </p:cNvPicPr>
          <p:nvPr/>
        </p:nvPicPr>
        <p:blipFill>
          <a:blip r:embed="rId4"/>
          <a:stretch>
            <a:fillRect/>
          </a:stretch>
        </p:blipFill>
        <p:spPr>
          <a:xfrm>
            <a:off x="5384719" y="2367199"/>
            <a:ext cx="294803" cy="294803"/>
          </a:xfrm>
          <a:prstGeom prst="rect">
            <a:avLst/>
          </a:prstGeom>
        </p:spPr>
      </p:pic>
      <p:sp>
        <p:nvSpPr>
          <p:cNvPr id="19" name="Text 14"/>
          <p:cNvSpPr txBox="1"/>
          <p:nvPr/>
        </p:nvSpPr>
        <p:spPr>
          <a:xfrm>
            <a:off x="5248656" y="2944368"/>
            <a:ext cx="1737360" cy="566928"/>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Lote de destino</a:t>
            </a:r>
            <a:endParaRPr lang="en-US" sz="1200" dirty="0"/>
          </a:p>
        </p:txBody>
      </p:sp>
      <p:sp>
        <p:nvSpPr>
          <p:cNvPr id="20" name="Text 15"/>
          <p:cNvSpPr txBox="1"/>
          <p:nvPr/>
        </p:nvSpPr>
        <p:spPr>
          <a:xfrm>
            <a:off x="5248656" y="3529584"/>
            <a:ext cx="1737360" cy="114300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Cada detalle se reparte entre varios compradores: se sabe quién compró cuántos kilos de qué desembarque.</a:t>
            </a:r>
            <a:endParaRPr lang="en-US" sz="1000" dirty="0"/>
          </a:p>
        </p:txBody>
      </p:sp>
      <p:sp>
        <p:nvSpPr>
          <p:cNvPr id="21" name="Shape 16"/>
          <p:cNvSpPr/>
          <p:nvPr/>
        </p:nvSpPr>
        <p:spPr>
          <a:xfrm>
            <a:off x="7296912" y="2011680"/>
            <a:ext cx="2103120" cy="274320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2" name="Shape 17"/>
          <p:cNvSpPr/>
          <p:nvPr/>
        </p:nvSpPr>
        <p:spPr>
          <a:xfrm>
            <a:off x="7498080" y="2231136"/>
            <a:ext cx="566928" cy="566928"/>
          </a:xfrm>
          <a:prstGeom prst="roundRect">
            <a:avLst>
              <a:gd name="adj" fmla="val 28000"/>
            </a:avLst>
          </a:prstGeom>
          <a:solidFill>
            <a:srgbClr val="7B5CFF"/>
          </a:solidFill>
          <a:ln/>
        </p:spPr>
      </p:sp>
      <p:pic>
        <p:nvPicPr>
          <p:cNvPr id="23" name="Image 3" descr="preencoded.png">    </p:cNvPr>
          <p:cNvPicPr>
            <a:picLocks noChangeAspect="1"/>
          </p:cNvPicPr>
          <p:nvPr/>
        </p:nvPicPr>
        <p:blipFill>
          <a:blip r:embed="rId5"/>
          <a:stretch>
            <a:fillRect/>
          </a:stretch>
        </p:blipFill>
        <p:spPr>
          <a:xfrm>
            <a:off x="7634143" y="2367199"/>
            <a:ext cx="294803" cy="294803"/>
          </a:xfrm>
          <a:prstGeom prst="rect">
            <a:avLst/>
          </a:prstGeom>
        </p:spPr>
      </p:pic>
      <p:sp>
        <p:nvSpPr>
          <p:cNvPr id="24" name="Text 18"/>
          <p:cNvSpPr txBox="1"/>
          <p:nvPr/>
        </p:nvSpPr>
        <p:spPr>
          <a:xfrm>
            <a:off x="7498080" y="2944368"/>
            <a:ext cx="1737360" cy="566928"/>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Permisos N:M</a:t>
            </a:r>
            <a:endParaRPr lang="en-US" sz="1200" dirty="0"/>
          </a:p>
        </p:txBody>
      </p:sp>
      <p:sp>
        <p:nvSpPr>
          <p:cNvPr id="25" name="Text 19"/>
          <p:cNvSpPr txBox="1"/>
          <p:nvPr/>
        </p:nvSpPr>
        <p:spPr>
          <a:xfrm>
            <a:off x="7498080" y="3529584"/>
            <a:ext cx="1737360" cy="114300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Un permiso autoriza varias especies y artes; las relaciones se resuelven con tablas intermedias.</a:t>
            </a:r>
            <a:endParaRPr lang="en-US" sz="1000" dirty="0"/>
          </a:p>
        </p:txBody>
      </p:sp>
      <p:sp>
        <p:nvSpPr>
          <p:cNvPr id="26" name="Shape 20"/>
          <p:cNvSpPr/>
          <p:nvPr/>
        </p:nvSpPr>
        <p:spPr>
          <a:xfrm>
            <a:off x="9546336" y="2011680"/>
            <a:ext cx="2103120" cy="2743200"/>
          </a:xfrm>
          <a:prstGeom prst="roundRect">
            <a:avLst>
              <a:gd name="adj" fmla="val 608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7" name="Shape 21"/>
          <p:cNvSpPr/>
          <p:nvPr/>
        </p:nvSpPr>
        <p:spPr>
          <a:xfrm>
            <a:off x="9747504" y="2231136"/>
            <a:ext cx="566928" cy="566928"/>
          </a:xfrm>
          <a:prstGeom prst="roundRect">
            <a:avLst>
              <a:gd name="adj" fmla="val 28000"/>
            </a:avLst>
          </a:prstGeom>
          <a:solidFill>
            <a:srgbClr val="E06F00"/>
          </a:solidFill>
          <a:ln/>
        </p:spPr>
      </p:sp>
      <p:pic>
        <p:nvPicPr>
          <p:cNvPr id="28" name="Image 4" descr="preencoded.png">    </p:cNvPr>
          <p:cNvPicPr>
            <a:picLocks noChangeAspect="1"/>
          </p:cNvPicPr>
          <p:nvPr/>
        </p:nvPicPr>
        <p:blipFill>
          <a:blip r:embed="rId6"/>
          <a:stretch>
            <a:fillRect/>
          </a:stretch>
        </p:blipFill>
        <p:spPr>
          <a:xfrm>
            <a:off x="9883567" y="2367199"/>
            <a:ext cx="294803" cy="294803"/>
          </a:xfrm>
          <a:prstGeom prst="rect">
            <a:avLst/>
          </a:prstGeom>
        </p:spPr>
      </p:pic>
      <p:sp>
        <p:nvSpPr>
          <p:cNvPr id="29" name="Text 22"/>
          <p:cNvSpPr txBox="1"/>
          <p:nvPr/>
        </p:nvSpPr>
        <p:spPr>
          <a:xfrm>
            <a:off x="9747504" y="2944368"/>
            <a:ext cx="1737360" cy="566928"/>
          </a:xfrm>
          <a:prstGeom prst="rect">
            <a:avLst/>
          </a:prstGeom>
          <a:noFill/>
          <a:ln/>
        </p:spPr>
        <p:txBody>
          <a:bodyPr wrap="square" lIns="0" tIns="0" rIns="0" bIns="0" rtlCol="0" anchor="t"/>
          <a:lstStyle/>
          <a:p>
            <a:pPr indent="0" marL="0">
              <a:buNone/>
            </a:pPr>
            <a:r>
              <a:rPr lang="en-US" sz="1200" b="1" dirty="0">
                <a:solidFill>
                  <a:srgbClr val="0E1B3D"/>
                </a:solidFill>
                <a:latin typeface="Montserrat" pitchFamily="34" charset="0"/>
                <a:ea typeface="Montserrat" pitchFamily="34" charset="-122"/>
                <a:cs typeface="Montserrat" pitchFamily="34" charset="-120"/>
              </a:rPr>
              <a:t>Resultado de cada regla</a:t>
            </a:r>
            <a:endParaRPr lang="en-US" sz="1200" dirty="0"/>
          </a:p>
        </p:txBody>
      </p:sp>
      <p:sp>
        <p:nvSpPr>
          <p:cNvPr id="30" name="Text 23"/>
          <p:cNvSpPr txBox="1"/>
          <p:nvPr/>
        </p:nvSpPr>
        <p:spPr>
          <a:xfrm>
            <a:off x="9747504" y="3529584"/>
            <a:ext cx="1737360" cy="114300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Se guarda el resultado de cada regla, no solo el estado final, para que el fiscalizador vea el motivo exacto.</a:t>
            </a:r>
            <a:endParaRPr lang="en-US" sz="1000" dirty="0"/>
          </a:p>
        </p:txBody>
      </p:sp>
      <p:sp>
        <p:nvSpPr>
          <p:cNvPr id="31" name="Text 24"/>
          <p:cNvSpPr txBox="1"/>
          <p:nvPr/>
        </p:nvSpPr>
        <p:spPr>
          <a:xfrm>
            <a:off x="548640" y="4983480"/>
            <a:ext cx="8229600" cy="256032"/>
          </a:xfrm>
          <a:prstGeom prst="rect">
            <a:avLst/>
          </a:prstGeom>
          <a:noFill/>
          <a:ln/>
        </p:spPr>
        <p:txBody>
          <a:bodyPr wrap="square" lIns="0" tIns="0" rIns="0" bIns="0" rtlCol="0" anchor="ctr"/>
          <a:lstStyle/>
          <a:p>
            <a:pPr indent="0" marL="0">
              <a:buNone/>
            </a:pPr>
            <a:r>
              <a:rPr lang="en-US" sz="900" b="1" spc="120" kern="0" dirty="0">
                <a:solidFill>
                  <a:srgbClr val="008FB0"/>
                </a:solidFill>
                <a:latin typeface="Montserrat" pitchFamily="34" charset="0"/>
                <a:ea typeface="Montserrat" pitchFamily="34" charset="-122"/>
                <a:cs typeface="Montserrat" pitchFamily="34" charset="-120"/>
              </a:rPr>
              <a:t>ARTEFACTOS DE DATOS EN EL REPOSITORIO (CARPETA base-de-datos/)</a:t>
            </a:r>
            <a:endParaRPr lang="en-US" sz="900" dirty="0"/>
          </a:p>
        </p:txBody>
      </p:sp>
      <p:sp>
        <p:nvSpPr>
          <p:cNvPr id="32" name="Shape 25"/>
          <p:cNvSpPr/>
          <p:nvPr/>
        </p:nvSpPr>
        <p:spPr>
          <a:xfrm>
            <a:off x="548640" y="5321808"/>
            <a:ext cx="3584448" cy="868680"/>
          </a:xfrm>
          <a:prstGeom prst="roundRect">
            <a:avLst>
              <a:gd name="adj" fmla="val 12632"/>
            </a:avLst>
          </a:prstGeom>
          <a:solidFill>
            <a:srgbClr val="E0F8FB"/>
          </a:solidFill>
          <a:ln/>
        </p:spPr>
      </p:sp>
      <p:sp>
        <p:nvSpPr>
          <p:cNvPr id="33" name="Shape 26"/>
          <p:cNvSpPr/>
          <p:nvPr/>
        </p:nvSpPr>
        <p:spPr>
          <a:xfrm>
            <a:off x="713232" y="5486400"/>
            <a:ext cx="530352" cy="530352"/>
          </a:xfrm>
          <a:prstGeom prst="ellipse">
            <a:avLst/>
          </a:prstGeom>
          <a:solidFill>
            <a:srgbClr val="FFFFFF"/>
          </a:solidFill>
          <a:ln/>
        </p:spPr>
      </p:sp>
      <p:pic>
        <p:nvPicPr>
          <p:cNvPr id="34" name="Image 5" descr="preencoded.png">    </p:cNvPr>
          <p:cNvPicPr>
            <a:picLocks noChangeAspect="1"/>
          </p:cNvPicPr>
          <p:nvPr/>
        </p:nvPicPr>
        <p:blipFill>
          <a:blip r:embed="rId7"/>
          <a:stretch>
            <a:fillRect/>
          </a:stretch>
        </p:blipFill>
        <p:spPr>
          <a:xfrm>
            <a:off x="840516" y="5613684"/>
            <a:ext cx="275783" cy="275783"/>
          </a:xfrm>
          <a:prstGeom prst="rect">
            <a:avLst/>
          </a:prstGeom>
        </p:spPr>
      </p:pic>
      <p:sp>
        <p:nvSpPr>
          <p:cNvPr id="35" name="Text 27"/>
          <p:cNvSpPr txBox="1"/>
          <p:nvPr/>
        </p:nvSpPr>
        <p:spPr>
          <a:xfrm>
            <a:off x="1371600" y="5367528"/>
            <a:ext cx="2697480" cy="77724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sirdepa_schema.sql</a:t>
            </a:r>
            <a:endParaRPr lang="en-US" sz="1050" dirty="0"/>
          </a:p>
          <a:p>
            <a:pPr indent="0" marL="0">
              <a:buNone/>
            </a:pPr>
            <a:r>
              <a:rPr lang="en-US" sz="900" dirty="0">
                <a:solidFill>
                  <a:srgbClr val="4A5878"/>
                </a:solidFill>
                <a:latin typeface="Open Sans" pitchFamily="34" charset="0"/>
                <a:ea typeface="Open Sans" pitchFamily="34" charset="-122"/>
                <a:cs typeface="Open Sans" pitchFamily="34" charset="-120"/>
              </a:rPr>
              <a:t>Script de creación de la base de datos (PostgreSQL 16 + PostGIS)</a:t>
            </a:r>
            <a:endParaRPr lang="en-US" sz="1050" dirty="0"/>
          </a:p>
        </p:txBody>
      </p:sp>
      <p:sp>
        <p:nvSpPr>
          <p:cNvPr id="36" name="Shape 28"/>
          <p:cNvSpPr/>
          <p:nvPr/>
        </p:nvSpPr>
        <p:spPr>
          <a:xfrm>
            <a:off x="4270248" y="5321808"/>
            <a:ext cx="3584448" cy="868680"/>
          </a:xfrm>
          <a:prstGeom prst="roundRect">
            <a:avLst>
              <a:gd name="adj" fmla="val 12632"/>
            </a:avLst>
          </a:prstGeom>
          <a:solidFill>
            <a:srgbClr val="E0F8FB"/>
          </a:solidFill>
          <a:ln/>
        </p:spPr>
      </p:sp>
      <p:sp>
        <p:nvSpPr>
          <p:cNvPr id="37" name="Shape 29"/>
          <p:cNvSpPr/>
          <p:nvPr/>
        </p:nvSpPr>
        <p:spPr>
          <a:xfrm>
            <a:off x="4434840" y="5486400"/>
            <a:ext cx="530352" cy="530352"/>
          </a:xfrm>
          <a:prstGeom prst="ellipse">
            <a:avLst/>
          </a:prstGeom>
          <a:solidFill>
            <a:srgbClr val="FFFFFF"/>
          </a:solidFill>
          <a:ln/>
        </p:spPr>
      </p:sp>
      <p:pic>
        <p:nvPicPr>
          <p:cNvPr id="38" name="Image 6" descr="preencoded.png">    </p:cNvPr>
          <p:cNvPicPr>
            <a:picLocks noChangeAspect="1"/>
          </p:cNvPicPr>
          <p:nvPr/>
        </p:nvPicPr>
        <p:blipFill>
          <a:blip r:embed="rId8"/>
          <a:stretch>
            <a:fillRect/>
          </a:stretch>
        </p:blipFill>
        <p:spPr>
          <a:xfrm>
            <a:off x="4562124" y="5613684"/>
            <a:ext cx="275783" cy="275783"/>
          </a:xfrm>
          <a:prstGeom prst="rect">
            <a:avLst/>
          </a:prstGeom>
        </p:spPr>
      </p:pic>
      <p:sp>
        <p:nvSpPr>
          <p:cNvPr id="39" name="Text 30"/>
          <p:cNvSpPr txBox="1"/>
          <p:nvPr/>
        </p:nvSpPr>
        <p:spPr>
          <a:xfrm>
            <a:off x="5093208" y="5367528"/>
            <a:ext cx="2697480" cy="77724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sirdepa.dbml</a:t>
            </a:r>
            <a:endParaRPr lang="en-US" sz="1050" dirty="0"/>
          </a:p>
          <a:p>
            <a:pPr indent="0" marL="0">
              <a:buNone/>
            </a:pPr>
            <a:r>
              <a:rPr lang="en-US" sz="900" dirty="0">
                <a:solidFill>
                  <a:srgbClr val="4A5878"/>
                </a:solidFill>
                <a:latin typeface="Open Sans" pitchFamily="34" charset="0"/>
                <a:ea typeface="Open Sans" pitchFamily="34" charset="-122"/>
                <a:cs typeface="Open Sans" pitchFamily="34" charset="-120"/>
              </a:rPr>
              <a:t>Modelo de base de datos para dbdiagram.io</a:t>
            </a:r>
            <a:endParaRPr lang="en-US" sz="1050" dirty="0"/>
          </a:p>
        </p:txBody>
      </p:sp>
      <p:sp>
        <p:nvSpPr>
          <p:cNvPr id="40" name="Shape 31"/>
          <p:cNvSpPr/>
          <p:nvPr/>
        </p:nvSpPr>
        <p:spPr>
          <a:xfrm>
            <a:off x="7991856" y="5321808"/>
            <a:ext cx="3584448" cy="868680"/>
          </a:xfrm>
          <a:prstGeom prst="roundRect">
            <a:avLst>
              <a:gd name="adj" fmla="val 12632"/>
            </a:avLst>
          </a:prstGeom>
          <a:solidFill>
            <a:srgbClr val="E0F8FB"/>
          </a:solidFill>
          <a:ln/>
        </p:spPr>
      </p:sp>
      <p:sp>
        <p:nvSpPr>
          <p:cNvPr id="41" name="Shape 32"/>
          <p:cNvSpPr/>
          <p:nvPr/>
        </p:nvSpPr>
        <p:spPr>
          <a:xfrm>
            <a:off x="8156448" y="5486400"/>
            <a:ext cx="530352" cy="530352"/>
          </a:xfrm>
          <a:prstGeom prst="ellipse">
            <a:avLst/>
          </a:prstGeom>
          <a:solidFill>
            <a:srgbClr val="FFFFFF"/>
          </a:solidFill>
          <a:ln/>
        </p:spPr>
      </p:sp>
      <p:pic>
        <p:nvPicPr>
          <p:cNvPr id="42" name="Image 7" descr="preencoded.png">    </p:cNvPr>
          <p:cNvPicPr>
            <a:picLocks noChangeAspect="1"/>
          </p:cNvPicPr>
          <p:nvPr/>
        </p:nvPicPr>
        <p:blipFill>
          <a:blip r:embed="rId9"/>
          <a:stretch>
            <a:fillRect/>
          </a:stretch>
        </p:blipFill>
        <p:spPr>
          <a:xfrm>
            <a:off x="8283732" y="5613684"/>
            <a:ext cx="275783" cy="275783"/>
          </a:xfrm>
          <a:prstGeom prst="rect">
            <a:avLst/>
          </a:prstGeom>
        </p:spPr>
      </p:pic>
      <p:sp>
        <p:nvSpPr>
          <p:cNvPr id="43" name="Text 33"/>
          <p:cNvSpPr txBox="1"/>
          <p:nvPr/>
        </p:nvSpPr>
        <p:spPr>
          <a:xfrm>
            <a:off x="8814816" y="5367528"/>
            <a:ext cx="2697480" cy="77724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diccionario_datos.json</a:t>
            </a:r>
            <a:endParaRPr lang="en-US" sz="1050" dirty="0"/>
          </a:p>
          <a:p>
            <a:pPr indent="0" marL="0">
              <a:buNone/>
            </a:pPr>
            <a:r>
              <a:rPr lang="en-US" sz="900" dirty="0">
                <a:solidFill>
                  <a:srgbClr val="4A5878"/>
                </a:solidFill>
                <a:latin typeface="Open Sans" pitchFamily="34" charset="0"/>
                <a:ea typeface="Open Sans" pitchFamily="34" charset="-122"/>
                <a:cs typeface="Open Sans" pitchFamily="34" charset="-120"/>
              </a:rPr>
              <a:t>Diccionario de datos: tablas, campos y tipos</a:t>
            </a:r>
            <a:endParaRPr lang="en-US" sz="1050" dirty="0"/>
          </a:p>
        </p:txBody>
      </p:sp>
      <p:sp>
        <p:nvSpPr>
          <p:cNvPr id="44" name="Text 3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5" name="Text 3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00B8D4"/>
                </a:solidFill>
                <a:latin typeface="Montserrat" pitchFamily="34" charset="0"/>
                <a:ea typeface="Montserrat" pitchFamily="34" charset="-122"/>
                <a:cs typeface="Montserrat"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11480" y="320040"/>
            <a:ext cx="5943600" cy="2651760"/>
          </a:xfrm>
          <a:prstGeom prst="rect">
            <a:avLst/>
          </a:prstGeom>
          <a:noFill/>
          <a:ln/>
        </p:spPr>
        <p:txBody>
          <a:bodyPr wrap="square" lIns="0" tIns="0" rIns="0" bIns="0" rtlCol="0" anchor="t"/>
          <a:lstStyle/>
          <a:p>
            <a:pPr indent="0" marL="0">
              <a:buNone/>
            </a:pPr>
            <a:r>
              <a:rPr lang="en-US" sz="20000" b="1" dirty="0">
                <a:solidFill>
                  <a:srgbClr val="FFFFFF">
                    <a:alpha val="22000"/>
                  </a:srgbClr>
                </a:solidFill>
                <a:latin typeface="Montserrat" pitchFamily="34" charset="0"/>
                <a:ea typeface="Montserrat" pitchFamily="34" charset="-122"/>
                <a:cs typeface="Montserrat" pitchFamily="34" charset="-120"/>
              </a:rPr>
              <a:t>02</a:t>
            </a:r>
            <a:endParaRPr lang="en-US" sz="20000" dirty="0"/>
          </a:p>
        </p:txBody>
      </p:sp>
      <p:sp>
        <p:nvSpPr>
          <p:cNvPr id="3" name="Text 1"/>
          <p:cNvSpPr txBox="1"/>
          <p:nvPr/>
        </p:nvSpPr>
        <p:spPr>
          <a:xfrm>
            <a:off x="640080" y="3246120"/>
            <a:ext cx="4572000" cy="320040"/>
          </a:xfrm>
          <a:prstGeom prst="rect">
            <a:avLst/>
          </a:prstGeom>
          <a:noFill/>
          <a:ln/>
        </p:spPr>
        <p:txBody>
          <a:bodyPr wrap="square" lIns="0" tIns="0" rIns="0" bIns="0" rtlCol="0" anchor="t"/>
          <a:lstStyle/>
          <a:p>
            <a:pPr indent="0" marL="0">
              <a:buNone/>
            </a:pPr>
            <a:r>
              <a:rPr lang="en-US" sz="1400" b="1" spc="600" kern="0" dirty="0">
                <a:solidFill>
                  <a:srgbClr val="FFC233"/>
                </a:solidFill>
                <a:latin typeface="Montserrat" pitchFamily="34" charset="0"/>
                <a:ea typeface="Montserrat" pitchFamily="34" charset="-122"/>
                <a:cs typeface="Montserrat" pitchFamily="34" charset="-120"/>
              </a:rPr>
              <a:t>UNIDAD II</a:t>
            </a:r>
            <a:endParaRPr lang="en-US" sz="1400" dirty="0"/>
          </a:p>
        </p:txBody>
      </p:sp>
      <p:sp>
        <p:nvSpPr>
          <p:cNvPr id="4" name="Text 2"/>
          <p:cNvSpPr txBox="1"/>
          <p:nvPr/>
        </p:nvSpPr>
        <p:spPr>
          <a:xfrm>
            <a:off x="640080" y="3611880"/>
            <a:ext cx="6217920" cy="160020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Montserrat" pitchFamily="34" charset="0"/>
                <a:ea typeface="Montserrat" pitchFamily="34" charset="-122"/>
                <a:cs typeface="Montserrat" pitchFamily="34" charset="-120"/>
              </a:rPr>
              <a:t>Modelos de Diseño y</a:t>
            </a:r>
            <a:endParaRPr lang="en-US" sz="4000" dirty="0"/>
          </a:p>
          <a:p>
            <a:pPr indent="0" marL="0">
              <a:lnSpc>
                <a:spcPct val="95000"/>
              </a:lnSpc>
              <a:buNone/>
            </a:pPr>
            <a:r>
              <a:rPr lang="en-US" sz="4000" b="1" dirty="0">
                <a:solidFill>
                  <a:srgbClr val="FFFFFF"/>
                </a:solidFill>
                <a:latin typeface="Montserrat" pitchFamily="34" charset="0"/>
                <a:ea typeface="Montserrat" pitchFamily="34" charset="-122"/>
                <a:cs typeface="Montserrat" pitchFamily="34" charset="-120"/>
              </a:rPr>
              <a:t>Metodología Ágil</a:t>
            </a:r>
            <a:endParaRPr lang="en-US" sz="4000" dirty="0"/>
          </a:p>
        </p:txBody>
      </p:sp>
      <p:sp>
        <p:nvSpPr>
          <p:cNvPr id="5" name="Text 3"/>
          <p:cNvSpPr txBox="1"/>
          <p:nvPr/>
        </p:nvSpPr>
        <p:spPr>
          <a:xfrm>
            <a:off x="640080" y="5257800"/>
            <a:ext cx="4572000" cy="320040"/>
          </a:xfrm>
          <a:prstGeom prst="rect">
            <a:avLst/>
          </a:prstGeom>
          <a:noFill/>
          <a:ln/>
        </p:spPr>
        <p:txBody>
          <a:bodyPr wrap="square" lIns="0" tIns="0" rIns="0" bIns="0" rtlCol="0" anchor="t"/>
          <a:lstStyle/>
          <a:p>
            <a:pPr indent="0" marL="0">
              <a:buNone/>
            </a:pPr>
            <a:r>
              <a:rPr lang="en-US" sz="1500" dirty="0">
                <a:solidFill>
                  <a:srgbClr val="DCE9FF"/>
                </a:solidFill>
                <a:latin typeface="Open Sans" pitchFamily="34" charset="0"/>
                <a:ea typeface="Open Sans" pitchFamily="34" charset="-122"/>
                <a:cs typeface="Open Sans" pitchFamily="34" charset="-120"/>
              </a:rPr>
              <a:t>Semanas 5–7</a:t>
            </a:r>
            <a:endParaRPr lang="en-US" sz="1500" dirty="0"/>
          </a:p>
        </p:txBody>
      </p:sp>
      <p:sp>
        <p:nvSpPr>
          <p:cNvPr id="6" name="Shape 4"/>
          <p:cNvSpPr/>
          <p:nvPr/>
        </p:nvSpPr>
        <p:spPr>
          <a:xfrm>
            <a:off x="7040880" y="1604772"/>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7" name="Shape 5"/>
          <p:cNvSpPr/>
          <p:nvPr/>
        </p:nvSpPr>
        <p:spPr>
          <a:xfrm>
            <a:off x="7269480" y="1787652"/>
            <a:ext cx="594360" cy="594360"/>
          </a:xfrm>
          <a:prstGeom prst="roundRect">
            <a:avLst>
              <a:gd name="adj" fmla="val 28000"/>
            </a:avLst>
          </a:prstGeom>
          <a:solidFill>
            <a:srgbClr val="10B981"/>
          </a:solidFill>
          <a:ln/>
        </p:spPr>
      </p:sp>
      <p:pic>
        <p:nvPicPr>
          <p:cNvPr id="8" name="Image 0" descr="preencoded.png">    </p:cNvPr>
          <p:cNvPicPr>
            <a:picLocks noChangeAspect="1"/>
          </p:cNvPicPr>
          <p:nvPr/>
        </p:nvPicPr>
        <p:blipFill>
          <a:blip r:embed="rId2"/>
          <a:stretch>
            <a:fillRect/>
          </a:stretch>
        </p:blipFill>
        <p:spPr>
          <a:xfrm>
            <a:off x="7412126" y="1930298"/>
            <a:ext cx="309067" cy="309067"/>
          </a:xfrm>
          <a:prstGeom prst="rect">
            <a:avLst/>
          </a:prstGeom>
        </p:spPr>
      </p:pic>
      <p:sp>
        <p:nvSpPr>
          <p:cNvPr id="9" name="Text 6"/>
          <p:cNvSpPr txBox="1"/>
          <p:nvPr/>
        </p:nvSpPr>
        <p:spPr>
          <a:xfrm>
            <a:off x="8092440" y="1787652"/>
            <a:ext cx="3383280" cy="228600"/>
          </a:xfrm>
          <a:prstGeom prst="rect">
            <a:avLst/>
          </a:prstGeom>
          <a:noFill/>
          <a:ln/>
        </p:spPr>
        <p:txBody>
          <a:bodyPr wrap="square" lIns="0" tIns="0" rIns="0" bIns="0" rtlCol="0" anchor="t"/>
          <a:lstStyle/>
          <a:p>
            <a:pPr indent="0" marL="0">
              <a:buNone/>
            </a:pPr>
            <a:r>
              <a:rPr lang="en-US" sz="850" b="1" spc="200" kern="0" dirty="0">
                <a:solidFill>
                  <a:srgbClr val="10B981"/>
                </a:solidFill>
                <a:latin typeface="Montserrat" pitchFamily="34" charset="0"/>
                <a:ea typeface="Montserrat" pitchFamily="34" charset="-122"/>
                <a:cs typeface="Montserrat" pitchFamily="34" charset="-120"/>
              </a:rPr>
              <a:t>CAPÍTULO 4</a:t>
            </a:r>
            <a:endParaRPr lang="en-US" sz="850" dirty="0"/>
          </a:p>
        </p:txBody>
      </p:sp>
      <p:sp>
        <p:nvSpPr>
          <p:cNvPr id="10" name="Text 7"/>
          <p:cNvSpPr txBox="1"/>
          <p:nvPr/>
        </p:nvSpPr>
        <p:spPr>
          <a:xfrm>
            <a:off x="8092440" y="1997964"/>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Modelos de diseño: clases y secuencia</a:t>
            </a:r>
            <a:endParaRPr lang="en-US" sz="1450" dirty="0"/>
          </a:p>
        </p:txBody>
      </p:sp>
      <p:sp>
        <p:nvSpPr>
          <p:cNvPr id="11" name="Shape 8"/>
          <p:cNvSpPr/>
          <p:nvPr/>
        </p:nvSpPr>
        <p:spPr>
          <a:xfrm>
            <a:off x="7040880" y="2766060"/>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12" name="Shape 9"/>
          <p:cNvSpPr/>
          <p:nvPr/>
        </p:nvSpPr>
        <p:spPr>
          <a:xfrm>
            <a:off x="7269480" y="2948940"/>
            <a:ext cx="594360" cy="594360"/>
          </a:xfrm>
          <a:prstGeom prst="roundRect">
            <a:avLst>
              <a:gd name="adj" fmla="val 28000"/>
            </a:avLst>
          </a:prstGeom>
          <a:solidFill>
            <a:srgbClr val="FF8A00"/>
          </a:solidFill>
          <a:ln/>
        </p:spPr>
      </p:sp>
      <p:pic>
        <p:nvPicPr>
          <p:cNvPr id="13" name="Image 1" descr="preencoded.png">    </p:cNvPr>
          <p:cNvPicPr>
            <a:picLocks noChangeAspect="1"/>
          </p:cNvPicPr>
          <p:nvPr/>
        </p:nvPicPr>
        <p:blipFill>
          <a:blip r:embed="rId3"/>
          <a:stretch>
            <a:fillRect/>
          </a:stretch>
        </p:blipFill>
        <p:spPr>
          <a:xfrm>
            <a:off x="7412126" y="3091586"/>
            <a:ext cx="309067" cy="309067"/>
          </a:xfrm>
          <a:prstGeom prst="rect">
            <a:avLst/>
          </a:prstGeom>
        </p:spPr>
      </p:pic>
      <p:sp>
        <p:nvSpPr>
          <p:cNvPr id="14" name="Text 10"/>
          <p:cNvSpPr txBox="1"/>
          <p:nvPr/>
        </p:nvSpPr>
        <p:spPr>
          <a:xfrm>
            <a:off x="8092440" y="2948940"/>
            <a:ext cx="3383280" cy="228600"/>
          </a:xfrm>
          <a:prstGeom prst="rect">
            <a:avLst/>
          </a:prstGeom>
          <a:noFill/>
          <a:ln/>
        </p:spPr>
        <p:txBody>
          <a:bodyPr wrap="square" lIns="0" tIns="0" rIns="0" bIns="0" rtlCol="0" anchor="t"/>
          <a:lstStyle/>
          <a:p>
            <a:pPr indent="0" marL="0">
              <a:buNone/>
            </a:pPr>
            <a:r>
              <a:rPr lang="en-US" sz="850" b="1" spc="200" kern="0" dirty="0">
                <a:solidFill>
                  <a:srgbClr val="FF8A00"/>
                </a:solidFill>
                <a:latin typeface="Montserrat" pitchFamily="34" charset="0"/>
                <a:ea typeface="Montserrat" pitchFamily="34" charset="-122"/>
                <a:cs typeface="Montserrat" pitchFamily="34" charset="-120"/>
              </a:rPr>
              <a:t>CAPÍTULO 5</a:t>
            </a:r>
            <a:endParaRPr lang="en-US" sz="850" dirty="0"/>
          </a:p>
        </p:txBody>
      </p:sp>
      <p:sp>
        <p:nvSpPr>
          <p:cNvPr id="15" name="Text 11"/>
          <p:cNvSpPr txBox="1"/>
          <p:nvPr/>
        </p:nvSpPr>
        <p:spPr>
          <a:xfrm>
            <a:off x="8092440" y="3159252"/>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Metodología de trabajo: Scrum</a:t>
            </a:r>
            <a:endParaRPr lang="en-US" sz="1450" dirty="0"/>
          </a:p>
        </p:txBody>
      </p:sp>
      <p:sp>
        <p:nvSpPr>
          <p:cNvPr id="16" name="Shape 12"/>
          <p:cNvSpPr/>
          <p:nvPr/>
        </p:nvSpPr>
        <p:spPr>
          <a:xfrm>
            <a:off x="7040880" y="3927348"/>
            <a:ext cx="4572000" cy="960120"/>
          </a:xfrm>
          <a:prstGeom prst="roundRect">
            <a:avLst>
              <a:gd name="adj" fmla="val 15238"/>
            </a:avLst>
          </a:prstGeom>
          <a:solidFill>
            <a:srgbClr val="FFFFFF"/>
          </a:solidFill>
          <a:ln/>
          <a:effectLst>
            <a:outerShdw sx="100000" sy="100000" kx="0" ky="0" algn="bl" rotWithShape="0" blurRad="254000" dist="76200" dir="5400000">
              <a:srgbClr val="031040">
                <a:alpha val="25000"/>
              </a:srgbClr>
            </a:outerShdw>
          </a:effectLst>
        </p:spPr>
      </p:sp>
      <p:sp>
        <p:nvSpPr>
          <p:cNvPr id="17" name="Shape 13"/>
          <p:cNvSpPr/>
          <p:nvPr/>
        </p:nvSpPr>
        <p:spPr>
          <a:xfrm>
            <a:off x="7269480" y="4110228"/>
            <a:ext cx="594360" cy="594360"/>
          </a:xfrm>
          <a:prstGeom prst="roundRect">
            <a:avLst>
              <a:gd name="adj" fmla="val 28000"/>
            </a:avLst>
          </a:prstGeom>
          <a:solidFill>
            <a:srgbClr val="0B5FFF"/>
          </a:solidFill>
          <a:ln/>
        </p:spPr>
      </p:sp>
      <p:pic>
        <p:nvPicPr>
          <p:cNvPr id="18" name="Image 2" descr="preencoded.png">    </p:cNvPr>
          <p:cNvPicPr>
            <a:picLocks noChangeAspect="1"/>
          </p:cNvPicPr>
          <p:nvPr/>
        </p:nvPicPr>
        <p:blipFill>
          <a:blip r:embed="rId4"/>
          <a:stretch>
            <a:fillRect/>
          </a:stretch>
        </p:blipFill>
        <p:spPr>
          <a:xfrm>
            <a:off x="7412126" y="4252874"/>
            <a:ext cx="309067" cy="309067"/>
          </a:xfrm>
          <a:prstGeom prst="rect">
            <a:avLst/>
          </a:prstGeom>
        </p:spPr>
      </p:pic>
      <p:sp>
        <p:nvSpPr>
          <p:cNvPr id="19" name="Text 14"/>
          <p:cNvSpPr txBox="1"/>
          <p:nvPr/>
        </p:nvSpPr>
        <p:spPr>
          <a:xfrm>
            <a:off x="8092440" y="4110228"/>
            <a:ext cx="3383280" cy="228600"/>
          </a:xfrm>
          <a:prstGeom prst="rect">
            <a:avLst/>
          </a:prstGeom>
          <a:noFill/>
          <a:ln/>
        </p:spPr>
        <p:txBody>
          <a:bodyPr wrap="square" lIns="0" tIns="0" rIns="0" bIns="0" rtlCol="0" anchor="t"/>
          <a:lstStyle/>
          <a:p>
            <a:pPr indent="0" marL="0">
              <a:buNone/>
            </a:pPr>
            <a:r>
              <a:rPr lang="en-US" sz="850" b="1" spc="200" kern="0" dirty="0">
                <a:solidFill>
                  <a:srgbClr val="0B5FFF"/>
                </a:solidFill>
                <a:latin typeface="Montserrat" pitchFamily="34" charset="0"/>
                <a:ea typeface="Montserrat" pitchFamily="34" charset="-122"/>
                <a:cs typeface="Montserrat" pitchFamily="34" charset="-120"/>
              </a:rPr>
              <a:t>HERRAMIENTAS</a:t>
            </a:r>
            <a:endParaRPr lang="en-US" sz="850" dirty="0"/>
          </a:p>
        </p:txBody>
      </p:sp>
      <p:sp>
        <p:nvSpPr>
          <p:cNvPr id="20" name="Text 15"/>
          <p:cNvSpPr txBox="1"/>
          <p:nvPr/>
        </p:nvSpPr>
        <p:spPr>
          <a:xfrm>
            <a:off x="8092440" y="4320540"/>
            <a:ext cx="3383280" cy="411480"/>
          </a:xfrm>
          <a:prstGeom prst="rect">
            <a:avLst/>
          </a:prstGeom>
          <a:noFill/>
          <a:ln/>
        </p:spPr>
        <p:txBody>
          <a:bodyPr wrap="square" lIns="0" tIns="0" rIns="0" bIns="0" rtlCol="0" anchor="ctr"/>
          <a:lstStyle/>
          <a:p>
            <a:pPr indent="0" marL="0">
              <a:buNone/>
            </a:pPr>
            <a:r>
              <a:rPr lang="en-US" sz="1450" b="1" dirty="0">
                <a:solidFill>
                  <a:srgbClr val="0E1B3D"/>
                </a:solidFill>
                <a:latin typeface="Montserrat" pitchFamily="34" charset="0"/>
                <a:ea typeface="Montserrat" pitchFamily="34" charset="-122"/>
                <a:cs typeface="Montserrat" pitchFamily="34" charset="-120"/>
              </a:rPr>
              <a:t>Jira, GitHub, Draw.io, Visual Paradigm, dbdiagram.io</a:t>
            </a:r>
            <a:endParaRPr lang="en-US" sz="1450" dirty="0"/>
          </a:p>
        </p:txBody>
      </p:sp>
      <p:sp>
        <p:nvSpPr>
          <p:cNvPr id="21" name="Text 1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22" name="Text 1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305556" cy="274320"/>
          </a:xfrm>
          <a:prstGeom prst="roundRect">
            <a:avLst>
              <a:gd name="adj" fmla="val 50000"/>
            </a:avLst>
          </a:prstGeom>
          <a:solidFill>
            <a:srgbClr val="10B981"/>
          </a:solidFill>
          <a:ln/>
        </p:spPr>
      </p:sp>
      <p:sp>
        <p:nvSpPr>
          <p:cNvPr id="3" name="Text 1"/>
          <p:cNvSpPr txBox="1"/>
          <p:nvPr/>
        </p:nvSpPr>
        <p:spPr>
          <a:xfrm>
            <a:off x="548640" y="292608"/>
            <a:ext cx="330555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4 · 4.1 MODELO ESTRUCTURAL</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Diagrama de clases del dominio</a:t>
            </a:r>
            <a:endParaRPr lang="en-US" sz="2400" dirty="0"/>
          </a:p>
        </p:txBody>
      </p:sp>
      <p:sp>
        <p:nvSpPr>
          <p:cNvPr id="5" name="Shape 3"/>
          <p:cNvSpPr/>
          <p:nvPr/>
        </p:nvSpPr>
        <p:spPr>
          <a:xfrm>
            <a:off x="5120640" y="1188720"/>
            <a:ext cx="1371600" cy="779069"/>
          </a:xfrm>
          <a:prstGeom prst="rect">
            <a:avLst/>
          </a:prstGeom>
          <a:solidFill>
            <a:srgbClr val="FFFFFF"/>
          </a:solidFill>
          <a:ln w="12700">
            <a:solidFill>
              <a:srgbClr val="0B5FFF"/>
            </a:solidFill>
            <a:prstDash val="solid"/>
          </a:ln>
          <a:effectLst>
            <a:outerShdw sx="100000" sy="100000" kx="0" ky="0" algn="bl" rotWithShape="0" blurRad="127000" dist="38100" dir="5400000">
              <a:srgbClr val="0B1E4F">
                <a:alpha val="10000"/>
              </a:srgbClr>
            </a:outerShdw>
          </a:effectLst>
        </p:spPr>
      </p:sp>
      <p:sp>
        <p:nvSpPr>
          <p:cNvPr id="6" name="Shape 4"/>
          <p:cNvSpPr/>
          <p:nvPr/>
        </p:nvSpPr>
        <p:spPr>
          <a:xfrm>
            <a:off x="5120640" y="1188720"/>
            <a:ext cx="1371600" cy="237744"/>
          </a:xfrm>
          <a:prstGeom prst="rect">
            <a:avLst/>
          </a:prstGeom>
          <a:solidFill>
            <a:srgbClr val="0B5FFF"/>
          </a:solidFill>
          <a:ln w="12700">
            <a:solidFill>
              <a:srgbClr val="0B5FFF"/>
            </a:solidFill>
            <a:prstDash val="solid"/>
          </a:ln>
        </p:spPr>
      </p:sp>
      <p:sp>
        <p:nvSpPr>
          <p:cNvPr id="7" name="Text 5"/>
          <p:cNvSpPr txBox="1"/>
          <p:nvPr/>
        </p:nvSpPr>
        <p:spPr>
          <a:xfrm>
            <a:off x="5120640" y="1188720"/>
            <a:ext cx="13716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Armador</a:t>
            </a:r>
            <a:endParaRPr lang="en-US" sz="800" dirty="0"/>
          </a:p>
        </p:txBody>
      </p:sp>
      <p:sp>
        <p:nvSpPr>
          <p:cNvPr id="8" name="Text 6"/>
          <p:cNvSpPr txBox="1"/>
          <p:nvPr/>
        </p:nvSpPr>
        <p:spPr>
          <a:xfrm>
            <a:off x="5184648" y="1463040"/>
            <a:ext cx="1280160"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-tipoDocumento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-numeroDocumento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-nombre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-celular : String</a:t>
            </a:r>
            <a:endParaRPr lang="en-US" sz="660" dirty="0"/>
          </a:p>
        </p:txBody>
      </p:sp>
      <p:sp>
        <p:nvSpPr>
          <p:cNvPr id="9" name="Shape 7"/>
          <p:cNvSpPr/>
          <p:nvPr/>
        </p:nvSpPr>
        <p:spPr>
          <a:xfrm>
            <a:off x="5120640" y="1894637"/>
            <a:ext cx="1371600" cy="914"/>
          </a:xfrm>
          <a:prstGeom prst="line">
            <a:avLst/>
          </a:prstGeom>
          <a:noFill/>
          <a:ln w="9525">
            <a:solidFill>
              <a:srgbClr val="0B5FFF"/>
            </a:solidFill>
            <a:prstDash val="solid"/>
          </a:ln>
        </p:spPr>
      </p:sp>
      <p:sp>
        <p:nvSpPr>
          <p:cNvPr id="10" name="Shape 8"/>
          <p:cNvSpPr/>
          <p:nvPr/>
        </p:nvSpPr>
        <p:spPr>
          <a:xfrm>
            <a:off x="7818120" y="1188720"/>
            <a:ext cx="1325880" cy="779069"/>
          </a:xfrm>
          <a:prstGeom prst="rect">
            <a:avLst/>
          </a:prstGeom>
          <a:solidFill>
            <a:srgbClr val="FFFFFF"/>
          </a:solidFill>
          <a:ln w="12700">
            <a:solidFill>
              <a:srgbClr val="0B1E4F"/>
            </a:solidFill>
            <a:prstDash val="solid"/>
          </a:ln>
          <a:effectLst>
            <a:outerShdw sx="100000" sy="100000" kx="0" ky="0" algn="bl" rotWithShape="0" blurRad="127000" dist="38100" dir="5400000">
              <a:srgbClr val="0B1E4F">
                <a:alpha val="10000"/>
              </a:srgbClr>
            </a:outerShdw>
          </a:effectLst>
        </p:spPr>
      </p:sp>
      <p:sp>
        <p:nvSpPr>
          <p:cNvPr id="11" name="Shape 9"/>
          <p:cNvSpPr/>
          <p:nvPr/>
        </p:nvSpPr>
        <p:spPr>
          <a:xfrm>
            <a:off x="7818120" y="1188720"/>
            <a:ext cx="1325880" cy="237744"/>
          </a:xfrm>
          <a:prstGeom prst="rect">
            <a:avLst/>
          </a:prstGeom>
          <a:solidFill>
            <a:srgbClr val="0B1E4F"/>
          </a:solidFill>
          <a:ln w="12700">
            <a:solidFill>
              <a:srgbClr val="0B1E4F"/>
            </a:solidFill>
            <a:prstDash val="solid"/>
          </a:ln>
        </p:spPr>
      </p:sp>
      <p:sp>
        <p:nvSpPr>
          <p:cNvPr id="12" name="Text 10"/>
          <p:cNvSpPr txBox="1"/>
          <p:nvPr/>
        </p:nvSpPr>
        <p:spPr>
          <a:xfrm>
            <a:off x="7818120" y="1188720"/>
            <a:ext cx="13258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LugarDesembarque</a:t>
            </a:r>
            <a:endParaRPr lang="en-US" sz="800" dirty="0"/>
          </a:p>
        </p:txBody>
      </p:sp>
      <p:sp>
        <p:nvSpPr>
          <p:cNvPr id="13" name="Text 11"/>
          <p:cNvSpPr txBox="1"/>
          <p:nvPr/>
        </p:nvSpPr>
        <p:spPr>
          <a:xfrm>
            <a:off x="7882128" y="1463040"/>
            <a:ext cx="1234440"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-codigo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-nombre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-tipo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-region : String</a:t>
            </a:r>
            <a:endParaRPr lang="en-US" sz="660" dirty="0"/>
          </a:p>
        </p:txBody>
      </p:sp>
      <p:sp>
        <p:nvSpPr>
          <p:cNvPr id="14" name="Shape 12"/>
          <p:cNvSpPr/>
          <p:nvPr/>
        </p:nvSpPr>
        <p:spPr>
          <a:xfrm>
            <a:off x="7818120" y="1894637"/>
            <a:ext cx="1325880" cy="914"/>
          </a:xfrm>
          <a:prstGeom prst="line">
            <a:avLst/>
          </a:prstGeom>
          <a:noFill/>
          <a:ln w="9525">
            <a:solidFill>
              <a:srgbClr val="0B1E4F"/>
            </a:solidFill>
            <a:prstDash val="solid"/>
          </a:ln>
        </p:spPr>
      </p:sp>
      <p:sp>
        <p:nvSpPr>
          <p:cNvPr id="15" name="Shape 13"/>
          <p:cNvSpPr/>
          <p:nvPr/>
        </p:nvSpPr>
        <p:spPr>
          <a:xfrm>
            <a:off x="10241280" y="1325880"/>
            <a:ext cx="1463040" cy="581558"/>
          </a:xfrm>
          <a:prstGeom prst="rect">
            <a:avLst/>
          </a:prstGeom>
          <a:solidFill>
            <a:srgbClr val="FFFFFF"/>
          </a:solidFill>
          <a:ln w="12700">
            <a:solidFill>
              <a:srgbClr val="0B9468"/>
            </a:solidFill>
            <a:prstDash val="solid"/>
          </a:ln>
          <a:effectLst>
            <a:outerShdw sx="100000" sy="100000" kx="0" ky="0" algn="bl" rotWithShape="0" blurRad="127000" dist="38100" dir="5400000">
              <a:srgbClr val="0B1E4F">
                <a:alpha val="10000"/>
              </a:srgbClr>
            </a:outerShdw>
          </a:effectLst>
        </p:spPr>
      </p:sp>
      <p:sp>
        <p:nvSpPr>
          <p:cNvPr id="16" name="Shape 14"/>
          <p:cNvSpPr/>
          <p:nvPr/>
        </p:nvSpPr>
        <p:spPr>
          <a:xfrm>
            <a:off x="10241280" y="1325880"/>
            <a:ext cx="1463040" cy="237744"/>
          </a:xfrm>
          <a:prstGeom prst="rect">
            <a:avLst/>
          </a:prstGeom>
          <a:solidFill>
            <a:srgbClr val="0B9468"/>
          </a:solidFill>
          <a:ln w="12700">
            <a:solidFill>
              <a:srgbClr val="0B9468"/>
            </a:solidFill>
            <a:prstDash val="solid"/>
          </a:ln>
        </p:spPr>
      </p:sp>
      <p:sp>
        <p:nvSpPr>
          <p:cNvPr id="17" name="Text 15"/>
          <p:cNvSpPr txBox="1"/>
          <p:nvPr/>
        </p:nvSpPr>
        <p:spPr>
          <a:xfrm>
            <a:off x="10241280" y="1325880"/>
            <a:ext cx="14630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MuestreoTalla</a:t>
            </a:r>
            <a:endParaRPr lang="en-US" sz="800" dirty="0"/>
          </a:p>
        </p:txBody>
      </p:sp>
      <p:sp>
        <p:nvSpPr>
          <p:cNvPr id="18" name="Text 16"/>
          <p:cNvSpPr txBox="1"/>
          <p:nvPr/>
        </p:nvSpPr>
        <p:spPr>
          <a:xfrm>
            <a:off x="10305288" y="1600200"/>
            <a:ext cx="1371600" cy="117043"/>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-tallasCm : List&lt;Decimal&gt;</a:t>
            </a:r>
            <a:endParaRPr lang="en-US" sz="660" dirty="0"/>
          </a:p>
        </p:txBody>
      </p:sp>
      <p:sp>
        <p:nvSpPr>
          <p:cNvPr id="19" name="Shape 17"/>
          <p:cNvSpPr/>
          <p:nvPr/>
        </p:nvSpPr>
        <p:spPr>
          <a:xfrm>
            <a:off x="10241280" y="1735531"/>
            <a:ext cx="1463040" cy="914"/>
          </a:xfrm>
          <a:prstGeom prst="line">
            <a:avLst/>
          </a:prstGeom>
          <a:noFill/>
          <a:ln w="9525">
            <a:solidFill>
              <a:srgbClr val="0B9468"/>
            </a:solidFill>
            <a:prstDash val="solid"/>
          </a:ln>
        </p:spPr>
      </p:sp>
      <p:sp>
        <p:nvSpPr>
          <p:cNvPr id="20" name="Text 18"/>
          <p:cNvSpPr txBox="1"/>
          <p:nvPr/>
        </p:nvSpPr>
        <p:spPr>
          <a:xfrm>
            <a:off x="10305288" y="1772107"/>
            <a:ext cx="1371600" cy="117043"/>
          </a:xfrm>
          <a:prstGeom prst="rect">
            <a:avLst/>
          </a:prstGeom>
          <a:noFill/>
          <a:ln/>
        </p:spPr>
        <p:txBody>
          <a:bodyPr wrap="square" lIns="0" tIns="0" rIns="0" bIns="0" rtlCol="0" anchor="t"/>
          <a:lstStyle/>
          <a:p>
            <a:pPr indent="0" marL="0">
              <a:lnSpc>
                <a:spcPts val="780"/>
              </a:lnSpc>
              <a:buNone/>
            </a:pPr>
            <a:r>
              <a:rPr lang="en-US" sz="660" b="1" dirty="0">
                <a:solidFill>
                  <a:srgbClr val="0B9468"/>
                </a:solidFill>
                <a:latin typeface="Open Sans" pitchFamily="34" charset="0"/>
                <a:ea typeface="Open Sans" pitchFamily="34" charset="-122"/>
                <a:cs typeface="Open Sans" pitchFamily="34" charset="-120"/>
              </a:rPr>
              <a:t>+porcentajeBajo() : Decimal</a:t>
            </a:r>
            <a:endParaRPr lang="en-US" sz="660" dirty="0"/>
          </a:p>
        </p:txBody>
      </p:sp>
      <p:sp>
        <p:nvSpPr>
          <p:cNvPr id="21" name="Shape 19"/>
          <p:cNvSpPr/>
          <p:nvPr/>
        </p:nvSpPr>
        <p:spPr>
          <a:xfrm>
            <a:off x="411480" y="2377440"/>
            <a:ext cx="1627632" cy="779069"/>
          </a:xfrm>
          <a:prstGeom prst="rect">
            <a:avLst/>
          </a:prstGeom>
          <a:solidFill>
            <a:srgbClr val="FFFFFF"/>
          </a:solidFill>
          <a:ln w="12700">
            <a:solidFill>
              <a:srgbClr val="7B5CFF"/>
            </a:solidFill>
            <a:prstDash val="solid"/>
          </a:ln>
          <a:effectLst>
            <a:outerShdw sx="100000" sy="100000" kx="0" ky="0" algn="bl" rotWithShape="0" blurRad="127000" dist="38100" dir="5400000">
              <a:srgbClr val="0B1E4F">
                <a:alpha val="10000"/>
              </a:srgbClr>
            </a:outerShdw>
          </a:effectLst>
        </p:spPr>
      </p:sp>
      <p:sp>
        <p:nvSpPr>
          <p:cNvPr id="22" name="Shape 20"/>
          <p:cNvSpPr/>
          <p:nvPr/>
        </p:nvSpPr>
        <p:spPr>
          <a:xfrm>
            <a:off x="411480" y="2377440"/>
            <a:ext cx="1627632" cy="237744"/>
          </a:xfrm>
          <a:prstGeom prst="rect">
            <a:avLst/>
          </a:prstGeom>
          <a:solidFill>
            <a:srgbClr val="7B5CFF"/>
          </a:solidFill>
          <a:ln w="12700">
            <a:solidFill>
              <a:srgbClr val="7B5CFF"/>
            </a:solidFill>
            <a:prstDash val="solid"/>
          </a:ln>
        </p:spPr>
      </p:sp>
      <p:sp>
        <p:nvSpPr>
          <p:cNvPr id="23" name="Text 21"/>
          <p:cNvSpPr txBox="1"/>
          <p:nvPr/>
        </p:nvSpPr>
        <p:spPr>
          <a:xfrm>
            <a:off x="411480" y="2377440"/>
            <a:ext cx="1627632"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Especie</a:t>
            </a:r>
            <a:endParaRPr lang="en-US" sz="800" dirty="0"/>
          </a:p>
        </p:txBody>
      </p:sp>
      <p:sp>
        <p:nvSpPr>
          <p:cNvPr id="24" name="Text 22"/>
          <p:cNvSpPr txBox="1"/>
          <p:nvPr/>
        </p:nvSpPr>
        <p:spPr>
          <a:xfrm>
            <a:off x="475488" y="2651760"/>
            <a:ext cx="1536192"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-codigoFAO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-nombreComun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-tallaMinimaCm : Decimal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-toleranciaPorcentaje : Decimal</a:t>
            </a:r>
            <a:endParaRPr lang="en-US" sz="660" dirty="0"/>
          </a:p>
        </p:txBody>
      </p:sp>
      <p:sp>
        <p:nvSpPr>
          <p:cNvPr id="25" name="Shape 23"/>
          <p:cNvSpPr/>
          <p:nvPr/>
        </p:nvSpPr>
        <p:spPr>
          <a:xfrm>
            <a:off x="411480" y="3083357"/>
            <a:ext cx="1627632" cy="914"/>
          </a:xfrm>
          <a:prstGeom prst="line">
            <a:avLst/>
          </a:prstGeom>
          <a:noFill/>
          <a:ln w="9525">
            <a:solidFill>
              <a:srgbClr val="7B5CFF"/>
            </a:solidFill>
            <a:prstDash val="solid"/>
          </a:ln>
        </p:spPr>
      </p:sp>
      <p:sp>
        <p:nvSpPr>
          <p:cNvPr id="26" name="Shape 24"/>
          <p:cNvSpPr/>
          <p:nvPr/>
        </p:nvSpPr>
        <p:spPr>
          <a:xfrm>
            <a:off x="2788920" y="2377440"/>
            <a:ext cx="1517904" cy="1075334"/>
          </a:xfrm>
          <a:prstGeom prst="rect">
            <a:avLst/>
          </a:prstGeom>
          <a:solidFill>
            <a:srgbClr val="FFFFFF"/>
          </a:solidFill>
          <a:ln w="12700">
            <a:solidFill>
              <a:srgbClr val="0B5FFF"/>
            </a:solidFill>
            <a:prstDash val="solid"/>
          </a:ln>
          <a:effectLst>
            <a:outerShdw sx="100000" sy="100000" kx="0" ky="0" algn="bl" rotWithShape="0" blurRad="127000" dist="38100" dir="5400000">
              <a:srgbClr val="0B1E4F">
                <a:alpha val="10000"/>
              </a:srgbClr>
            </a:outerShdw>
          </a:effectLst>
        </p:spPr>
      </p:sp>
      <p:sp>
        <p:nvSpPr>
          <p:cNvPr id="27" name="Shape 25"/>
          <p:cNvSpPr/>
          <p:nvPr/>
        </p:nvSpPr>
        <p:spPr>
          <a:xfrm>
            <a:off x="2788920" y="2377440"/>
            <a:ext cx="1517904" cy="237744"/>
          </a:xfrm>
          <a:prstGeom prst="rect">
            <a:avLst/>
          </a:prstGeom>
          <a:solidFill>
            <a:srgbClr val="0B5FFF"/>
          </a:solidFill>
          <a:ln w="12700">
            <a:solidFill>
              <a:srgbClr val="0B5FFF"/>
            </a:solidFill>
            <a:prstDash val="solid"/>
          </a:ln>
        </p:spPr>
      </p:sp>
      <p:sp>
        <p:nvSpPr>
          <p:cNvPr id="28" name="Text 26"/>
          <p:cNvSpPr txBox="1"/>
          <p:nvPr/>
        </p:nvSpPr>
        <p:spPr>
          <a:xfrm>
            <a:off x="2788920" y="2377440"/>
            <a:ext cx="151790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PermisoPesca</a:t>
            </a:r>
            <a:endParaRPr lang="en-US" sz="800" dirty="0"/>
          </a:p>
        </p:txBody>
      </p:sp>
      <p:sp>
        <p:nvSpPr>
          <p:cNvPr id="29" name="Text 27"/>
          <p:cNvSpPr txBox="1"/>
          <p:nvPr/>
        </p:nvSpPr>
        <p:spPr>
          <a:xfrm>
            <a:off x="2852928" y="2651760"/>
            <a:ext cx="1426464"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-numeroResolucion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-entidadEmisora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-fechaEmision : Date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-fechaVencimiento : Date</a:t>
            </a:r>
            <a:endParaRPr lang="en-US" sz="660" dirty="0"/>
          </a:p>
        </p:txBody>
      </p:sp>
      <p:sp>
        <p:nvSpPr>
          <p:cNvPr id="30" name="Shape 28"/>
          <p:cNvSpPr/>
          <p:nvPr/>
        </p:nvSpPr>
        <p:spPr>
          <a:xfrm>
            <a:off x="2788920" y="3083357"/>
            <a:ext cx="1517904" cy="914"/>
          </a:xfrm>
          <a:prstGeom prst="line">
            <a:avLst/>
          </a:prstGeom>
          <a:noFill/>
          <a:ln w="9525">
            <a:solidFill>
              <a:srgbClr val="0B5FFF"/>
            </a:solidFill>
            <a:prstDash val="solid"/>
          </a:ln>
        </p:spPr>
      </p:sp>
      <p:sp>
        <p:nvSpPr>
          <p:cNvPr id="31" name="Text 29"/>
          <p:cNvSpPr txBox="1"/>
          <p:nvPr/>
        </p:nvSpPr>
        <p:spPr>
          <a:xfrm>
            <a:off x="2852928" y="3119933"/>
            <a:ext cx="1426464" cy="314554"/>
          </a:xfrm>
          <a:prstGeom prst="rect">
            <a:avLst/>
          </a:prstGeom>
          <a:noFill/>
          <a:ln/>
        </p:spPr>
        <p:txBody>
          <a:bodyPr wrap="square" lIns="0" tIns="0" rIns="0" bIns="0" rtlCol="0" anchor="t"/>
          <a:lstStyle/>
          <a:p>
            <a:pPr indent="0" marL="0">
              <a:lnSpc>
                <a:spcPts val="780"/>
              </a:lnSpc>
              <a:buNone/>
            </a:pPr>
            <a:r>
              <a:rPr lang="en-US" sz="660" b="1" dirty="0">
                <a:solidFill>
                  <a:srgbClr val="0B5FFF"/>
                </a:solidFill>
                <a:latin typeface="Open Sans" pitchFamily="34" charset="0"/>
                <a:ea typeface="Open Sans" pitchFamily="34" charset="-122"/>
                <a:cs typeface="Open Sans" pitchFamily="34" charset="-120"/>
              </a:rPr>
              <a:t>+estaVigente() : Boolean</a:t>
            </a:r>
            <a:endParaRPr lang="en-US" sz="660" dirty="0"/>
          </a:p>
          <a:p>
            <a:pPr indent="0" marL="0">
              <a:lnSpc>
                <a:spcPts val="780"/>
              </a:lnSpc>
              <a:buNone/>
            </a:pPr>
            <a:r>
              <a:rPr lang="en-US" sz="660" b="1" dirty="0">
                <a:solidFill>
                  <a:srgbClr val="0B5FFF"/>
                </a:solidFill>
                <a:latin typeface="Open Sans" pitchFamily="34" charset="0"/>
                <a:ea typeface="Open Sans" pitchFamily="34" charset="-122"/>
                <a:cs typeface="Open Sans" pitchFamily="34" charset="-120"/>
              </a:rPr>
              <a:t>+autorizaEspecie() : Boolean</a:t>
            </a:r>
            <a:endParaRPr lang="en-US" sz="660" dirty="0"/>
          </a:p>
          <a:p>
            <a:pPr indent="0" marL="0">
              <a:lnSpc>
                <a:spcPts val="780"/>
              </a:lnSpc>
              <a:buNone/>
            </a:pPr>
            <a:r>
              <a:rPr lang="en-US" sz="660" b="1" dirty="0">
                <a:solidFill>
                  <a:srgbClr val="0B5FFF"/>
                </a:solidFill>
                <a:latin typeface="Open Sans" pitchFamily="34" charset="0"/>
                <a:ea typeface="Open Sans" pitchFamily="34" charset="-122"/>
                <a:cs typeface="Open Sans" pitchFamily="34" charset="-120"/>
              </a:rPr>
              <a:t>+autorizaArte() : Boolean</a:t>
            </a:r>
            <a:endParaRPr lang="en-US" sz="660" dirty="0"/>
          </a:p>
        </p:txBody>
      </p:sp>
      <p:sp>
        <p:nvSpPr>
          <p:cNvPr id="32" name="Shape 30"/>
          <p:cNvSpPr/>
          <p:nvPr/>
        </p:nvSpPr>
        <p:spPr>
          <a:xfrm>
            <a:off x="5120640" y="2377440"/>
            <a:ext cx="1664208" cy="1075334"/>
          </a:xfrm>
          <a:prstGeom prst="rect">
            <a:avLst/>
          </a:prstGeom>
          <a:solidFill>
            <a:srgbClr val="FFFFFF"/>
          </a:solidFill>
          <a:ln w="12700">
            <a:solidFill>
              <a:srgbClr val="0B5FFF"/>
            </a:solidFill>
            <a:prstDash val="solid"/>
          </a:ln>
          <a:effectLst>
            <a:outerShdw sx="100000" sy="100000" kx="0" ky="0" algn="bl" rotWithShape="0" blurRad="127000" dist="38100" dir="5400000">
              <a:srgbClr val="0B1E4F">
                <a:alpha val="10000"/>
              </a:srgbClr>
            </a:outerShdw>
          </a:effectLst>
        </p:spPr>
      </p:sp>
      <p:sp>
        <p:nvSpPr>
          <p:cNvPr id="33" name="Shape 31"/>
          <p:cNvSpPr/>
          <p:nvPr/>
        </p:nvSpPr>
        <p:spPr>
          <a:xfrm>
            <a:off x="5120640" y="2377440"/>
            <a:ext cx="1664208" cy="237744"/>
          </a:xfrm>
          <a:prstGeom prst="rect">
            <a:avLst/>
          </a:prstGeom>
          <a:solidFill>
            <a:srgbClr val="0B5FFF"/>
          </a:solidFill>
          <a:ln w="12700">
            <a:solidFill>
              <a:srgbClr val="0B5FFF"/>
            </a:solidFill>
            <a:prstDash val="solid"/>
          </a:ln>
        </p:spPr>
      </p:sp>
      <p:sp>
        <p:nvSpPr>
          <p:cNvPr id="34" name="Text 32"/>
          <p:cNvSpPr txBox="1"/>
          <p:nvPr/>
        </p:nvSpPr>
        <p:spPr>
          <a:xfrm>
            <a:off x="5120640" y="2377440"/>
            <a:ext cx="166420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Embarcacion</a:t>
            </a:r>
            <a:endParaRPr lang="en-US" sz="800" dirty="0"/>
          </a:p>
        </p:txBody>
      </p:sp>
      <p:sp>
        <p:nvSpPr>
          <p:cNvPr id="35" name="Text 33"/>
          <p:cNvSpPr txBox="1"/>
          <p:nvPr/>
        </p:nvSpPr>
        <p:spPr>
          <a:xfrm>
            <a:off x="5184648" y="2651760"/>
            <a:ext cx="1572768" cy="512064"/>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-matricula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-nombre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-esloraM : Decimal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-capacidadBodegaM3 : Decimal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-categoria : CategoriaPesca</a:t>
            </a:r>
            <a:endParaRPr lang="en-US" sz="660" dirty="0"/>
          </a:p>
        </p:txBody>
      </p:sp>
      <p:sp>
        <p:nvSpPr>
          <p:cNvPr id="36" name="Shape 34"/>
          <p:cNvSpPr/>
          <p:nvPr/>
        </p:nvSpPr>
        <p:spPr>
          <a:xfrm>
            <a:off x="5120640" y="3182112"/>
            <a:ext cx="1664208" cy="914"/>
          </a:xfrm>
          <a:prstGeom prst="line">
            <a:avLst/>
          </a:prstGeom>
          <a:noFill/>
          <a:ln w="9525">
            <a:solidFill>
              <a:srgbClr val="0B5FFF"/>
            </a:solidFill>
            <a:prstDash val="solid"/>
          </a:ln>
        </p:spPr>
      </p:sp>
      <p:sp>
        <p:nvSpPr>
          <p:cNvPr id="37" name="Text 35"/>
          <p:cNvSpPr txBox="1"/>
          <p:nvPr/>
        </p:nvSpPr>
        <p:spPr>
          <a:xfrm>
            <a:off x="5184648" y="3218688"/>
            <a:ext cx="1572768" cy="215798"/>
          </a:xfrm>
          <a:prstGeom prst="rect">
            <a:avLst/>
          </a:prstGeom>
          <a:noFill/>
          <a:ln/>
        </p:spPr>
        <p:txBody>
          <a:bodyPr wrap="square" lIns="0" tIns="0" rIns="0" bIns="0" rtlCol="0" anchor="t"/>
          <a:lstStyle/>
          <a:p>
            <a:pPr indent="0" marL="0">
              <a:lnSpc>
                <a:spcPts val="780"/>
              </a:lnSpc>
              <a:buNone/>
            </a:pPr>
            <a:r>
              <a:rPr lang="en-US" sz="660" b="1" dirty="0">
                <a:solidFill>
                  <a:srgbClr val="0B5FFF"/>
                </a:solidFill>
                <a:latin typeface="Open Sans" pitchFamily="34" charset="0"/>
                <a:ea typeface="Open Sans" pitchFamily="34" charset="-122"/>
                <a:cs typeface="Open Sans" pitchFamily="34" charset="-120"/>
              </a:rPr>
              <a:t>+esArtesanal() : Boolean</a:t>
            </a:r>
            <a:endParaRPr lang="en-US" sz="660" dirty="0"/>
          </a:p>
          <a:p>
            <a:pPr indent="0" marL="0">
              <a:lnSpc>
                <a:spcPts val="780"/>
              </a:lnSpc>
              <a:buNone/>
            </a:pPr>
            <a:r>
              <a:rPr lang="en-US" sz="660" b="1" dirty="0">
                <a:solidFill>
                  <a:srgbClr val="0B5FFF"/>
                </a:solidFill>
                <a:latin typeface="Open Sans" pitchFamily="34" charset="0"/>
                <a:ea typeface="Open Sans" pitchFamily="34" charset="-122"/>
                <a:cs typeface="Open Sans" pitchFamily="34" charset="-120"/>
              </a:rPr>
              <a:t>+permisoVigente() : PermisoPesca</a:t>
            </a:r>
            <a:endParaRPr lang="en-US" sz="660" dirty="0"/>
          </a:p>
        </p:txBody>
      </p:sp>
      <p:sp>
        <p:nvSpPr>
          <p:cNvPr id="38" name="Shape 36"/>
          <p:cNvSpPr/>
          <p:nvPr/>
        </p:nvSpPr>
        <p:spPr>
          <a:xfrm>
            <a:off x="7589520" y="2377440"/>
            <a:ext cx="1847088" cy="1569110"/>
          </a:xfrm>
          <a:prstGeom prst="rect">
            <a:avLst/>
          </a:prstGeom>
          <a:solidFill>
            <a:srgbClr val="FFFFFF"/>
          </a:solidFill>
          <a:ln w="12700">
            <a:solidFill>
              <a:srgbClr val="0B1E4F"/>
            </a:solidFill>
            <a:prstDash val="solid"/>
          </a:ln>
          <a:effectLst>
            <a:outerShdw sx="100000" sy="100000" kx="0" ky="0" algn="bl" rotWithShape="0" blurRad="127000" dist="38100" dir="5400000">
              <a:srgbClr val="0B1E4F">
                <a:alpha val="10000"/>
              </a:srgbClr>
            </a:outerShdw>
          </a:effectLst>
        </p:spPr>
      </p:sp>
      <p:sp>
        <p:nvSpPr>
          <p:cNvPr id="39" name="Shape 37"/>
          <p:cNvSpPr/>
          <p:nvPr/>
        </p:nvSpPr>
        <p:spPr>
          <a:xfrm>
            <a:off x="7589520" y="2377440"/>
            <a:ext cx="1847088" cy="237744"/>
          </a:xfrm>
          <a:prstGeom prst="rect">
            <a:avLst/>
          </a:prstGeom>
          <a:solidFill>
            <a:srgbClr val="0B1E4F"/>
          </a:solidFill>
          <a:ln w="12700">
            <a:solidFill>
              <a:srgbClr val="0B1E4F"/>
            </a:solidFill>
            <a:prstDash val="solid"/>
          </a:ln>
        </p:spPr>
      </p:sp>
      <p:sp>
        <p:nvSpPr>
          <p:cNvPr id="40" name="Text 38"/>
          <p:cNvSpPr txBox="1"/>
          <p:nvPr/>
        </p:nvSpPr>
        <p:spPr>
          <a:xfrm>
            <a:off x="7589520" y="2377440"/>
            <a:ext cx="184708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Desembarque</a:t>
            </a:r>
            <a:endParaRPr lang="en-US" sz="800" dirty="0"/>
          </a:p>
        </p:txBody>
      </p:sp>
      <p:sp>
        <p:nvSpPr>
          <p:cNvPr id="41" name="Text 39"/>
          <p:cNvSpPr txBox="1"/>
          <p:nvPr/>
        </p:nvSpPr>
        <p:spPr>
          <a:xfrm>
            <a:off x="7653528" y="2651760"/>
            <a:ext cx="1755648" cy="709574"/>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-id : UUID</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-codigoConstancia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-fechaZarpe : DateTime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-fechaHoraArribo : DateTime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-estadoValidacion : EstadoValidacion</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-estadoRegistro : EstadoRegistro</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-origen : Origen</a:t>
            </a:r>
            <a:endParaRPr lang="en-US" sz="660" dirty="0"/>
          </a:p>
        </p:txBody>
      </p:sp>
      <p:sp>
        <p:nvSpPr>
          <p:cNvPr id="42" name="Shape 40"/>
          <p:cNvSpPr/>
          <p:nvPr/>
        </p:nvSpPr>
        <p:spPr>
          <a:xfrm>
            <a:off x="7589520" y="3379622"/>
            <a:ext cx="1847088" cy="914"/>
          </a:xfrm>
          <a:prstGeom prst="line">
            <a:avLst/>
          </a:prstGeom>
          <a:noFill/>
          <a:ln w="9525">
            <a:solidFill>
              <a:srgbClr val="0B1E4F"/>
            </a:solidFill>
            <a:prstDash val="solid"/>
          </a:ln>
        </p:spPr>
      </p:sp>
      <p:sp>
        <p:nvSpPr>
          <p:cNvPr id="43" name="Text 41"/>
          <p:cNvSpPr txBox="1"/>
          <p:nvPr/>
        </p:nvSpPr>
        <p:spPr>
          <a:xfrm>
            <a:off x="7653528" y="3416198"/>
            <a:ext cx="1755648" cy="512064"/>
          </a:xfrm>
          <a:prstGeom prst="rect">
            <a:avLst/>
          </a:prstGeom>
          <a:noFill/>
          <a:ln/>
        </p:spPr>
        <p:txBody>
          <a:bodyPr wrap="square" lIns="0" tIns="0" rIns="0" bIns="0" rtlCol="0" anchor="t"/>
          <a:lstStyle/>
          <a:p>
            <a:pPr indent="0" marL="0">
              <a:lnSpc>
                <a:spcPts val="780"/>
              </a:lnSpc>
              <a:buNone/>
            </a:pPr>
            <a:r>
              <a:rPr lang="en-US" sz="660" b="1" dirty="0">
                <a:solidFill>
                  <a:srgbClr val="0839C4"/>
                </a:solidFill>
                <a:latin typeface="Open Sans" pitchFamily="34" charset="0"/>
                <a:ea typeface="Open Sans" pitchFamily="34" charset="-122"/>
                <a:cs typeface="Open Sans" pitchFamily="34" charset="-120"/>
              </a:rPr>
              <a:t>+agregarDetalle() : DetalleDesembarque</a:t>
            </a:r>
            <a:endParaRPr lang="en-US" sz="660" dirty="0"/>
          </a:p>
          <a:p>
            <a:pPr indent="0" marL="0">
              <a:lnSpc>
                <a:spcPts val="780"/>
              </a:lnSpc>
              <a:buNone/>
            </a:pPr>
            <a:r>
              <a:rPr lang="en-US" sz="660" b="1" dirty="0">
                <a:solidFill>
                  <a:srgbClr val="0839C4"/>
                </a:solidFill>
                <a:latin typeface="Open Sans" pitchFamily="34" charset="0"/>
                <a:ea typeface="Open Sans" pitchFamily="34" charset="-122"/>
                <a:cs typeface="Open Sans" pitchFamily="34" charset="-120"/>
              </a:rPr>
              <a:t>+pesoTotalKg() : Decimal</a:t>
            </a:r>
            <a:endParaRPr lang="en-US" sz="660" dirty="0"/>
          </a:p>
          <a:p>
            <a:pPr indent="0" marL="0">
              <a:lnSpc>
                <a:spcPts val="780"/>
              </a:lnSpc>
              <a:buNone/>
            </a:pPr>
            <a:r>
              <a:rPr lang="en-US" sz="660" b="1" dirty="0">
                <a:solidFill>
                  <a:srgbClr val="0839C4"/>
                </a:solidFill>
                <a:latin typeface="Open Sans" pitchFamily="34" charset="0"/>
                <a:ea typeface="Open Sans" pitchFamily="34" charset="-122"/>
                <a:cs typeface="Open Sans" pitchFamily="34" charset="-120"/>
              </a:rPr>
              <a:t>+aplicarValidacion() : void</a:t>
            </a:r>
            <a:endParaRPr lang="en-US" sz="660" dirty="0"/>
          </a:p>
          <a:p>
            <a:pPr indent="0" marL="0">
              <a:lnSpc>
                <a:spcPts val="780"/>
              </a:lnSpc>
              <a:buNone/>
            </a:pPr>
            <a:r>
              <a:rPr lang="en-US" sz="660" b="1" dirty="0">
                <a:solidFill>
                  <a:srgbClr val="0839C4"/>
                </a:solidFill>
                <a:latin typeface="Open Sans" pitchFamily="34" charset="0"/>
                <a:ea typeface="Open Sans" pitchFamily="34" charset="-122"/>
                <a:cs typeface="Open Sans" pitchFamily="34" charset="-120"/>
              </a:rPr>
              <a:t>+emitir() : Constancia</a:t>
            </a:r>
            <a:endParaRPr lang="en-US" sz="660" dirty="0"/>
          </a:p>
          <a:p>
            <a:pPr indent="0" marL="0">
              <a:lnSpc>
                <a:spcPts val="780"/>
              </a:lnSpc>
              <a:buNone/>
            </a:pPr>
            <a:r>
              <a:rPr lang="en-US" sz="660" b="1" dirty="0">
                <a:solidFill>
                  <a:srgbClr val="0839C4"/>
                </a:solidFill>
                <a:latin typeface="Open Sans" pitchFamily="34" charset="0"/>
                <a:ea typeface="Open Sans" pitchFamily="34" charset="-122"/>
                <a:cs typeface="Open Sans" pitchFamily="34" charset="-120"/>
              </a:rPr>
              <a:t>+anular() : void</a:t>
            </a:r>
            <a:endParaRPr lang="en-US" sz="660" dirty="0"/>
          </a:p>
        </p:txBody>
      </p:sp>
      <p:sp>
        <p:nvSpPr>
          <p:cNvPr id="44" name="Shape 42"/>
          <p:cNvSpPr/>
          <p:nvPr/>
        </p:nvSpPr>
        <p:spPr>
          <a:xfrm>
            <a:off x="10241280" y="2377440"/>
            <a:ext cx="1536192" cy="877824"/>
          </a:xfrm>
          <a:prstGeom prst="rect">
            <a:avLst/>
          </a:prstGeom>
          <a:solidFill>
            <a:srgbClr val="FFFFFF"/>
          </a:solidFill>
          <a:ln w="12700">
            <a:solidFill>
              <a:srgbClr val="0B9468"/>
            </a:solidFill>
            <a:prstDash val="solid"/>
          </a:ln>
          <a:effectLst>
            <a:outerShdw sx="100000" sy="100000" kx="0" ky="0" algn="bl" rotWithShape="0" blurRad="127000" dist="38100" dir="5400000">
              <a:srgbClr val="0B1E4F">
                <a:alpha val="10000"/>
              </a:srgbClr>
            </a:outerShdw>
          </a:effectLst>
        </p:spPr>
      </p:sp>
      <p:sp>
        <p:nvSpPr>
          <p:cNvPr id="45" name="Shape 43"/>
          <p:cNvSpPr/>
          <p:nvPr/>
        </p:nvSpPr>
        <p:spPr>
          <a:xfrm>
            <a:off x="10241280" y="2377440"/>
            <a:ext cx="1536192" cy="237744"/>
          </a:xfrm>
          <a:prstGeom prst="rect">
            <a:avLst/>
          </a:prstGeom>
          <a:solidFill>
            <a:srgbClr val="0B9468"/>
          </a:solidFill>
          <a:ln w="12700">
            <a:solidFill>
              <a:srgbClr val="0B9468"/>
            </a:solidFill>
            <a:prstDash val="solid"/>
          </a:ln>
        </p:spPr>
      </p:sp>
      <p:sp>
        <p:nvSpPr>
          <p:cNvPr id="46" name="Text 44"/>
          <p:cNvSpPr txBox="1"/>
          <p:nvPr/>
        </p:nvSpPr>
        <p:spPr>
          <a:xfrm>
            <a:off x="10241280" y="2377440"/>
            <a:ext cx="1536192"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DetalleDesembarque</a:t>
            </a:r>
            <a:endParaRPr lang="en-US" sz="800" dirty="0"/>
          </a:p>
        </p:txBody>
      </p:sp>
      <p:sp>
        <p:nvSpPr>
          <p:cNvPr id="47" name="Text 45"/>
          <p:cNvSpPr txBox="1"/>
          <p:nvPr/>
        </p:nvSpPr>
        <p:spPr>
          <a:xfrm>
            <a:off x="10305288" y="2651760"/>
            <a:ext cx="1444752"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-pesoKg : Decimal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-unidades : Integer</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-presentacion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-precioReglaKg : Decimal</a:t>
            </a:r>
            <a:endParaRPr lang="en-US" sz="660" dirty="0"/>
          </a:p>
        </p:txBody>
      </p:sp>
      <p:sp>
        <p:nvSpPr>
          <p:cNvPr id="48" name="Shape 46"/>
          <p:cNvSpPr/>
          <p:nvPr/>
        </p:nvSpPr>
        <p:spPr>
          <a:xfrm>
            <a:off x="10241280" y="3083357"/>
            <a:ext cx="1536192" cy="914"/>
          </a:xfrm>
          <a:prstGeom prst="line">
            <a:avLst/>
          </a:prstGeom>
          <a:noFill/>
          <a:ln w="9525">
            <a:solidFill>
              <a:srgbClr val="0B9468"/>
            </a:solidFill>
            <a:prstDash val="solid"/>
          </a:ln>
        </p:spPr>
      </p:sp>
      <p:sp>
        <p:nvSpPr>
          <p:cNvPr id="49" name="Text 47"/>
          <p:cNvSpPr txBox="1"/>
          <p:nvPr/>
        </p:nvSpPr>
        <p:spPr>
          <a:xfrm>
            <a:off x="10305288" y="3119933"/>
            <a:ext cx="1444752" cy="117043"/>
          </a:xfrm>
          <a:prstGeom prst="rect">
            <a:avLst/>
          </a:prstGeom>
          <a:noFill/>
          <a:ln/>
        </p:spPr>
        <p:txBody>
          <a:bodyPr wrap="square" lIns="0" tIns="0" rIns="0" bIns="0" rtlCol="0" anchor="t"/>
          <a:lstStyle/>
          <a:p>
            <a:pPr indent="0" marL="0">
              <a:lnSpc>
                <a:spcPts val="780"/>
              </a:lnSpc>
              <a:buNone/>
            </a:pPr>
            <a:r>
              <a:rPr lang="en-US" sz="660" b="1" dirty="0">
                <a:solidFill>
                  <a:srgbClr val="0B9468"/>
                </a:solidFill>
                <a:latin typeface="Open Sans" pitchFamily="34" charset="0"/>
                <a:ea typeface="Open Sans" pitchFamily="34" charset="-122"/>
                <a:cs typeface="Open Sans" pitchFamily="34" charset="-120"/>
              </a:rPr>
              <a:t>+saldoPendienteKg() : Decimal</a:t>
            </a:r>
            <a:endParaRPr lang="en-US" sz="660" dirty="0"/>
          </a:p>
        </p:txBody>
      </p:sp>
      <p:sp>
        <p:nvSpPr>
          <p:cNvPr id="50" name="Shape 48"/>
          <p:cNvSpPr/>
          <p:nvPr/>
        </p:nvSpPr>
        <p:spPr>
          <a:xfrm>
            <a:off x="411480" y="3703320"/>
            <a:ext cx="1188720" cy="779069"/>
          </a:xfrm>
          <a:prstGeom prst="rect">
            <a:avLst/>
          </a:prstGeom>
          <a:solidFill>
            <a:srgbClr val="FFFFFF"/>
          </a:solidFill>
          <a:ln w="12700">
            <a:solidFill>
              <a:srgbClr val="7B5CFF"/>
            </a:solidFill>
            <a:prstDash val="solid"/>
          </a:ln>
          <a:effectLst>
            <a:outerShdw sx="100000" sy="100000" kx="0" ky="0" algn="bl" rotWithShape="0" blurRad="127000" dist="38100" dir="5400000">
              <a:srgbClr val="0B1E4F">
                <a:alpha val="10000"/>
              </a:srgbClr>
            </a:outerShdw>
          </a:effectLst>
        </p:spPr>
      </p:sp>
      <p:sp>
        <p:nvSpPr>
          <p:cNvPr id="51" name="Shape 49"/>
          <p:cNvSpPr/>
          <p:nvPr/>
        </p:nvSpPr>
        <p:spPr>
          <a:xfrm>
            <a:off x="411480" y="3703320"/>
            <a:ext cx="1188720" cy="237744"/>
          </a:xfrm>
          <a:prstGeom prst="rect">
            <a:avLst/>
          </a:prstGeom>
          <a:solidFill>
            <a:srgbClr val="7B5CFF"/>
          </a:solidFill>
          <a:ln w="12700">
            <a:solidFill>
              <a:srgbClr val="7B5CFF"/>
            </a:solidFill>
            <a:prstDash val="solid"/>
          </a:ln>
        </p:spPr>
      </p:sp>
      <p:sp>
        <p:nvSpPr>
          <p:cNvPr id="52" name="Text 50"/>
          <p:cNvSpPr txBox="1"/>
          <p:nvPr/>
        </p:nvSpPr>
        <p:spPr>
          <a:xfrm>
            <a:off x="411480" y="3703320"/>
            <a:ext cx="11887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Veda</a:t>
            </a:r>
            <a:endParaRPr lang="en-US" sz="800" dirty="0"/>
          </a:p>
        </p:txBody>
      </p:sp>
      <p:sp>
        <p:nvSpPr>
          <p:cNvPr id="53" name="Text 51"/>
          <p:cNvSpPr txBox="1"/>
          <p:nvPr/>
        </p:nvSpPr>
        <p:spPr>
          <a:xfrm>
            <a:off x="475488" y="3977640"/>
            <a:ext cx="1097280" cy="314554"/>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-fechaInicio : Date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-fechaFin : Date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-norma : String</a:t>
            </a:r>
            <a:endParaRPr lang="en-US" sz="660" dirty="0"/>
          </a:p>
        </p:txBody>
      </p:sp>
      <p:sp>
        <p:nvSpPr>
          <p:cNvPr id="54" name="Shape 52"/>
          <p:cNvSpPr/>
          <p:nvPr/>
        </p:nvSpPr>
        <p:spPr>
          <a:xfrm>
            <a:off x="411480" y="4310482"/>
            <a:ext cx="1188720" cy="914"/>
          </a:xfrm>
          <a:prstGeom prst="line">
            <a:avLst/>
          </a:prstGeom>
          <a:noFill/>
          <a:ln w="9525">
            <a:solidFill>
              <a:srgbClr val="7B5CFF"/>
            </a:solidFill>
            <a:prstDash val="solid"/>
          </a:ln>
        </p:spPr>
      </p:sp>
      <p:sp>
        <p:nvSpPr>
          <p:cNvPr id="55" name="Text 53"/>
          <p:cNvSpPr txBox="1"/>
          <p:nvPr/>
        </p:nvSpPr>
        <p:spPr>
          <a:xfrm>
            <a:off x="475488" y="4347058"/>
            <a:ext cx="1097280" cy="117043"/>
          </a:xfrm>
          <a:prstGeom prst="rect">
            <a:avLst/>
          </a:prstGeom>
          <a:noFill/>
          <a:ln/>
        </p:spPr>
        <p:txBody>
          <a:bodyPr wrap="square" lIns="0" tIns="0" rIns="0" bIns="0" rtlCol="0" anchor="t"/>
          <a:lstStyle/>
          <a:p>
            <a:pPr indent="0" marL="0">
              <a:lnSpc>
                <a:spcPts val="780"/>
              </a:lnSpc>
              <a:buNone/>
            </a:pPr>
            <a:r>
              <a:rPr lang="en-US" sz="660" b="1" dirty="0">
                <a:solidFill>
                  <a:srgbClr val="7B5CFF"/>
                </a:solidFill>
                <a:latin typeface="Open Sans" pitchFamily="34" charset="0"/>
                <a:ea typeface="Open Sans" pitchFamily="34" charset="-122"/>
                <a:cs typeface="Open Sans" pitchFamily="34" charset="-120"/>
              </a:rPr>
              <a:t>+aplica() : Boolean</a:t>
            </a:r>
            <a:endParaRPr lang="en-US" sz="660" dirty="0"/>
          </a:p>
        </p:txBody>
      </p:sp>
      <p:sp>
        <p:nvSpPr>
          <p:cNvPr id="56" name="Shape 54"/>
          <p:cNvSpPr/>
          <p:nvPr/>
        </p:nvSpPr>
        <p:spPr>
          <a:xfrm>
            <a:off x="411480" y="5074920"/>
            <a:ext cx="1463040" cy="581558"/>
          </a:xfrm>
          <a:prstGeom prst="rect">
            <a:avLst/>
          </a:prstGeom>
          <a:solidFill>
            <a:srgbClr val="FFFFFF"/>
          </a:solidFill>
          <a:ln w="12700">
            <a:solidFill>
              <a:srgbClr val="7B5CFF"/>
            </a:solidFill>
            <a:prstDash val="solid"/>
          </a:ln>
          <a:effectLst>
            <a:outerShdw sx="100000" sy="100000" kx="0" ky="0" algn="bl" rotWithShape="0" blurRad="127000" dist="38100" dir="5400000">
              <a:srgbClr val="0B1E4F">
                <a:alpha val="10000"/>
              </a:srgbClr>
            </a:outerShdw>
          </a:effectLst>
        </p:spPr>
      </p:sp>
      <p:sp>
        <p:nvSpPr>
          <p:cNvPr id="57" name="Shape 55"/>
          <p:cNvSpPr/>
          <p:nvPr/>
        </p:nvSpPr>
        <p:spPr>
          <a:xfrm>
            <a:off x="411480" y="5074920"/>
            <a:ext cx="1463040" cy="237744"/>
          </a:xfrm>
          <a:prstGeom prst="rect">
            <a:avLst/>
          </a:prstGeom>
          <a:solidFill>
            <a:srgbClr val="7B5CFF"/>
          </a:solidFill>
          <a:ln w="12700">
            <a:solidFill>
              <a:srgbClr val="7B5CFF"/>
            </a:solidFill>
            <a:prstDash val="solid"/>
          </a:ln>
        </p:spPr>
      </p:sp>
      <p:sp>
        <p:nvSpPr>
          <p:cNvPr id="58" name="Text 56"/>
          <p:cNvSpPr txBox="1"/>
          <p:nvPr/>
        </p:nvSpPr>
        <p:spPr>
          <a:xfrm>
            <a:off x="411480" y="5074920"/>
            <a:ext cx="14630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ZonaPesca</a:t>
            </a:r>
            <a:endParaRPr lang="en-US" sz="800" dirty="0"/>
          </a:p>
        </p:txBody>
      </p:sp>
      <p:sp>
        <p:nvSpPr>
          <p:cNvPr id="59" name="Text 57"/>
          <p:cNvSpPr txBox="1"/>
          <p:nvPr/>
        </p:nvSpPr>
        <p:spPr>
          <a:xfrm>
            <a:off x="475488" y="5349240"/>
            <a:ext cx="1371600" cy="215798"/>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-codigoCuadricula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-dentro5Millas : Boolean</a:t>
            </a:r>
            <a:endParaRPr lang="en-US" sz="660" dirty="0"/>
          </a:p>
        </p:txBody>
      </p:sp>
      <p:sp>
        <p:nvSpPr>
          <p:cNvPr id="60" name="Shape 58"/>
          <p:cNvSpPr/>
          <p:nvPr/>
        </p:nvSpPr>
        <p:spPr>
          <a:xfrm>
            <a:off x="411480" y="5583326"/>
            <a:ext cx="1463040" cy="914"/>
          </a:xfrm>
          <a:prstGeom prst="line">
            <a:avLst/>
          </a:prstGeom>
          <a:noFill/>
          <a:ln w="9525">
            <a:solidFill>
              <a:srgbClr val="7B5CFF"/>
            </a:solidFill>
            <a:prstDash val="solid"/>
          </a:ln>
        </p:spPr>
      </p:sp>
      <p:sp>
        <p:nvSpPr>
          <p:cNvPr id="61" name="Shape 59"/>
          <p:cNvSpPr/>
          <p:nvPr/>
        </p:nvSpPr>
        <p:spPr>
          <a:xfrm>
            <a:off x="5120640" y="4069080"/>
            <a:ext cx="1371600" cy="976579"/>
          </a:xfrm>
          <a:prstGeom prst="rect">
            <a:avLst/>
          </a:prstGeom>
          <a:solidFill>
            <a:srgbClr val="FFFFFF"/>
          </a:solidFill>
          <a:ln w="12700">
            <a:solidFill>
              <a:srgbClr val="0B9468"/>
            </a:solidFill>
            <a:prstDash val="solid"/>
          </a:ln>
          <a:effectLst>
            <a:outerShdw sx="100000" sy="100000" kx="0" ky="0" algn="bl" rotWithShape="0" blurRad="127000" dist="38100" dir="5400000">
              <a:srgbClr val="0B1E4F">
                <a:alpha val="10000"/>
              </a:srgbClr>
            </a:outerShdw>
          </a:effectLst>
        </p:spPr>
      </p:sp>
      <p:sp>
        <p:nvSpPr>
          <p:cNvPr id="62" name="Shape 60"/>
          <p:cNvSpPr/>
          <p:nvPr/>
        </p:nvSpPr>
        <p:spPr>
          <a:xfrm>
            <a:off x="5120640" y="4069080"/>
            <a:ext cx="1371600" cy="237744"/>
          </a:xfrm>
          <a:prstGeom prst="rect">
            <a:avLst/>
          </a:prstGeom>
          <a:solidFill>
            <a:srgbClr val="0B9468"/>
          </a:solidFill>
          <a:ln w="12700">
            <a:solidFill>
              <a:srgbClr val="0B9468"/>
            </a:solidFill>
            <a:prstDash val="solid"/>
          </a:ln>
        </p:spPr>
      </p:sp>
      <p:sp>
        <p:nvSpPr>
          <p:cNvPr id="63" name="Text 61"/>
          <p:cNvSpPr txBox="1"/>
          <p:nvPr/>
        </p:nvSpPr>
        <p:spPr>
          <a:xfrm>
            <a:off x="5120640" y="4069080"/>
            <a:ext cx="13716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Constancia</a:t>
            </a:r>
            <a:endParaRPr lang="en-US" sz="800" dirty="0"/>
          </a:p>
        </p:txBody>
      </p:sp>
      <p:sp>
        <p:nvSpPr>
          <p:cNvPr id="64" name="Text 62"/>
          <p:cNvSpPr txBox="1"/>
          <p:nvPr/>
        </p:nvSpPr>
        <p:spPr>
          <a:xfrm>
            <a:off x="5184648" y="4343400"/>
            <a:ext cx="1280160"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-codigo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-hashSHA256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-urlQR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-fechaEmision : DateTime</a:t>
            </a:r>
            <a:endParaRPr lang="en-US" sz="660" dirty="0"/>
          </a:p>
        </p:txBody>
      </p:sp>
      <p:sp>
        <p:nvSpPr>
          <p:cNvPr id="65" name="Shape 63"/>
          <p:cNvSpPr/>
          <p:nvPr/>
        </p:nvSpPr>
        <p:spPr>
          <a:xfrm>
            <a:off x="5120640" y="4774997"/>
            <a:ext cx="1371600" cy="914"/>
          </a:xfrm>
          <a:prstGeom prst="line">
            <a:avLst/>
          </a:prstGeom>
          <a:noFill/>
          <a:ln w="9525">
            <a:solidFill>
              <a:srgbClr val="0B9468"/>
            </a:solidFill>
            <a:prstDash val="solid"/>
          </a:ln>
        </p:spPr>
      </p:sp>
      <p:sp>
        <p:nvSpPr>
          <p:cNvPr id="66" name="Text 64"/>
          <p:cNvSpPr txBox="1"/>
          <p:nvPr/>
        </p:nvSpPr>
        <p:spPr>
          <a:xfrm>
            <a:off x="5184648" y="4811573"/>
            <a:ext cx="1280160" cy="215798"/>
          </a:xfrm>
          <a:prstGeom prst="rect">
            <a:avLst/>
          </a:prstGeom>
          <a:noFill/>
          <a:ln/>
        </p:spPr>
        <p:txBody>
          <a:bodyPr wrap="square" lIns="0" tIns="0" rIns="0" bIns="0" rtlCol="0" anchor="t"/>
          <a:lstStyle/>
          <a:p>
            <a:pPr indent="0" marL="0">
              <a:lnSpc>
                <a:spcPts val="780"/>
              </a:lnSpc>
              <a:buNone/>
            </a:pPr>
            <a:r>
              <a:rPr lang="en-US" sz="660" b="1" dirty="0">
                <a:solidFill>
                  <a:srgbClr val="0B9468"/>
                </a:solidFill>
                <a:latin typeface="Open Sans" pitchFamily="34" charset="0"/>
                <a:ea typeface="Open Sans" pitchFamily="34" charset="-122"/>
                <a:cs typeface="Open Sans" pitchFamily="34" charset="-120"/>
              </a:rPr>
              <a:t>+generarPDF() : Byte[]</a:t>
            </a:r>
            <a:endParaRPr lang="en-US" sz="660" dirty="0"/>
          </a:p>
          <a:p>
            <a:pPr indent="0" marL="0">
              <a:lnSpc>
                <a:spcPts val="780"/>
              </a:lnSpc>
              <a:buNone/>
            </a:pPr>
            <a:r>
              <a:rPr lang="en-US" sz="660" b="1" dirty="0">
                <a:solidFill>
                  <a:srgbClr val="0B9468"/>
                </a:solidFill>
                <a:latin typeface="Open Sans" pitchFamily="34" charset="0"/>
                <a:ea typeface="Open Sans" pitchFamily="34" charset="-122"/>
                <a:cs typeface="Open Sans" pitchFamily="34" charset="-120"/>
              </a:rPr>
              <a:t>+verificar() : Boolean</a:t>
            </a:r>
            <a:endParaRPr lang="en-US" sz="660" dirty="0"/>
          </a:p>
        </p:txBody>
      </p:sp>
      <p:sp>
        <p:nvSpPr>
          <p:cNvPr id="67" name="Shape 65"/>
          <p:cNvSpPr/>
          <p:nvPr/>
        </p:nvSpPr>
        <p:spPr>
          <a:xfrm>
            <a:off x="7086600" y="4434840"/>
            <a:ext cx="1389888" cy="680314"/>
          </a:xfrm>
          <a:prstGeom prst="rect">
            <a:avLst/>
          </a:prstGeom>
          <a:solidFill>
            <a:srgbClr val="FFFFFF"/>
          </a:solidFill>
          <a:ln w="12700">
            <a:solidFill>
              <a:srgbClr val="0B1E4F"/>
            </a:solidFill>
            <a:prstDash val="solid"/>
          </a:ln>
          <a:effectLst>
            <a:outerShdw sx="100000" sy="100000" kx="0" ky="0" algn="bl" rotWithShape="0" blurRad="127000" dist="38100" dir="5400000">
              <a:srgbClr val="0B1E4F">
                <a:alpha val="10000"/>
              </a:srgbClr>
            </a:outerShdw>
          </a:effectLst>
        </p:spPr>
      </p:sp>
      <p:sp>
        <p:nvSpPr>
          <p:cNvPr id="68" name="Shape 66"/>
          <p:cNvSpPr/>
          <p:nvPr/>
        </p:nvSpPr>
        <p:spPr>
          <a:xfrm>
            <a:off x="7086600" y="4434840"/>
            <a:ext cx="1389888" cy="237744"/>
          </a:xfrm>
          <a:prstGeom prst="rect">
            <a:avLst/>
          </a:prstGeom>
          <a:solidFill>
            <a:srgbClr val="0B1E4F"/>
          </a:solidFill>
          <a:ln w="12700">
            <a:solidFill>
              <a:srgbClr val="0B1E4F"/>
            </a:solidFill>
            <a:prstDash val="solid"/>
          </a:ln>
        </p:spPr>
      </p:sp>
      <p:sp>
        <p:nvSpPr>
          <p:cNvPr id="69" name="Text 67"/>
          <p:cNvSpPr txBox="1"/>
          <p:nvPr/>
        </p:nvSpPr>
        <p:spPr>
          <a:xfrm>
            <a:off x="7086600" y="4434840"/>
            <a:ext cx="138988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ResultadoValidacion</a:t>
            </a:r>
            <a:endParaRPr lang="en-US" sz="800" dirty="0"/>
          </a:p>
        </p:txBody>
      </p:sp>
      <p:sp>
        <p:nvSpPr>
          <p:cNvPr id="70" name="Text 68"/>
          <p:cNvSpPr txBox="1"/>
          <p:nvPr/>
        </p:nvSpPr>
        <p:spPr>
          <a:xfrm>
            <a:off x="7150608" y="4709160"/>
            <a:ext cx="1298448" cy="314554"/>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-regla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-nivel : EstadoValidacion</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-mensaje : String</a:t>
            </a:r>
            <a:endParaRPr lang="en-US" sz="660" dirty="0"/>
          </a:p>
        </p:txBody>
      </p:sp>
      <p:sp>
        <p:nvSpPr>
          <p:cNvPr id="71" name="Shape 69"/>
          <p:cNvSpPr/>
          <p:nvPr/>
        </p:nvSpPr>
        <p:spPr>
          <a:xfrm>
            <a:off x="7086600" y="5042002"/>
            <a:ext cx="1389888" cy="914"/>
          </a:xfrm>
          <a:prstGeom prst="line">
            <a:avLst/>
          </a:prstGeom>
          <a:noFill/>
          <a:ln w="9525">
            <a:solidFill>
              <a:srgbClr val="0B1E4F"/>
            </a:solidFill>
            <a:prstDash val="solid"/>
          </a:ln>
        </p:spPr>
      </p:sp>
      <p:sp>
        <p:nvSpPr>
          <p:cNvPr id="72" name="Shape 70"/>
          <p:cNvSpPr/>
          <p:nvPr/>
        </p:nvSpPr>
        <p:spPr>
          <a:xfrm>
            <a:off x="9052560" y="4434840"/>
            <a:ext cx="1188720" cy="680314"/>
          </a:xfrm>
          <a:prstGeom prst="rect">
            <a:avLst/>
          </a:prstGeom>
          <a:solidFill>
            <a:srgbClr val="FFFFFF"/>
          </a:solidFill>
          <a:ln w="12700">
            <a:solidFill>
              <a:srgbClr val="0B1E4F"/>
            </a:solidFill>
            <a:prstDash val="solid"/>
          </a:ln>
          <a:effectLst>
            <a:outerShdw sx="100000" sy="100000" kx="0" ky="0" algn="bl" rotWithShape="0" blurRad="127000" dist="38100" dir="5400000">
              <a:srgbClr val="0B1E4F">
                <a:alpha val="10000"/>
              </a:srgbClr>
            </a:outerShdw>
          </a:effectLst>
        </p:spPr>
      </p:sp>
      <p:sp>
        <p:nvSpPr>
          <p:cNvPr id="73" name="Shape 71"/>
          <p:cNvSpPr/>
          <p:nvPr/>
        </p:nvSpPr>
        <p:spPr>
          <a:xfrm>
            <a:off x="9052560" y="4434840"/>
            <a:ext cx="1188720" cy="237744"/>
          </a:xfrm>
          <a:prstGeom prst="rect">
            <a:avLst/>
          </a:prstGeom>
          <a:solidFill>
            <a:srgbClr val="0B1E4F"/>
          </a:solidFill>
          <a:ln w="12700">
            <a:solidFill>
              <a:srgbClr val="0B1E4F"/>
            </a:solidFill>
            <a:prstDash val="solid"/>
          </a:ln>
        </p:spPr>
      </p:sp>
      <p:sp>
        <p:nvSpPr>
          <p:cNvPr id="74" name="Text 72"/>
          <p:cNvSpPr txBox="1"/>
          <p:nvPr/>
        </p:nvSpPr>
        <p:spPr>
          <a:xfrm>
            <a:off x="9052560" y="4434840"/>
            <a:ext cx="11887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Inspeccion</a:t>
            </a:r>
            <a:endParaRPr lang="en-US" sz="800" dirty="0"/>
          </a:p>
        </p:txBody>
      </p:sp>
      <p:sp>
        <p:nvSpPr>
          <p:cNvPr id="75" name="Text 73"/>
          <p:cNvSpPr txBox="1"/>
          <p:nvPr/>
        </p:nvSpPr>
        <p:spPr>
          <a:xfrm>
            <a:off x="9116568" y="4709160"/>
            <a:ext cx="1097280" cy="314554"/>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-fechaHora : DateTime</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-resultado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-numeroActa : String</a:t>
            </a:r>
            <a:endParaRPr lang="en-US" sz="660" dirty="0"/>
          </a:p>
        </p:txBody>
      </p:sp>
      <p:sp>
        <p:nvSpPr>
          <p:cNvPr id="76" name="Shape 74"/>
          <p:cNvSpPr/>
          <p:nvPr/>
        </p:nvSpPr>
        <p:spPr>
          <a:xfrm>
            <a:off x="9052560" y="5042002"/>
            <a:ext cx="1188720" cy="914"/>
          </a:xfrm>
          <a:prstGeom prst="line">
            <a:avLst/>
          </a:prstGeom>
          <a:noFill/>
          <a:ln w="9525">
            <a:solidFill>
              <a:srgbClr val="0B1E4F"/>
            </a:solidFill>
            <a:prstDash val="solid"/>
          </a:ln>
        </p:spPr>
      </p:sp>
      <p:sp>
        <p:nvSpPr>
          <p:cNvPr id="77" name="Shape 75"/>
          <p:cNvSpPr/>
          <p:nvPr/>
        </p:nvSpPr>
        <p:spPr>
          <a:xfrm>
            <a:off x="10287000" y="3931920"/>
            <a:ext cx="1481328" cy="877824"/>
          </a:xfrm>
          <a:prstGeom prst="rect">
            <a:avLst/>
          </a:prstGeom>
          <a:solidFill>
            <a:srgbClr val="FFFFFF"/>
          </a:solidFill>
          <a:ln w="12700">
            <a:solidFill>
              <a:srgbClr val="0B9468"/>
            </a:solidFill>
            <a:prstDash val="solid"/>
          </a:ln>
          <a:effectLst>
            <a:outerShdw sx="100000" sy="100000" kx="0" ky="0" algn="bl" rotWithShape="0" blurRad="127000" dist="38100" dir="5400000">
              <a:srgbClr val="0B1E4F">
                <a:alpha val="10000"/>
              </a:srgbClr>
            </a:outerShdw>
          </a:effectLst>
        </p:spPr>
      </p:sp>
      <p:sp>
        <p:nvSpPr>
          <p:cNvPr id="78" name="Shape 76"/>
          <p:cNvSpPr/>
          <p:nvPr/>
        </p:nvSpPr>
        <p:spPr>
          <a:xfrm>
            <a:off x="10287000" y="3931920"/>
            <a:ext cx="1481328" cy="237744"/>
          </a:xfrm>
          <a:prstGeom prst="rect">
            <a:avLst/>
          </a:prstGeom>
          <a:solidFill>
            <a:srgbClr val="0B9468"/>
          </a:solidFill>
          <a:ln w="12700">
            <a:solidFill>
              <a:srgbClr val="0B9468"/>
            </a:solidFill>
            <a:prstDash val="solid"/>
          </a:ln>
        </p:spPr>
      </p:sp>
      <p:sp>
        <p:nvSpPr>
          <p:cNvPr id="79" name="Text 77"/>
          <p:cNvSpPr txBox="1"/>
          <p:nvPr/>
        </p:nvSpPr>
        <p:spPr>
          <a:xfrm>
            <a:off x="10287000" y="3931920"/>
            <a:ext cx="148132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LoteDestino</a:t>
            </a:r>
            <a:endParaRPr lang="en-US" sz="800" dirty="0"/>
          </a:p>
        </p:txBody>
      </p:sp>
      <p:sp>
        <p:nvSpPr>
          <p:cNvPr id="80" name="Text 78"/>
          <p:cNvSpPr txBox="1"/>
          <p:nvPr/>
        </p:nvSpPr>
        <p:spPr>
          <a:xfrm>
            <a:off x="10351008" y="4206240"/>
            <a:ext cx="1389888" cy="41330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-pesoKg : Decimal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-placaVehiculo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-dniConductor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-estado : String</a:t>
            </a:r>
            <a:endParaRPr lang="en-US" sz="660" dirty="0"/>
          </a:p>
        </p:txBody>
      </p:sp>
      <p:sp>
        <p:nvSpPr>
          <p:cNvPr id="81" name="Shape 79"/>
          <p:cNvSpPr/>
          <p:nvPr/>
        </p:nvSpPr>
        <p:spPr>
          <a:xfrm>
            <a:off x="10287000" y="4637837"/>
            <a:ext cx="1481328" cy="914"/>
          </a:xfrm>
          <a:prstGeom prst="line">
            <a:avLst/>
          </a:prstGeom>
          <a:noFill/>
          <a:ln w="9525">
            <a:solidFill>
              <a:srgbClr val="0B9468"/>
            </a:solidFill>
            <a:prstDash val="solid"/>
          </a:ln>
        </p:spPr>
      </p:sp>
      <p:sp>
        <p:nvSpPr>
          <p:cNvPr id="82" name="Text 80"/>
          <p:cNvSpPr txBox="1"/>
          <p:nvPr/>
        </p:nvSpPr>
        <p:spPr>
          <a:xfrm>
            <a:off x="10351008" y="4674413"/>
            <a:ext cx="1389888" cy="117043"/>
          </a:xfrm>
          <a:prstGeom prst="rect">
            <a:avLst/>
          </a:prstGeom>
          <a:noFill/>
          <a:ln/>
        </p:spPr>
        <p:txBody>
          <a:bodyPr wrap="square" lIns="0" tIns="0" rIns="0" bIns="0" rtlCol="0" anchor="t"/>
          <a:lstStyle/>
          <a:p>
            <a:pPr indent="0" marL="0">
              <a:lnSpc>
                <a:spcPts val="780"/>
              </a:lnSpc>
              <a:buNone/>
            </a:pPr>
            <a:r>
              <a:rPr lang="en-US" sz="660" b="1" dirty="0">
                <a:solidFill>
                  <a:srgbClr val="0B9468"/>
                </a:solidFill>
                <a:latin typeface="Open Sans" pitchFamily="34" charset="0"/>
                <a:ea typeface="Open Sans" pitchFamily="34" charset="-122"/>
                <a:cs typeface="Open Sans" pitchFamily="34" charset="-120"/>
              </a:rPr>
              <a:t>+confirmarRecepcion() : void</a:t>
            </a:r>
            <a:endParaRPr lang="en-US" sz="660" dirty="0"/>
          </a:p>
        </p:txBody>
      </p:sp>
      <p:sp>
        <p:nvSpPr>
          <p:cNvPr id="83" name="Shape 81"/>
          <p:cNvSpPr/>
          <p:nvPr/>
        </p:nvSpPr>
        <p:spPr>
          <a:xfrm>
            <a:off x="8183880" y="5440680"/>
            <a:ext cx="1143000" cy="976579"/>
          </a:xfrm>
          <a:prstGeom prst="rect">
            <a:avLst/>
          </a:prstGeom>
          <a:solidFill>
            <a:srgbClr val="FFFFFF"/>
          </a:solidFill>
          <a:ln w="12700">
            <a:solidFill>
              <a:srgbClr val="0B1E4F"/>
            </a:solidFill>
            <a:prstDash val="solid"/>
          </a:ln>
          <a:effectLst>
            <a:outerShdw sx="100000" sy="100000" kx="0" ky="0" algn="bl" rotWithShape="0" blurRad="127000" dist="38100" dir="5400000">
              <a:srgbClr val="0B1E4F">
                <a:alpha val="10000"/>
              </a:srgbClr>
            </a:outerShdw>
          </a:effectLst>
        </p:spPr>
      </p:sp>
      <p:sp>
        <p:nvSpPr>
          <p:cNvPr id="84" name="Shape 82"/>
          <p:cNvSpPr/>
          <p:nvPr/>
        </p:nvSpPr>
        <p:spPr>
          <a:xfrm>
            <a:off x="8183880" y="5440680"/>
            <a:ext cx="1143000" cy="237744"/>
          </a:xfrm>
          <a:prstGeom prst="rect">
            <a:avLst/>
          </a:prstGeom>
          <a:solidFill>
            <a:srgbClr val="0B1E4F"/>
          </a:solidFill>
          <a:ln w="12700">
            <a:solidFill>
              <a:srgbClr val="0B1E4F"/>
            </a:solidFill>
            <a:prstDash val="solid"/>
          </a:ln>
        </p:spPr>
      </p:sp>
      <p:sp>
        <p:nvSpPr>
          <p:cNvPr id="85" name="Text 83"/>
          <p:cNvSpPr txBox="1"/>
          <p:nvPr/>
        </p:nvSpPr>
        <p:spPr>
          <a:xfrm>
            <a:off x="8183880" y="5440680"/>
            <a:ext cx="1143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Usuario</a:t>
            </a:r>
            <a:endParaRPr lang="en-US" sz="800" dirty="0"/>
          </a:p>
        </p:txBody>
      </p:sp>
      <p:sp>
        <p:nvSpPr>
          <p:cNvPr id="86" name="Text 84"/>
          <p:cNvSpPr txBox="1"/>
          <p:nvPr/>
        </p:nvSpPr>
        <p:spPr>
          <a:xfrm>
            <a:off x="8247888" y="5715000"/>
            <a:ext cx="1051560" cy="610819"/>
          </a:xfrm>
          <a:prstGeom prst="rect">
            <a:avLst/>
          </a:prstGeom>
          <a:noFill/>
          <a:ln/>
        </p:spPr>
        <p:txBody>
          <a:bodyPr wrap="square" lIns="0" tIns="0" rIns="0" bIns="0" rtlCol="0" anchor="t"/>
          <a:lstStyle/>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-id : UUID</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-dni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-nombres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-celular : String</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-rol : Rol</a:t>
            </a:r>
            <a:endParaRPr lang="en-US" sz="660" dirty="0"/>
          </a:p>
          <a:p>
            <a:pPr indent="0" marL="0">
              <a:lnSpc>
                <a:spcPts val="780"/>
              </a:lnSpc>
              <a:buNone/>
            </a:pPr>
            <a:r>
              <a:rPr lang="en-US" sz="660" dirty="0">
                <a:solidFill>
                  <a:srgbClr val="0E1B3D"/>
                </a:solidFill>
                <a:latin typeface="Open Sans" pitchFamily="34" charset="0"/>
                <a:ea typeface="Open Sans" pitchFamily="34" charset="-122"/>
                <a:cs typeface="Open Sans" pitchFamily="34" charset="-120"/>
              </a:rPr>
              <a:t>-activo : Boolean</a:t>
            </a:r>
            <a:endParaRPr lang="en-US" sz="660" dirty="0"/>
          </a:p>
        </p:txBody>
      </p:sp>
      <p:sp>
        <p:nvSpPr>
          <p:cNvPr id="87" name="Shape 85"/>
          <p:cNvSpPr/>
          <p:nvPr/>
        </p:nvSpPr>
        <p:spPr>
          <a:xfrm>
            <a:off x="8183880" y="6344107"/>
            <a:ext cx="1143000" cy="914"/>
          </a:xfrm>
          <a:prstGeom prst="line">
            <a:avLst/>
          </a:prstGeom>
          <a:noFill/>
          <a:ln w="9525">
            <a:solidFill>
              <a:srgbClr val="0B1E4F"/>
            </a:solidFill>
            <a:prstDash val="solid"/>
          </a:ln>
        </p:spPr>
      </p:sp>
      <p:sp>
        <p:nvSpPr>
          <p:cNvPr id="88" name="Shape 86"/>
          <p:cNvSpPr/>
          <p:nvPr/>
        </p:nvSpPr>
        <p:spPr>
          <a:xfrm>
            <a:off x="2039112" y="2697480"/>
            <a:ext cx="749808" cy="914"/>
          </a:xfrm>
          <a:prstGeom prst="line">
            <a:avLst/>
          </a:prstGeom>
          <a:noFill/>
          <a:ln w="15875">
            <a:solidFill>
              <a:srgbClr val="4A5878"/>
            </a:solidFill>
            <a:prstDash val="solid"/>
          </a:ln>
        </p:spPr>
      </p:sp>
      <p:sp>
        <p:nvSpPr>
          <p:cNvPr id="89" name="Text 87"/>
          <p:cNvSpPr txBox="1"/>
          <p:nvPr/>
        </p:nvSpPr>
        <p:spPr>
          <a:xfrm>
            <a:off x="2066544" y="251460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90" name="Text 88"/>
          <p:cNvSpPr txBox="1"/>
          <p:nvPr/>
        </p:nvSpPr>
        <p:spPr>
          <a:xfrm>
            <a:off x="2395728" y="2715768"/>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91" name="Shape 89"/>
          <p:cNvSpPr/>
          <p:nvPr/>
        </p:nvSpPr>
        <p:spPr>
          <a:xfrm>
            <a:off x="2084832" y="2880360"/>
            <a:ext cx="640080" cy="182880"/>
          </a:xfrm>
          <a:prstGeom prst="roundRect">
            <a:avLst>
              <a:gd name="adj" fmla="val 20000"/>
            </a:avLst>
          </a:prstGeom>
          <a:solidFill>
            <a:srgbClr val="FFFFFF"/>
          </a:solidFill>
          <a:ln/>
        </p:spPr>
      </p:sp>
      <p:sp>
        <p:nvSpPr>
          <p:cNvPr id="92" name="Text 90"/>
          <p:cNvSpPr txBox="1"/>
          <p:nvPr/>
        </p:nvSpPr>
        <p:spPr>
          <a:xfrm>
            <a:off x="2084832" y="2880360"/>
            <a:ext cx="640080" cy="182880"/>
          </a:xfrm>
          <a:prstGeom prst="rect">
            <a:avLst/>
          </a:prstGeom>
          <a:noFill/>
          <a:ln/>
        </p:spPr>
        <p:txBody>
          <a:bodyPr wrap="square" lIns="0" tIns="0" rIns="0" bIns="0" rtlCol="0" anchor="ctr"/>
          <a:lstStyle/>
          <a:p>
            <a:pPr algn="ctr" indent="0" marL="0">
              <a:buNone/>
            </a:pPr>
            <a:r>
              <a:rPr lang="en-US" sz="700" i="1" dirty="0">
                <a:solidFill>
                  <a:srgbClr val="4A5878"/>
                </a:solidFill>
                <a:latin typeface="Open Sans" pitchFamily="34" charset="0"/>
                <a:ea typeface="Open Sans" pitchFamily="34" charset="-122"/>
                <a:cs typeface="Open Sans" pitchFamily="34" charset="-120"/>
              </a:rPr>
              <a:t>autoriza</a:t>
            </a:r>
            <a:endParaRPr lang="en-US" sz="700" dirty="0"/>
          </a:p>
        </p:txBody>
      </p:sp>
      <p:sp>
        <p:nvSpPr>
          <p:cNvPr id="93" name="Shape 91"/>
          <p:cNvSpPr/>
          <p:nvPr/>
        </p:nvSpPr>
        <p:spPr>
          <a:xfrm>
            <a:off x="4306824" y="2834640"/>
            <a:ext cx="694944" cy="914"/>
          </a:xfrm>
          <a:prstGeom prst="line">
            <a:avLst/>
          </a:prstGeom>
          <a:noFill/>
          <a:ln w="15875">
            <a:solidFill>
              <a:srgbClr val="4A5878"/>
            </a:solidFill>
            <a:prstDash val="solid"/>
          </a:ln>
        </p:spPr>
      </p:sp>
      <p:sp>
        <p:nvSpPr>
          <p:cNvPr id="94" name="Shape 92"/>
          <p:cNvSpPr/>
          <p:nvPr/>
        </p:nvSpPr>
        <p:spPr>
          <a:xfrm>
            <a:off x="4882896" y="2761488"/>
            <a:ext cx="237744" cy="146304"/>
          </a:xfrm>
          <a:prstGeom prst="diamond">
            <a:avLst/>
          </a:prstGeom>
          <a:solidFill>
            <a:srgbClr val="FFFFFF"/>
          </a:solidFill>
          <a:ln w="12700">
            <a:solidFill>
              <a:srgbClr val="0B1E4F"/>
            </a:solidFill>
            <a:prstDash val="solid"/>
          </a:ln>
        </p:spPr>
      </p:sp>
      <p:sp>
        <p:nvSpPr>
          <p:cNvPr id="95" name="Text 93"/>
          <p:cNvSpPr txBox="1"/>
          <p:nvPr/>
        </p:nvSpPr>
        <p:spPr>
          <a:xfrm>
            <a:off x="4334256" y="265176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0..1</a:t>
            </a:r>
            <a:endParaRPr lang="en-US" sz="700" dirty="0"/>
          </a:p>
        </p:txBody>
      </p:sp>
      <p:sp>
        <p:nvSpPr>
          <p:cNvPr id="96" name="Text 94"/>
          <p:cNvSpPr txBox="1"/>
          <p:nvPr/>
        </p:nvSpPr>
        <p:spPr>
          <a:xfrm>
            <a:off x="4846320" y="2862072"/>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97" name="Shape 95"/>
          <p:cNvSpPr/>
          <p:nvPr/>
        </p:nvSpPr>
        <p:spPr>
          <a:xfrm>
            <a:off x="5806440" y="1967789"/>
            <a:ext cx="914" cy="409651"/>
          </a:xfrm>
          <a:prstGeom prst="line">
            <a:avLst/>
          </a:prstGeom>
          <a:noFill/>
          <a:ln w="15875">
            <a:solidFill>
              <a:srgbClr val="4A5878"/>
            </a:solidFill>
            <a:prstDash val="solid"/>
          </a:ln>
        </p:spPr>
      </p:sp>
      <p:sp>
        <p:nvSpPr>
          <p:cNvPr id="98" name="Text 96"/>
          <p:cNvSpPr txBox="1"/>
          <p:nvPr/>
        </p:nvSpPr>
        <p:spPr>
          <a:xfrm>
            <a:off x="5870448" y="1993392"/>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99" name="Text 97"/>
          <p:cNvSpPr txBox="1"/>
          <p:nvPr/>
        </p:nvSpPr>
        <p:spPr>
          <a:xfrm>
            <a:off x="5870448" y="219456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00" name="Shape 98"/>
          <p:cNvSpPr/>
          <p:nvPr/>
        </p:nvSpPr>
        <p:spPr>
          <a:xfrm>
            <a:off x="6035040" y="2066544"/>
            <a:ext cx="457200" cy="182880"/>
          </a:xfrm>
          <a:prstGeom prst="roundRect">
            <a:avLst>
              <a:gd name="adj" fmla="val 20000"/>
            </a:avLst>
          </a:prstGeom>
          <a:solidFill>
            <a:srgbClr val="FFFFFF"/>
          </a:solidFill>
          <a:ln/>
        </p:spPr>
      </p:sp>
      <p:sp>
        <p:nvSpPr>
          <p:cNvPr id="101" name="Text 99"/>
          <p:cNvSpPr txBox="1"/>
          <p:nvPr/>
        </p:nvSpPr>
        <p:spPr>
          <a:xfrm>
            <a:off x="6035040" y="2066544"/>
            <a:ext cx="457200" cy="182880"/>
          </a:xfrm>
          <a:prstGeom prst="rect">
            <a:avLst/>
          </a:prstGeom>
          <a:noFill/>
          <a:ln/>
        </p:spPr>
        <p:txBody>
          <a:bodyPr wrap="square" lIns="0" tIns="0" rIns="0" bIns="0" rtlCol="0" anchor="ctr"/>
          <a:lstStyle/>
          <a:p>
            <a:pPr algn="ctr" indent="0" marL="0">
              <a:buNone/>
            </a:pPr>
            <a:r>
              <a:rPr lang="en-US" sz="700" i="1" dirty="0">
                <a:solidFill>
                  <a:srgbClr val="4A5878"/>
                </a:solidFill>
                <a:latin typeface="Open Sans" pitchFamily="34" charset="0"/>
                <a:ea typeface="Open Sans" pitchFamily="34" charset="-122"/>
                <a:cs typeface="Open Sans" pitchFamily="34" charset="-120"/>
              </a:rPr>
              <a:t>posee</a:t>
            </a:r>
            <a:endParaRPr lang="en-US" sz="700" dirty="0"/>
          </a:p>
        </p:txBody>
      </p:sp>
      <p:sp>
        <p:nvSpPr>
          <p:cNvPr id="102" name="Shape 100"/>
          <p:cNvSpPr/>
          <p:nvPr/>
        </p:nvSpPr>
        <p:spPr>
          <a:xfrm>
            <a:off x="6784848" y="2926080"/>
            <a:ext cx="804672" cy="914"/>
          </a:xfrm>
          <a:prstGeom prst="line">
            <a:avLst/>
          </a:prstGeom>
          <a:noFill/>
          <a:ln w="15875">
            <a:solidFill>
              <a:srgbClr val="4A5878"/>
            </a:solidFill>
            <a:prstDash val="solid"/>
          </a:ln>
        </p:spPr>
      </p:sp>
      <p:sp>
        <p:nvSpPr>
          <p:cNvPr id="103" name="Text 101"/>
          <p:cNvSpPr txBox="1"/>
          <p:nvPr/>
        </p:nvSpPr>
        <p:spPr>
          <a:xfrm>
            <a:off x="6821424" y="2743200"/>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04" name="Text 102"/>
          <p:cNvSpPr txBox="1"/>
          <p:nvPr/>
        </p:nvSpPr>
        <p:spPr>
          <a:xfrm>
            <a:off x="7205472" y="2944368"/>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05" name="Shape 103"/>
          <p:cNvSpPr/>
          <p:nvPr/>
        </p:nvSpPr>
        <p:spPr>
          <a:xfrm>
            <a:off x="8476488" y="1967789"/>
            <a:ext cx="914" cy="409651"/>
          </a:xfrm>
          <a:prstGeom prst="line">
            <a:avLst/>
          </a:prstGeom>
          <a:noFill/>
          <a:ln w="15875">
            <a:solidFill>
              <a:srgbClr val="4A5878"/>
            </a:solidFill>
            <a:prstDash val="solid"/>
          </a:ln>
        </p:spPr>
      </p:sp>
      <p:sp>
        <p:nvSpPr>
          <p:cNvPr id="106" name="Text 104"/>
          <p:cNvSpPr txBox="1"/>
          <p:nvPr/>
        </p:nvSpPr>
        <p:spPr>
          <a:xfrm>
            <a:off x="8540496" y="1993392"/>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07" name="Text 105"/>
          <p:cNvSpPr txBox="1"/>
          <p:nvPr/>
        </p:nvSpPr>
        <p:spPr>
          <a:xfrm>
            <a:off x="8540496" y="219456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08" name="Shape 106"/>
          <p:cNvSpPr/>
          <p:nvPr/>
        </p:nvSpPr>
        <p:spPr>
          <a:xfrm>
            <a:off x="9555480" y="2788920"/>
            <a:ext cx="685800" cy="914"/>
          </a:xfrm>
          <a:prstGeom prst="line">
            <a:avLst/>
          </a:prstGeom>
          <a:noFill/>
          <a:ln w="15875">
            <a:solidFill>
              <a:srgbClr val="4A5878"/>
            </a:solidFill>
            <a:prstDash val="solid"/>
          </a:ln>
        </p:spPr>
      </p:sp>
      <p:sp>
        <p:nvSpPr>
          <p:cNvPr id="109" name="Shape 107"/>
          <p:cNvSpPr/>
          <p:nvPr/>
        </p:nvSpPr>
        <p:spPr>
          <a:xfrm>
            <a:off x="9436608" y="2715768"/>
            <a:ext cx="237744" cy="146304"/>
          </a:xfrm>
          <a:prstGeom prst="diamond">
            <a:avLst/>
          </a:prstGeom>
          <a:solidFill>
            <a:srgbClr val="0B1E4F"/>
          </a:solidFill>
          <a:ln w="12700">
            <a:solidFill>
              <a:srgbClr val="0B1E4F"/>
            </a:solidFill>
            <a:prstDash val="solid"/>
          </a:ln>
        </p:spPr>
      </p:sp>
      <p:sp>
        <p:nvSpPr>
          <p:cNvPr id="110" name="Text 108"/>
          <p:cNvSpPr txBox="1"/>
          <p:nvPr/>
        </p:nvSpPr>
        <p:spPr>
          <a:xfrm>
            <a:off x="9692640" y="2606040"/>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11" name="Text 109"/>
          <p:cNvSpPr txBox="1"/>
          <p:nvPr/>
        </p:nvSpPr>
        <p:spPr>
          <a:xfrm>
            <a:off x="10104120" y="2807208"/>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12" name="Shape 110"/>
          <p:cNvSpPr/>
          <p:nvPr/>
        </p:nvSpPr>
        <p:spPr>
          <a:xfrm>
            <a:off x="9582912" y="2971800"/>
            <a:ext cx="640080" cy="182880"/>
          </a:xfrm>
          <a:prstGeom prst="roundRect">
            <a:avLst>
              <a:gd name="adj" fmla="val 20000"/>
            </a:avLst>
          </a:prstGeom>
          <a:solidFill>
            <a:srgbClr val="FFFFFF"/>
          </a:solidFill>
          <a:ln/>
        </p:spPr>
      </p:sp>
      <p:sp>
        <p:nvSpPr>
          <p:cNvPr id="113" name="Text 111"/>
          <p:cNvSpPr txBox="1"/>
          <p:nvPr/>
        </p:nvSpPr>
        <p:spPr>
          <a:xfrm>
            <a:off x="9582912" y="2971800"/>
            <a:ext cx="640080" cy="182880"/>
          </a:xfrm>
          <a:prstGeom prst="rect">
            <a:avLst/>
          </a:prstGeom>
          <a:noFill/>
          <a:ln/>
        </p:spPr>
        <p:txBody>
          <a:bodyPr wrap="square" lIns="0" tIns="0" rIns="0" bIns="0" rtlCol="0" anchor="ctr"/>
          <a:lstStyle/>
          <a:p>
            <a:pPr algn="ctr" indent="0" marL="0">
              <a:buNone/>
            </a:pPr>
            <a:r>
              <a:rPr lang="en-US" sz="700" i="1" dirty="0">
                <a:solidFill>
                  <a:srgbClr val="4A5878"/>
                </a:solidFill>
                <a:latin typeface="Open Sans" pitchFamily="34" charset="0"/>
                <a:ea typeface="Open Sans" pitchFamily="34" charset="-122"/>
                <a:cs typeface="Open Sans" pitchFamily="34" charset="-120"/>
              </a:rPr>
              <a:t>contiene</a:t>
            </a:r>
            <a:endParaRPr lang="en-US" sz="700" dirty="0"/>
          </a:p>
        </p:txBody>
      </p:sp>
      <p:sp>
        <p:nvSpPr>
          <p:cNvPr id="114" name="Shape 112"/>
          <p:cNvSpPr/>
          <p:nvPr/>
        </p:nvSpPr>
        <p:spPr>
          <a:xfrm>
            <a:off x="10972800" y="1907438"/>
            <a:ext cx="914" cy="351130"/>
          </a:xfrm>
          <a:prstGeom prst="line">
            <a:avLst/>
          </a:prstGeom>
          <a:noFill/>
          <a:ln w="15875">
            <a:solidFill>
              <a:srgbClr val="4A5878"/>
            </a:solidFill>
            <a:prstDash val="solid"/>
          </a:ln>
        </p:spPr>
      </p:sp>
      <p:sp>
        <p:nvSpPr>
          <p:cNvPr id="115" name="Shape 113"/>
          <p:cNvSpPr/>
          <p:nvPr/>
        </p:nvSpPr>
        <p:spPr>
          <a:xfrm>
            <a:off x="10899648" y="2139696"/>
            <a:ext cx="146304" cy="237744"/>
          </a:xfrm>
          <a:prstGeom prst="diamond">
            <a:avLst/>
          </a:prstGeom>
          <a:solidFill>
            <a:srgbClr val="0B1E4F"/>
          </a:solidFill>
          <a:ln w="12700">
            <a:solidFill>
              <a:srgbClr val="0B1E4F"/>
            </a:solidFill>
            <a:prstDash val="solid"/>
          </a:ln>
        </p:spPr>
      </p:sp>
      <p:sp>
        <p:nvSpPr>
          <p:cNvPr id="116" name="Text 114"/>
          <p:cNvSpPr txBox="1"/>
          <p:nvPr/>
        </p:nvSpPr>
        <p:spPr>
          <a:xfrm>
            <a:off x="11045952" y="1938528"/>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0..1</a:t>
            </a:r>
            <a:endParaRPr lang="en-US" sz="700" dirty="0"/>
          </a:p>
        </p:txBody>
      </p:sp>
      <p:sp>
        <p:nvSpPr>
          <p:cNvPr id="117" name="Text 115"/>
          <p:cNvSpPr txBox="1"/>
          <p:nvPr/>
        </p:nvSpPr>
        <p:spPr>
          <a:xfrm>
            <a:off x="11082528" y="2157984"/>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18" name="Shape 116"/>
          <p:cNvSpPr/>
          <p:nvPr/>
        </p:nvSpPr>
        <p:spPr>
          <a:xfrm>
            <a:off x="10972800" y="3374136"/>
            <a:ext cx="914" cy="557784"/>
          </a:xfrm>
          <a:prstGeom prst="line">
            <a:avLst/>
          </a:prstGeom>
          <a:noFill/>
          <a:ln w="15875">
            <a:solidFill>
              <a:srgbClr val="4A5878"/>
            </a:solidFill>
            <a:prstDash val="solid"/>
          </a:ln>
        </p:spPr>
      </p:sp>
      <p:sp>
        <p:nvSpPr>
          <p:cNvPr id="119" name="Shape 117"/>
          <p:cNvSpPr/>
          <p:nvPr/>
        </p:nvSpPr>
        <p:spPr>
          <a:xfrm>
            <a:off x="10899648" y="3255264"/>
            <a:ext cx="146304" cy="237744"/>
          </a:xfrm>
          <a:prstGeom prst="diamond">
            <a:avLst/>
          </a:prstGeom>
          <a:solidFill>
            <a:srgbClr val="0B1E4F"/>
          </a:solidFill>
          <a:ln w="12700">
            <a:solidFill>
              <a:srgbClr val="0B1E4F"/>
            </a:solidFill>
            <a:prstDash val="solid"/>
          </a:ln>
        </p:spPr>
      </p:sp>
      <p:sp>
        <p:nvSpPr>
          <p:cNvPr id="120" name="Text 118"/>
          <p:cNvSpPr txBox="1"/>
          <p:nvPr/>
        </p:nvSpPr>
        <p:spPr>
          <a:xfrm>
            <a:off x="11064240" y="3410712"/>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21" name="Text 119"/>
          <p:cNvSpPr txBox="1"/>
          <p:nvPr/>
        </p:nvSpPr>
        <p:spPr>
          <a:xfrm>
            <a:off x="11064240" y="374904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22" name="Shape 120"/>
          <p:cNvSpPr/>
          <p:nvPr/>
        </p:nvSpPr>
        <p:spPr>
          <a:xfrm>
            <a:off x="10058400" y="3575304"/>
            <a:ext cx="822960" cy="182880"/>
          </a:xfrm>
          <a:prstGeom prst="roundRect">
            <a:avLst>
              <a:gd name="adj" fmla="val 20000"/>
            </a:avLst>
          </a:prstGeom>
          <a:solidFill>
            <a:srgbClr val="FFFFFF"/>
          </a:solidFill>
          <a:ln/>
        </p:spPr>
      </p:sp>
      <p:sp>
        <p:nvSpPr>
          <p:cNvPr id="123" name="Text 121"/>
          <p:cNvSpPr txBox="1"/>
          <p:nvPr/>
        </p:nvSpPr>
        <p:spPr>
          <a:xfrm>
            <a:off x="10058400" y="3575304"/>
            <a:ext cx="822960" cy="182880"/>
          </a:xfrm>
          <a:prstGeom prst="rect">
            <a:avLst/>
          </a:prstGeom>
          <a:noFill/>
          <a:ln/>
        </p:spPr>
        <p:txBody>
          <a:bodyPr wrap="square" lIns="0" tIns="0" rIns="0" bIns="0" rtlCol="0" anchor="ctr"/>
          <a:lstStyle/>
          <a:p>
            <a:pPr algn="ctr" indent="0" marL="0">
              <a:buNone/>
            </a:pPr>
            <a:r>
              <a:rPr lang="en-US" sz="700" i="1" dirty="0">
                <a:solidFill>
                  <a:srgbClr val="4A5878"/>
                </a:solidFill>
                <a:latin typeface="Open Sans" pitchFamily="34" charset="0"/>
                <a:ea typeface="Open Sans" pitchFamily="34" charset="-122"/>
                <a:cs typeface="Open Sans" pitchFamily="34" charset="-120"/>
              </a:rPr>
              <a:t>se reparte en</a:t>
            </a:r>
            <a:endParaRPr lang="en-US" sz="700" dirty="0"/>
          </a:p>
        </p:txBody>
      </p:sp>
      <p:sp>
        <p:nvSpPr>
          <p:cNvPr id="124" name="Shape 122"/>
          <p:cNvSpPr/>
          <p:nvPr/>
        </p:nvSpPr>
        <p:spPr>
          <a:xfrm>
            <a:off x="1005840" y="3156509"/>
            <a:ext cx="914" cy="546811"/>
          </a:xfrm>
          <a:prstGeom prst="line">
            <a:avLst/>
          </a:prstGeom>
          <a:noFill/>
          <a:ln w="15875">
            <a:solidFill>
              <a:srgbClr val="4A5878"/>
            </a:solidFill>
            <a:prstDash val="solid"/>
          </a:ln>
        </p:spPr>
      </p:sp>
      <p:sp>
        <p:nvSpPr>
          <p:cNvPr id="125" name="Text 123"/>
          <p:cNvSpPr txBox="1"/>
          <p:nvPr/>
        </p:nvSpPr>
        <p:spPr>
          <a:xfrm>
            <a:off x="1078992" y="3174797"/>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26" name="Text 124"/>
          <p:cNvSpPr txBox="1"/>
          <p:nvPr/>
        </p:nvSpPr>
        <p:spPr>
          <a:xfrm>
            <a:off x="1078992" y="3529584"/>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27" name="Shape 125"/>
          <p:cNvSpPr/>
          <p:nvPr/>
        </p:nvSpPr>
        <p:spPr>
          <a:xfrm>
            <a:off x="1005840" y="4482389"/>
            <a:ext cx="914" cy="592531"/>
          </a:xfrm>
          <a:prstGeom prst="line">
            <a:avLst/>
          </a:prstGeom>
          <a:noFill/>
          <a:ln w="15875">
            <a:solidFill>
              <a:srgbClr val="4A5878"/>
            </a:solidFill>
            <a:prstDash val="solid"/>
          </a:ln>
        </p:spPr>
      </p:sp>
      <p:sp>
        <p:nvSpPr>
          <p:cNvPr id="128" name="Text 126"/>
          <p:cNvSpPr txBox="1"/>
          <p:nvPr/>
        </p:nvSpPr>
        <p:spPr>
          <a:xfrm>
            <a:off x="1078992" y="4500677"/>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29" name="Text 127"/>
          <p:cNvSpPr txBox="1"/>
          <p:nvPr/>
        </p:nvSpPr>
        <p:spPr>
          <a:xfrm>
            <a:off x="1078992" y="4901184"/>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30" name="Shape 128"/>
          <p:cNvSpPr/>
          <p:nvPr/>
        </p:nvSpPr>
        <p:spPr>
          <a:xfrm flipH="1">
            <a:off x="6949440" y="3840480"/>
            <a:ext cx="521208" cy="914"/>
          </a:xfrm>
          <a:prstGeom prst="line">
            <a:avLst/>
          </a:prstGeom>
          <a:noFill/>
          <a:ln w="15875">
            <a:solidFill>
              <a:srgbClr val="4A5878"/>
            </a:solidFill>
            <a:prstDash val="solid"/>
          </a:ln>
        </p:spPr>
      </p:sp>
      <p:sp>
        <p:nvSpPr>
          <p:cNvPr id="131" name="Shape 129"/>
          <p:cNvSpPr/>
          <p:nvPr/>
        </p:nvSpPr>
        <p:spPr>
          <a:xfrm>
            <a:off x="6949440" y="3840480"/>
            <a:ext cx="914" cy="685800"/>
          </a:xfrm>
          <a:prstGeom prst="line">
            <a:avLst/>
          </a:prstGeom>
          <a:noFill/>
          <a:ln w="15875">
            <a:solidFill>
              <a:srgbClr val="4A5878"/>
            </a:solidFill>
            <a:prstDash val="solid"/>
          </a:ln>
        </p:spPr>
      </p:sp>
      <p:sp>
        <p:nvSpPr>
          <p:cNvPr id="132" name="Shape 130"/>
          <p:cNvSpPr/>
          <p:nvPr/>
        </p:nvSpPr>
        <p:spPr>
          <a:xfrm flipH="1">
            <a:off x="6492240" y="4526280"/>
            <a:ext cx="457200" cy="914"/>
          </a:xfrm>
          <a:prstGeom prst="line">
            <a:avLst/>
          </a:prstGeom>
          <a:noFill/>
          <a:ln w="15875">
            <a:solidFill>
              <a:srgbClr val="4A5878"/>
            </a:solidFill>
            <a:prstDash val="solid"/>
          </a:ln>
        </p:spPr>
      </p:sp>
      <p:sp>
        <p:nvSpPr>
          <p:cNvPr id="133" name="Shape 131"/>
          <p:cNvSpPr/>
          <p:nvPr/>
        </p:nvSpPr>
        <p:spPr>
          <a:xfrm>
            <a:off x="7351776" y="3767328"/>
            <a:ext cx="237744" cy="146304"/>
          </a:xfrm>
          <a:prstGeom prst="diamond">
            <a:avLst/>
          </a:prstGeom>
          <a:solidFill>
            <a:srgbClr val="0B1E4F"/>
          </a:solidFill>
          <a:ln w="12700">
            <a:solidFill>
              <a:srgbClr val="0B1E4F"/>
            </a:solidFill>
            <a:prstDash val="solid"/>
          </a:ln>
        </p:spPr>
      </p:sp>
      <p:sp>
        <p:nvSpPr>
          <p:cNvPr id="134" name="Text 132"/>
          <p:cNvSpPr txBox="1"/>
          <p:nvPr/>
        </p:nvSpPr>
        <p:spPr>
          <a:xfrm>
            <a:off x="7223760" y="3657600"/>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35" name="Text 133"/>
          <p:cNvSpPr txBox="1"/>
          <p:nvPr/>
        </p:nvSpPr>
        <p:spPr>
          <a:xfrm>
            <a:off x="6519672" y="434340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36" name="Shape 134"/>
          <p:cNvSpPr/>
          <p:nvPr/>
        </p:nvSpPr>
        <p:spPr>
          <a:xfrm>
            <a:off x="6537960" y="4069080"/>
            <a:ext cx="411480" cy="182880"/>
          </a:xfrm>
          <a:prstGeom prst="roundRect">
            <a:avLst>
              <a:gd name="adj" fmla="val 20000"/>
            </a:avLst>
          </a:prstGeom>
          <a:solidFill>
            <a:srgbClr val="FFFFFF"/>
          </a:solidFill>
          <a:ln/>
        </p:spPr>
      </p:sp>
      <p:sp>
        <p:nvSpPr>
          <p:cNvPr id="137" name="Text 135"/>
          <p:cNvSpPr txBox="1"/>
          <p:nvPr/>
        </p:nvSpPr>
        <p:spPr>
          <a:xfrm>
            <a:off x="6537960" y="4069080"/>
            <a:ext cx="411480" cy="182880"/>
          </a:xfrm>
          <a:prstGeom prst="rect">
            <a:avLst/>
          </a:prstGeom>
          <a:noFill/>
          <a:ln/>
        </p:spPr>
        <p:txBody>
          <a:bodyPr wrap="square" lIns="0" tIns="0" rIns="0" bIns="0" rtlCol="0" anchor="ctr"/>
          <a:lstStyle/>
          <a:p>
            <a:pPr algn="ctr" indent="0" marL="0">
              <a:buNone/>
            </a:pPr>
            <a:r>
              <a:rPr lang="en-US" sz="700" i="1" dirty="0">
                <a:solidFill>
                  <a:srgbClr val="4A5878"/>
                </a:solidFill>
                <a:latin typeface="Open Sans" pitchFamily="34" charset="0"/>
                <a:ea typeface="Open Sans" pitchFamily="34" charset="-122"/>
                <a:cs typeface="Open Sans" pitchFamily="34" charset="-120"/>
              </a:rPr>
              <a:t>emite</a:t>
            </a:r>
            <a:endParaRPr lang="en-US" sz="700" dirty="0"/>
          </a:p>
        </p:txBody>
      </p:sp>
      <p:sp>
        <p:nvSpPr>
          <p:cNvPr id="138" name="Shape 136"/>
          <p:cNvSpPr/>
          <p:nvPr/>
        </p:nvSpPr>
        <p:spPr>
          <a:xfrm>
            <a:off x="7818120" y="4065422"/>
            <a:ext cx="914" cy="369418"/>
          </a:xfrm>
          <a:prstGeom prst="line">
            <a:avLst/>
          </a:prstGeom>
          <a:noFill/>
          <a:ln w="15875">
            <a:solidFill>
              <a:srgbClr val="4A5878"/>
            </a:solidFill>
            <a:prstDash val="solid"/>
          </a:ln>
        </p:spPr>
      </p:sp>
      <p:sp>
        <p:nvSpPr>
          <p:cNvPr id="139" name="Shape 137"/>
          <p:cNvSpPr/>
          <p:nvPr/>
        </p:nvSpPr>
        <p:spPr>
          <a:xfrm>
            <a:off x="7744968" y="3946550"/>
            <a:ext cx="146304" cy="237744"/>
          </a:xfrm>
          <a:prstGeom prst="diamond">
            <a:avLst/>
          </a:prstGeom>
          <a:solidFill>
            <a:srgbClr val="0B1E4F"/>
          </a:solidFill>
          <a:ln w="12700">
            <a:solidFill>
              <a:srgbClr val="0B1E4F"/>
            </a:solidFill>
            <a:prstDash val="solid"/>
          </a:ln>
        </p:spPr>
      </p:sp>
      <p:sp>
        <p:nvSpPr>
          <p:cNvPr id="140" name="Text 138"/>
          <p:cNvSpPr txBox="1"/>
          <p:nvPr/>
        </p:nvSpPr>
        <p:spPr>
          <a:xfrm>
            <a:off x="7891272" y="4261104"/>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41" name="Shape 139"/>
          <p:cNvSpPr/>
          <p:nvPr/>
        </p:nvSpPr>
        <p:spPr>
          <a:xfrm>
            <a:off x="9235440" y="4065422"/>
            <a:ext cx="914" cy="369418"/>
          </a:xfrm>
          <a:prstGeom prst="line">
            <a:avLst/>
          </a:prstGeom>
          <a:noFill/>
          <a:ln w="15875">
            <a:solidFill>
              <a:srgbClr val="4A5878"/>
            </a:solidFill>
            <a:prstDash val="solid"/>
          </a:ln>
        </p:spPr>
      </p:sp>
      <p:sp>
        <p:nvSpPr>
          <p:cNvPr id="142" name="Shape 140"/>
          <p:cNvSpPr/>
          <p:nvPr/>
        </p:nvSpPr>
        <p:spPr>
          <a:xfrm>
            <a:off x="9162288" y="3946550"/>
            <a:ext cx="146304" cy="237744"/>
          </a:xfrm>
          <a:prstGeom prst="diamond">
            <a:avLst/>
          </a:prstGeom>
          <a:solidFill>
            <a:srgbClr val="0B1E4F"/>
          </a:solidFill>
          <a:ln w="12700">
            <a:solidFill>
              <a:srgbClr val="0B1E4F"/>
            </a:solidFill>
            <a:prstDash val="solid"/>
          </a:ln>
        </p:spPr>
      </p:sp>
      <p:sp>
        <p:nvSpPr>
          <p:cNvPr id="143" name="Text 141"/>
          <p:cNvSpPr txBox="1"/>
          <p:nvPr/>
        </p:nvSpPr>
        <p:spPr>
          <a:xfrm>
            <a:off x="9308592" y="4261104"/>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0..1</a:t>
            </a:r>
            <a:endParaRPr lang="en-US" sz="700" dirty="0"/>
          </a:p>
        </p:txBody>
      </p:sp>
      <p:sp>
        <p:nvSpPr>
          <p:cNvPr id="144" name="Shape 142"/>
          <p:cNvSpPr/>
          <p:nvPr/>
        </p:nvSpPr>
        <p:spPr>
          <a:xfrm>
            <a:off x="8732520" y="3946550"/>
            <a:ext cx="914" cy="1494130"/>
          </a:xfrm>
          <a:prstGeom prst="line">
            <a:avLst/>
          </a:prstGeom>
          <a:noFill/>
          <a:ln w="15875">
            <a:solidFill>
              <a:srgbClr val="4A5878"/>
            </a:solidFill>
            <a:prstDash val="solid"/>
          </a:ln>
        </p:spPr>
      </p:sp>
      <p:sp>
        <p:nvSpPr>
          <p:cNvPr id="145" name="Text 143"/>
          <p:cNvSpPr txBox="1"/>
          <p:nvPr/>
        </p:nvSpPr>
        <p:spPr>
          <a:xfrm>
            <a:off x="8796528" y="3992270"/>
            <a:ext cx="45720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0..*</a:t>
            </a:r>
            <a:endParaRPr lang="en-US" sz="700" dirty="0"/>
          </a:p>
        </p:txBody>
      </p:sp>
      <p:sp>
        <p:nvSpPr>
          <p:cNvPr id="146" name="Text 144"/>
          <p:cNvSpPr txBox="1"/>
          <p:nvPr/>
        </p:nvSpPr>
        <p:spPr>
          <a:xfrm>
            <a:off x="8796528" y="5266944"/>
            <a:ext cx="182880" cy="164592"/>
          </a:xfrm>
          <a:prstGeom prst="rect">
            <a:avLst/>
          </a:prstGeom>
          <a:noFill/>
          <a:ln/>
        </p:spPr>
        <p:txBody>
          <a:bodyPr wrap="square" lIns="0" tIns="0" rIns="0" bIns="0" rtlCol="0" anchor="ctr"/>
          <a:lstStyle/>
          <a:p>
            <a:pPr algn="l" indent="0" marL="0">
              <a:buNone/>
            </a:pPr>
            <a:r>
              <a:rPr lang="en-US" sz="700" b="1" dirty="0">
                <a:solidFill>
                  <a:srgbClr val="0B9468"/>
                </a:solidFill>
                <a:latin typeface="Open Sans" pitchFamily="34" charset="0"/>
                <a:ea typeface="Open Sans" pitchFamily="34" charset="-122"/>
                <a:cs typeface="Open Sans" pitchFamily="34" charset="-120"/>
              </a:rPr>
              <a:t>1</a:t>
            </a:r>
            <a:endParaRPr lang="en-US" sz="700" dirty="0"/>
          </a:p>
        </p:txBody>
      </p:sp>
      <p:sp>
        <p:nvSpPr>
          <p:cNvPr id="147" name="Shape 145"/>
          <p:cNvSpPr/>
          <p:nvPr/>
        </p:nvSpPr>
        <p:spPr>
          <a:xfrm>
            <a:off x="2103120" y="3840480"/>
            <a:ext cx="2788920" cy="2423160"/>
          </a:xfrm>
          <a:prstGeom prst="roundRect">
            <a:avLst>
              <a:gd name="adj" fmla="val 5283"/>
            </a:avLst>
          </a:prstGeom>
          <a:solidFill>
            <a:srgbClr val="E2F8EF"/>
          </a:solidFill>
          <a:ln/>
        </p:spPr>
      </p:sp>
      <p:sp>
        <p:nvSpPr>
          <p:cNvPr id="148" name="Text 146"/>
          <p:cNvSpPr txBox="1"/>
          <p:nvPr/>
        </p:nvSpPr>
        <p:spPr>
          <a:xfrm>
            <a:off x="2286000" y="3950208"/>
            <a:ext cx="2377440" cy="219456"/>
          </a:xfrm>
          <a:prstGeom prst="rect">
            <a:avLst/>
          </a:prstGeom>
          <a:noFill/>
          <a:ln/>
        </p:spPr>
        <p:txBody>
          <a:bodyPr wrap="square" lIns="0" tIns="0" rIns="0" bIns="0" rtlCol="0" anchor="ctr"/>
          <a:lstStyle/>
          <a:p>
            <a:pPr indent="0" marL="0">
              <a:buNone/>
            </a:pPr>
            <a:r>
              <a:rPr lang="en-US" sz="850" b="1" spc="150" kern="0" dirty="0">
                <a:solidFill>
                  <a:srgbClr val="0B9468"/>
                </a:solidFill>
                <a:latin typeface="Montserrat" pitchFamily="34" charset="0"/>
                <a:ea typeface="Montserrat" pitchFamily="34" charset="-122"/>
                <a:cs typeface="Montserrat" pitchFamily="34" charset="-120"/>
              </a:rPr>
              <a:t>CÓMO LEERLO</a:t>
            </a:r>
            <a:endParaRPr lang="en-US" sz="850" dirty="0"/>
          </a:p>
        </p:txBody>
      </p:sp>
      <p:sp>
        <p:nvSpPr>
          <p:cNvPr id="149" name="Shape 147"/>
          <p:cNvSpPr/>
          <p:nvPr/>
        </p:nvSpPr>
        <p:spPr>
          <a:xfrm>
            <a:off x="2304288" y="4315968"/>
            <a:ext cx="237744" cy="146304"/>
          </a:xfrm>
          <a:prstGeom prst="diamond">
            <a:avLst/>
          </a:prstGeom>
          <a:solidFill>
            <a:srgbClr val="0B1E4F"/>
          </a:solidFill>
          <a:ln w="12700">
            <a:solidFill>
              <a:srgbClr val="0B1E4F"/>
            </a:solidFill>
            <a:prstDash val="solid"/>
          </a:ln>
        </p:spPr>
      </p:sp>
      <p:sp>
        <p:nvSpPr>
          <p:cNvPr id="150" name="Text 148"/>
          <p:cNvSpPr txBox="1"/>
          <p:nvPr/>
        </p:nvSpPr>
        <p:spPr>
          <a:xfrm>
            <a:off x="2651760" y="4224528"/>
            <a:ext cx="2148840" cy="502920"/>
          </a:xfrm>
          <a:prstGeom prst="rect">
            <a:avLst/>
          </a:prstGeom>
          <a:noFill/>
          <a:ln/>
        </p:spPr>
        <p:txBody>
          <a:bodyPr wrap="square" lIns="0" tIns="0" rIns="0" bIns="0" rtlCol="0" anchor="t"/>
          <a:lstStyle/>
          <a:p>
            <a:pPr indent="0" marL="0">
              <a:buNone/>
            </a:pPr>
            <a:r>
              <a:rPr lang="en-US" sz="850" b="1" dirty="0">
                <a:solidFill>
                  <a:srgbClr val="0E1B3D"/>
                </a:solidFill>
                <a:latin typeface="Open Sans" pitchFamily="34" charset="0"/>
                <a:ea typeface="Open Sans" pitchFamily="34" charset="-122"/>
                <a:cs typeface="Open Sans" pitchFamily="34" charset="-120"/>
              </a:rPr>
              <a:t>Composición: </a:t>
            </a:r>
            <a:pPr indent="0" marL="0">
              <a:buNone/>
            </a:pPr>
            <a:r>
              <a:rPr lang="en-US" sz="850" dirty="0">
                <a:solidFill>
                  <a:srgbClr val="4A5878"/>
                </a:solidFill>
                <a:latin typeface="Open Sans" pitchFamily="34" charset="0"/>
                <a:ea typeface="Open Sans" pitchFamily="34" charset="-122"/>
                <a:cs typeface="Open Sans" pitchFamily="34" charset="-120"/>
              </a:rPr>
              <a:t>la parte no existe sin el todo (detalles, validación, constancia).</a:t>
            </a:r>
            <a:endParaRPr lang="en-US" sz="850" dirty="0"/>
          </a:p>
        </p:txBody>
      </p:sp>
      <p:sp>
        <p:nvSpPr>
          <p:cNvPr id="151" name="Shape 149"/>
          <p:cNvSpPr/>
          <p:nvPr/>
        </p:nvSpPr>
        <p:spPr>
          <a:xfrm>
            <a:off x="2304288" y="4910328"/>
            <a:ext cx="237744" cy="146304"/>
          </a:xfrm>
          <a:prstGeom prst="diamond">
            <a:avLst/>
          </a:prstGeom>
          <a:solidFill>
            <a:srgbClr val="FFFFFF"/>
          </a:solidFill>
          <a:ln w="12700">
            <a:solidFill>
              <a:srgbClr val="0B1E4F"/>
            </a:solidFill>
            <a:prstDash val="solid"/>
          </a:ln>
        </p:spPr>
      </p:sp>
      <p:sp>
        <p:nvSpPr>
          <p:cNvPr id="152" name="Text 150"/>
          <p:cNvSpPr txBox="1"/>
          <p:nvPr/>
        </p:nvSpPr>
        <p:spPr>
          <a:xfrm>
            <a:off x="2651760" y="4818888"/>
            <a:ext cx="2148840" cy="457200"/>
          </a:xfrm>
          <a:prstGeom prst="rect">
            <a:avLst/>
          </a:prstGeom>
          <a:noFill/>
          <a:ln/>
        </p:spPr>
        <p:txBody>
          <a:bodyPr wrap="square" lIns="0" tIns="0" rIns="0" bIns="0" rtlCol="0" anchor="t"/>
          <a:lstStyle/>
          <a:p>
            <a:pPr indent="0" marL="0">
              <a:buNone/>
            </a:pPr>
            <a:r>
              <a:rPr lang="en-US" sz="850" b="1" dirty="0">
                <a:solidFill>
                  <a:srgbClr val="0E1B3D"/>
                </a:solidFill>
                <a:latin typeface="Open Sans" pitchFamily="34" charset="0"/>
                <a:ea typeface="Open Sans" pitchFamily="34" charset="-122"/>
                <a:cs typeface="Open Sans" pitchFamily="34" charset="-120"/>
              </a:rPr>
              <a:t>Agregación: </a:t>
            </a:r>
            <a:pPr indent="0" marL="0">
              <a:buNone/>
            </a:pPr>
            <a:r>
              <a:rPr lang="en-US" sz="850" dirty="0">
                <a:solidFill>
                  <a:srgbClr val="4A5878"/>
                </a:solidFill>
                <a:latin typeface="Open Sans" pitchFamily="34" charset="0"/>
                <a:ea typeface="Open Sans" pitchFamily="34" charset="-122"/>
                <a:cs typeface="Open Sans" pitchFamily="34" charset="-120"/>
              </a:rPr>
              <a:t>relación más débil entre permiso y embarcación.</a:t>
            </a:r>
            <a:endParaRPr lang="en-US" sz="850" dirty="0"/>
          </a:p>
        </p:txBody>
      </p:sp>
      <p:sp>
        <p:nvSpPr>
          <p:cNvPr id="153" name="Shape 151"/>
          <p:cNvSpPr/>
          <p:nvPr/>
        </p:nvSpPr>
        <p:spPr>
          <a:xfrm>
            <a:off x="2286000" y="5477256"/>
            <a:ext cx="201168" cy="146304"/>
          </a:xfrm>
          <a:prstGeom prst="roundRect">
            <a:avLst>
              <a:gd name="adj" fmla="val 18750"/>
            </a:avLst>
          </a:prstGeom>
          <a:solidFill>
            <a:srgbClr val="0B5FFF"/>
          </a:solidFill>
          <a:ln/>
        </p:spPr>
      </p:sp>
      <p:sp>
        <p:nvSpPr>
          <p:cNvPr id="154" name="Text 152"/>
          <p:cNvSpPr txBox="1"/>
          <p:nvPr/>
        </p:nvSpPr>
        <p:spPr>
          <a:xfrm>
            <a:off x="2560320" y="5440680"/>
            <a:ext cx="914400" cy="219456"/>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Flota</a:t>
            </a:r>
            <a:endParaRPr lang="en-US" sz="850" dirty="0"/>
          </a:p>
        </p:txBody>
      </p:sp>
      <p:sp>
        <p:nvSpPr>
          <p:cNvPr id="155" name="Shape 153"/>
          <p:cNvSpPr/>
          <p:nvPr/>
        </p:nvSpPr>
        <p:spPr>
          <a:xfrm>
            <a:off x="3520440" y="5477256"/>
            <a:ext cx="201168" cy="146304"/>
          </a:xfrm>
          <a:prstGeom prst="roundRect">
            <a:avLst>
              <a:gd name="adj" fmla="val 18750"/>
            </a:avLst>
          </a:prstGeom>
          <a:solidFill>
            <a:srgbClr val="7B5CFF"/>
          </a:solidFill>
          <a:ln/>
        </p:spPr>
      </p:sp>
      <p:sp>
        <p:nvSpPr>
          <p:cNvPr id="156" name="Text 154"/>
          <p:cNvSpPr txBox="1"/>
          <p:nvPr/>
        </p:nvSpPr>
        <p:spPr>
          <a:xfrm>
            <a:off x="3794760" y="5440680"/>
            <a:ext cx="914400" cy="219456"/>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Catálogo</a:t>
            </a:r>
            <a:endParaRPr lang="en-US" sz="850" dirty="0"/>
          </a:p>
        </p:txBody>
      </p:sp>
      <p:sp>
        <p:nvSpPr>
          <p:cNvPr id="157" name="Shape 155"/>
          <p:cNvSpPr/>
          <p:nvPr/>
        </p:nvSpPr>
        <p:spPr>
          <a:xfrm>
            <a:off x="2286000" y="5751576"/>
            <a:ext cx="201168" cy="146304"/>
          </a:xfrm>
          <a:prstGeom prst="roundRect">
            <a:avLst>
              <a:gd name="adj" fmla="val 18750"/>
            </a:avLst>
          </a:prstGeom>
          <a:solidFill>
            <a:srgbClr val="0B1E4F"/>
          </a:solidFill>
          <a:ln/>
        </p:spPr>
      </p:sp>
      <p:sp>
        <p:nvSpPr>
          <p:cNvPr id="158" name="Text 156"/>
          <p:cNvSpPr txBox="1"/>
          <p:nvPr/>
        </p:nvSpPr>
        <p:spPr>
          <a:xfrm>
            <a:off x="2560320" y="5715000"/>
            <a:ext cx="914400" cy="219456"/>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Núcleo</a:t>
            </a:r>
            <a:endParaRPr lang="en-US" sz="850" dirty="0"/>
          </a:p>
        </p:txBody>
      </p:sp>
      <p:sp>
        <p:nvSpPr>
          <p:cNvPr id="159" name="Shape 157"/>
          <p:cNvSpPr/>
          <p:nvPr/>
        </p:nvSpPr>
        <p:spPr>
          <a:xfrm>
            <a:off x="3520440" y="5751576"/>
            <a:ext cx="201168" cy="146304"/>
          </a:xfrm>
          <a:prstGeom prst="roundRect">
            <a:avLst>
              <a:gd name="adj" fmla="val 18750"/>
            </a:avLst>
          </a:prstGeom>
          <a:solidFill>
            <a:srgbClr val="0B9468"/>
          </a:solidFill>
          <a:ln/>
        </p:spPr>
      </p:sp>
      <p:sp>
        <p:nvSpPr>
          <p:cNvPr id="160" name="Text 158"/>
          <p:cNvSpPr txBox="1"/>
          <p:nvPr/>
        </p:nvSpPr>
        <p:spPr>
          <a:xfrm>
            <a:off x="3794760" y="5715000"/>
            <a:ext cx="914400" cy="219456"/>
          </a:xfrm>
          <a:prstGeom prst="rect">
            <a:avLst/>
          </a:prstGeom>
          <a:noFill/>
          <a:ln/>
        </p:spPr>
        <p:txBody>
          <a:bodyPr wrap="square" lIns="0" tIns="0" rIns="0" bIns="0" rtlCol="0" anchor="ctr"/>
          <a:lstStyle/>
          <a:p>
            <a:pPr indent="0" marL="0">
              <a:buNone/>
            </a:pPr>
            <a:r>
              <a:rPr lang="en-US" sz="850" dirty="0">
                <a:solidFill>
                  <a:srgbClr val="4A5878"/>
                </a:solidFill>
                <a:latin typeface="Open Sans" pitchFamily="34" charset="0"/>
                <a:ea typeface="Open Sans" pitchFamily="34" charset="-122"/>
                <a:cs typeface="Open Sans" pitchFamily="34" charset="-120"/>
              </a:rPr>
              <a:t>Trazabilidad</a:t>
            </a:r>
            <a:endParaRPr lang="en-US" sz="850" dirty="0"/>
          </a:p>
        </p:txBody>
      </p:sp>
      <p:sp>
        <p:nvSpPr>
          <p:cNvPr id="161" name="Text 159"/>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62" name="Text 160"/>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10B981"/>
                </a:solidFill>
                <a:latin typeface="Montserrat" pitchFamily="34" charset="0"/>
                <a:ea typeface="Montserrat" pitchFamily="34" charset="-122"/>
                <a:cs typeface="Montserrat"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4411066" cy="274320"/>
          </a:xfrm>
          <a:prstGeom prst="roundRect">
            <a:avLst>
              <a:gd name="adj" fmla="val 50000"/>
            </a:avLst>
          </a:prstGeom>
          <a:solidFill>
            <a:srgbClr val="10B981"/>
          </a:solidFill>
          <a:ln/>
        </p:spPr>
      </p:sp>
      <p:sp>
        <p:nvSpPr>
          <p:cNvPr id="3" name="Text 1"/>
          <p:cNvSpPr txBox="1"/>
          <p:nvPr/>
        </p:nvSpPr>
        <p:spPr>
          <a:xfrm>
            <a:off x="548640" y="411480"/>
            <a:ext cx="4411066"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4 · 4.1 RESPONSABILIDADES DE LAS CLASES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Qué hace cada clase principal</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12 del informe. Fuente: adaptado de OMG [29] y Sommerville [19].</a:t>
            </a:r>
            <a:endParaRPr lang="en-US" sz="1300" dirty="0"/>
          </a:p>
        </p:txBody>
      </p:sp>
      <p:sp>
        <p:nvSpPr>
          <p:cNvPr id="6" name="Shape 4"/>
          <p:cNvSpPr/>
          <p:nvPr/>
        </p:nvSpPr>
        <p:spPr>
          <a:xfrm>
            <a:off x="548640" y="2011680"/>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548640" y="2011680"/>
            <a:ext cx="2103120" cy="384048"/>
          </a:xfrm>
          <a:prstGeom prst="roundRect">
            <a:avLst>
              <a:gd name="adj" fmla="val 33333"/>
            </a:avLst>
          </a:prstGeom>
          <a:solidFill>
            <a:srgbClr val="0B5FFF"/>
          </a:solidFill>
          <a:ln/>
        </p:spPr>
      </p:sp>
      <p:sp>
        <p:nvSpPr>
          <p:cNvPr id="8" name="Shape 6"/>
          <p:cNvSpPr/>
          <p:nvPr/>
        </p:nvSpPr>
        <p:spPr>
          <a:xfrm>
            <a:off x="548640" y="2231136"/>
            <a:ext cx="2103120" cy="164592"/>
          </a:xfrm>
          <a:prstGeom prst="rect">
            <a:avLst/>
          </a:prstGeom>
          <a:solidFill>
            <a:srgbClr val="0B5FFF"/>
          </a:solidFill>
          <a:ln/>
        </p:spPr>
      </p:sp>
      <p:sp>
        <p:nvSpPr>
          <p:cNvPr id="9" name="Text 7"/>
          <p:cNvSpPr txBox="1"/>
          <p:nvPr/>
        </p:nvSpPr>
        <p:spPr>
          <a:xfrm>
            <a:off x="694944" y="2011680"/>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Embarcacion</a:t>
            </a:r>
            <a:endParaRPr lang="en-US" sz="1100" dirty="0"/>
          </a:p>
        </p:txBody>
      </p:sp>
      <p:sp>
        <p:nvSpPr>
          <p:cNvPr id="10" name="Text 8"/>
          <p:cNvSpPr txBox="1"/>
          <p:nvPr/>
        </p:nvSpPr>
        <p:spPr>
          <a:xfrm>
            <a:off x="694944" y="2487168"/>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Datos de la nave y su categoría (artesanal o menor escala).</a:t>
            </a:r>
            <a:endParaRPr lang="en-US" sz="1050" dirty="0"/>
          </a:p>
        </p:txBody>
      </p:sp>
      <p:sp>
        <p:nvSpPr>
          <p:cNvPr id="11" name="Shape 9"/>
          <p:cNvSpPr/>
          <p:nvPr/>
        </p:nvSpPr>
        <p:spPr>
          <a:xfrm>
            <a:off x="658368" y="3200400"/>
            <a:ext cx="1883664" cy="713232"/>
          </a:xfrm>
          <a:prstGeom prst="roundRect">
            <a:avLst>
              <a:gd name="adj" fmla="val 10256"/>
            </a:avLst>
          </a:prstGeom>
          <a:solidFill>
            <a:srgbClr val="E2F8EF"/>
          </a:solidFill>
          <a:ln/>
        </p:spPr>
      </p:sp>
      <p:sp>
        <p:nvSpPr>
          <p:cNvPr id="12" name="Text 10"/>
          <p:cNvSpPr txBox="1"/>
          <p:nvPr/>
        </p:nvSpPr>
        <p:spPr>
          <a:xfrm>
            <a:off x="749808" y="3227832"/>
            <a:ext cx="1737360" cy="658368"/>
          </a:xfrm>
          <a:prstGeom prst="rect">
            <a:avLst/>
          </a:prstGeom>
          <a:noFill/>
          <a:ln/>
        </p:spPr>
        <p:txBody>
          <a:bodyPr wrap="square" lIns="0" tIns="0" rIns="0" bIns="0" rtlCol="0" anchor="ctr"/>
          <a:lstStyle/>
          <a:p>
            <a:pPr indent="0" marL="0">
              <a:buNone/>
            </a:pPr>
            <a:r>
              <a:rPr lang="en-US" sz="850" b="1" dirty="0">
                <a:solidFill>
                  <a:srgbClr val="0B5FFF"/>
                </a:solidFill>
                <a:latin typeface="Open Sans" pitchFamily="34" charset="0"/>
                <a:ea typeface="Open Sans" pitchFamily="34" charset="-122"/>
                <a:cs typeface="Open Sans" pitchFamily="34" charset="-120"/>
              </a:rPr>
              <a:t>esArtesanal()</a:t>
            </a:r>
            <a:endParaRPr lang="en-US" sz="850" dirty="0"/>
          </a:p>
          <a:p>
            <a:pPr indent="0" marL="0">
              <a:buNone/>
            </a:pPr>
            <a:r>
              <a:rPr lang="en-US" sz="850" b="1" dirty="0">
                <a:solidFill>
                  <a:srgbClr val="0B5FFF"/>
                </a:solidFill>
                <a:latin typeface="Open Sans" pitchFamily="34" charset="0"/>
                <a:ea typeface="Open Sans" pitchFamily="34" charset="-122"/>
                <a:cs typeface="Open Sans" pitchFamily="34" charset="-120"/>
              </a:rPr>
              <a:t>permisoVigente(fecha)</a:t>
            </a:r>
            <a:endParaRPr lang="en-US" sz="850" dirty="0"/>
          </a:p>
        </p:txBody>
      </p:sp>
      <p:sp>
        <p:nvSpPr>
          <p:cNvPr id="13" name="Shape 11"/>
          <p:cNvSpPr/>
          <p:nvPr/>
        </p:nvSpPr>
        <p:spPr>
          <a:xfrm>
            <a:off x="2798064" y="2011680"/>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4" name="Shape 12"/>
          <p:cNvSpPr/>
          <p:nvPr/>
        </p:nvSpPr>
        <p:spPr>
          <a:xfrm>
            <a:off x="2798064" y="2011680"/>
            <a:ext cx="2103120" cy="384048"/>
          </a:xfrm>
          <a:prstGeom prst="roundRect">
            <a:avLst>
              <a:gd name="adj" fmla="val 33333"/>
            </a:avLst>
          </a:prstGeom>
          <a:solidFill>
            <a:srgbClr val="0B5FFF"/>
          </a:solidFill>
          <a:ln/>
        </p:spPr>
      </p:sp>
      <p:sp>
        <p:nvSpPr>
          <p:cNvPr id="15" name="Shape 13"/>
          <p:cNvSpPr/>
          <p:nvPr/>
        </p:nvSpPr>
        <p:spPr>
          <a:xfrm>
            <a:off x="2798064" y="2231136"/>
            <a:ext cx="2103120" cy="164592"/>
          </a:xfrm>
          <a:prstGeom prst="rect">
            <a:avLst/>
          </a:prstGeom>
          <a:solidFill>
            <a:srgbClr val="0B5FFF"/>
          </a:solidFill>
          <a:ln/>
        </p:spPr>
      </p:sp>
      <p:sp>
        <p:nvSpPr>
          <p:cNvPr id="16" name="Text 14"/>
          <p:cNvSpPr txBox="1"/>
          <p:nvPr/>
        </p:nvSpPr>
        <p:spPr>
          <a:xfrm>
            <a:off x="2944368" y="2011680"/>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PermisoPesca</a:t>
            </a:r>
            <a:endParaRPr lang="en-US" sz="1100" dirty="0"/>
          </a:p>
        </p:txBody>
      </p:sp>
      <p:sp>
        <p:nvSpPr>
          <p:cNvPr id="17" name="Text 15"/>
          <p:cNvSpPr txBox="1"/>
          <p:nvPr/>
        </p:nvSpPr>
        <p:spPr>
          <a:xfrm>
            <a:off x="2944368" y="2487168"/>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Autorización para especies y artes durante una vigencia.</a:t>
            </a:r>
            <a:endParaRPr lang="en-US" sz="1050" dirty="0"/>
          </a:p>
        </p:txBody>
      </p:sp>
      <p:sp>
        <p:nvSpPr>
          <p:cNvPr id="18" name="Shape 16"/>
          <p:cNvSpPr/>
          <p:nvPr/>
        </p:nvSpPr>
        <p:spPr>
          <a:xfrm>
            <a:off x="2907792" y="3200400"/>
            <a:ext cx="1883664" cy="713232"/>
          </a:xfrm>
          <a:prstGeom prst="roundRect">
            <a:avLst>
              <a:gd name="adj" fmla="val 10256"/>
            </a:avLst>
          </a:prstGeom>
          <a:solidFill>
            <a:srgbClr val="E2F8EF"/>
          </a:solidFill>
          <a:ln/>
        </p:spPr>
      </p:sp>
      <p:sp>
        <p:nvSpPr>
          <p:cNvPr id="19" name="Text 17"/>
          <p:cNvSpPr txBox="1"/>
          <p:nvPr/>
        </p:nvSpPr>
        <p:spPr>
          <a:xfrm>
            <a:off x="2999232" y="3227832"/>
            <a:ext cx="1737360" cy="658368"/>
          </a:xfrm>
          <a:prstGeom prst="rect">
            <a:avLst/>
          </a:prstGeom>
          <a:noFill/>
          <a:ln/>
        </p:spPr>
        <p:txBody>
          <a:bodyPr wrap="square" lIns="0" tIns="0" rIns="0" bIns="0" rtlCol="0" anchor="ctr"/>
          <a:lstStyle/>
          <a:p>
            <a:pPr indent="0" marL="0">
              <a:buNone/>
            </a:pPr>
            <a:r>
              <a:rPr lang="en-US" sz="850" b="1" dirty="0">
                <a:solidFill>
                  <a:srgbClr val="0B5FFF"/>
                </a:solidFill>
                <a:latin typeface="Open Sans" pitchFamily="34" charset="0"/>
                <a:ea typeface="Open Sans" pitchFamily="34" charset="-122"/>
                <a:cs typeface="Open Sans" pitchFamily="34" charset="-120"/>
              </a:rPr>
              <a:t>estaVigente()</a:t>
            </a:r>
            <a:endParaRPr lang="en-US" sz="850" dirty="0"/>
          </a:p>
          <a:p>
            <a:pPr indent="0" marL="0">
              <a:buNone/>
            </a:pPr>
            <a:r>
              <a:rPr lang="en-US" sz="850" b="1" dirty="0">
                <a:solidFill>
                  <a:srgbClr val="0B5FFF"/>
                </a:solidFill>
                <a:latin typeface="Open Sans" pitchFamily="34" charset="0"/>
                <a:ea typeface="Open Sans" pitchFamily="34" charset="-122"/>
                <a:cs typeface="Open Sans" pitchFamily="34" charset="-120"/>
              </a:rPr>
              <a:t>autorizaEspecie()</a:t>
            </a:r>
            <a:endParaRPr lang="en-US" sz="850" dirty="0"/>
          </a:p>
          <a:p>
            <a:pPr indent="0" marL="0">
              <a:buNone/>
            </a:pPr>
            <a:r>
              <a:rPr lang="en-US" sz="850" b="1" dirty="0">
                <a:solidFill>
                  <a:srgbClr val="0B5FFF"/>
                </a:solidFill>
                <a:latin typeface="Open Sans" pitchFamily="34" charset="0"/>
                <a:ea typeface="Open Sans" pitchFamily="34" charset="-122"/>
                <a:cs typeface="Open Sans" pitchFamily="34" charset="-120"/>
              </a:rPr>
              <a:t>autorizaArte()</a:t>
            </a:r>
            <a:endParaRPr lang="en-US" sz="850" dirty="0"/>
          </a:p>
        </p:txBody>
      </p:sp>
      <p:sp>
        <p:nvSpPr>
          <p:cNvPr id="20" name="Shape 18"/>
          <p:cNvSpPr/>
          <p:nvPr/>
        </p:nvSpPr>
        <p:spPr>
          <a:xfrm>
            <a:off x="5047488" y="2011680"/>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1" name="Shape 19"/>
          <p:cNvSpPr/>
          <p:nvPr/>
        </p:nvSpPr>
        <p:spPr>
          <a:xfrm>
            <a:off x="5047488" y="2011680"/>
            <a:ext cx="2103120" cy="384048"/>
          </a:xfrm>
          <a:prstGeom prst="roundRect">
            <a:avLst>
              <a:gd name="adj" fmla="val 33333"/>
            </a:avLst>
          </a:prstGeom>
          <a:solidFill>
            <a:srgbClr val="7B5CFF"/>
          </a:solidFill>
          <a:ln/>
        </p:spPr>
      </p:sp>
      <p:sp>
        <p:nvSpPr>
          <p:cNvPr id="22" name="Shape 20"/>
          <p:cNvSpPr/>
          <p:nvPr/>
        </p:nvSpPr>
        <p:spPr>
          <a:xfrm>
            <a:off x="5047488" y="2231136"/>
            <a:ext cx="2103120" cy="164592"/>
          </a:xfrm>
          <a:prstGeom prst="rect">
            <a:avLst/>
          </a:prstGeom>
          <a:solidFill>
            <a:srgbClr val="7B5CFF"/>
          </a:solidFill>
          <a:ln/>
        </p:spPr>
      </p:sp>
      <p:sp>
        <p:nvSpPr>
          <p:cNvPr id="23" name="Text 21"/>
          <p:cNvSpPr txBox="1"/>
          <p:nvPr/>
        </p:nvSpPr>
        <p:spPr>
          <a:xfrm>
            <a:off x="5193792" y="2011680"/>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Especie</a:t>
            </a:r>
            <a:endParaRPr lang="en-US" sz="1100" dirty="0"/>
          </a:p>
        </p:txBody>
      </p:sp>
      <p:sp>
        <p:nvSpPr>
          <p:cNvPr id="24" name="Text 22"/>
          <p:cNvSpPr txBox="1"/>
          <p:nvPr/>
        </p:nvSpPr>
        <p:spPr>
          <a:xfrm>
            <a:off x="5193792" y="2487168"/>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Datos biológicos, código FAO y talla mínima con su tolerancia.</a:t>
            </a:r>
            <a:endParaRPr lang="en-US" sz="1050" dirty="0"/>
          </a:p>
        </p:txBody>
      </p:sp>
      <p:sp>
        <p:nvSpPr>
          <p:cNvPr id="25" name="Shape 23"/>
          <p:cNvSpPr/>
          <p:nvPr/>
        </p:nvSpPr>
        <p:spPr>
          <a:xfrm>
            <a:off x="5157216" y="3200400"/>
            <a:ext cx="1883664" cy="713232"/>
          </a:xfrm>
          <a:prstGeom prst="roundRect">
            <a:avLst>
              <a:gd name="adj" fmla="val 10256"/>
            </a:avLst>
          </a:prstGeom>
          <a:solidFill>
            <a:srgbClr val="E2F8EF"/>
          </a:solidFill>
          <a:ln/>
        </p:spPr>
      </p:sp>
      <p:sp>
        <p:nvSpPr>
          <p:cNvPr id="26" name="Text 24"/>
          <p:cNvSpPr txBox="1"/>
          <p:nvPr/>
        </p:nvSpPr>
        <p:spPr>
          <a:xfrm>
            <a:off x="5248656" y="3227832"/>
            <a:ext cx="1737360" cy="658368"/>
          </a:xfrm>
          <a:prstGeom prst="rect">
            <a:avLst/>
          </a:prstGeom>
          <a:noFill/>
          <a:ln/>
        </p:spPr>
        <p:txBody>
          <a:bodyPr wrap="square" lIns="0" tIns="0" rIns="0" bIns="0" rtlCol="0" anchor="ctr"/>
          <a:lstStyle/>
          <a:p>
            <a:pPr indent="0" marL="0">
              <a:buNone/>
            </a:pPr>
            <a:r>
              <a:rPr lang="en-US" sz="850" b="1" dirty="0">
                <a:solidFill>
                  <a:srgbClr val="7B5CFF"/>
                </a:solidFill>
                <a:latin typeface="Open Sans" pitchFamily="34" charset="0"/>
                <a:ea typeface="Open Sans" pitchFamily="34" charset="-122"/>
                <a:cs typeface="Open Sans" pitchFamily="34" charset="-120"/>
              </a:rPr>
              <a:t>—</a:t>
            </a:r>
            <a:endParaRPr lang="en-US" sz="850" dirty="0"/>
          </a:p>
        </p:txBody>
      </p:sp>
      <p:sp>
        <p:nvSpPr>
          <p:cNvPr id="27" name="Shape 25"/>
          <p:cNvSpPr/>
          <p:nvPr/>
        </p:nvSpPr>
        <p:spPr>
          <a:xfrm>
            <a:off x="7296912" y="2011680"/>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8" name="Shape 26"/>
          <p:cNvSpPr/>
          <p:nvPr/>
        </p:nvSpPr>
        <p:spPr>
          <a:xfrm>
            <a:off x="7296912" y="2011680"/>
            <a:ext cx="2103120" cy="384048"/>
          </a:xfrm>
          <a:prstGeom prst="roundRect">
            <a:avLst>
              <a:gd name="adj" fmla="val 33333"/>
            </a:avLst>
          </a:prstGeom>
          <a:solidFill>
            <a:srgbClr val="7B5CFF"/>
          </a:solidFill>
          <a:ln/>
        </p:spPr>
      </p:sp>
      <p:sp>
        <p:nvSpPr>
          <p:cNvPr id="29" name="Shape 27"/>
          <p:cNvSpPr/>
          <p:nvPr/>
        </p:nvSpPr>
        <p:spPr>
          <a:xfrm>
            <a:off x="7296912" y="2231136"/>
            <a:ext cx="2103120" cy="164592"/>
          </a:xfrm>
          <a:prstGeom prst="rect">
            <a:avLst/>
          </a:prstGeom>
          <a:solidFill>
            <a:srgbClr val="7B5CFF"/>
          </a:solidFill>
          <a:ln/>
        </p:spPr>
      </p:sp>
      <p:sp>
        <p:nvSpPr>
          <p:cNvPr id="30" name="Text 28"/>
          <p:cNvSpPr txBox="1"/>
          <p:nvPr/>
        </p:nvSpPr>
        <p:spPr>
          <a:xfrm>
            <a:off x="7443216" y="2011680"/>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Veda</a:t>
            </a:r>
            <a:endParaRPr lang="en-US" sz="1100" dirty="0"/>
          </a:p>
        </p:txBody>
      </p:sp>
      <p:sp>
        <p:nvSpPr>
          <p:cNvPr id="31" name="Text 29"/>
          <p:cNvSpPr txBox="1"/>
          <p:nvPr/>
        </p:nvSpPr>
        <p:spPr>
          <a:xfrm>
            <a:off x="7443216" y="2487168"/>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Prohibición temporal por especie y zona.</a:t>
            </a:r>
            <a:endParaRPr lang="en-US" sz="1050" dirty="0"/>
          </a:p>
        </p:txBody>
      </p:sp>
      <p:sp>
        <p:nvSpPr>
          <p:cNvPr id="32" name="Shape 30"/>
          <p:cNvSpPr/>
          <p:nvPr/>
        </p:nvSpPr>
        <p:spPr>
          <a:xfrm>
            <a:off x="7406640" y="3200400"/>
            <a:ext cx="1883664" cy="713232"/>
          </a:xfrm>
          <a:prstGeom prst="roundRect">
            <a:avLst>
              <a:gd name="adj" fmla="val 10256"/>
            </a:avLst>
          </a:prstGeom>
          <a:solidFill>
            <a:srgbClr val="E2F8EF"/>
          </a:solidFill>
          <a:ln/>
        </p:spPr>
      </p:sp>
      <p:sp>
        <p:nvSpPr>
          <p:cNvPr id="33" name="Text 31"/>
          <p:cNvSpPr txBox="1"/>
          <p:nvPr/>
        </p:nvSpPr>
        <p:spPr>
          <a:xfrm>
            <a:off x="7498080" y="3227832"/>
            <a:ext cx="1737360" cy="658368"/>
          </a:xfrm>
          <a:prstGeom prst="rect">
            <a:avLst/>
          </a:prstGeom>
          <a:noFill/>
          <a:ln/>
        </p:spPr>
        <p:txBody>
          <a:bodyPr wrap="square" lIns="0" tIns="0" rIns="0" bIns="0" rtlCol="0" anchor="ctr"/>
          <a:lstStyle/>
          <a:p>
            <a:pPr indent="0" marL="0">
              <a:buNone/>
            </a:pPr>
            <a:r>
              <a:rPr lang="en-US" sz="850" b="1" dirty="0">
                <a:solidFill>
                  <a:srgbClr val="7B5CFF"/>
                </a:solidFill>
                <a:latin typeface="Open Sans" pitchFamily="34" charset="0"/>
                <a:ea typeface="Open Sans" pitchFamily="34" charset="-122"/>
                <a:cs typeface="Open Sans" pitchFamily="34" charset="-120"/>
              </a:rPr>
              <a:t>aplica(especie, zona, fecha)</a:t>
            </a:r>
            <a:endParaRPr lang="en-US" sz="850" dirty="0"/>
          </a:p>
        </p:txBody>
      </p:sp>
      <p:sp>
        <p:nvSpPr>
          <p:cNvPr id="34" name="Shape 32"/>
          <p:cNvSpPr/>
          <p:nvPr/>
        </p:nvSpPr>
        <p:spPr>
          <a:xfrm>
            <a:off x="9546336" y="2011680"/>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5" name="Shape 33"/>
          <p:cNvSpPr/>
          <p:nvPr/>
        </p:nvSpPr>
        <p:spPr>
          <a:xfrm>
            <a:off x="9546336" y="2011680"/>
            <a:ext cx="2103120" cy="384048"/>
          </a:xfrm>
          <a:prstGeom prst="roundRect">
            <a:avLst>
              <a:gd name="adj" fmla="val 33333"/>
            </a:avLst>
          </a:prstGeom>
          <a:solidFill>
            <a:srgbClr val="0B1E4F"/>
          </a:solidFill>
          <a:ln/>
        </p:spPr>
      </p:sp>
      <p:sp>
        <p:nvSpPr>
          <p:cNvPr id="36" name="Shape 34"/>
          <p:cNvSpPr/>
          <p:nvPr/>
        </p:nvSpPr>
        <p:spPr>
          <a:xfrm>
            <a:off x="9546336" y="2231136"/>
            <a:ext cx="2103120" cy="164592"/>
          </a:xfrm>
          <a:prstGeom prst="rect">
            <a:avLst/>
          </a:prstGeom>
          <a:solidFill>
            <a:srgbClr val="0B1E4F"/>
          </a:solidFill>
          <a:ln/>
        </p:spPr>
      </p:sp>
      <p:sp>
        <p:nvSpPr>
          <p:cNvPr id="37" name="Text 35"/>
          <p:cNvSpPr txBox="1"/>
          <p:nvPr/>
        </p:nvSpPr>
        <p:spPr>
          <a:xfrm>
            <a:off x="9692640" y="2011680"/>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Usuario</a:t>
            </a:r>
            <a:endParaRPr lang="en-US" sz="1100" dirty="0"/>
          </a:p>
        </p:txBody>
      </p:sp>
      <p:sp>
        <p:nvSpPr>
          <p:cNvPr id="38" name="Text 36"/>
          <p:cNvSpPr txBox="1"/>
          <p:nvPr/>
        </p:nvSpPr>
        <p:spPr>
          <a:xfrm>
            <a:off x="9692640" y="2487168"/>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Persona autenticada con un rol.</a:t>
            </a:r>
            <a:endParaRPr lang="en-US" sz="1050" dirty="0"/>
          </a:p>
        </p:txBody>
      </p:sp>
      <p:sp>
        <p:nvSpPr>
          <p:cNvPr id="39" name="Shape 37"/>
          <p:cNvSpPr/>
          <p:nvPr/>
        </p:nvSpPr>
        <p:spPr>
          <a:xfrm>
            <a:off x="9656064" y="3200400"/>
            <a:ext cx="1883664" cy="713232"/>
          </a:xfrm>
          <a:prstGeom prst="roundRect">
            <a:avLst>
              <a:gd name="adj" fmla="val 10256"/>
            </a:avLst>
          </a:prstGeom>
          <a:solidFill>
            <a:srgbClr val="E2F8EF"/>
          </a:solidFill>
          <a:ln/>
        </p:spPr>
      </p:sp>
      <p:sp>
        <p:nvSpPr>
          <p:cNvPr id="40" name="Text 38"/>
          <p:cNvSpPr txBox="1"/>
          <p:nvPr/>
        </p:nvSpPr>
        <p:spPr>
          <a:xfrm>
            <a:off x="9747504" y="3227832"/>
            <a:ext cx="1737360" cy="658368"/>
          </a:xfrm>
          <a:prstGeom prst="rect">
            <a:avLst/>
          </a:prstGeom>
          <a:noFill/>
          <a:ln/>
        </p:spPr>
        <p:txBody>
          <a:bodyPr wrap="square" lIns="0" tIns="0" rIns="0" bIns="0" rtlCol="0" anchor="ctr"/>
          <a:lstStyle/>
          <a:p>
            <a:pPr indent="0" marL="0">
              <a:buNone/>
            </a:pPr>
            <a:r>
              <a:rPr lang="en-US" sz="850" b="1" dirty="0">
                <a:solidFill>
                  <a:srgbClr val="0839C4"/>
                </a:solidFill>
                <a:latin typeface="Open Sans" pitchFamily="34" charset="0"/>
                <a:ea typeface="Open Sans" pitchFamily="34" charset="-122"/>
                <a:cs typeface="Open Sans" pitchFamily="34" charset="-120"/>
              </a:rPr>
              <a:t>autenticar(pin, otp)</a:t>
            </a:r>
            <a:endParaRPr lang="en-US" sz="850" dirty="0"/>
          </a:p>
        </p:txBody>
      </p:sp>
      <p:sp>
        <p:nvSpPr>
          <p:cNvPr id="41" name="Shape 39"/>
          <p:cNvSpPr/>
          <p:nvPr/>
        </p:nvSpPr>
        <p:spPr>
          <a:xfrm>
            <a:off x="548640" y="4142232"/>
            <a:ext cx="2103120" cy="1993392"/>
          </a:xfrm>
          <a:prstGeom prst="roundRect">
            <a:avLst>
              <a:gd name="adj" fmla="val 6422"/>
            </a:avLst>
          </a:prstGeom>
          <a:solidFill>
            <a:srgbClr val="FFFFFF"/>
          </a:solidFill>
          <a:ln w="19050">
            <a:solidFill>
              <a:srgbClr val="0B1E4F"/>
            </a:solidFill>
            <a:prstDash val="solid"/>
          </a:ln>
          <a:effectLst>
            <a:outerShdw sx="100000" sy="100000" kx="0" ky="0" algn="bl" rotWithShape="0" blurRad="177800" dist="38100" dir="5400000">
              <a:srgbClr val="0B1E4F">
                <a:alpha val="10000"/>
              </a:srgbClr>
            </a:outerShdw>
          </a:effectLst>
        </p:spPr>
      </p:sp>
      <p:sp>
        <p:nvSpPr>
          <p:cNvPr id="42" name="Shape 40"/>
          <p:cNvSpPr/>
          <p:nvPr/>
        </p:nvSpPr>
        <p:spPr>
          <a:xfrm>
            <a:off x="548640" y="4142232"/>
            <a:ext cx="2103120" cy="384048"/>
          </a:xfrm>
          <a:prstGeom prst="roundRect">
            <a:avLst>
              <a:gd name="adj" fmla="val 33333"/>
            </a:avLst>
          </a:prstGeom>
          <a:solidFill>
            <a:srgbClr val="0B1E4F"/>
          </a:solidFill>
          <a:ln/>
        </p:spPr>
      </p:sp>
      <p:sp>
        <p:nvSpPr>
          <p:cNvPr id="43" name="Shape 41"/>
          <p:cNvSpPr/>
          <p:nvPr/>
        </p:nvSpPr>
        <p:spPr>
          <a:xfrm>
            <a:off x="548640" y="4361688"/>
            <a:ext cx="2103120" cy="164592"/>
          </a:xfrm>
          <a:prstGeom prst="rect">
            <a:avLst/>
          </a:prstGeom>
          <a:solidFill>
            <a:srgbClr val="0B1E4F"/>
          </a:solidFill>
          <a:ln/>
        </p:spPr>
      </p:sp>
      <p:sp>
        <p:nvSpPr>
          <p:cNvPr id="44" name="Text 42"/>
          <p:cNvSpPr txBox="1"/>
          <p:nvPr/>
        </p:nvSpPr>
        <p:spPr>
          <a:xfrm>
            <a:off x="694944" y="4142232"/>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Desembarque</a:t>
            </a:r>
            <a:endParaRPr lang="en-US" sz="1100" dirty="0"/>
          </a:p>
        </p:txBody>
      </p:sp>
      <p:sp>
        <p:nvSpPr>
          <p:cNvPr id="45" name="Text 43"/>
          <p:cNvSpPr txBox="1"/>
          <p:nvPr/>
        </p:nvSpPr>
        <p:spPr>
          <a:xfrm>
            <a:off x="694944" y="4617720"/>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Evento central: agrega detalles, recibe la validación y emite la constancia.</a:t>
            </a:r>
            <a:endParaRPr lang="en-US" sz="1050" dirty="0"/>
          </a:p>
        </p:txBody>
      </p:sp>
      <p:sp>
        <p:nvSpPr>
          <p:cNvPr id="46" name="Shape 44"/>
          <p:cNvSpPr/>
          <p:nvPr/>
        </p:nvSpPr>
        <p:spPr>
          <a:xfrm>
            <a:off x="658368" y="5330952"/>
            <a:ext cx="1883664" cy="713232"/>
          </a:xfrm>
          <a:prstGeom prst="roundRect">
            <a:avLst>
              <a:gd name="adj" fmla="val 10256"/>
            </a:avLst>
          </a:prstGeom>
          <a:solidFill>
            <a:srgbClr val="E2F8EF"/>
          </a:solidFill>
          <a:ln/>
        </p:spPr>
      </p:sp>
      <p:sp>
        <p:nvSpPr>
          <p:cNvPr id="47" name="Text 45"/>
          <p:cNvSpPr txBox="1"/>
          <p:nvPr/>
        </p:nvSpPr>
        <p:spPr>
          <a:xfrm>
            <a:off x="749808" y="5358384"/>
            <a:ext cx="1737360" cy="658368"/>
          </a:xfrm>
          <a:prstGeom prst="rect">
            <a:avLst/>
          </a:prstGeom>
          <a:noFill/>
          <a:ln/>
        </p:spPr>
        <p:txBody>
          <a:bodyPr wrap="square" lIns="0" tIns="0" rIns="0" bIns="0" rtlCol="0" anchor="ctr"/>
          <a:lstStyle/>
          <a:p>
            <a:pPr indent="0" marL="0">
              <a:buNone/>
            </a:pPr>
            <a:r>
              <a:rPr lang="en-US" sz="850" b="1" dirty="0">
                <a:solidFill>
                  <a:srgbClr val="0839C4"/>
                </a:solidFill>
                <a:latin typeface="Open Sans" pitchFamily="34" charset="0"/>
                <a:ea typeface="Open Sans" pitchFamily="34" charset="-122"/>
                <a:cs typeface="Open Sans" pitchFamily="34" charset="-120"/>
              </a:rPr>
              <a:t>agregarDetalle() · pesoTotalKg()</a:t>
            </a:r>
            <a:endParaRPr lang="en-US" sz="850" dirty="0"/>
          </a:p>
          <a:p>
            <a:pPr indent="0" marL="0">
              <a:buNone/>
            </a:pPr>
            <a:r>
              <a:rPr lang="en-US" sz="850" b="1" dirty="0">
                <a:solidFill>
                  <a:srgbClr val="0839C4"/>
                </a:solidFill>
                <a:latin typeface="Open Sans" pitchFamily="34" charset="0"/>
                <a:ea typeface="Open Sans" pitchFamily="34" charset="-122"/>
                <a:cs typeface="Open Sans" pitchFamily="34" charset="-120"/>
              </a:rPr>
              <a:t>aplicarValidacion() · emitir()</a:t>
            </a:r>
            <a:endParaRPr lang="en-US" sz="850" dirty="0"/>
          </a:p>
          <a:p>
            <a:pPr indent="0" marL="0">
              <a:buNone/>
            </a:pPr>
            <a:r>
              <a:rPr lang="en-US" sz="850" b="1" dirty="0">
                <a:solidFill>
                  <a:srgbClr val="0839C4"/>
                </a:solidFill>
                <a:latin typeface="Open Sans" pitchFamily="34" charset="0"/>
                <a:ea typeface="Open Sans" pitchFamily="34" charset="-122"/>
                <a:cs typeface="Open Sans" pitchFamily="34" charset="-120"/>
              </a:rPr>
              <a:t>anular()</a:t>
            </a:r>
            <a:endParaRPr lang="en-US" sz="850" dirty="0"/>
          </a:p>
        </p:txBody>
      </p:sp>
      <p:sp>
        <p:nvSpPr>
          <p:cNvPr id="48" name="Shape 46"/>
          <p:cNvSpPr/>
          <p:nvPr/>
        </p:nvSpPr>
        <p:spPr>
          <a:xfrm>
            <a:off x="2798064" y="4142232"/>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9" name="Shape 47"/>
          <p:cNvSpPr/>
          <p:nvPr/>
        </p:nvSpPr>
        <p:spPr>
          <a:xfrm>
            <a:off x="2798064" y="4142232"/>
            <a:ext cx="2103120" cy="384048"/>
          </a:xfrm>
          <a:prstGeom prst="roundRect">
            <a:avLst>
              <a:gd name="adj" fmla="val 33333"/>
            </a:avLst>
          </a:prstGeom>
          <a:solidFill>
            <a:srgbClr val="0B9468"/>
          </a:solidFill>
          <a:ln/>
        </p:spPr>
      </p:sp>
      <p:sp>
        <p:nvSpPr>
          <p:cNvPr id="50" name="Shape 48"/>
          <p:cNvSpPr/>
          <p:nvPr/>
        </p:nvSpPr>
        <p:spPr>
          <a:xfrm>
            <a:off x="2798064" y="4361688"/>
            <a:ext cx="2103120" cy="164592"/>
          </a:xfrm>
          <a:prstGeom prst="rect">
            <a:avLst/>
          </a:prstGeom>
          <a:solidFill>
            <a:srgbClr val="0B9468"/>
          </a:solidFill>
          <a:ln/>
        </p:spPr>
      </p:sp>
      <p:sp>
        <p:nvSpPr>
          <p:cNvPr id="51" name="Text 49"/>
          <p:cNvSpPr txBox="1"/>
          <p:nvPr/>
        </p:nvSpPr>
        <p:spPr>
          <a:xfrm>
            <a:off x="2944368" y="4142232"/>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DetalleDesembarque</a:t>
            </a:r>
            <a:endParaRPr lang="en-US" sz="1100" dirty="0"/>
          </a:p>
        </p:txBody>
      </p:sp>
      <p:sp>
        <p:nvSpPr>
          <p:cNvPr id="52" name="Text 50"/>
          <p:cNvSpPr txBox="1"/>
          <p:nvPr/>
        </p:nvSpPr>
        <p:spPr>
          <a:xfrm>
            <a:off x="2944368" y="4617720"/>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Kilos por especie y su reparto en lotes.</a:t>
            </a:r>
            <a:endParaRPr lang="en-US" sz="1050" dirty="0"/>
          </a:p>
        </p:txBody>
      </p:sp>
      <p:sp>
        <p:nvSpPr>
          <p:cNvPr id="53" name="Shape 51"/>
          <p:cNvSpPr/>
          <p:nvPr/>
        </p:nvSpPr>
        <p:spPr>
          <a:xfrm>
            <a:off x="2907792" y="5330952"/>
            <a:ext cx="1883664" cy="713232"/>
          </a:xfrm>
          <a:prstGeom prst="roundRect">
            <a:avLst>
              <a:gd name="adj" fmla="val 10256"/>
            </a:avLst>
          </a:prstGeom>
          <a:solidFill>
            <a:srgbClr val="E2F8EF"/>
          </a:solidFill>
          <a:ln/>
        </p:spPr>
      </p:sp>
      <p:sp>
        <p:nvSpPr>
          <p:cNvPr id="54" name="Text 52"/>
          <p:cNvSpPr txBox="1"/>
          <p:nvPr/>
        </p:nvSpPr>
        <p:spPr>
          <a:xfrm>
            <a:off x="2999232" y="5358384"/>
            <a:ext cx="1737360" cy="658368"/>
          </a:xfrm>
          <a:prstGeom prst="rect">
            <a:avLst/>
          </a:prstGeom>
          <a:noFill/>
          <a:ln/>
        </p:spPr>
        <p:txBody>
          <a:bodyPr wrap="square" lIns="0" tIns="0" rIns="0" bIns="0" rtlCol="0" anchor="ctr"/>
          <a:lstStyle/>
          <a:p>
            <a:pPr indent="0" marL="0">
              <a:buNone/>
            </a:pPr>
            <a:r>
              <a:rPr lang="en-US" sz="850" b="1" dirty="0">
                <a:solidFill>
                  <a:srgbClr val="0B9468"/>
                </a:solidFill>
                <a:latin typeface="Open Sans" pitchFamily="34" charset="0"/>
                <a:ea typeface="Open Sans" pitchFamily="34" charset="-122"/>
                <a:cs typeface="Open Sans" pitchFamily="34" charset="-120"/>
              </a:rPr>
              <a:t>saldoPendienteKg()</a:t>
            </a:r>
            <a:endParaRPr lang="en-US" sz="850" dirty="0"/>
          </a:p>
        </p:txBody>
      </p:sp>
      <p:sp>
        <p:nvSpPr>
          <p:cNvPr id="55" name="Shape 53"/>
          <p:cNvSpPr/>
          <p:nvPr/>
        </p:nvSpPr>
        <p:spPr>
          <a:xfrm>
            <a:off x="5047488" y="4142232"/>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6" name="Shape 54"/>
          <p:cNvSpPr/>
          <p:nvPr/>
        </p:nvSpPr>
        <p:spPr>
          <a:xfrm>
            <a:off x="5047488" y="4142232"/>
            <a:ext cx="2103120" cy="384048"/>
          </a:xfrm>
          <a:prstGeom prst="roundRect">
            <a:avLst>
              <a:gd name="adj" fmla="val 33333"/>
            </a:avLst>
          </a:prstGeom>
          <a:solidFill>
            <a:srgbClr val="0B9468"/>
          </a:solidFill>
          <a:ln/>
        </p:spPr>
      </p:sp>
      <p:sp>
        <p:nvSpPr>
          <p:cNvPr id="57" name="Shape 55"/>
          <p:cNvSpPr/>
          <p:nvPr/>
        </p:nvSpPr>
        <p:spPr>
          <a:xfrm>
            <a:off x="5047488" y="4361688"/>
            <a:ext cx="2103120" cy="164592"/>
          </a:xfrm>
          <a:prstGeom prst="rect">
            <a:avLst/>
          </a:prstGeom>
          <a:solidFill>
            <a:srgbClr val="0B9468"/>
          </a:solidFill>
          <a:ln/>
        </p:spPr>
      </p:sp>
      <p:sp>
        <p:nvSpPr>
          <p:cNvPr id="58" name="Text 56"/>
          <p:cNvSpPr txBox="1"/>
          <p:nvPr/>
        </p:nvSpPr>
        <p:spPr>
          <a:xfrm>
            <a:off x="5193792" y="4142232"/>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MuestreoTalla</a:t>
            </a:r>
            <a:endParaRPr lang="en-US" sz="1100" dirty="0"/>
          </a:p>
        </p:txBody>
      </p:sp>
      <p:sp>
        <p:nvSpPr>
          <p:cNvPr id="59" name="Text 57"/>
          <p:cNvSpPr txBox="1"/>
          <p:nvPr/>
        </p:nvSpPr>
        <p:spPr>
          <a:xfrm>
            <a:off x="5193792" y="4617720"/>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Tallas de una muestra de ejemplares.</a:t>
            </a:r>
            <a:endParaRPr lang="en-US" sz="1050" dirty="0"/>
          </a:p>
        </p:txBody>
      </p:sp>
      <p:sp>
        <p:nvSpPr>
          <p:cNvPr id="60" name="Shape 58"/>
          <p:cNvSpPr/>
          <p:nvPr/>
        </p:nvSpPr>
        <p:spPr>
          <a:xfrm>
            <a:off x="5157216" y="5330952"/>
            <a:ext cx="1883664" cy="713232"/>
          </a:xfrm>
          <a:prstGeom prst="roundRect">
            <a:avLst>
              <a:gd name="adj" fmla="val 10256"/>
            </a:avLst>
          </a:prstGeom>
          <a:solidFill>
            <a:srgbClr val="E2F8EF"/>
          </a:solidFill>
          <a:ln/>
        </p:spPr>
      </p:sp>
      <p:sp>
        <p:nvSpPr>
          <p:cNvPr id="61" name="Text 59"/>
          <p:cNvSpPr txBox="1"/>
          <p:nvPr/>
        </p:nvSpPr>
        <p:spPr>
          <a:xfrm>
            <a:off x="5248656" y="5358384"/>
            <a:ext cx="1737360" cy="658368"/>
          </a:xfrm>
          <a:prstGeom prst="rect">
            <a:avLst/>
          </a:prstGeom>
          <a:noFill/>
          <a:ln/>
        </p:spPr>
        <p:txBody>
          <a:bodyPr wrap="square" lIns="0" tIns="0" rIns="0" bIns="0" rtlCol="0" anchor="ctr"/>
          <a:lstStyle/>
          <a:p>
            <a:pPr indent="0" marL="0">
              <a:buNone/>
            </a:pPr>
            <a:r>
              <a:rPr lang="en-US" sz="850" b="1" dirty="0">
                <a:solidFill>
                  <a:srgbClr val="0B9468"/>
                </a:solidFill>
                <a:latin typeface="Open Sans" pitchFamily="34" charset="0"/>
                <a:ea typeface="Open Sans" pitchFamily="34" charset="-122"/>
                <a:cs typeface="Open Sans" pitchFamily="34" charset="-120"/>
              </a:rPr>
              <a:t>porcentajeBajo(tmc)</a:t>
            </a:r>
            <a:endParaRPr lang="en-US" sz="850" dirty="0"/>
          </a:p>
        </p:txBody>
      </p:sp>
      <p:sp>
        <p:nvSpPr>
          <p:cNvPr id="62" name="Shape 60"/>
          <p:cNvSpPr/>
          <p:nvPr/>
        </p:nvSpPr>
        <p:spPr>
          <a:xfrm>
            <a:off x="7296912" y="4142232"/>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3" name="Shape 61"/>
          <p:cNvSpPr/>
          <p:nvPr/>
        </p:nvSpPr>
        <p:spPr>
          <a:xfrm>
            <a:off x="7296912" y="4142232"/>
            <a:ext cx="2103120" cy="384048"/>
          </a:xfrm>
          <a:prstGeom prst="roundRect">
            <a:avLst>
              <a:gd name="adj" fmla="val 33333"/>
            </a:avLst>
          </a:prstGeom>
          <a:solidFill>
            <a:srgbClr val="0B9468"/>
          </a:solidFill>
          <a:ln/>
        </p:spPr>
      </p:sp>
      <p:sp>
        <p:nvSpPr>
          <p:cNvPr id="64" name="Shape 62"/>
          <p:cNvSpPr/>
          <p:nvPr/>
        </p:nvSpPr>
        <p:spPr>
          <a:xfrm>
            <a:off x="7296912" y="4361688"/>
            <a:ext cx="2103120" cy="164592"/>
          </a:xfrm>
          <a:prstGeom prst="rect">
            <a:avLst/>
          </a:prstGeom>
          <a:solidFill>
            <a:srgbClr val="0B9468"/>
          </a:solidFill>
          <a:ln/>
        </p:spPr>
      </p:sp>
      <p:sp>
        <p:nvSpPr>
          <p:cNvPr id="65" name="Text 63"/>
          <p:cNvSpPr txBox="1"/>
          <p:nvPr/>
        </p:nvSpPr>
        <p:spPr>
          <a:xfrm>
            <a:off x="7443216" y="4142232"/>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LoteDestino</a:t>
            </a:r>
            <a:endParaRPr lang="en-US" sz="1100" dirty="0"/>
          </a:p>
        </p:txBody>
      </p:sp>
      <p:sp>
        <p:nvSpPr>
          <p:cNvPr id="66" name="Text 64"/>
          <p:cNvSpPr txBox="1"/>
          <p:nvPr/>
        </p:nvSpPr>
        <p:spPr>
          <a:xfrm>
            <a:off x="7443216" y="4617720"/>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Kilos entregados a un comprador y su recepción.</a:t>
            </a:r>
            <a:endParaRPr lang="en-US" sz="1050" dirty="0"/>
          </a:p>
        </p:txBody>
      </p:sp>
      <p:sp>
        <p:nvSpPr>
          <p:cNvPr id="67" name="Shape 65"/>
          <p:cNvSpPr/>
          <p:nvPr/>
        </p:nvSpPr>
        <p:spPr>
          <a:xfrm>
            <a:off x="7406640" y="5330952"/>
            <a:ext cx="1883664" cy="713232"/>
          </a:xfrm>
          <a:prstGeom prst="roundRect">
            <a:avLst>
              <a:gd name="adj" fmla="val 10256"/>
            </a:avLst>
          </a:prstGeom>
          <a:solidFill>
            <a:srgbClr val="E2F8EF"/>
          </a:solidFill>
          <a:ln/>
        </p:spPr>
      </p:sp>
      <p:sp>
        <p:nvSpPr>
          <p:cNvPr id="68" name="Text 66"/>
          <p:cNvSpPr txBox="1"/>
          <p:nvPr/>
        </p:nvSpPr>
        <p:spPr>
          <a:xfrm>
            <a:off x="7498080" y="5358384"/>
            <a:ext cx="1737360" cy="658368"/>
          </a:xfrm>
          <a:prstGeom prst="rect">
            <a:avLst/>
          </a:prstGeom>
          <a:noFill/>
          <a:ln/>
        </p:spPr>
        <p:txBody>
          <a:bodyPr wrap="square" lIns="0" tIns="0" rIns="0" bIns="0" rtlCol="0" anchor="ctr"/>
          <a:lstStyle/>
          <a:p>
            <a:pPr indent="0" marL="0">
              <a:buNone/>
            </a:pPr>
            <a:r>
              <a:rPr lang="en-US" sz="850" b="1" dirty="0">
                <a:solidFill>
                  <a:srgbClr val="0B9468"/>
                </a:solidFill>
                <a:latin typeface="Open Sans" pitchFamily="34" charset="0"/>
                <a:ea typeface="Open Sans" pitchFamily="34" charset="-122"/>
                <a:cs typeface="Open Sans" pitchFamily="34" charset="-120"/>
              </a:rPr>
              <a:t>confirmarRecepcion(usuario)</a:t>
            </a:r>
            <a:endParaRPr lang="en-US" sz="850" dirty="0"/>
          </a:p>
        </p:txBody>
      </p:sp>
      <p:sp>
        <p:nvSpPr>
          <p:cNvPr id="69" name="Shape 67"/>
          <p:cNvSpPr/>
          <p:nvPr/>
        </p:nvSpPr>
        <p:spPr>
          <a:xfrm>
            <a:off x="9546336" y="4142232"/>
            <a:ext cx="2103120" cy="1993392"/>
          </a:xfrm>
          <a:prstGeom prst="roundRect">
            <a:avLst>
              <a:gd name="adj" fmla="val 642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0" name="Shape 68"/>
          <p:cNvSpPr/>
          <p:nvPr/>
        </p:nvSpPr>
        <p:spPr>
          <a:xfrm>
            <a:off x="9546336" y="4142232"/>
            <a:ext cx="2103120" cy="384048"/>
          </a:xfrm>
          <a:prstGeom prst="roundRect">
            <a:avLst>
              <a:gd name="adj" fmla="val 33333"/>
            </a:avLst>
          </a:prstGeom>
          <a:solidFill>
            <a:srgbClr val="0B9468"/>
          </a:solidFill>
          <a:ln/>
        </p:spPr>
      </p:sp>
      <p:sp>
        <p:nvSpPr>
          <p:cNvPr id="71" name="Shape 69"/>
          <p:cNvSpPr/>
          <p:nvPr/>
        </p:nvSpPr>
        <p:spPr>
          <a:xfrm>
            <a:off x="9546336" y="4361688"/>
            <a:ext cx="2103120" cy="164592"/>
          </a:xfrm>
          <a:prstGeom prst="rect">
            <a:avLst/>
          </a:prstGeom>
          <a:solidFill>
            <a:srgbClr val="0B9468"/>
          </a:solidFill>
          <a:ln/>
        </p:spPr>
      </p:sp>
      <p:sp>
        <p:nvSpPr>
          <p:cNvPr id="72" name="Text 70"/>
          <p:cNvSpPr txBox="1"/>
          <p:nvPr/>
        </p:nvSpPr>
        <p:spPr>
          <a:xfrm>
            <a:off x="9692640" y="4142232"/>
            <a:ext cx="1828800"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Constancia</a:t>
            </a:r>
            <a:endParaRPr lang="en-US" sz="1100" dirty="0"/>
          </a:p>
        </p:txBody>
      </p:sp>
      <p:sp>
        <p:nvSpPr>
          <p:cNvPr id="73" name="Text 71"/>
          <p:cNvSpPr txBox="1"/>
          <p:nvPr/>
        </p:nvSpPr>
        <p:spPr>
          <a:xfrm>
            <a:off x="9692640" y="4617720"/>
            <a:ext cx="1828800" cy="685800"/>
          </a:xfrm>
          <a:prstGeom prst="rect">
            <a:avLst/>
          </a:prstGeom>
          <a:noFill/>
          <a:ln/>
        </p:spPr>
        <p:txBody>
          <a:bodyPr wrap="square" lIns="0" tIns="0" rIns="0" bIns="0" rtlCol="0" anchor="t"/>
          <a:lstStyle/>
          <a:p>
            <a:pPr indent="0" marL="0">
              <a:buNone/>
            </a:pPr>
            <a:r>
              <a:rPr lang="en-US" sz="1050" dirty="0">
                <a:solidFill>
                  <a:srgbClr val="0E1B3D"/>
                </a:solidFill>
                <a:latin typeface="Open Sans" pitchFamily="34" charset="0"/>
                <a:ea typeface="Open Sans" pitchFamily="34" charset="-122"/>
                <a:cs typeface="Open Sans" pitchFamily="34" charset="-120"/>
              </a:rPr>
              <a:t>Documento verificable con QR y hash.</a:t>
            </a:r>
            <a:endParaRPr lang="en-US" sz="1050" dirty="0"/>
          </a:p>
        </p:txBody>
      </p:sp>
      <p:sp>
        <p:nvSpPr>
          <p:cNvPr id="74" name="Shape 72"/>
          <p:cNvSpPr/>
          <p:nvPr/>
        </p:nvSpPr>
        <p:spPr>
          <a:xfrm>
            <a:off x="9656064" y="5330952"/>
            <a:ext cx="1883664" cy="713232"/>
          </a:xfrm>
          <a:prstGeom prst="roundRect">
            <a:avLst>
              <a:gd name="adj" fmla="val 10256"/>
            </a:avLst>
          </a:prstGeom>
          <a:solidFill>
            <a:srgbClr val="E2F8EF"/>
          </a:solidFill>
          <a:ln/>
        </p:spPr>
      </p:sp>
      <p:sp>
        <p:nvSpPr>
          <p:cNvPr id="75" name="Text 73"/>
          <p:cNvSpPr txBox="1"/>
          <p:nvPr/>
        </p:nvSpPr>
        <p:spPr>
          <a:xfrm>
            <a:off x="9747504" y="5358384"/>
            <a:ext cx="1737360" cy="658368"/>
          </a:xfrm>
          <a:prstGeom prst="rect">
            <a:avLst/>
          </a:prstGeom>
          <a:noFill/>
          <a:ln/>
        </p:spPr>
        <p:txBody>
          <a:bodyPr wrap="square" lIns="0" tIns="0" rIns="0" bIns="0" rtlCol="0" anchor="ctr"/>
          <a:lstStyle/>
          <a:p>
            <a:pPr indent="0" marL="0">
              <a:buNone/>
            </a:pPr>
            <a:r>
              <a:rPr lang="en-US" sz="850" b="1" dirty="0">
                <a:solidFill>
                  <a:srgbClr val="0B9468"/>
                </a:solidFill>
                <a:latin typeface="Open Sans" pitchFamily="34" charset="0"/>
                <a:ea typeface="Open Sans" pitchFamily="34" charset="-122"/>
                <a:cs typeface="Open Sans" pitchFamily="34" charset="-120"/>
              </a:rPr>
              <a:t>generarPDF()</a:t>
            </a:r>
            <a:endParaRPr lang="en-US" sz="850" dirty="0"/>
          </a:p>
          <a:p>
            <a:pPr indent="0" marL="0">
              <a:buNone/>
            </a:pPr>
            <a:r>
              <a:rPr lang="en-US" sz="850" b="1" dirty="0">
                <a:solidFill>
                  <a:srgbClr val="0B9468"/>
                </a:solidFill>
                <a:latin typeface="Open Sans" pitchFamily="34" charset="0"/>
                <a:ea typeface="Open Sans" pitchFamily="34" charset="-122"/>
                <a:cs typeface="Open Sans" pitchFamily="34" charset="-120"/>
              </a:rPr>
              <a:t>verificar(hash)</a:t>
            </a:r>
            <a:endParaRPr lang="en-US" sz="850" dirty="0"/>
          </a:p>
        </p:txBody>
      </p:sp>
      <p:sp>
        <p:nvSpPr>
          <p:cNvPr id="76" name="Text 74"/>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77" name="Text 75"/>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10B981"/>
                </a:solidFill>
                <a:latin typeface="Montserrat" pitchFamily="34" charset="0"/>
                <a:ea typeface="Montserrat" pitchFamily="34" charset="-122"/>
                <a:cs typeface="Montserrat"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560674" cy="274320"/>
          </a:xfrm>
          <a:prstGeom prst="roundRect">
            <a:avLst>
              <a:gd name="adj" fmla="val 50000"/>
            </a:avLst>
          </a:prstGeom>
          <a:solidFill>
            <a:srgbClr val="10B981"/>
          </a:solidFill>
          <a:ln/>
        </p:spPr>
      </p:sp>
      <p:sp>
        <p:nvSpPr>
          <p:cNvPr id="3" name="Text 1"/>
          <p:cNvSpPr txBox="1"/>
          <p:nvPr/>
        </p:nvSpPr>
        <p:spPr>
          <a:xfrm>
            <a:off x="548640" y="292608"/>
            <a:ext cx="356067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4 · 4.2 MODELO DE INTERACCIÓN</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Secuencia: iniciar sesión con OTP y modo sin conexión</a:t>
            </a:r>
            <a:endParaRPr lang="en-US" sz="2400" dirty="0"/>
          </a:p>
        </p:txBody>
      </p:sp>
      <p:sp>
        <p:nvSpPr>
          <p:cNvPr id="5" name="Shape 3"/>
          <p:cNvSpPr/>
          <p:nvPr/>
        </p:nvSpPr>
        <p:spPr>
          <a:xfrm>
            <a:off x="960120" y="1170432"/>
            <a:ext cx="182880" cy="182880"/>
          </a:xfrm>
          <a:prstGeom prst="ellipse">
            <a:avLst/>
          </a:prstGeom>
          <a:solidFill>
            <a:srgbClr val="FFFFFF"/>
          </a:solidFill>
          <a:ln w="15875">
            <a:solidFill>
              <a:srgbClr val="0B1E4F"/>
            </a:solidFill>
            <a:prstDash val="solid"/>
          </a:ln>
        </p:spPr>
      </p:sp>
      <p:sp>
        <p:nvSpPr>
          <p:cNvPr id="6" name="Shape 4"/>
          <p:cNvSpPr/>
          <p:nvPr/>
        </p:nvSpPr>
        <p:spPr>
          <a:xfrm>
            <a:off x="1051560" y="1353312"/>
            <a:ext cx="914" cy="164592"/>
          </a:xfrm>
          <a:prstGeom prst="line">
            <a:avLst/>
          </a:prstGeom>
          <a:noFill/>
          <a:ln w="15875">
            <a:solidFill>
              <a:srgbClr val="0B1E4F"/>
            </a:solidFill>
            <a:prstDash val="solid"/>
          </a:ln>
        </p:spPr>
      </p:sp>
      <p:sp>
        <p:nvSpPr>
          <p:cNvPr id="7" name="Shape 5"/>
          <p:cNvSpPr/>
          <p:nvPr/>
        </p:nvSpPr>
        <p:spPr>
          <a:xfrm>
            <a:off x="914400" y="1408176"/>
            <a:ext cx="274320" cy="914"/>
          </a:xfrm>
          <a:prstGeom prst="line">
            <a:avLst/>
          </a:prstGeom>
          <a:noFill/>
          <a:ln w="15875">
            <a:solidFill>
              <a:srgbClr val="0B1E4F"/>
            </a:solidFill>
            <a:prstDash val="solid"/>
          </a:ln>
        </p:spPr>
      </p:sp>
      <p:sp>
        <p:nvSpPr>
          <p:cNvPr id="8" name="Shape 6"/>
          <p:cNvSpPr/>
          <p:nvPr/>
        </p:nvSpPr>
        <p:spPr>
          <a:xfrm flipH="1">
            <a:off x="941832" y="1517904"/>
            <a:ext cx="109728" cy="109728"/>
          </a:xfrm>
          <a:prstGeom prst="line">
            <a:avLst/>
          </a:prstGeom>
          <a:noFill/>
          <a:ln w="15875">
            <a:solidFill>
              <a:srgbClr val="0B1E4F"/>
            </a:solidFill>
            <a:prstDash val="solid"/>
          </a:ln>
        </p:spPr>
      </p:sp>
      <p:sp>
        <p:nvSpPr>
          <p:cNvPr id="9" name="Shape 7"/>
          <p:cNvSpPr/>
          <p:nvPr/>
        </p:nvSpPr>
        <p:spPr>
          <a:xfrm>
            <a:off x="1051560" y="1517904"/>
            <a:ext cx="109728" cy="109728"/>
          </a:xfrm>
          <a:prstGeom prst="line">
            <a:avLst/>
          </a:prstGeom>
          <a:noFill/>
          <a:ln w="15875">
            <a:solidFill>
              <a:srgbClr val="0B1E4F"/>
            </a:solidFill>
            <a:prstDash val="solid"/>
          </a:ln>
        </p:spPr>
      </p:sp>
      <p:sp>
        <p:nvSpPr>
          <p:cNvPr id="10" name="Text 8"/>
          <p:cNvSpPr txBox="1"/>
          <p:nvPr/>
        </p:nvSpPr>
        <p:spPr>
          <a:xfrm>
            <a:off x="402336" y="1627632"/>
            <a:ext cx="1298448" cy="182880"/>
          </a:xfrm>
          <a:prstGeom prst="rect">
            <a:avLst/>
          </a:prstGeom>
          <a:noFill/>
          <a:ln/>
        </p:spPr>
        <p:txBody>
          <a:bodyPr wrap="square" lIns="0" tIns="0" rIns="0" bIns="0" rtlCol="0" anchor="ctr"/>
          <a:lstStyle/>
          <a:p>
            <a:pPr algn="ctr" indent="0" marL="0">
              <a:buNone/>
            </a:pPr>
            <a:r>
              <a:rPr lang="en-US" sz="750" b="1" dirty="0">
                <a:solidFill>
                  <a:srgbClr val="0B1E4F"/>
                </a:solidFill>
                <a:latin typeface="Open Sans" pitchFamily="34" charset="0"/>
                <a:ea typeface="Open Sans" pitchFamily="34" charset="-122"/>
                <a:cs typeface="Open Sans" pitchFamily="34" charset="-120"/>
              </a:rPr>
              <a:t>UsuarioDPA</a:t>
            </a:r>
            <a:endParaRPr lang="en-US" sz="750" dirty="0"/>
          </a:p>
        </p:txBody>
      </p:sp>
      <p:sp>
        <p:nvSpPr>
          <p:cNvPr id="11" name="Shape 9"/>
          <p:cNvSpPr/>
          <p:nvPr/>
        </p:nvSpPr>
        <p:spPr>
          <a:xfrm>
            <a:off x="1051560" y="1828800"/>
            <a:ext cx="914" cy="4434840"/>
          </a:xfrm>
          <a:prstGeom prst="line">
            <a:avLst/>
          </a:prstGeom>
          <a:noFill/>
          <a:ln w="12700">
            <a:solidFill>
              <a:srgbClr val="A9B6CC"/>
            </a:solidFill>
            <a:prstDash val="dash"/>
          </a:ln>
        </p:spPr>
      </p:sp>
      <p:sp>
        <p:nvSpPr>
          <p:cNvPr id="12" name="Shape 10"/>
          <p:cNvSpPr/>
          <p:nvPr/>
        </p:nvSpPr>
        <p:spPr>
          <a:xfrm>
            <a:off x="1865376" y="1188720"/>
            <a:ext cx="1298448" cy="457200"/>
          </a:xfrm>
          <a:prstGeom prst="roundRect">
            <a:avLst>
              <a:gd name="adj" fmla="val 16000"/>
            </a:avLst>
          </a:prstGeom>
          <a:solidFill>
            <a:srgbClr val="0B9468"/>
          </a:solidFill>
          <a:ln/>
          <a:effectLst>
            <a:outerShdw sx="100000" sy="100000" kx="0" ky="0" algn="bl" rotWithShape="0" blurRad="177800" dist="38100" dir="5400000">
              <a:srgbClr val="0B1E4F">
                <a:alpha val="15000"/>
              </a:srgbClr>
            </a:outerShdw>
          </a:effectLst>
        </p:spPr>
      </p:sp>
      <p:sp>
        <p:nvSpPr>
          <p:cNvPr id="13" name="Text 11"/>
          <p:cNvSpPr txBox="1"/>
          <p:nvPr/>
        </p:nvSpPr>
        <p:spPr>
          <a:xfrm>
            <a:off x="1911096" y="1188720"/>
            <a:ext cx="12070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AppMóvil</a:t>
            </a:r>
            <a:endParaRPr lang="en-US" sz="800" dirty="0"/>
          </a:p>
        </p:txBody>
      </p:sp>
      <p:sp>
        <p:nvSpPr>
          <p:cNvPr id="14" name="Shape 12"/>
          <p:cNvSpPr/>
          <p:nvPr/>
        </p:nvSpPr>
        <p:spPr>
          <a:xfrm>
            <a:off x="2514600" y="1645920"/>
            <a:ext cx="914" cy="4617720"/>
          </a:xfrm>
          <a:prstGeom prst="line">
            <a:avLst/>
          </a:prstGeom>
          <a:noFill/>
          <a:ln w="12700">
            <a:solidFill>
              <a:srgbClr val="A9B6CC"/>
            </a:solidFill>
            <a:prstDash val="dash"/>
          </a:ln>
        </p:spPr>
      </p:sp>
      <p:sp>
        <p:nvSpPr>
          <p:cNvPr id="15" name="Shape 13"/>
          <p:cNvSpPr/>
          <p:nvPr/>
        </p:nvSpPr>
        <p:spPr>
          <a:xfrm>
            <a:off x="3328416" y="1188720"/>
            <a:ext cx="1298448" cy="457200"/>
          </a:xfrm>
          <a:prstGeom prst="roundRect">
            <a:avLst>
              <a:gd name="adj" fmla="val 16000"/>
            </a:avLst>
          </a:prstGeom>
          <a:solidFill>
            <a:srgbClr val="0B1E4F"/>
          </a:solidFill>
          <a:ln/>
          <a:effectLst>
            <a:outerShdw sx="100000" sy="100000" kx="0" ky="0" algn="bl" rotWithShape="0" blurRad="177800" dist="38100" dir="5400000">
              <a:srgbClr val="0B1E4F">
                <a:alpha val="15000"/>
              </a:srgbClr>
            </a:outerShdw>
          </a:effectLst>
        </p:spPr>
      </p:sp>
      <p:sp>
        <p:nvSpPr>
          <p:cNvPr id="16" name="Text 14"/>
          <p:cNvSpPr txBox="1"/>
          <p:nvPr/>
        </p:nvSpPr>
        <p:spPr>
          <a:xfrm>
            <a:off x="3374136" y="1188720"/>
            <a:ext cx="12070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BDLocal (SQLite)</a:t>
            </a:r>
            <a:endParaRPr lang="en-US" sz="800" dirty="0"/>
          </a:p>
        </p:txBody>
      </p:sp>
      <p:sp>
        <p:nvSpPr>
          <p:cNvPr id="17" name="Shape 15"/>
          <p:cNvSpPr/>
          <p:nvPr/>
        </p:nvSpPr>
        <p:spPr>
          <a:xfrm>
            <a:off x="3977640" y="1645920"/>
            <a:ext cx="914" cy="4617720"/>
          </a:xfrm>
          <a:prstGeom prst="line">
            <a:avLst/>
          </a:prstGeom>
          <a:noFill/>
          <a:ln w="12700">
            <a:solidFill>
              <a:srgbClr val="A9B6CC"/>
            </a:solidFill>
            <a:prstDash val="dash"/>
          </a:ln>
        </p:spPr>
      </p:sp>
      <p:sp>
        <p:nvSpPr>
          <p:cNvPr id="18" name="Shape 16"/>
          <p:cNvSpPr/>
          <p:nvPr/>
        </p:nvSpPr>
        <p:spPr>
          <a:xfrm>
            <a:off x="4791456" y="1188720"/>
            <a:ext cx="1298448" cy="457200"/>
          </a:xfrm>
          <a:prstGeom prst="roundRect">
            <a:avLst>
              <a:gd name="adj" fmla="val 16000"/>
            </a:avLst>
          </a:prstGeom>
          <a:solidFill>
            <a:srgbClr val="0B1E4F"/>
          </a:solidFill>
          <a:ln/>
          <a:effectLst>
            <a:outerShdw sx="100000" sy="100000" kx="0" ky="0" algn="bl" rotWithShape="0" blurRad="177800" dist="38100" dir="5400000">
              <a:srgbClr val="0B1E4F">
                <a:alpha val="15000"/>
              </a:srgbClr>
            </a:outerShdw>
          </a:effectLst>
        </p:spPr>
      </p:sp>
      <p:sp>
        <p:nvSpPr>
          <p:cNvPr id="19" name="Text 17"/>
          <p:cNvSpPr txBox="1"/>
          <p:nvPr/>
        </p:nvSpPr>
        <p:spPr>
          <a:xfrm>
            <a:off x="4837176" y="1188720"/>
            <a:ext cx="12070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APIREST</a:t>
            </a:r>
            <a:endParaRPr lang="en-US" sz="800" dirty="0"/>
          </a:p>
        </p:txBody>
      </p:sp>
      <p:sp>
        <p:nvSpPr>
          <p:cNvPr id="20" name="Shape 18"/>
          <p:cNvSpPr/>
          <p:nvPr/>
        </p:nvSpPr>
        <p:spPr>
          <a:xfrm>
            <a:off x="5440680" y="1645920"/>
            <a:ext cx="914" cy="4617720"/>
          </a:xfrm>
          <a:prstGeom prst="line">
            <a:avLst/>
          </a:prstGeom>
          <a:noFill/>
          <a:ln w="12700">
            <a:solidFill>
              <a:srgbClr val="A9B6CC"/>
            </a:solidFill>
            <a:prstDash val="dash"/>
          </a:ln>
        </p:spPr>
      </p:sp>
      <p:sp>
        <p:nvSpPr>
          <p:cNvPr id="21" name="Shape 19"/>
          <p:cNvSpPr/>
          <p:nvPr/>
        </p:nvSpPr>
        <p:spPr>
          <a:xfrm>
            <a:off x="6254496" y="1188720"/>
            <a:ext cx="1298448" cy="457200"/>
          </a:xfrm>
          <a:prstGeom prst="roundRect">
            <a:avLst>
              <a:gd name="adj" fmla="val 16000"/>
            </a:avLst>
          </a:prstGeom>
          <a:solidFill>
            <a:srgbClr val="0B1E4F"/>
          </a:solidFill>
          <a:ln/>
          <a:effectLst>
            <a:outerShdw sx="100000" sy="100000" kx="0" ky="0" algn="bl" rotWithShape="0" blurRad="177800" dist="38100" dir="5400000">
              <a:srgbClr val="0B1E4F">
                <a:alpha val="15000"/>
              </a:srgbClr>
            </a:outerShdw>
          </a:effectLst>
        </p:spPr>
      </p:sp>
      <p:sp>
        <p:nvSpPr>
          <p:cNvPr id="22" name="Text 20"/>
          <p:cNvSpPr txBox="1"/>
          <p:nvPr/>
        </p:nvSpPr>
        <p:spPr>
          <a:xfrm>
            <a:off x="6300216" y="1188720"/>
            <a:ext cx="12070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ServicioAutenticación</a:t>
            </a:r>
            <a:endParaRPr lang="en-US" sz="800" dirty="0"/>
          </a:p>
        </p:txBody>
      </p:sp>
      <p:sp>
        <p:nvSpPr>
          <p:cNvPr id="23" name="Shape 21"/>
          <p:cNvSpPr/>
          <p:nvPr/>
        </p:nvSpPr>
        <p:spPr>
          <a:xfrm>
            <a:off x="6903720" y="1645920"/>
            <a:ext cx="914" cy="4617720"/>
          </a:xfrm>
          <a:prstGeom prst="line">
            <a:avLst/>
          </a:prstGeom>
          <a:noFill/>
          <a:ln w="12700">
            <a:solidFill>
              <a:srgbClr val="A9B6CC"/>
            </a:solidFill>
            <a:prstDash val="dash"/>
          </a:ln>
        </p:spPr>
      </p:sp>
      <p:sp>
        <p:nvSpPr>
          <p:cNvPr id="24" name="Shape 22"/>
          <p:cNvSpPr/>
          <p:nvPr/>
        </p:nvSpPr>
        <p:spPr>
          <a:xfrm>
            <a:off x="7717536" y="1188720"/>
            <a:ext cx="1298448" cy="457200"/>
          </a:xfrm>
          <a:prstGeom prst="roundRect">
            <a:avLst>
              <a:gd name="adj" fmla="val 16000"/>
            </a:avLst>
          </a:prstGeom>
          <a:solidFill>
            <a:srgbClr val="5B6B8C"/>
          </a:solidFill>
          <a:ln/>
          <a:effectLst>
            <a:outerShdw sx="100000" sy="100000" kx="0" ky="0" algn="bl" rotWithShape="0" blurRad="177800" dist="38100" dir="5400000">
              <a:srgbClr val="0B1E4F">
                <a:alpha val="15000"/>
              </a:srgbClr>
            </a:outerShdw>
          </a:effectLst>
        </p:spPr>
      </p:sp>
      <p:sp>
        <p:nvSpPr>
          <p:cNvPr id="25" name="Text 23"/>
          <p:cNvSpPr txBox="1"/>
          <p:nvPr/>
        </p:nvSpPr>
        <p:spPr>
          <a:xfrm>
            <a:off x="7763256" y="1188720"/>
            <a:ext cx="12070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PasarelaSMS</a:t>
            </a:r>
            <a:endParaRPr lang="en-US" sz="800" dirty="0"/>
          </a:p>
        </p:txBody>
      </p:sp>
      <p:sp>
        <p:nvSpPr>
          <p:cNvPr id="26" name="Shape 24"/>
          <p:cNvSpPr/>
          <p:nvPr/>
        </p:nvSpPr>
        <p:spPr>
          <a:xfrm>
            <a:off x="8366760" y="1645920"/>
            <a:ext cx="914" cy="4617720"/>
          </a:xfrm>
          <a:prstGeom prst="line">
            <a:avLst/>
          </a:prstGeom>
          <a:noFill/>
          <a:ln w="12700">
            <a:solidFill>
              <a:srgbClr val="A9B6CC"/>
            </a:solidFill>
            <a:prstDash val="dash"/>
          </a:ln>
        </p:spPr>
      </p:sp>
      <p:sp>
        <p:nvSpPr>
          <p:cNvPr id="27" name="Shape 25"/>
          <p:cNvSpPr/>
          <p:nvPr/>
        </p:nvSpPr>
        <p:spPr>
          <a:xfrm>
            <a:off x="2459736" y="1920240"/>
            <a:ext cx="109728" cy="4670755"/>
          </a:xfrm>
          <a:prstGeom prst="rect">
            <a:avLst/>
          </a:prstGeom>
          <a:solidFill>
            <a:srgbClr val="E2F8EF"/>
          </a:solidFill>
          <a:ln w="9525">
            <a:solidFill>
              <a:srgbClr val="10B981"/>
            </a:solidFill>
            <a:prstDash val="solid"/>
          </a:ln>
        </p:spPr>
      </p:sp>
      <p:sp>
        <p:nvSpPr>
          <p:cNvPr id="28" name="Shape 26"/>
          <p:cNvSpPr/>
          <p:nvPr/>
        </p:nvSpPr>
        <p:spPr>
          <a:xfrm>
            <a:off x="2258568" y="2889504"/>
            <a:ext cx="6364224" cy="3655771"/>
          </a:xfrm>
          <a:prstGeom prst="rect">
            <a:avLst/>
          </a:prstGeom>
          <a:ln w="12700">
            <a:solidFill>
              <a:srgbClr val="7B5CFF"/>
            </a:solidFill>
            <a:prstDash val="solid"/>
          </a:ln>
        </p:spPr>
      </p:sp>
      <p:sp>
        <p:nvSpPr>
          <p:cNvPr id="29" name="Shape 27"/>
          <p:cNvSpPr/>
          <p:nvPr/>
        </p:nvSpPr>
        <p:spPr>
          <a:xfrm>
            <a:off x="2258568" y="2889504"/>
            <a:ext cx="329184" cy="155448"/>
          </a:xfrm>
          <a:prstGeom prst="rect">
            <a:avLst/>
          </a:prstGeom>
          <a:solidFill>
            <a:srgbClr val="7B5CFF"/>
          </a:solidFill>
          <a:ln/>
        </p:spPr>
      </p:sp>
      <p:sp>
        <p:nvSpPr>
          <p:cNvPr id="30" name="Text 28"/>
          <p:cNvSpPr txBox="1"/>
          <p:nvPr/>
        </p:nvSpPr>
        <p:spPr>
          <a:xfrm>
            <a:off x="2258568" y="2889504"/>
            <a:ext cx="32918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Open Sans" pitchFamily="34" charset="0"/>
                <a:ea typeface="Open Sans" pitchFamily="34" charset="-122"/>
                <a:cs typeface="Open Sans" pitchFamily="34" charset="-120"/>
              </a:rPr>
              <a:t>alt</a:t>
            </a:r>
            <a:endParaRPr lang="en-US" sz="750" dirty="0"/>
          </a:p>
        </p:txBody>
      </p:sp>
      <p:sp>
        <p:nvSpPr>
          <p:cNvPr id="31" name="Shape 29"/>
          <p:cNvSpPr/>
          <p:nvPr/>
        </p:nvSpPr>
        <p:spPr>
          <a:xfrm rot="5400000">
            <a:off x="2377440" y="1988820"/>
            <a:ext cx="82296" cy="82296"/>
          </a:xfrm>
          <a:prstGeom prst="triangle">
            <a:avLst/>
          </a:prstGeom>
          <a:solidFill>
            <a:srgbClr val="0B1E4F"/>
          </a:solidFill>
          <a:ln/>
        </p:spPr>
      </p:sp>
      <p:sp>
        <p:nvSpPr>
          <p:cNvPr id="32" name="Shape 30"/>
          <p:cNvSpPr/>
          <p:nvPr/>
        </p:nvSpPr>
        <p:spPr>
          <a:xfrm>
            <a:off x="1051560" y="2029968"/>
            <a:ext cx="1334110" cy="914"/>
          </a:xfrm>
          <a:prstGeom prst="line">
            <a:avLst/>
          </a:prstGeom>
          <a:noFill/>
          <a:ln w="13970">
            <a:solidFill>
              <a:srgbClr val="0B1E4F"/>
            </a:solidFill>
            <a:prstDash val="solid"/>
          </a:ln>
        </p:spPr>
      </p:sp>
      <p:sp>
        <p:nvSpPr>
          <p:cNvPr id="33" name="Shape 31"/>
          <p:cNvSpPr/>
          <p:nvPr/>
        </p:nvSpPr>
        <p:spPr>
          <a:xfrm>
            <a:off x="1143000" y="1874520"/>
            <a:ext cx="1554480" cy="128016"/>
          </a:xfrm>
          <a:prstGeom prst="roundRect">
            <a:avLst>
              <a:gd name="adj" fmla="val 14286"/>
            </a:avLst>
          </a:prstGeom>
          <a:solidFill>
            <a:srgbClr val="FFFFFF"/>
          </a:solidFill>
          <a:ln/>
        </p:spPr>
      </p:sp>
      <p:sp>
        <p:nvSpPr>
          <p:cNvPr id="34" name="Text 32"/>
          <p:cNvSpPr txBox="1"/>
          <p:nvPr/>
        </p:nvSpPr>
        <p:spPr>
          <a:xfrm>
            <a:off x="1161288" y="1874520"/>
            <a:ext cx="155448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1: Ingresar credenciales</a:t>
            </a:r>
            <a:endParaRPr lang="en-US" sz="800" dirty="0"/>
          </a:p>
        </p:txBody>
      </p:sp>
      <p:sp>
        <p:nvSpPr>
          <p:cNvPr id="35" name="Shape 33"/>
          <p:cNvSpPr/>
          <p:nvPr/>
        </p:nvSpPr>
        <p:spPr>
          <a:xfrm rot="5400000">
            <a:off x="3895344" y="2299716"/>
            <a:ext cx="82296" cy="82296"/>
          </a:xfrm>
          <a:prstGeom prst="triangle">
            <a:avLst/>
          </a:prstGeom>
          <a:solidFill>
            <a:srgbClr val="0B1E4F"/>
          </a:solidFill>
          <a:ln/>
        </p:spPr>
      </p:sp>
      <p:sp>
        <p:nvSpPr>
          <p:cNvPr id="36" name="Shape 34"/>
          <p:cNvSpPr/>
          <p:nvPr/>
        </p:nvSpPr>
        <p:spPr>
          <a:xfrm>
            <a:off x="2569464" y="2340864"/>
            <a:ext cx="1334110" cy="914"/>
          </a:xfrm>
          <a:prstGeom prst="line">
            <a:avLst/>
          </a:prstGeom>
          <a:noFill/>
          <a:ln w="13970">
            <a:solidFill>
              <a:srgbClr val="0B1E4F"/>
            </a:solidFill>
            <a:prstDash val="solid"/>
          </a:ln>
        </p:spPr>
      </p:sp>
      <p:sp>
        <p:nvSpPr>
          <p:cNvPr id="37" name="Shape 35"/>
          <p:cNvSpPr/>
          <p:nvPr/>
        </p:nvSpPr>
        <p:spPr>
          <a:xfrm>
            <a:off x="2660904" y="2185416"/>
            <a:ext cx="2225040" cy="128016"/>
          </a:xfrm>
          <a:prstGeom prst="roundRect">
            <a:avLst>
              <a:gd name="adj" fmla="val 14286"/>
            </a:avLst>
          </a:prstGeom>
          <a:solidFill>
            <a:srgbClr val="FFFFFF"/>
          </a:solidFill>
          <a:ln/>
        </p:spPr>
      </p:sp>
      <p:sp>
        <p:nvSpPr>
          <p:cNvPr id="38" name="Text 36"/>
          <p:cNvSpPr txBox="1"/>
          <p:nvPr/>
        </p:nvSpPr>
        <p:spPr>
          <a:xfrm>
            <a:off x="2679192" y="2185416"/>
            <a:ext cx="222504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1.1: Consultar credenciales locales</a:t>
            </a:r>
            <a:endParaRPr lang="en-US" sz="800" dirty="0"/>
          </a:p>
        </p:txBody>
      </p:sp>
      <p:sp>
        <p:nvSpPr>
          <p:cNvPr id="39" name="Shape 37"/>
          <p:cNvSpPr/>
          <p:nvPr/>
        </p:nvSpPr>
        <p:spPr>
          <a:xfrm rot="16200000">
            <a:off x="2569464" y="2610612"/>
            <a:ext cx="82296" cy="82296"/>
          </a:xfrm>
          <a:prstGeom prst="triangle">
            <a:avLst/>
          </a:prstGeom>
          <a:solidFill>
            <a:srgbClr val="4A5878"/>
          </a:solidFill>
          <a:ln/>
        </p:spPr>
      </p:sp>
      <p:sp>
        <p:nvSpPr>
          <p:cNvPr id="40" name="Shape 38"/>
          <p:cNvSpPr/>
          <p:nvPr/>
        </p:nvSpPr>
        <p:spPr>
          <a:xfrm flipH="1">
            <a:off x="2643530" y="2651760"/>
            <a:ext cx="1334110" cy="914"/>
          </a:xfrm>
          <a:prstGeom prst="line">
            <a:avLst/>
          </a:prstGeom>
          <a:noFill/>
          <a:ln w="13970">
            <a:solidFill>
              <a:srgbClr val="4A5878"/>
            </a:solidFill>
            <a:prstDash val="dash"/>
          </a:ln>
        </p:spPr>
      </p:sp>
      <p:sp>
        <p:nvSpPr>
          <p:cNvPr id="41" name="Shape 39"/>
          <p:cNvSpPr/>
          <p:nvPr/>
        </p:nvSpPr>
        <p:spPr>
          <a:xfrm>
            <a:off x="2660904" y="2496312"/>
            <a:ext cx="2103120" cy="128016"/>
          </a:xfrm>
          <a:prstGeom prst="roundRect">
            <a:avLst>
              <a:gd name="adj" fmla="val 14286"/>
            </a:avLst>
          </a:prstGeom>
          <a:solidFill>
            <a:srgbClr val="FFFFFF"/>
          </a:solidFill>
          <a:ln/>
        </p:spPr>
      </p:sp>
      <p:sp>
        <p:nvSpPr>
          <p:cNvPr id="42" name="Text 40"/>
          <p:cNvSpPr txBox="1"/>
          <p:nvPr/>
        </p:nvSpPr>
        <p:spPr>
          <a:xfrm>
            <a:off x="2679192" y="2496312"/>
            <a:ext cx="2103120" cy="128016"/>
          </a:xfrm>
          <a:prstGeom prst="rect">
            <a:avLst/>
          </a:prstGeom>
          <a:noFill/>
          <a:ln/>
        </p:spPr>
        <p:txBody>
          <a:bodyPr wrap="square" lIns="0" tIns="0" rIns="0" bIns="0" rtlCol="0" anchor="ctr"/>
          <a:lstStyle/>
          <a:p>
            <a:pPr indent="0" marL="0">
              <a:buNone/>
            </a:pPr>
            <a:r>
              <a:rPr lang="en-US" sz="800" b="1" dirty="0">
                <a:solidFill>
                  <a:srgbClr val="4A5878"/>
                </a:solidFill>
                <a:latin typeface="Open Sans" pitchFamily="34" charset="0"/>
                <a:ea typeface="Open Sans" pitchFamily="34" charset="-122"/>
                <a:cs typeface="Open Sans" pitchFamily="34" charset="-120"/>
              </a:rPr>
              <a:t>1.2: Retornar datos usuario local</a:t>
            </a:r>
            <a:endParaRPr lang="en-US" sz="800" dirty="0"/>
          </a:p>
        </p:txBody>
      </p:sp>
      <p:sp>
        <p:nvSpPr>
          <p:cNvPr id="43" name="Shape 41"/>
          <p:cNvSpPr/>
          <p:nvPr/>
        </p:nvSpPr>
        <p:spPr>
          <a:xfrm>
            <a:off x="2642616" y="2898648"/>
            <a:ext cx="891540" cy="155448"/>
          </a:xfrm>
          <a:prstGeom prst="roundRect">
            <a:avLst>
              <a:gd name="adj" fmla="val 11765"/>
            </a:avLst>
          </a:prstGeom>
          <a:solidFill>
            <a:srgbClr val="FFFFFF"/>
          </a:solidFill>
          <a:ln/>
        </p:spPr>
      </p:sp>
      <p:sp>
        <p:nvSpPr>
          <p:cNvPr id="44" name="Text 42"/>
          <p:cNvSpPr txBox="1"/>
          <p:nvPr/>
        </p:nvSpPr>
        <p:spPr>
          <a:xfrm>
            <a:off x="2660904" y="2898648"/>
            <a:ext cx="891540" cy="155448"/>
          </a:xfrm>
          <a:prstGeom prst="rect">
            <a:avLst/>
          </a:prstGeom>
          <a:noFill/>
          <a:ln/>
        </p:spPr>
        <p:txBody>
          <a:bodyPr wrap="square" lIns="0" tIns="0" rIns="0" bIns="0" rtlCol="0" anchor="ctr"/>
          <a:lstStyle/>
          <a:p>
            <a:pPr indent="0" marL="0">
              <a:buNone/>
            </a:pPr>
            <a:r>
              <a:rPr lang="en-US" sz="750" b="1" i="1" dirty="0">
                <a:solidFill>
                  <a:srgbClr val="5B3EE0"/>
                </a:solidFill>
                <a:latin typeface="Open Sans" pitchFamily="34" charset="0"/>
                <a:ea typeface="Open Sans" pitchFamily="34" charset="-122"/>
                <a:cs typeface="Open Sans" pitchFamily="34" charset="-120"/>
              </a:rPr>
              <a:t>[hay conexión]</a:t>
            </a:r>
            <a:endParaRPr lang="en-US" sz="750" dirty="0"/>
          </a:p>
        </p:txBody>
      </p:sp>
      <p:sp>
        <p:nvSpPr>
          <p:cNvPr id="45" name="Shape 43"/>
          <p:cNvSpPr/>
          <p:nvPr/>
        </p:nvSpPr>
        <p:spPr>
          <a:xfrm rot="5400000">
            <a:off x="5358384" y="3195828"/>
            <a:ext cx="82296" cy="82296"/>
          </a:xfrm>
          <a:prstGeom prst="triangle">
            <a:avLst/>
          </a:prstGeom>
          <a:solidFill>
            <a:srgbClr val="0B1E4F"/>
          </a:solidFill>
          <a:ln/>
        </p:spPr>
      </p:sp>
      <p:sp>
        <p:nvSpPr>
          <p:cNvPr id="46" name="Shape 44"/>
          <p:cNvSpPr/>
          <p:nvPr/>
        </p:nvSpPr>
        <p:spPr>
          <a:xfrm>
            <a:off x="2569464" y="3236976"/>
            <a:ext cx="2797150" cy="914"/>
          </a:xfrm>
          <a:prstGeom prst="line">
            <a:avLst/>
          </a:prstGeom>
          <a:noFill/>
          <a:ln w="13970">
            <a:solidFill>
              <a:srgbClr val="0B1E4F"/>
            </a:solidFill>
            <a:prstDash val="solid"/>
          </a:ln>
        </p:spPr>
      </p:sp>
      <p:sp>
        <p:nvSpPr>
          <p:cNvPr id="47" name="Shape 45"/>
          <p:cNvSpPr/>
          <p:nvPr/>
        </p:nvSpPr>
        <p:spPr>
          <a:xfrm>
            <a:off x="2660904" y="3081528"/>
            <a:ext cx="1676400" cy="128016"/>
          </a:xfrm>
          <a:prstGeom prst="roundRect">
            <a:avLst>
              <a:gd name="adj" fmla="val 14286"/>
            </a:avLst>
          </a:prstGeom>
          <a:solidFill>
            <a:srgbClr val="FFFFFF"/>
          </a:solidFill>
          <a:ln/>
        </p:spPr>
      </p:sp>
      <p:sp>
        <p:nvSpPr>
          <p:cNvPr id="48" name="Text 46"/>
          <p:cNvSpPr txBox="1"/>
          <p:nvPr/>
        </p:nvSpPr>
        <p:spPr>
          <a:xfrm>
            <a:off x="2679192" y="3081528"/>
            <a:ext cx="167640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2: Solicitar autenticación</a:t>
            </a:r>
            <a:endParaRPr lang="en-US" sz="800" dirty="0"/>
          </a:p>
        </p:txBody>
      </p:sp>
      <p:sp>
        <p:nvSpPr>
          <p:cNvPr id="49" name="Shape 47"/>
          <p:cNvSpPr/>
          <p:nvPr/>
        </p:nvSpPr>
        <p:spPr>
          <a:xfrm rot="5400000">
            <a:off x="6821424" y="3506724"/>
            <a:ext cx="82296" cy="82296"/>
          </a:xfrm>
          <a:prstGeom prst="triangle">
            <a:avLst/>
          </a:prstGeom>
          <a:solidFill>
            <a:srgbClr val="0B1E4F"/>
          </a:solidFill>
          <a:ln/>
        </p:spPr>
      </p:sp>
      <p:sp>
        <p:nvSpPr>
          <p:cNvPr id="50" name="Shape 48"/>
          <p:cNvSpPr/>
          <p:nvPr/>
        </p:nvSpPr>
        <p:spPr>
          <a:xfrm>
            <a:off x="5440680" y="3547872"/>
            <a:ext cx="1388974" cy="914"/>
          </a:xfrm>
          <a:prstGeom prst="line">
            <a:avLst/>
          </a:prstGeom>
          <a:noFill/>
          <a:ln w="13970">
            <a:solidFill>
              <a:srgbClr val="0B1E4F"/>
            </a:solidFill>
            <a:prstDash val="solid"/>
          </a:ln>
        </p:spPr>
      </p:sp>
      <p:sp>
        <p:nvSpPr>
          <p:cNvPr id="51" name="Shape 49"/>
          <p:cNvSpPr/>
          <p:nvPr/>
        </p:nvSpPr>
        <p:spPr>
          <a:xfrm>
            <a:off x="5532120" y="3392424"/>
            <a:ext cx="2346960" cy="128016"/>
          </a:xfrm>
          <a:prstGeom prst="roundRect">
            <a:avLst>
              <a:gd name="adj" fmla="val 14286"/>
            </a:avLst>
          </a:prstGeom>
          <a:solidFill>
            <a:srgbClr val="FFFFFF"/>
          </a:solidFill>
          <a:ln/>
        </p:spPr>
      </p:sp>
      <p:sp>
        <p:nvSpPr>
          <p:cNvPr id="52" name="Text 50"/>
          <p:cNvSpPr txBox="1"/>
          <p:nvPr/>
        </p:nvSpPr>
        <p:spPr>
          <a:xfrm>
            <a:off x="5550408" y="3392424"/>
            <a:ext cx="234696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2.1: Validar credenciales en servidor</a:t>
            </a:r>
            <a:endParaRPr lang="en-US" sz="800" dirty="0"/>
          </a:p>
        </p:txBody>
      </p:sp>
      <p:sp>
        <p:nvSpPr>
          <p:cNvPr id="53" name="Shape 51"/>
          <p:cNvSpPr/>
          <p:nvPr/>
        </p:nvSpPr>
        <p:spPr>
          <a:xfrm rot="5400000">
            <a:off x="8284464" y="3817620"/>
            <a:ext cx="82296" cy="82296"/>
          </a:xfrm>
          <a:prstGeom prst="triangle">
            <a:avLst/>
          </a:prstGeom>
          <a:solidFill>
            <a:srgbClr val="E06F00"/>
          </a:solidFill>
          <a:ln/>
        </p:spPr>
      </p:sp>
      <p:sp>
        <p:nvSpPr>
          <p:cNvPr id="54" name="Shape 52"/>
          <p:cNvSpPr/>
          <p:nvPr/>
        </p:nvSpPr>
        <p:spPr>
          <a:xfrm>
            <a:off x="6903720" y="3858768"/>
            <a:ext cx="1388974" cy="914"/>
          </a:xfrm>
          <a:prstGeom prst="line">
            <a:avLst/>
          </a:prstGeom>
          <a:noFill/>
          <a:ln w="13970">
            <a:solidFill>
              <a:srgbClr val="E06F00"/>
            </a:solidFill>
            <a:prstDash val="solid"/>
          </a:ln>
        </p:spPr>
      </p:sp>
      <p:sp>
        <p:nvSpPr>
          <p:cNvPr id="55" name="Shape 53"/>
          <p:cNvSpPr/>
          <p:nvPr/>
        </p:nvSpPr>
        <p:spPr>
          <a:xfrm>
            <a:off x="6995160" y="3703320"/>
            <a:ext cx="1554480" cy="128016"/>
          </a:xfrm>
          <a:prstGeom prst="roundRect">
            <a:avLst>
              <a:gd name="adj" fmla="val 14286"/>
            </a:avLst>
          </a:prstGeom>
          <a:solidFill>
            <a:srgbClr val="FFFFFF"/>
          </a:solidFill>
          <a:ln/>
        </p:spPr>
      </p:sp>
      <p:sp>
        <p:nvSpPr>
          <p:cNvPr id="56" name="Text 54"/>
          <p:cNvSpPr txBox="1"/>
          <p:nvPr/>
        </p:nvSpPr>
        <p:spPr>
          <a:xfrm>
            <a:off x="7013448" y="3703320"/>
            <a:ext cx="1554480" cy="128016"/>
          </a:xfrm>
          <a:prstGeom prst="rect">
            <a:avLst/>
          </a:prstGeom>
          <a:noFill/>
          <a:ln/>
        </p:spPr>
        <p:txBody>
          <a:bodyPr wrap="square" lIns="0" tIns="0" rIns="0" bIns="0" rtlCol="0" anchor="ctr"/>
          <a:lstStyle/>
          <a:p>
            <a:pPr indent="0" marL="0">
              <a:buNone/>
            </a:pPr>
            <a:r>
              <a:rPr lang="en-US" sz="800" b="1" dirty="0">
                <a:solidFill>
                  <a:srgbClr val="E06F00"/>
                </a:solidFill>
                <a:latin typeface="Open Sans" pitchFamily="34" charset="0"/>
                <a:ea typeface="Open Sans" pitchFamily="34" charset="-122"/>
                <a:cs typeface="Open Sans" pitchFamily="34" charset="-120"/>
              </a:rPr>
              <a:t>2.2: Solicitar envío OTP</a:t>
            </a:r>
            <a:endParaRPr lang="en-US" sz="800" dirty="0"/>
          </a:p>
        </p:txBody>
      </p:sp>
      <p:sp>
        <p:nvSpPr>
          <p:cNvPr id="57" name="Shape 55"/>
          <p:cNvSpPr/>
          <p:nvPr/>
        </p:nvSpPr>
        <p:spPr>
          <a:xfrm rot="16200000">
            <a:off x="1051560" y="4128516"/>
            <a:ext cx="82296" cy="82296"/>
          </a:xfrm>
          <a:prstGeom prst="triangle">
            <a:avLst/>
          </a:prstGeom>
          <a:solidFill>
            <a:srgbClr val="4A5878"/>
          </a:solidFill>
          <a:ln/>
        </p:spPr>
      </p:sp>
      <p:sp>
        <p:nvSpPr>
          <p:cNvPr id="58" name="Shape 56"/>
          <p:cNvSpPr/>
          <p:nvPr/>
        </p:nvSpPr>
        <p:spPr>
          <a:xfrm flipH="1">
            <a:off x="1125626" y="4169664"/>
            <a:ext cx="1334110" cy="914"/>
          </a:xfrm>
          <a:prstGeom prst="line">
            <a:avLst/>
          </a:prstGeom>
          <a:noFill/>
          <a:ln w="13970">
            <a:solidFill>
              <a:srgbClr val="4A5878"/>
            </a:solidFill>
            <a:prstDash val="dash"/>
          </a:ln>
        </p:spPr>
      </p:sp>
      <p:sp>
        <p:nvSpPr>
          <p:cNvPr id="59" name="Shape 57"/>
          <p:cNvSpPr/>
          <p:nvPr/>
        </p:nvSpPr>
        <p:spPr>
          <a:xfrm>
            <a:off x="1143000" y="4014216"/>
            <a:ext cx="1554480" cy="128016"/>
          </a:xfrm>
          <a:prstGeom prst="roundRect">
            <a:avLst>
              <a:gd name="adj" fmla="val 14286"/>
            </a:avLst>
          </a:prstGeom>
          <a:solidFill>
            <a:srgbClr val="FFFFFF"/>
          </a:solidFill>
          <a:ln/>
        </p:spPr>
      </p:sp>
      <p:sp>
        <p:nvSpPr>
          <p:cNvPr id="60" name="Text 58"/>
          <p:cNvSpPr txBox="1"/>
          <p:nvPr/>
        </p:nvSpPr>
        <p:spPr>
          <a:xfrm>
            <a:off x="1161288" y="4014216"/>
            <a:ext cx="1554480" cy="128016"/>
          </a:xfrm>
          <a:prstGeom prst="rect">
            <a:avLst/>
          </a:prstGeom>
          <a:noFill/>
          <a:ln/>
        </p:spPr>
        <p:txBody>
          <a:bodyPr wrap="square" lIns="0" tIns="0" rIns="0" bIns="0" rtlCol="0" anchor="ctr"/>
          <a:lstStyle/>
          <a:p>
            <a:pPr indent="0" marL="0">
              <a:buNone/>
            </a:pPr>
            <a:r>
              <a:rPr lang="en-US" sz="800" b="1" dirty="0">
                <a:solidFill>
                  <a:srgbClr val="4A5878"/>
                </a:solidFill>
                <a:latin typeface="Open Sans" pitchFamily="34" charset="0"/>
                <a:ea typeface="Open Sans" pitchFamily="34" charset="-122"/>
                <a:cs typeface="Open Sans" pitchFamily="34" charset="-120"/>
              </a:rPr>
              <a:t>2.3: Requerir código OTP</a:t>
            </a:r>
            <a:endParaRPr lang="en-US" sz="800" dirty="0"/>
          </a:p>
        </p:txBody>
      </p:sp>
      <p:sp>
        <p:nvSpPr>
          <p:cNvPr id="61" name="Shape 59"/>
          <p:cNvSpPr/>
          <p:nvPr/>
        </p:nvSpPr>
        <p:spPr>
          <a:xfrm rot="5400000">
            <a:off x="2377440" y="4439412"/>
            <a:ext cx="82296" cy="82296"/>
          </a:xfrm>
          <a:prstGeom prst="triangle">
            <a:avLst/>
          </a:prstGeom>
          <a:solidFill>
            <a:srgbClr val="0B1E4F"/>
          </a:solidFill>
          <a:ln/>
        </p:spPr>
      </p:sp>
      <p:sp>
        <p:nvSpPr>
          <p:cNvPr id="62" name="Shape 60"/>
          <p:cNvSpPr/>
          <p:nvPr/>
        </p:nvSpPr>
        <p:spPr>
          <a:xfrm>
            <a:off x="1051560" y="4480560"/>
            <a:ext cx="1334110" cy="914"/>
          </a:xfrm>
          <a:prstGeom prst="line">
            <a:avLst/>
          </a:prstGeom>
          <a:noFill/>
          <a:ln w="13970">
            <a:solidFill>
              <a:srgbClr val="0B1E4F"/>
            </a:solidFill>
            <a:prstDash val="solid"/>
          </a:ln>
        </p:spPr>
      </p:sp>
      <p:sp>
        <p:nvSpPr>
          <p:cNvPr id="63" name="Shape 61"/>
          <p:cNvSpPr/>
          <p:nvPr/>
        </p:nvSpPr>
        <p:spPr>
          <a:xfrm>
            <a:off x="1143000" y="4325112"/>
            <a:ext cx="1432560" cy="128016"/>
          </a:xfrm>
          <a:prstGeom prst="roundRect">
            <a:avLst>
              <a:gd name="adj" fmla="val 14286"/>
            </a:avLst>
          </a:prstGeom>
          <a:solidFill>
            <a:srgbClr val="FFFFFF"/>
          </a:solidFill>
          <a:ln/>
        </p:spPr>
      </p:sp>
      <p:sp>
        <p:nvSpPr>
          <p:cNvPr id="64" name="Text 62"/>
          <p:cNvSpPr txBox="1"/>
          <p:nvPr/>
        </p:nvSpPr>
        <p:spPr>
          <a:xfrm>
            <a:off x="1161288" y="4325112"/>
            <a:ext cx="143256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3: Ingresar código OTP</a:t>
            </a:r>
            <a:endParaRPr lang="en-US" sz="800" dirty="0"/>
          </a:p>
        </p:txBody>
      </p:sp>
      <p:sp>
        <p:nvSpPr>
          <p:cNvPr id="65" name="Shape 63"/>
          <p:cNvSpPr/>
          <p:nvPr/>
        </p:nvSpPr>
        <p:spPr>
          <a:xfrm rot="5400000">
            <a:off x="5358384" y="4750308"/>
            <a:ext cx="82296" cy="82296"/>
          </a:xfrm>
          <a:prstGeom prst="triangle">
            <a:avLst/>
          </a:prstGeom>
          <a:solidFill>
            <a:srgbClr val="0B1E4F"/>
          </a:solidFill>
          <a:ln/>
        </p:spPr>
      </p:sp>
      <p:sp>
        <p:nvSpPr>
          <p:cNvPr id="66" name="Shape 64"/>
          <p:cNvSpPr/>
          <p:nvPr/>
        </p:nvSpPr>
        <p:spPr>
          <a:xfrm>
            <a:off x="2569464" y="4791456"/>
            <a:ext cx="2797150" cy="914"/>
          </a:xfrm>
          <a:prstGeom prst="line">
            <a:avLst/>
          </a:prstGeom>
          <a:noFill/>
          <a:ln w="13970">
            <a:solidFill>
              <a:srgbClr val="0B1E4F"/>
            </a:solidFill>
            <a:prstDash val="solid"/>
          </a:ln>
        </p:spPr>
      </p:sp>
      <p:sp>
        <p:nvSpPr>
          <p:cNvPr id="67" name="Shape 65"/>
          <p:cNvSpPr/>
          <p:nvPr/>
        </p:nvSpPr>
        <p:spPr>
          <a:xfrm>
            <a:off x="2660904" y="4636008"/>
            <a:ext cx="1493520" cy="128016"/>
          </a:xfrm>
          <a:prstGeom prst="roundRect">
            <a:avLst>
              <a:gd name="adj" fmla="val 14286"/>
            </a:avLst>
          </a:prstGeom>
          <a:solidFill>
            <a:srgbClr val="FFFFFF"/>
          </a:solidFill>
          <a:ln/>
        </p:spPr>
      </p:sp>
      <p:sp>
        <p:nvSpPr>
          <p:cNvPr id="68" name="Text 66"/>
          <p:cNvSpPr txBox="1"/>
          <p:nvPr/>
        </p:nvSpPr>
        <p:spPr>
          <a:xfrm>
            <a:off x="2679192" y="4636008"/>
            <a:ext cx="149352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3.1: VerificarCódigoOTP</a:t>
            </a:r>
            <a:endParaRPr lang="en-US" sz="800" dirty="0"/>
          </a:p>
        </p:txBody>
      </p:sp>
      <p:sp>
        <p:nvSpPr>
          <p:cNvPr id="69" name="Shape 67"/>
          <p:cNvSpPr/>
          <p:nvPr/>
        </p:nvSpPr>
        <p:spPr>
          <a:xfrm rot="16200000">
            <a:off x="2569464" y="5061204"/>
            <a:ext cx="82296" cy="82296"/>
          </a:xfrm>
          <a:prstGeom prst="triangle">
            <a:avLst/>
          </a:prstGeom>
          <a:solidFill>
            <a:srgbClr val="4A5878"/>
          </a:solidFill>
          <a:ln/>
        </p:spPr>
      </p:sp>
      <p:sp>
        <p:nvSpPr>
          <p:cNvPr id="70" name="Shape 68"/>
          <p:cNvSpPr/>
          <p:nvPr/>
        </p:nvSpPr>
        <p:spPr>
          <a:xfrm flipH="1">
            <a:off x="2643530" y="5102352"/>
            <a:ext cx="2797150" cy="914"/>
          </a:xfrm>
          <a:prstGeom prst="line">
            <a:avLst/>
          </a:prstGeom>
          <a:noFill/>
          <a:ln w="13970">
            <a:solidFill>
              <a:srgbClr val="4A5878"/>
            </a:solidFill>
            <a:prstDash val="dash"/>
          </a:ln>
        </p:spPr>
      </p:sp>
      <p:sp>
        <p:nvSpPr>
          <p:cNvPr id="71" name="Shape 69"/>
          <p:cNvSpPr/>
          <p:nvPr/>
        </p:nvSpPr>
        <p:spPr>
          <a:xfrm>
            <a:off x="2660904" y="4946904"/>
            <a:ext cx="1859280" cy="128016"/>
          </a:xfrm>
          <a:prstGeom prst="roundRect">
            <a:avLst>
              <a:gd name="adj" fmla="val 14286"/>
            </a:avLst>
          </a:prstGeom>
          <a:solidFill>
            <a:srgbClr val="FFFFFF"/>
          </a:solidFill>
          <a:ln/>
        </p:spPr>
      </p:sp>
      <p:sp>
        <p:nvSpPr>
          <p:cNvPr id="72" name="Text 70"/>
          <p:cNvSpPr txBox="1"/>
          <p:nvPr/>
        </p:nvSpPr>
        <p:spPr>
          <a:xfrm>
            <a:off x="2679192" y="4946904"/>
            <a:ext cx="1859280" cy="128016"/>
          </a:xfrm>
          <a:prstGeom prst="rect">
            <a:avLst/>
          </a:prstGeom>
          <a:noFill/>
          <a:ln/>
        </p:spPr>
        <p:txBody>
          <a:bodyPr wrap="square" lIns="0" tIns="0" rIns="0" bIns="0" rtlCol="0" anchor="ctr"/>
          <a:lstStyle/>
          <a:p>
            <a:pPr indent="0" marL="0">
              <a:buNone/>
            </a:pPr>
            <a:r>
              <a:rPr lang="en-US" sz="800" b="1" dirty="0">
                <a:solidFill>
                  <a:srgbClr val="4A5878"/>
                </a:solidFill>
                <a:latin typeface="Open Sans" pitchFamily="34" charset="0"/>
                <a:ea typeface="Open Sans" pitchFamily="34" charset="-122"/>
                <a:cs typeface="Open Sans" pitchFamily="34" charset="-120"/>
              </a:rPr>
              <a:t>3.2: Retornar token de acceso</a:t>
            </a:r>
            <a:endParaRPr lang="en-US" sz="800" dirty="0"/>
          </a:p>
        </p:txBody>
      </p:sp>
      <p:sp>
        <p:nvSpPr>
          <p:cNvPr id="73" name="Shape 71"/>
          <p:cNvSpPr/>
          <p:nvPr/>
        </p:nvSpPr>
        <p:spPr>
          <a:xfrm rot="5400000">
            <a:off x="3895344" y="5372100"/>
            <a:ext cx="82296" cy="82296"/>
          </a:xfrm>
          <a:prstGeom prst="triangle">
            <a:avLst/>
          </a:prstGeom>
          <a:solidFill>
            <a:srgbClr val="0B1E4F"/>
          </a:solidFill>
          <a:ln/>
        </p:spPr>
      </p:sp>
      <p:sp>
        <p:nvSpPr>
          <p:cNvPr id="74" name="Shape 72"/>
          <p:cNvSpPr/>
          <p:nvPr/>
        </p:nvSpPr>
        <p:spPr>
          <a:xfrm>
            <a:off x="2569464" y="5413248"/>
            <a:ext cx="1334110" cy="914"/>
          </a:xfrm>
          <a:prstGeom prst="line">
            <a:avLst/>
          </a:prstGeom>
          <a:noFill/>
          <a:ln w="13970">
            <a:solidFill>
              <a:srgbClr val="0B1E4F"/>
            </a:solidFill>
            <a:prstDash val="solid"/>
          </a:ln>
        </p:spPr>
      </p:sp>
      <p:sp>
        <p:nvSpPr>
          <p:cNvPr id="75" name="Shape 73"/>
          <p:cNvSpPr/>
          <p:nvPr/>
        </p:nvSpPr>
        <p:spPr>
          <a:xfrm>
            <a:off x="2660904" y="5257800"/>
            <a:ext cx="1920240" cy="128016"/>
          </a:xfrm>
          <a:prstGeom prst="roundRect">
            <a:avLst>
              <a:gd name="adj" fmla="val 14286"/>
            </a:avLst>
          </a:prstGeom>
          <a:solidFill>
            <a:srgbClr val="FFFFFF"/>
          </a:solidFill>
          <a:ln/>
        </p:spPr>
      </p:sp>
      <p:sp>
        <p:nvSpPr>
          <p:cNvPr id="76" name="Text 74"/>
          <p:cNvSpPr txBox="1"/>
          <p:nvPr/>
        </p:nvSpPr>
        <p:spPr>
          <a:xfrm>
            <a:off x="2679192" y="5257800"/>
            <a:ext cx="1920240" cy="128016"/>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3.3: Almacenar token de sesión</a:t>
            </a:r>
            <a:endParaRPr lang="en-US" sz="800" dirty="0"/>
          </a:p>
        </p:txBody>
      </p:sp>
      <p:sp>
        <p:nvSpPr>
          <p:cNvPr id="77" name="Shape 75"/>
          <p:cNvSpPr/>
          <p:nvPr/>
        </p:nvSpPr>
        <p:spPr>
          <a:xfrm>
            <a:off x="2258568" y="5678424"/>
            <a:ext cx="6364224" cy="914"/>
          </a:xfrm>
          <a:prstGeom prst="line">
            <a:avLst/>
          </a:prstGeom>
          <a:noFill/>
          <a:ln w="12700">
            <a:solidFill>
              <a:srgbClr val="7B5CFF"/>
            </a:solidFill>
            <a:prstDash val="dash"/>
          </a:ln>
        </p:spPr>
      </p:sp>
      <p:sp>
        <p:nvSpPr>
          <p:cNvPr id="78" name="Shape 76"/>
          <p:cNvSpPr/>
          <p:nvPr/>
        </p:nvSpPr>
        <p:spPr>
          <a:xfrm>
            <a:off x="2624328" y="5696712"/>
            <a:ext cx="891540" cy="155448"/>
          </a:xfrm>
          <a:prstGeom prst="roundRect">
            <a:avLst>
              <a:gd name="adj" fmla="val 11765"/>
            </a:avLst>
          </a:prstGeom>
          <a:solidFill>
            <a:srgbClr val="FFFFFF"/>
          </a:solidFill>
          <a:ln/>
        </p:spPr>
      </p:sp>
      <p:sp>
        <p:nvSpPr>
          <p:cNvPr id="79" name="Text 77"/>
          <p:cNvSpPr txBox="1"/>
          <p:nvPr/>
        </p:nvSpPr>
        <p:spPr>
          <a:xfrm>
            <a:off x="2642616" y="5696712"/>
            <a:ext cx="891540" cy="155448"/>
          </a:xfrm>
          <a:prstGeom prst="rect">
            <a:avLst/>
          </a:prstGeom>
          <a:noFill/>
          <a:ln/>
        </p:spPr>
        <p:txBody>
          <a:bodyPr wrap="square" lIns="0" tIns="0" rIns="0" bIns="0" rtlCol="0" anchor="ctr"/>
          <a:lstStyle/>
          <a:p>
            <a:pPr indent="0" marL="0">
              <a:buNone/>
            </a:pPr>
            <a:r>
              <a:rPr lang="en-US" sz="750" b="1" i="1" dirty="0">
                <a:solidFill>
                  <a:srgbClr val="5B3EE0"/>
                </a:solidFill>
                <a:latin typeface="Open Sans" pitchFamily="34" charset="0"/>
                <a:ea typeface="Open Sans" pitchFamily="34" charset="-122"/>
                <a:cs typeface="Open Sans" pitchFamily="34" charset="-120"/>
              </a:rPr>
              <a:t>[sin conexión]</a:t>
            </a:r>
            <a:endParaRPr lang="en-US" sz="750" dirty="0"/>
          </a:p>
        </p:txBody>
      </p:sp>
      <p:sp>
        <p:nvSpPr>
          <p:cNvPr id="80" name="Shape 78"/>
          <p:cNvSpPr/>
          <p:nvPr/>
        </p:nvSpPr>
        <p:spPr>
          <a:xfrm>
            <a:off x="2569464" y="6030468"/>
            <a:ext cx="274320" cy="914"/>
          </a:xfrm>
          <a:prstGeom prst="line">
            <a:avLst/>
          </a:prstGeom>
          <a:noFill/>
          <a:ln w="13970">
            <a:solidFill>
              <a:srgbClr val="0B9468"/>
            </a:solidFill>
            <a:prstDash val="solid"/>
          </a:ln>
        </p:spPr>
      </p:sp>
      <p:sp>
        <p:nvSpPr>
          <p:cNvPr id="81" name="Shape 79"/>
          <p:cNvSpPr/>
          <p:nvPr/>
        </p:nvSpPr>
        <p:spPr>
          <a:xfrm>
            <a:off x="2843784" y="6030468"/>
            <a:ext cx="914" cy="109728"/>
          </a:xfrm>
          <a:prstGeom prst="line">
            <a:avLst/>
          </a:prstGeom>
          <a:noFill/>
          <a:ln w="13970">
            <a:solidFill>
              <a:srgbClr val="0B9468"/>
            </a:solidFill>
            <a:prstDash val="solid"/>
          </a:ln>
        </p:spPr>
      </p:sp>
      <p:sp>
        <p:nvSpPr>
          <p:cNvPr id="82" name="Shape 80"/>
          <p:cNvSpPr/>
          <p:nvPr/>
        </p:nvSpPr>
        <p:spPr>
          <a:xfrm rot="16200000">
            <a:off x="2587752" y="6083412"/>
            <a:ext cx="113568" cy="113568"/>
          </a:xfrm>
          <a:prstGeom prst="triangle">
            <a:avLst/>
          </a:prstGeom>
          <a:solidFill>
            <a:srgbClr val="0B9468"/>
          </a:solidFill>
          <a:ln/>
        </p:spPr>
      </p:sp>
      <p:sp>
        <p:nvSpPr>
          <p:cNvPr id="83" name="Shape 81"/>
          <p:cNvSpPr/>
          <p:nvPr/>
        </p:nvSpPr>
        <p:spPr>
          <a:xfrm flipH="1">
            <a:off x="2689964" y="6140196"/>
            <a:ext cx="153820" cy="914"/>
          </a:xfrm>
          <a:prstGeom prst="line">
            <a:avLst/>
          </a:prstGeom>
          <a:noFill/>
          <a:ln w="13970">
            <a:solidFill>
              <a:srgbClr val="0B9468"/>
            </a:solidFill>
            <a:prstDash val="solid"/>
          </a:ln>
        </p:spPr>
      </p:sp>
      <p:sp>
        <p:nvSpPr>
          <p:cNvPr id="84" name="Shape 82"/>
          <p:cNvSpPr/>
          <p:nvPr/>
        </p:nvSpPr>
        <p:spPr>
          <a:xfrm>
            <a:off x="2898648" y="5984748"/>
            <a:ext cx="2042160" cy="146304"/>
          </a:xfrm>
          <a:prstGeom prst="roundRect">
            <a:avLst>
              <a:gd name="adj" fmla="val 12500"/>
            </a:avLst>
          </a:prstGeom>
          <a:solidFill>
            <a:srgbClr val="FFFFFF"/>
          </a:solidFill>
          <a:ln/>
        </p:spPr>
      </p:sp>
      <p:sp>
        <p:nvSpPr>
          <p:cNvPr id="85" name="Text 83"/>
          <p:cNvSpPr txBox="1"/>
          <p:nvPr/>
        </p:nvSpPr>
        <p:spPr>
          <a:xfrm>
            <a:off x="2916936" y="5984748"/>
            <a:ext cx="2042160" cy="146304"/>
          </a:xfrm>
          <a:prstGeom prst="rect">
            <a:avLst/>
          </a:prstGeom>
          <a:noFill/>
          <a:ln/>
        </p:spPr>
        <p:txBody>
          <a:bodyPr wrap="square" lIns="0" tIns="0" rIns="0" bIns="0" rtlCol="0" anchor="ctr"/>
          <a:lstStyle/>
          <a:p>
            <a:pPr indent="0" marL="0">
              <a:buNone/>
            </a:pPr>
            <a:r>
              <a:rPr lang="en-US" sz="800" b="1" dirty="0">
                <a:solidFill>
                  <a:srgbClr val="0B9468"/>
                </a:solidFill>
                <a:latin typeface="Open Sans" pitchFamily="34" charset="0"/>
                <a:ea typeface="Open Sans" pitchFamily="34" charset="-122"/>
                <a:cs typeface="Open Sans" pitchFamily="34" charset="-120"/>
              </a:rPr>
              <a:t>4: Autorizar acceso modo offline</a:t>
            </a:r>
            <a:endParaRPr lang="en-US" sz="800" dirty="0"/>
          </a:p>
        </p:txBody>
      </p:sp>
      <p:sp>
        <p:nvSpPr>
          <p:cNvPr id="86" name="Shape 84"/>
          <p:cNvSpPr/>
          <p:nvPr/>
        </p:nvSpPr>
        <p:spPr>
          <a:xfrm>
            <a:off x="9326880" y="1188720"/>
            <a:ext cx="2286000" cy="5029200"/>
          </a:xfrm>
          <a:prstGeom prst="roundRect">
            <a:avLst>
              <a:gd name="adj" fmla="val 6400"/>
            </a:avLst>
          </a:prstGeom>
          <a:solidFill>
            <a:srgbClr val="E2F8EF"/>
          </a:solidFill>
          <a:ln/>
        </p:spPr>
      </p:sp>
      <p:sp>
        <p:nvSpPr>
          <p:cNvPr id="87" name="Text 85"/>
          <p:cNvSpPr txBox="1"/>
          <p:nvPr/>
        </p:nvSpPr>
        <p:spPr>
          <a:xfrm>
            <a:off x="9528048" y="1325880"/>
            <a:ext cx="1920240" cy="228600"/>
          </a:xfrm>
          <a:prstGeom prst="rect">
            <a:avLst/>
          </a:prstGeom>
          <a:noFill/>
          <a:ln/>
        </p:spPr>
        <p:txBody>
          <a:bodyPr wrap="square" lIns="0" tIns="0" rIns="0" bIns="0" rtlCol="0" anchor="ctr"/>
          <a:lstStyle/>
          <a:p>
            <a:pPr indent="0" marL="0">
              <a:buNone/>
            </a:pPr>
            <a:r>
              <a:rPr lang="en-US" sz="850" b="1" spc="150" kern="0" dirty="0">
                <a:solidFill>
                  <a:srgbClr val="0B9468"/>
                </a:solidFill>
                <a:latin typeface="Montserrat" pitchFamily="34" charset="0"/>
                <a:ea typeface="Montserrat" pitchFamily="34" charset="-122"/>
                <a:cs typeface="Montserrat" pitchFamily="34" charset="-120"/>
              </a:rPr>
              <a:t>LO QUE MUESTRA</a:t>
            </a:r>
            <a:endParaRPr lang="en-US" sz="850" dirty="0"/>
          </a:p>
        </p:txBody>
      </p:sp>
      <p:sp>
        <p:nvSpPr>
          <p:cNvPr id="88" name="Shape 86"/>
          <p:cNvSpPr/>
          <p:nvPr/>
        </p:nvSpPr>
        <p:spPr>
          <a:xfrm>
            <a:off x="9528048" y="1691640"/>
            <a:ext cx="457200" cy="457200"/>
          </a:xfrm>
          <a:prstGeom prst="ellipse">
            <a:avLst/>
          </a:prstGeom>
          <a:solidFill>
            <a:srgbClr val="10B981"/>
          </a:solidFill>
          <a:ln/>
        </p:spPr>
      </p:sp>
      <p:pic>
        <p:nvPicPr>
          <p:cNvPr id="89" name="Image 0" descr="preencoded.png">    </p:cNvPr>
          <p:cNvPicPr>
            <a:picLocks noChangeAspect="1"/>
          </p:cNvPicPr>
          <p:nvPr/>
        </p:nvPicPr>
        <p:blipFill>
          <a:blip r:embed="rId2"/>
          <a:stretch>
            <a:fillRect/>
          </a:stretch>
        </p:blipFill>
        <p:spPr>
          <a:xfrm>
            <a:off x="9637776" y="1801368"/>
            <a:ext cx="237744" cy="237744"/>
          </a:xfrm>
          <a:prstGeom prst="rect">
            <a:avLst/>
          </a:prstGeom>
        </p:spPr>
      </p:pic>
      <p:sp>
        <p:nvSpPr>
          <p:cNvPr id="90" name="Text 87"/>
          <p:cNvSpPr txBox="1"/>
          <p:nvPr/>
        </p:nvSpPr>
        <p:spPr>
          <a:xfrm>
            <a:off x="10058400" y="1691640"/>
            <a:ext cx="1463040" cy="45720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Acceso sin correo</a:t>
            </a:r>
            <a:endParaRPr lang="en-US" sz="1050" dirty="0"/>
          </a:p>
        </p:txBody>
      </p:sp>
      <p:sp>
        <p:nvSpPr>
          <p:cNvPr id="91" name="Text 88"/>
          <p:cNvSpPr txBox="1"/>
          <p:nvPr/>
        </p:nvSpPr>
        <p:spPr>
          <a:xfrm>
            <a:off x="9528048" y="2221992"/>
            <a:ext cx="1920240" cy="82296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DNI + PIN y un código OTP enviado por SMS (RF01, RNF08).</a:t>
            </a:r>
            <a:endParaRPr lang="en-US" sz="950" dirty="0"/>
          </a:p>
        </p:txBody>
      </p:sp>
      <p:sp>
        <p:nvSpPr>
          <p:cNvPr id="92" name="Shape 89"/>
          <p:cNvSpPr/>
          <p:nvPr/>
        </p:nvSpPr>
        <p:spPr>
          <a:xfrm>
            <a:off x="9528048" y="3154680"/>
            <a:ext cx="457200" cy="457200"/>
          </a:xfrm>
          <a:prstGeom prst="ellipse">
            <a:avLst/>
          </a:prstGeom>
          <a:solidFill>
            <a:srgbClr val="10B981"/>
          </a:solidFill>
          <a:ln/>
        </p:spPr>
      </p:sp>
      <p:pic>
        <p:nvPicPr>
          <p:cNvPr id="93" name="Image 1" descr="preencoded.png">    </p:cNvPr>
          <p:cNvPicPr>
            <a:picLocks noChangeAspect="1"/>
          </p:cNvPicPr>
          <p:nvPr/>
        </p:nvPicPr>
        <p:blipFill>
          <a:blip r:embed="rId3"/>
          <a:stretch>
            <a:fillRect/>
          </a:stretch>
        </p:blipFill>
        <p:spPr>
          <a:xfrm>
            <a:off x="9637776" y="3264408"/>
            <a:ext cx="237744" cy="237744"/>
          </a:xfrm>
          <a:prstGeom prst="rect">
            <a:avLst/>
          </a:prstGeom>
        </p:spPr>
      </p:pic>
      <p:sp>
        <p:nvSpPr>
          <p:cNvPr id="94" name="Text 90"/>
          <p:cNvSpPr txBox="1"/>
          <p:nvPr/>
        </p:nvSpPr>
        <p:spPr>
          <a:xfrm>
            <a:off x="10058400" y="3154680"/>
            <a:ext cx="1463040" cy="45720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Modo sin conexión</a:t>
            </a:r>
            <a:endParaRPr lang="en-US" sz="1050" dirty="0"/>
          </a:p>
        </p:txBody>
      </p:sp>
      <p:sp>
        <p:nvSpPr>
          <p:cNvPr id="95" name="Text 91"/>
          <p:cNvSpPr txBox="1"/>
          <p:nvPr/>
        </p:nvSpPr>
        <p:spPr>
          <a:xfrm>
            <a:off x="9528048" y="3685032"/>
            <a:ext cx="1920240" cy="82296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Si no hay señal, la app autoriza el acceso con los datos locales (RF12).</a:t>
            </a:r>
            <a:endParaRPr lang="en-US" sz="950" dirty="0"/>
          </a:p>
        </p:txBody>
      </p:sp>
      <p:sp>
        <p:nvSpPr>
          <p:cNvPr id="96" name="Shape 92"/>
          <p:cNvSpPr/>
          <p:nvPr/>
        </p:nvSpPr>
        <p:spPr>
          <a:xfrm>
            <a:off x="9528048" y="4617720"/>
            <a:ext cx="457200" cy="457200"/>
          </a:xfrm>
          <a:prstGeom prst="ellipse">
            <a:avLst/>
          </a:prstGeom>
          <a:solidFill>
            <a:srgbClr val="10B981"/>
          </a:solidFill>
          <a:ln/>
        </p:spPr>
      </p:sp>
      <p:pic>
        <p:nvPicPr>
          <p:cNvPr id="97" name="Image 2" descr="preencoded.png">    </p:cNvPr>
          <p:cNvPicPr>
            <a:picLocks noChangeAspect="1"/>
          </p:cNvPicPr>
          <p:nvPr/>
        </p:nvPicPr>
        <p:blipFill>
          <a:blip r:embed="rId4"/>
          <a:stretch>
            <a:fillRect/>
          </a:stretch>
        </p:blipFill>
        <p:spPr>
          <a:xfrm>
            <a:off x="9637776" y="4727448"/>
            <a:ext cx="237744" cy="237744"/>
          </a:xfrm>
          <a:prstGeom prst="rect">
            <a:avLst/>
          </a:prstGeom>
        </p:spPr>
      </p:pic>
      <p:sp>
        <p:nvSpPr>
          <p:cNvPr id="98" name="Text 93"/>
          <p:cNvSpPr txBox="1"/>
          <p:nvPr/>
        </p:nvSpPr>
        <p:spPr>
          <a:xfrm>
            <a:off x="10058400" y="4617720"/>
            <a:ext cx="1463040" cy="457200"/>
          </a:xfrm>
          <a:prstGeom prst="rect">
            <a:avLst/>
          </a:prstGeom>
          <a:noFill/>
          <a:ln/>
        </p:spPr>
        <p:txBody>
          <a:bodyPr wrap="square" lIns="0" tIns="0" rIns="0" bIns="0" rtlCol="0" anchor="ctr"/>
          <a:lstStyle/>
          <a:p>
            <a:pPr indent="0" marL="0">
              <a:buNone/>
            </a:pPr>
            <a:r>
              <a:rPr lang="en-US" sz="1050" b="1" dirty="0">
                <a:solidFill>
                  <a:srgbClr val="0E1B3D"/>
                </a:solidFill>
                <a:latin typeface="Montserrat" pitchFamily="34" charset="0"/>
                <a:ea typeface="Montserrat" pitchFamily="34" charset="-122"/>
                <a:cs typeface="Montserrat" pitchFamily="34" charset="-120"/>
              </a:rPr>
              <a:t>Token local</a:t>
            </a:r>
            <a:endParaRPr lang="en-US" sz="1050" dirty="0"/>
          </a:p>
        </p:txBody>
      </p:sp>
      <p:sp>
        <p:nvSpPr>
          <p:cNvPr id="99" name="Text 94"/>
          <p:cNvSpPr txBox="1"/>
          <p:nvPr/>
        </p:nvSpPr>
        <p:spPr>
          <a:xfrm>
            <a:off x="9528048" y="5148072"/>
            <a:ext cx="1920240" cy="822960"/>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El token de sesión se guarda en SQLite para operar en el muelle.</a:t>
            </a:r>
            <a:endParaRPr lang="en-US" sz="950" dirty="0"/>
          </a:p>
        </p:txBody>
      </p:sp>
      <p:sp>
        <p:nvSpPr>
          <p:cNvPr id="100" name="Text 9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01" name="Text 9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10B981"/>
                </a:solidFill>
                <a:latin typeface="Montserrat" pitchFamily="34" charset="0"/>
                <a:ea typeface="Montserrat" pitchFamily="34" charset="-122"/>
                <a:cs typeface="Montserrat"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560674" cy="274320"/>
          </a:xfrm>
          <a:prstGeom prst="roundRect">
            <a:avLst>
              <a:gd name="adj" fmla="val 50000"/>
            </a:avLst>
          </a:prstGeom>
          <a:solidFill>
            <a:srgbClr val="10B981"/>
          </a:solidFill>
          <a:ln/>
        </p:spPr>
      </p:sp>
      <p:sp>
        <p:nvSpPr>
          <p:cNvPr id="3" name="Text 1"/>
          <p:cNvSpPr txBox="1"/>
          <p:nvPr/>
        </p:nvSpPr>
        <p:spPr>
          <a:xfrm>
            <a:off x="548640" y="292608"/>
            <a:ext cx="356067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4 · 4.2 MODELO DE INTERACCIÓN</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200" b="1" dirty="0">
                <a:solidFill>
                  <a:srgbClr val="0E1B3D"/>
                </a:solidFill>
                <a:latin typeface="Montserrat" pitchFamily="34" charset="0"/>
                <a:ea typeface="Montserrat" pitchFamily="34" charset="-122"/>
                <a:cs typeface="Montserrat" pitchFamily="34" charset="-120"/>
              </a:rPr>
              <a:t>Secuencia: verificar constancia y confirmar recepción</a:t>
            </a:r>
            <a:endParaRPr lang="en-US" sz="2200" dirty="0"/>
          </a:p>
        </p:txBody>
      </p:sp>
      <p:sp>
        <p:nvSpPr>
          <p:cNvPr id="5" name="Shape 3"/>
          <p:cNvSpPr/>
          <p:nvPr/>
        </p:nvSpPr>
        <p:spPr>
          <a:xfrm>
            <a:off x="1005840" y="1170432"/>
            <a:ext cx="182880" cy="182880"/>
          </a:xfrm>
          <a:prstGeom prst="ellipse">
            <a:avLst/>
          </a:prstGeom>
          <a:solidFill>
            <a:srgbClr val="FFFFFF"/>
          </a:solidFill>
          <a:ln w="15875">
            <a:solidFill>
              <a:srgbClr val="0B1E4F"/>
            </a:solidFill>
            <a:prstDash val="solid"/>
          </a:ln>
        </p:spPr>
      </p:sp>
      <p:sp>
        <p:nvSpPr>
          <p:cNvPr id="6" name="Shape 4"/>
          <p:cNvSpPr/>
          <p:nvPr/>
        </p:nvSpPr>
        <p:spPr>
          <a:xfrm>
            <a:off x="1097280" y="1353312"/>
            <a:ext cx="914" cy="164592"/>
          </a:xfrm>
          <a:prstGeom prst="line">
            <a:avLst/>
          </a:prstGeom>
          <a:noFill/>
          <a:ln w="15875">
            <a:solidFill>
              <a:srgbClr val="0B1E4F"/>
            </a:solidFill>
            <a:prstDash val="solid"/>
          </a:ln>
        </p:spPr>
      </p:sp>
      <p:sp>
        <p:nvSpPr>
          <p:cNvPr id="7" name="Shape 5"/>
          <p:cNvSpPr/>
          <p:nvPr/>
        </p:nvSpPr>
        <p:spPr>
          <a:xfrm>
            <a:off x="960120" y="1408176"/>
            <a:ext cx="274320" cy="914"/>
          </a:xfrm>
          <a:prstGeom prst="line">
            <a:avLst/>
          </a:prstGeom>
          <a:noFill/>
          <a:ln w="15875">
            <a:solidFill>
              <a:srgbClr val="0B1E4F"/>
            </a:solidFill>
            <a:prstDash val="solid"/>
          </a:ln>
        </p:spPr>
      </p:sp>
      <p:sp>
        <p:nvSpPr>
          <p:cNvPr id="8" name="Shape 6"/>
          <p:cNvSpPr/>
          <p:nvPr/>
        </p:nvSpPr>
        <p:spPr>
          <a:xfrm flipH="1">
            <a:off x="987552" y="1517904"/>
            <a:ext cx="109728" cy="109728"/>
          </a:xfrm>
          <a:prstGeom prst="line">
            <a:avLst/>
          </a:prstGeom>
          <a:noFill/>
          <a:ln w="15875">
            <a:solidFill>
              <a:srgbClr val="0B1E4F"/>
            </a:solidFill>
            <a:prstDash val="solid"/>
          </a:ln>
        </p:spPr>
      </p:sp>
      <p:sp>
        <p:nvSpPr>
          <p:cNvPr id="9" name="Shape 7"/>
          <p:cNvSpPr/>
          <p:nvPr/>
        </p:nvSpPr>
        <p:spPr>
          <a:xfrm>
            <a:off x="1097280" y="1517904"/>
            <a:ext cx="109728" cy="109728"/>
          </a:xfrm>
          <a:prstGeom prst="line">
            <a:avLst/>
          </a:prstGeom>
          <a:noFill/>
          <a:ln w="15875">
            <a:solidFill>
              <a:srgbClr val="0B1E4F"/>
            </a:solidFill>
            <a:prstDash val="solid"/>
          </a:ln>
        </p:spPr>
      </p:sp>
      <p:sp>
        <p:nvSpPr>
          <p:cNvPr id="10" name="Text 8"/>
          <p:cNvSpPr txBox="1"/>
          <p:nvPr/>
        </p:nvSpPr>
        <p:spPr>
          <a:xfrm>
            <a:off x="228600" y="1627632"/>
            <a:ext cx="1737360" cy="182880"/>
          </a:xfrm>
          <a:prstGeom prst="rect">
            <a:avLst/>
          </a:prstGeom>
          <a:noFill/>
          <a:ln/>
        </p:spPr>
        <p:txBody>
          <a:bodyPr wrap="square" lIns="0" tIns="0" rIns="0" bIns="0" rtlCol="0" anchor="ctr"/>
          <a:lstStyle/>
          <a:p>
            <a:pPr algn="ctr" indent="0" marL="0">
              <a:buNone/>
            </a:pPr>
            <a:r>
              <a:rPr lang="en-US" sz="750" b="1" dirty="0">
                <a:solidFill>
                  <a:srgbClr val="0B1E4F"/>
                </a:solidFill>
                <a:latin typeface="Open Sans" pitchFamily="34" charset="0"/>
                <a:ea typeface="Open Sans" pitchFamily="34" charset="-122"/>
                <a:cs typeface="Open Sans" pitchFamily="34" charset="-120"/>
              </a:rPr>
              <a:t>Comerciante o Fiscalizador</a:t>
            </a:r>
            <a:endParaRPr lang="en-US" sz="750" dirty="0"/>
          </a:p>
        </p:txBody>
      </p:sp>
      <p:sp>
        <p:nvSpPr>
          <p:cNvPr id="11" name="Shape 9"/>
          <p:cNvSpPr/>
          <p:nvPr/>
        </p:nvSpPr>
        <p:spPr>
          <a:xfrm>
            <a:off x="1097280" y="1828800"/>
            <a:ext cx="914" cy="4553712"/>
          </a:xfrm>
          <a:prstGeom prst="line">
            <a:avLst/>
          </a:prstGeom>
          <a:noFill/>
          <a:ln w="12700">
            <a:solidFill>
              <a:srgbClr val="A9B6CC"/>
            </a:solidFill>
            <a:prstDash val="dash"/>
          </a:ln>
        </p:spPr>
      </p:sp>
      <p:sp>
        <p:nvSpPr>
          <p:cNvPr id="12" name="Shape 10"/>
          <p:cNvSpPr/>
          <p:nvPr/>
        </p:nvSpPr>
        <p:spPr>
          <a:xfrm>
            <a:off x="2148840" y="1188720"/>
            <a:ext cx="1737360" cy="365760"/>
          </a:xfrm>
          <a:prstGeom prst="roundRect">
            <a:avLst>
              <a:gd name="adj" fmla="val 20000"/>
            </a:avLst>
          </a:prstGeom>
          <a:solidFill>
            <a:srgbClr val="0B9468"/>
          </a:solidFill>
          <a:ln/>
          <a:effectLst>
            <a:outerShdw sx="100000" sy="100000" kx="0" ky="0" algn="bl" rotWithShape="0" blurRad="177800" dist="38100" dir="5400000">
              <a:srgbClr val="0B1E4F">
                <a:alpha val="15000"/>
              </a:srgbClr>
            </a:outerShdw>
          </a:effectLst>
        </p:spPr>
      </p:sp>
      <p:sp>
        <p:nvSpPr>
          <p:cNvPr id="13" name="Text 11"/>
          <p:cNvSpPr txBox="1"/>
          <p:nvPr/>
        </p:nvSpPr>
        <p:spPr>
          <a:xfrm>
            <a:off x="2194560" y="1188720"/>
            <a:ext cx="164592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App / navegador del celular</a:t>
            </a:r>
            <a:endParaRPr lang="en-US" sz="800" dirty="0"/>
          </a:p>
        </p:txBody>
      </p:sp>
      <p:sp>
        <p:nvSpPr>
          <p:cNvPr id="14" name="Shape 12"/>
          <p:cNvSpPr/>
          <p:nvPr/>
        </p:nvSpPr>
        <p:spPr>
          <a:xfrm>
            <a:off x="3017520" y="1554480"/>
            <a:ext cx="914" cy="4828032"/>
          </a:xfrm>
          <a:prstGeom prst="line">
            <a:avLst/>
          </a:prstGeom>
          <a:noFill/>
          <a:ln w="12700">
            <a:solidFill>
              <a:srgbClr val="A9B6CC"/>
            </a:solidFill>
            <a:prstDash val="dash"/>
          </a:ln>
        </p:spPr>
      </p:sp>
      <p:sp>
        <p:nvSpPr>
          <p:cNvPr id="15" name="Shape 13"/>
          <p:cNvSpPr/>
          <p:nvPr/>
        </p:nvSpPr>
        <p:spPr>
          <a:xfrm>
            <a:off x="4114800" y="1188720"/>
            <a:ext cx="1737360" cy="365760"/>
          </a:xfrm>
          <a:prstGeom prst="roundRect">
            <a:avLst>
              <a:gd name="adj" fmla="val 20000"/>
            </a:avLst>
          </a:prstGeom>
          <a:solidFill>
            <a:srgbClr val="0B1E4F"/>
          </a:solidFill>
          <a:ln/>
          <a:effectLst>
            <a:outerShdw sx="100000" sy="100000" kx="0" ky="0" algn="bl" rotWithShape="0" blurRad="177800" dist="38100" dir="5400000">
              <a:srgbClr val="0B1E4F">
                <a:alpha val="15000"/>
              </a:srgbClr>
            </a:outerShdw>
          </a:effectLst>
        </p:spPr>
      </p:sp>
      <p:sp>
        <p:nvSpPr>
          <p:cNvPr id="16" name="Text 14"/>
          <p:cNvSpPr txBox="1"/>
          <p:nvPr/>
        </p:nvSpPr>
        <p:spPr>
          <a:xfrm>
            <a:off x="4160520" y="1188720"/>
            <a:ext cx="164592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API REST</a:t>
            </a:r>
            <a:endParaRPr lang="en-US" sz="800" dirty="0"/>
          </a:p>
        </p:txBody>
      </p:sp>
      <p:sp>
        <p:nvSpPr>
          <p:cNvPr id="17" name="Shape 15"/>
          <p:cNvSpPr/>
          <p:nvPr/>
        </p:nvSpPr>
        <p:spPr>
          <a:xfrm>
            <a:off x="4983480" y="1554480"/>
            <a:ext cx="914" cy="4828032"/>
          </a:xfrm>
          <a:prstGeom prst="line">
            <a:avLst/>
          </a:prstGeom>
          <a:noFill/>
          <a:ln w="12700">
            <a:solidFill>
              <a:srgbClr val="A9B6CC"/>
            </a:solidFill>
            <a:prstDash val="dash"/>
          </a:ln>
        </p:spPr>
      </p:sp>
      <p:sp>
        <p:nvSpPr>
          <p:cNvPr id="18" name="Shape 16"/>
          <p:cNvSpPr/>
          <p:nvPr/>
        </p:nvSpPr>
        <p:spPr>
          <a:xfrm>
            <a:off x="6080760" y="1188720"/>
            <a:ext cx="1737360" cy="365760"/>
          </a:xfrm>
          <a:prstGeom prst="roundRect">
            <a:avLst>
              <a:gd name="adj" fmla="val 20000"/>
            </a:avLst>
          </a:prstGeom>
          <a:solidFill>
            <a:srgbClr val="0B1E4F"/>
          </a:solidFill>
          <a:ln/>
          <a:effectLst>
            <a:outerShdw sx="100000" sy="100000" kx="0" ky="0" algn="bl" rotWithShape="0" blurRad="177800" dist="38100" dir="5400000">
              <a:srgbClr val="0B1E4F">
                <a:alpha val="15000"/>
              </a:srgbClr>
            </a:outerShdw>
          </a:effectLst>
        </p:spPr>
      </p:sp>
      <p:sp>
        <p:nvSpPr>
          <p:cNvPr id="19" name="Text 17"/>
          <p:cNvSpPr txBox="1"/>
          <p:nvPr/>
        </p:nvSpPr>
        <p:spPr>
          <a:xfrm>
            <a:off x="6126480" y="1188720"/>
            <a:ext cx="164592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ServicioConstancia</a:t>
            </a:r>
            <a:endParaRPr lang="en-US" sz="800" dirty="0"/>
          </a:p>
        </p:txBody>
      </p:sp>
      <p:sp>
        <p:nvSpPr>
          <p:cNvPr id="20" name="Shape 18"/>
          <p:cNvSpPr/>
          <p:nvPr/>
        </p:nvSpPr>
        <p:spPr>
          <a:xfrm>
            <a:off x="6949440" y="1554480"/>
            <a:ext cx="914" cy="4828032"/>
          </a:xfrm>
          <a:prstGeom prst="line">
            <a:avLst/>
          </a:prstGeom>
          <a:noFill/>
          <a:ln w="12700">
            <a:solidFill>
              <a:srgbClr val="A9B6CC"/>
            </a:solidFill>
            <a:prstDash val="dash"/>
          </a:ln>
        </p:spPr>
      </p:sp>
      <p:sp>
        <p:nvSpPr>
          <p:cNvPr id="21" name="Shape 19"/>
          <p:cNvSpPr/>
          <p:nvPr/>
        </p:nvSpPr>
        <p:spPr>
          <a:xfrm>
            <a:off x="8046720" y="1188720"/>
            <a:ext cx="1737360" cy="365760"/>
          </a:xfrm>
          <a:prstGeom prst="roundRect">
            <a:avLst>
              <a:gd name="adj" fmla="val 20000"/>
            </a:avLst>
          </a:prstGeom>
          <a:solidFill>
            <a:srgbClr val="0B1E4F"/>
          </a:solidFill>
          <a:ln/>
          <a:effectLst>
            <a:outerShdw sx="100000" sy="100000" kx="0" ky="0" algn="bl" rotWithShape="0" blurRad="177800" dist="38100" dir="5400000">
              <a:srgbClr val="0B1E4F">
                <a:alpha val="15000"/>
              </a:srgbClr>
            </a:outerShdw>
          </a:effectLst>
        </p:spPr>
      </p:sp>
      <p:sp>
        <p:nvSpPr>
          <p:cNvPr id="22" name="Text 20"/>
          <p:cNvSpPr txBox="1"/>
          <p:nvPr/>
        </p:nvSpPr>
        <p:spPr>
          <a:xfrm>
            <a:off x="8092440" y="1188720"/>
            <a:ext cx="164592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ServicioLotes</a:t>
            </a:r>
            <a:endParaRPr lang="en-US" sz="800" dirty="0"/>
          </a:p>
        </p:txBody>
      </p:sp>
      <p:sp>
        <p:nvSpPr>
          <p:cNvPr id="23" name="Shape 21"/>
          <p:cNvSpPr/>
          <p:nvPr/>
        </p:nvSpPr>
        <p:spPr>
          <a:xfrm>
            <a:off x="8915400" y="1554480"/>
            <a:ext cx="914" cy="4828032"/>
          </a:xfrm>
          <a:prstGeom prst="line">
            <a:avLst/>
          </a:prstGeom>
          <a:noFill/>
          <a:ln w="12700">
            <a:solidFill>
              <a:srgbClr val="A9B6CC"/>
            </a:solidFill>
            <a:prstDash val="dash"/>
          </a:ln>
        </p:spPr>
      </p:sp>
      <p:sp>
        <p:nvSpPr>
          <p:cNvPr id="24" name="Shape 22"/>
          <p:cNvSpPr/>
          <p:nvPr/>
        </p:nvSpPr>
        <p:spPr>
          <a:xfrm>
            <a:off x="10058400" y="1188720"/>
            <a:ext cx="1737360" cy="365760"/>
          </a:xfrm>
          <a:prstGeom prst="roundRect">
            <a:avLst>
              <a:gd name="adj" fmla="val 20000"/>
            </a:avLst>
          </a:prstGeom>
          <a:solidFill>
            <a:srgbClr val="5B6B8C"/>
          </a:solidFill>
          <a:ln/>
          <a:effectLst>
            <a:outerShdw sx="100000" sy="100000" kx="0" ky="0" algn="bl" rotWithShape="0" blurRad="177800" dist="38100" dir="5400000">
              <a:srgbClr val="0B1E4F">
                <a:alpha val="15000"/>
              </a:srgbClr>
            </a:outerShdw>
          </a:effectLst>
        </p:spPr>
      </p:sp>
      <p:sp>
        <p:nvSpPr>
          <p:cNvPr id="25" name="Text 23"/>
          <p:cNvSpPr txBox="1"/>
          <p:nvPr/>
        </p:nvSpPr>
        <p:spPr>
          <a:xfrm>
            <a:off x="10104120" y="1188720"/>
            <a:ext cx="1645920"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PostgreSQL</a:t>
            </a:r>
            <a:endParaRPr lang="en-US" sz="800" dirty="0"/>
          </a:p>
        </p:txBody>
      </p:sp>
      <p:sp>
        <p:nvSpPr>
          <p:cNvPr id="26" name="Shape 24"/>
          <p:cNvSpPr/>
          <p:nvPr/>
        </p:nvSpPr>
        <p:spPr>
          <a:xfrm>
            <a:off x="10927080" y="1554480"/>
            <a:ext cx="914" cy="4828032"/>
          </a:xfrm>
          <a:prstGeom prst="line">
            <a:avLst/>
          </a:prstGeom>
          <a:noFill/>
          <a:ln w="12700">
            <a:solidFill>
              <a:srgbClr val="A9B6CC"/>
            </a:solidFill>
            <a:prstDash val="dash"/>
          </a:ln>
        </p:spPr>
      </p:sp>
      <p:sp>
        <p:nvSpPr>
          <p:cNvPr id="27" name="Shape 25"/>
          <p:cNvSpPr/>
          <p:nvPr/>
        </p:nvSpPr>
        <p:spPr>
          <a:xfrm>
            <a:off x="2962656" y="1828800"/>
            <a:ext cx="109728" cy="4592483"/>
          </a:xfrm>
          <a:prstGeom prst="rect">
            <a:avLst/>
          </a:prstGeom>
          <a:solidFill>
            <a:srgbClr val="E2F8EF"/>
          </a:solidFill>
          <a:ln w="9525">
            <a:solidFill>
              <a:srgbClr val="10B981"/>
            </a:solidFill>
            <a:prstDash val="solid"/>
          </a:ln>
        </p:spPr>
      </p:sp>
      <p:sp>
        <p:nvSpPr>
          <p:cNvPr id="28" name="Shape 26"/>
          <p:cNvSpPr/>
          <p:nvPr/>
        </p:nvSpPr>
        <p:spPr>
          <a:xfrm>
            <a:off x="932688" y="3610417"/>
            <a:ext cx="10158984" cy="1254557"/>
          </a:xfrm>
          <a:prstGeom prst="rect">
            <a:avLst/>
          </a:prstGeom>
          <a:ln w="12700">
            <a:solidFill>
              <a:srgbClr val="7B5CFF"/>
            </a:solidFill>
            <a:prstDash val="solid"/>
          </a:ln>
        </p:spPr>
      </p:sp>
      <p:sp>
        <p:nvSpPr>
          <p:cNvPr id="29" name="Shape 27"/>
          <p:cNvSpPr/>
          <p:nvPr/>
        </p:nvSpPr>
        <p:spPr>
          <a:xfrm>
            <a:off x="932688" y="3610417"/>
            <a:ext cx="329184" cy="155448"/>
          </a:xfrm>
          <a:prstGeom prst="rect">
            <a:avLst/>
          </a:prstGeom>
          <a:solidFill>
            <a:srgbClr val="7B5CFF"/>
          </a:solidFill>
          <a:ln/>
        </p:spPr>
      </p:sp>
      <p:sp>
        <p:nvSpPr>
          <p:cNvPr id="30" name="Text 28"/>
          <p:cNvSpPr txBox="1"/>
          <p:nvPr/>
        </p:nvSpPr>
        <p:spPr>
          <a:xfrm>
            <a:off x="932688" y="3610417"/>
            <a:ext cx="32918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Open Sans" pitchFamily="34" charset="0"/>
                <a:ea typeface="Open Sans" pitchFamily="34" charset="-122"/>
                <a:cs typeface="Open Sans" pitchFamily="34" charset="-120"/>
              </a:rPr>
              <a:t>alt</a:t>
            </a:r>
            <a:endParaRPr lang="en-US" sz="750" dirty="0"/>
          </a:p>
        </p:txBody>
      </p:sp>
      <p:sp>
        <p:nvSpPr>
          <p:cNvPr id="31" name="Shape 29"/>
          <p:cNvSpPr/>
          <p:nvPr/>
        </p:nvSpPr>
        <p:spPr>
          <a:xfrm>
            <a:off x="932688" y="4855830"/>
            <a:ext cx="10158984" cy="782726"/>
          </a:xfrm>
          <a:prstGeom prst="rect">
            <a:avLst/>
          </a:prstGeom>
          <a:ln w="12700">
            <a:solidFill>
              <a:srgbClr val="7B5CFF"/>
            </a:solidFill>
            <a:prstDash val="solid"/>
          </a:ln>
        </p:spPr>
      </p:sp>
      <p:sp>
        <p:nvSpPr>
          <p:cNvPr id="32" name="Shape 30"/>
          <p:cNvSpPr/>
          <p:nvPr/>
        </p:nvSpPr>
        <p:spPr>
          <a:xfrm>
            <a:off x="932688" y="4855830"/>
            <a:ext cx="329184" cy="155448"/>
          </a:xfrm>
          <a:prstGeom prst="rect">
            <a:avLst/>
          </a:prstGeom>
          <a:solidFill>
            <a:srgbClr val="7B5CFF"/>
          </a:solidFill>
          <a:ln/>
        </p:spPr>
      </p:sp>
      <p:sp>
        <p:nvSpPr>
          <p:cNvPr id="33" name="Text 31"/>
          <p:cNvSpPr txBox="1"/>
          <p:nvPr/>
        </p:nvSpPr>
        <p:spPr>
          <a:xfrm>
            <a:off x="932688" y="4855830"/>
            <a:ext cx="32918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Open Sans" pitchFamily="34" charset="0"/>
                <a:ea typeface="Open Sans" pitchFamily="34" charset="-122"/>
                <a:cs typeface="Open Sans" pitchFamily="34" charset="-120"/>
              </a:rPr>
              <a:t>alt</a:t>
            </a:r>
            <a:endParaRPr lang="en-US" sz="750" dirty="0"/>
          </a:p>
        </p:txBody>
      </p:sp>
      <p:sp>
        <p:nvSpPr>
          <p:cNvPr id="34" name="Shape 32"/>
          <p:cNvSpPr/>
          <p:nvPr/>
        </p:nvSpPr>
        <p:spPr>
          <a:xfrm>
            <a:off x="841248" y="2919131"/>
            <a:ext cx="10341864" cy="3483864"/>
          </a:xfrm>
          <a:prstGeom prst="rect">
            <a:avLst/>
          </a:prstGeom>
          <a:ln w="12700">
            <a:solidFill>
              <a:srgbClr val="7B5CFF"/>
            </a:solidFill>
            <a:prstDash val="solid"/>
          </a:ln>
        </p:spPr>
      </p:sp>
      <p:sp>
        <p:nvSpPr>
          <p:cNvPr id="35" name="Shape 33"/>
          <p:cNvSpPr/>
          <p:nvPr/>
        </p:nvSpPr>
        <p:spPr>
          <a:xfrm>
            <a:off x="841248" y="2919131"/>
            <a:ext cx="329184" cy="155448"/>
          </a:xfrm>
          <a:prstGeom prst="rect">
            <a:avLst/>
          </a:prstGeom>
          <a:solidFill>
            <a:srgbClr val="7B5CFF"/>
          </a:solidFill>
          <a:ln/>
        </p:spPr>
      </p:sp>
      <p:sp>
        <p:nvSpPr>
          <p:cNvPr id="36" name="Text 34"/>
          <p:cNvSpPr txBox="1"/>
          <p:nvPr/>
        </p:nvSpPr>
        <p:spPr>
          <a:xfrm>
            <a:off x="841248" y="2919131"/>
            <a:ext cx="329184" cy="155448"/>
          </a:xfrm>
          <a:prstGeom prst="rect">
            <a:avLst/>
          </a:prstGeom>
          <a:noFill/>
          <a:ln/>
        </p:spPr>
        <p:txBody>
          <a:bodyPr wrap="square" lIns="0" tIns="0" rIns="0" bIns="0" rtlCol="0" anchor="ctr"/>
          <a:lstStyle/>
          <a:p>
            <a:pPr algn="ctr" indent="0" marL="0">
              <a:buNone/>
            </a:pPr>
            <a:r>
              <a:rPr lang="en-US" sz="750" b="1" dirty="0">
                <a:solidFill>
                  <a:srgbClr val="FFFFFF"/>
                </a:solidFill>
                <a:latin typeface="Open Sans" pitchFamily="34" charset="0"/>
                <a:ea typeface="Open Sans" pitchFamily="34" charset="-122"/>
                <a:cs typeface="Open Sans" pitchFamily="34" charset="-120"/>
              </a:rPr>
              <a:t>alt</a:t>
            </a:r>
            <a:endParaRPr lang="en-US" sz="750" dirty="0"/>
          </a:p>
        </p:txBody>
      </p:sp>
      <p:sp>
        <p:nvSpPr>
          <p:cNvPr id="37" name="Shape 35"/>
          <p:cNvSpPr/>
          <p:nvPr/>
        </p:nvSpPr>
        <p:spPr>
          <a:xfrm rot="5400000">
            <a:off x="2880360" y="1897380"/>
            <a:ext cx="82296" cy="82296"/>
          </a:xfrm>
          <a:prstGeom prst="triangle">
            <a:avLst/>
          </a:prstGeom>
          <a:solidFill>
            <a:srgbClr val="0B1E4F"/>
          </a:solidFill>
          <a:ln/>
        </p:spPr>
      </p:sp>
      <p:sp>
        <p:nvSpPr>
          <p:cNvPr id="38" name="Shape 36"/>
          <p:cNvSpPr/>
          <p:nvPr/>
        </p:nvSpPr>
        <p:spPr>
          <a:xfrm>
            <a:off x="1097280" y="1938528"/>
            <a:ext cx="1791310" cy="914"/>
          </a:xfrm>
          <a:prstGeom prst="line">
            <a:avLst/>
          </a:prstGeom>
          <a:noFill/>
          <a:ln w="13970">
            <a:solidFill>
              <a:srgbClr val="0B1E4F"/>
            </a:solidFill>
            <a:prstDash val="solid"/>
          </a:ln>
        </p:spPr>
      </p:sp>
      <p:sp>
        <p:nvSpPr>
          <p:cNvPr id="39" name="Shape 37"/>
          <p:cNvSpPr/>
          <p:nvPr/>
        </p:nvSpPr>
        <p:spPr>
          <a:xfrm>
            <a:off x="1188720" y="1783080"/>
            <a:ext cx="838200" cy="128016"/>
          </a:xfrm>
          <a:prstGeom prst="roundRect">
            <a:avLst>
              <a:gd name="adj" fmla="val 14286"/>
            </a:avLst>
          </a:prstGeom>
          <a:solidFill>
            <a:srgbClr val="FFFFFF"/>
          </a:solidFill>
          <a:ln/>
        </p:spPr>
      </p:sp>
      <p:sp>
        <p:nvSpPr>
          <p:cNvPr id="40" name="Text 38"/>
          <p:cNvSpPr txBox="1"/>
          <p:nvPr/>
        </p:nvSpPr>
        <p:spPr>
          <a:xfrm>
            <a:off x="1207008" y="1783080"/>
            <a:ext cx="83820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 Escanear QR</a:t>
            </a:r>
            <a:endParaRPr lang="en-US" sz="700" dirty="0"/>
          </a:p>
        </p:txBody>
      </p:sp>
      <p:sp>
        <p:nvSpPr>
          <p:cNvPr id="41" name="Shape 39"/>
          <p:cNvSpPr/>
          <p:nvPr/>
        </p:nvSpPr>
        <p:spPr>
          <a:xfrm>
            <a:off x="3072384" y="2089404"/>
            <a:ext cx="274320" cy="914"/>
          </a:xfrm>
          <a:prstGeom prst="line">
            <a:avLst/>
          </a:prstGeom>
          <a:noFill/>
          <a:ln w="13970">
            <a:solidFill>
              <a:srgbClr val="0B1E4F"/>
            </a:solidFill>
            <a:prstDash val="solid"/>
          </a:ln>
        </p:spPr>
      </p:sp>
      <p:sp>
        <p:nvSpPr>
          <p:cNvPr id="42" name="Shape 40"/>
          <p:cNvSpPr/>
          <p:nvPr/>
        </p:nvSpPr>
        <p:spPr>
          <a:xfrm>
            <a:off x="3346704" y="2089404"/>
            <a:ext cx="914" cy="109728"/>
          </a:xfrm>
          <a:prstGeom prst="line">
            <a:avLst/>
          </a:prstGeom>
          <a:noFill/>
          <a:ln w="13970">
            <a:solidFill>
              <a:srgbClr val="0B1E4F"/>
            </a:solidFill>
            <a:prstDash val="solid"/>
          </a:ln>
        </p:spPr>
      </p:sp>
      <p:sp>
        <p:nvSpPr>
          <p:cNvPr id="43" name="Shape 41"/>
          <p:cNvSpPr/>
          <p:nvPr/>
        </p:nvSpPr>
        <p:spPr>
          <a:xfrm rot="16200000">
            <a:off x="3090672" y="2142348"/>
            <a:ext cx="113568" cy="113568"/>
          </a:xfrm>
          <a:prstGeom prst="triangle">
            <a:avLst/>
          </a:prstGeom>
          <a:solidFill>
            <a:srgbClr val="0B1E4F"/>
          </a:solidFill>
          <a:ln/>
        </p:spPr>
      </p:sp>
      <p:sp>
        <p:nvSpPr>
          <p:cNvPr id="44" name="Shape 42"/>
          <p:cNvSpPr/>
          <p:nvPr/>
        </p:nvSpPr>
        <p:spPr>
          <a:xfrm flipH="1">
            <a:off x="3192884" y="2199132"/>
            <a:ext cx="153820" cy="914"/>
          </a:xfrm>
          <a:prstGeom prst="line">
            <a:avLst/>
          </a:prstGeom>
          <a:noFill/>
          <a:ln w="13970">
            <a:solidFill>
              <a:srgbClr val="0B1E4F"/>
            </a:solidFill>
            <a:prstDash val="solid"/>
          </a:ln>
        </p:spPr>
      </p:sp>
      <p:sp>
        <p:nvSpPr>
          <p:cNvPr id="45" name="Shape 43"/>
          <p:cNvSpPr/>
          <p:nvPr/>
        </p:nvSpPr>
        <p:spPr>
          <a:xfrm>
            <a:off x="3401568" y="2043684"/>
            <a:ext cx="1424940" cy="146304"/>
          </a:xfrm>
          <a:prstGeom prst="roundRect">
            <a:avLst>
              <a:gd name="adj" fmla="val 12500"/>
            </a:avLst>
          </a:prstGeom>
          <a:solidFill>
            <a:srgbClr val="FFFFFF"/>
          </a:solidFill>
          <a:ln/>
        </p:spPr>
      </p:sp>
      <p:sp>
        <p:nvSpPr>
          <p:cNvPr id="46" name="Text 44"/>
          <p:cNvSpPr txBox="1"/>
          <p:nvPr/>
        </p:nvSpPr>
        <p:spPr>
          <a:xfrm>
            <a:off x="3419856" y="2043684"/>
            <a:ext cx="1424940" cy="146304"/>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2: Extraer (código, hash)</a:t>
            </a:r>
            <a:endParaRPr lang="en-US" sz="700" dirty="0"/>
          </a:p>
        </p:txBody>
      </p:sp>
      <p:sp>
        <p:nvSpPr>
          <p:cNvPr id="47" name="Shape 45"/>
          <p:cNvSpPr/>
          <p:nvPr/>
        </p:nvSpPr>
        <p:spPr>
          <a:xfrm rot="5400000">
            <a:off x="4901184" y="2322027"/>
            <a:ext cx="82296" cy="82296"/>
          </a:xfrm>
          <a:prstGeom prst="triangle">
            <a:avLst/>
          </a:prstGeom>
          <a:solidFill>
            <a:srgbClr val="0B1E4F"/>
          </a:solidFill>
          <a:ln/>
        </p:spPr>
      </p:sp>
      <p:sp>
        <p:nvSpPr>
          <p:cNvPr id="48" name="Shape 46"/>
          <p:cNvSpPr/>
          <p:nvPr/>
        </p:nvSpPr>
        <p:spPr>
          <a:xfrm>
            <a:off x="3072384" y="2363175"/>
            <a:ext cx="1837030" cy="914"/>
          </a:xfrm>
          <a:prstGeom prst="line">
            <a:avLst/>
          </a:prstGeom>
          <a:noFill/>
          <a:ln w="13970">
            <a:solidFill>
              <a:srgbClr val="0B1E4F"/>
            </a:solidFill>
            <a:prstDash val="solid"/>
          </a:ln>
        </p:spPr>
      </p:sp>
      <p:sp>
        <p:nvSpPr>
          <p:cNvPr id="49" name="Shape 47"/>
          <p:cNvSpPr/>
          <p:nvPr/>
        </p:nvSpPr>
        <p:spPr>
          <a:xfrm>
            <a:off x="3163824" y="2207727"/>
            <a:ext cx="2278380" cy="128016"/>
          </a:xfrm>
          <a:prstGeom prst="roundRect">
            <a:avLst>
              <a:gd name="adj" fmla="val 14286"/>
            </a:avLst>
          </a:prstGeom>
          <a:solidFill>
            <a:srgbClr val="FFFFFF"/>
          </a:solidFill>
          <a:ln/>
        </p:spPr>
      </p:sp>
      <p:sp>
        <p:nvSpPr>
          <p:cNvPr id="50" name="Text 48"/>
          <p:cNvSpPr txBox="1"/>
          <p:nvPr/>
        </p:nvSpPr>
        <p:spPr>
          <a:xfrm>
            <a:off x="3182112" y="2207727"/>
            <a:ext cx="227838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3: GET /constancias/{código}/verificacion</a:t>
            </a:r>
            <a:endParaRPr lang="en-US" sz="700" dirty="0"/>
          </a:p>
        </p:txBody>
      </p:sp>
      <p:sp>
        <p:nvSpPr>
          <p:cNvPr id="51" name="Shape 49"/>
          <p:cNvSpPr/>
          <p:nvPr/>
        </p:nvSpPr>
        <p:spPr>
          <a:xfrm rot="5400000">
            <a:off x="6867144" y="2479304"/>
            <a:ext cx="82296" cy="82296"/>
          </a:xfrm>
          <a:prstGeom prst="triangle">
            <a:avLst/>
          </a:prstGeom>
          <a:solidFill>
            <a:srgbClr val="0B1E4F"/>
          </a:solidFill>
          <a:ln/>
        </p:spPr>
      </p:sp>
      <p:sp>
        <p:nvSpPr>
          <p:cNvPr id="52" name="Shape 50"/>
          <p:cNvSpPr/>
          <p:nvPr/>
        </p:nvSpPr>
        <p:spPr>
          <a:xfrm>
            <a:off x="4983480" y="2520452"/>
            <a:ext cx="1891894" cy="914"/>
          </a:xfrm>
          <a:prstGeom prst="line">
            <a:avLst/>
          </a:prstGeom>
          <a:noFill/>
          <a:ln w="13970">
            <a:solidFill>
              <a:srgbClr val="0B1E4F"/>
            </a:solidFill>
            <a:prstDash val="solid"/>
          </a:ln>
        </p:spPr>
      </p:sp>
      <p:sp>
        <p:nvSpPr>
          <p:cNvPr id="53" name="Shape 51"/>
          <p:cNvSpPr/>
          <p:nvPr/>
        </p:nvSpPr>
        <p:spPr>
          <a:xfrm>
            <a:off x="5074920" y="2365004"/>
            <a:ext cx="1531620" cy="128016"/>
          </a:xfrm>
          <a:prstGeom prst="roundRect">
            <a:avLst>
              <a:gd name="adj" fmla="val 14286"/>
            </a:avLst>
          </a:prstGeom>
          <a:solidFill>
            <a:srgbClr val="FFFFFF"/>
          </a:solidFill>
          <a:ln/>
        </p:spPr>
      </p:sp>
      <p:sp>
        <p:nvSpPr>
          <p:cNvPr id="54" name="Text 52"/>
          <p:cNvSpPr txBox="1"/>
          <p:nvPr/>
        </p:nvSpPr>
        <p:spPr>
          <a:xfrm>
            <a:off x="5093208" y="2365004"/>
            <a:ext cx="153162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4: Verificar (código, hash)</a:t>
            </a:r>
            <a:endParaRPr lang="en-US" sz="700" dirty="0"/>
          </a:p>
        </p:txBody>
      </p:sp>
      <p:sp>
        <p:nvSpPr>
          <p:cNvPr id="55" name="Shape 53"/>
          <p:cNvSpPr/>
          <p:nvPr/>
        </p:nvSpPr>
        <p:spPr>
          <a:xfrm rot="5400000">
            <a:off x="10844784" y="2636581"/>
            <a:ext cx="82296" cy="82296"/>
          </a:xfrm>
          <a:prstGeom prst="triangle">
            <a:avLst/>
          </a:prstGeom>
          <a:solidFill>
            <a:srgbClr val="0B1E4F"/>
          </a:solidFill>
          <a:ln/>
        </p:spPr>
      </p:sp>
      <p:sp>
        <p:nvSpPr>
          <p:cNvPr id="56" name="Shape 54"/>
          <p:cNvSpPr/>
          <p:nvPr/>
        </p:nvSpPr>
        <p:spPr>
          <a:xfrm>
            <a:off x="6949440" y="2677729"/>
            <a:ext cx="3903574" cy="914"/>
          </a:xfrm>
          <a:prstGeom prst="line">
            <a:avLst/>
          </a:prstGeom>
          <a:noFill/>
          <a:ln w="13970">
            <a:solidFill>
              <a:srgbClr val="0B1E4F"/>
            </a:solidFill>
            <a:prstDash val="solid"/>
          </a:ln>
        </p:spPr>
      </p:sp>
      <p:sp>
        <p:nvSpPr>
          <p:cNvPr id="57" name="Shape 55"/>
          <p:cNvSpPr/>
          <p:nvPr/>
        </p:nvSpPr>
        <p:spPr>
          <a:xfrm>
            <a:off x="7040880" y="2522281"/>
            <a:ext cx="1318260" cy="128016"/>
          </a:xfrm>
          <a:prstGeom prst="roundRect">
            <a:avLst>
              <a:gd name="adj" fmla="val 14286"/>
            </a:avLst>
          </a:prstGeom>
          <a:solidFill>
            <a:srgbClr val="FFFFFF"/>
          </a:solidFill>
          <a:ln/>
        </p:spPr>
      </p:sp>
      <p:sp>
        <p:nvSpPr>
          <p:cNvPr id="58" name="Text 56"/>
          <p:cNvSpPr txBox="1"/>
          <p:nvPr/>
        </p:nvSpPr>
        <p:spPr>
          <a:xfrm>
            <a:off x="7059168" y="2522281"/>
            <a:ext cx="131826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5: Consultar constancia</a:t>
            </a:r>
            <a:endParaRPr lang="en-US" sz="700" dirty="0"/>
          </a:p>
        </p:txBody>
      </p:sp>
      <p:sp>
        <p:nvSpPr>
          <p:cNvPr id="59" name="Shape 57"/>
          <p:cNvSpPr/>
          <p:nvPr/>
        </p:nvSpPr>
        <p:spPr>
          <a:xfrm rot="16200000">
            <a:off x="6949440" y="2793858"/>
            <a:ext cx="82296" cy="82296"/>
          </a:xfrm>
          <a:prstGeom prst="triangle">
            <a:avLst/>
          </a:prstGeom>
          <a:solidFill>
            <a:srgbClr val="4A5878"/>
          </a:solidFill>
          <a:ln/>
        </p:spPr>
      </p:sp>
      <p:sp>
        <p:nvSpPr>
          <p:cNvPr id="60" name="Shape 58"/>
          <p:cNvSpPr/>
          <p:nvPr/>
        </p:nvSpPr>
        <p:spPr>
          <a:xfrm flipH="1">
            <a:off x="7023506" y="2835006"/>
            <a:ext cx="3903574" cy="914"/>
          </a:xfrm>
          <a:prstGeom prst="line">
            <a:avLst/>
          </a:prstGeom>
          <a:noFill/>
          <a:ln w="13970">
            <a:solidFill>
              <a:srgbClr val="4A5878"/>
            </a:solidFill>
            <a:prstDash val="dash"/>
          </a:ln>
        </p:spPr>
      </p:sp>
      <p:sp>
        <p:nvSpPr>
          <p:cNvPr id="61" name="Shape 59"/>
          <p:cNvSpPr/>
          <p:nvPr/>
        </p:nvSpPr>
        <p:spPr>
          <a:xfrm>
            <a:off x="7040880" y="2679558"/>
            <a:ext cx="1584960" cy="128016"/>
          </a:xfrm>
          <a:prstGeom prst="roundRect">
            <a:avLst>
              <a:gd name="adj" fmla="val 14286"/>
            </a:avLst>
          </a:prstGeom>
          <a:solidFill>
            <a:srgbClr val="FFFFFF"/>
          </a:solidFill>
          <a:ln/>
        </p:spPr>
      </p:sp>
      <p:sp>
        <p:nvSpPr>
          <p:cNvPr id="62" name="Text 60"/>
          <p:cNvSpPr txBox="1"/>
          <p:nvPr/>
        </p:nvSpPr>
        <p:spPr>
          <a:xfrm>
            <a:off x="7059168" y="2679558"/>
            <a:ext cx="1584960" cy="128016"/>
          </a:xfrm>
          <a:prstGeom prst="rect">
            <a:avLst/>
          </a:prstGeom>
          <a:noFill/>
          <a:ln/>
        </p:spPr>
        <p:txBody>
          <a:bodyPr wrap="square" lIns="0" tIns="0" rIns="0" bIns="0" rtlCol="0" anchor="ctr"/>
          <a:lstStyle/>
          <a:p>
            <a:pPr indent="0" marL="0">
              <a:buNone/>
            </a:pPr>
            <a:r>
              <a:rPr lang="en-US" sz="700" b="1" dirty="0">
                <a:solidFill>
                  <a:srgbClr val="4A5878"/>
                </a:solidFill>
                <a:latin typeface="Open Sans" pitchFamily="34" charset="0"/>
                <a:ea typeface="Open Sans" pitchFamily="34" charset="-122"/>
                <a:cs typeface="Open Sans" pitchFamily="34" charset="-120"/>
              </a:rPr>
              <a:t>6: Retornar datos constancia</a:t>
            </a:r>
            <a:endParaRPr lang="en-US" sz="700" dirty="0"/>
          </a:p>
        </p:txBody>
      </p:sp>
      <p:sp>
        <p:nvSpPr>
          <p:cNvPr id="63" name="Shape 61"/>
          <p:cNvSpPr/>
          <p:nvPr/>
        </p:nvSpPr>
        <p:spPr>
          <a:xfrm>
            <a:off x="3127248" y="2928275"/>
            <a:ext cx="1824990" cy="155448"/>
          </a:xfrm>
          <a:prstGeom prst="roundRect">
            <a:avLst>
              <a:gd name="adj" fmla="val 11765"/>
            </a:avLst>
          </a:prstGeom>
          <a:solidFill>
            <a:srgbClr val="FFFFFF"/>
          </a:solidFill>
          <a:ln/>
        </p:spPr>
      </p:sp>
      <p:sp>
        <p:nvSpPr>
          <p:cNvPr id="64" name="Text 62"/>
          <p:cNvSpPr txBox="1"/>
          <p:nvPr/>
        </p:nvSpPr>
        <p:spPr>
          <a:xfrm>
            <a:off x="3145536" y="2928275"/>
            <a:ext cx="1824990" cy="155448"/>
          </a:xfrm>
          <a:prstGeom prst="rect">
            <a:avLst/>
          </a:prstGeom>
          <a:noFill/>
          <a:ln/>
        </p:spPr>
        <p:txBody>
          <a:bodyPr wrap="square" lIns="0" tIns="0" rIns="0" bIns="0" rtlCol="0" anchor="ctr"/>
          <a:lstStyle/>
          <a:p>
            <a:pPr indent="0" marL="0">
              <a:buNone/>
            </a:pPr>
            <a:r>
              <a:rPr lang="en-US" sz="650" b="1" i="1" dirty="0">
                <a:solidFill>
                  <a:srgbClr val="5B3EE0"/>
                </a:solidFill>
                <a:latin typeface="Open Sans" pitchFamily="34" charset="0"/>
                <a:ea typeface="Open Sans" pitchFamily="34" charset="-122"/>
                <a:cs typeface="Open Sans" pitchFamily="34" charset="-120"/>
              </a:rPr>
              <a:t>[hash coincide y estado == EMITIDO]</a:t>
            </a:r>
            <a:endParaRPr lang="en-US" sz="650" dirty="0"/>
          </a:p>
        </p:txBody>
      </p:sp>
      <p:sp>
        <p:nvSpPr>
          <p:cNvPr id="65" name="Shape 63"/>
          <p:cNvSpPr/>
          <p:nvPr/>
        </p:nvSpPr>
        <p:spPr>
          <a:xfrm rot="16200000">
            <a:off x="4983480" y="3170591"/>
            <a:ext cx="82296" cy="82296"/>
          </a:xfrm>
          <a:prstGeom prst="triangle">
            <a:avLst/>
          </a:prstGeom>
          <a:solidFill>
            <a:srgbClr val="4A5878"/>
          </a:solidFill>
          <a:ln/>
        </p:spPr>
      </p:sp>
      <p:sp>
        <p:nvSpPr>
          <p:cNvPr id="66" name="Shape 64"/>
          <p:cNvSpPr/>
          <p:nvPr/>
        </p:nvSpPr>
        <p:spPr>
          <a:xfrm flipH="1">
            <a:off x="5057546" y="3211739"/>
            <a:ext cx="1891894" cy="914"/>
          </a:xfrm>
          <a:prstGeom prst="line">
            <a:avLst/>
          </a:prstGeom>
          <a:noFill/>
          <a:ln w="13970">
            <a:solidFill>
              <a:srgbClr val="4A5878"/>
            </a:solidFill>
            <a:prstDash val="dash"/>
          </a:ln>
        </p:spPr>
      </p:sp>
      <p:sp>
        <p:nvSpPr>
          <p:cNvPr id="67" name="Shape 65"/>
          <p:cNvSpPr/>
          <p:nvPr/>
        </p:nvSpPr>
        <p:spPr>
          <a:xfrm>
            <a:off x="5074920" y="3056291"/>
            <a:ext cx="1638300" cy="128016"/>
          </a:xfrm>
          <a:prstGeom prst="roundRect">
            <a:avLst>
              <a:gd name="adj" fmla="val 14286"/>
            </a:avLst>
          </a:prstGeom>
          <a:solidFill>
            <a:srgbClr val="FFFFFF"/>
          </a:solidFill>
          <a:ln/>
        </p:spPr>
      </p:sp>
      <p:sp>
        <p:nvSpPr>
          <p:cNvPr id="68" name="Text 66"/>
          <p:cNvSpPr txBox="1"/>
          <p:nvPr/>
        </p:nvSpPr>
        <p:spPr>
          <a:xfrm>
            <a:off x="5093208" y="3056291"/>
            <a:ext cx="1638300" cy="128016"/>
          </a:xfrm>
          <a:prstGeom prst="rect">
            <a:avLst/>
          </a:prstGeom>
          <a:noFill/>
          <a:ln/>
        </p:spPr>
        <p:txBody>
          <a:bodyPr wrap="square" lIns="0" tIns="0" rIns="0" bIns="0" rtlCol="0" anchor="ctr"/>
          <a:lstStyle/>
          <a:p>
            <a:pPr indent="0" marL="0">
              <a:buNone/>
            </a:pPr>
            <a:r>
              <a:rPr lang="en-US" sz="700" b="1" dirty="0">
                <a:solidFill>
                  <a:srgbClr val="4A5878"/>
                </a:solidFill>
                <a:latin typeface="Open Sans" pitchFamily="34" charset="0"/>
                <a:ea typeface="Open Sans" pitchFamily="34" charset="-122"/>
                <a:cs typeface="Open Sans" pitchFamily="34" charset="-120"/>
              </a:rPr>
              <a:t>7: Retornar constancia válida</a:t>
            </a:r>
            <a:endParaRPr lang="en-US" sz="700" dirty="0"/>
          </a:p>
        </p:txBody>
      </p:sp>
      <p:sp>
        <p:nvSpPr>
          <p:cNvPr id="69" name="Shape 67"/>
          <p:cNvSpPr/>
          <p:nvPr/>
        </p:nvSpPr>
        <p:spPr>
          <a:xfrm rot="16200000">
            <a:off x="3072384" y="3327867"/>
            <a:ext cx="82296" cy="82296"/>
          </a:xfrm>
          <a:prstGeom prst="triangle">
            <a:avLst/>
          </a:prstGeom>
          <a:solidFill>
            <a:srgbClr val="4A5878"/>
          </a:solidFill>
          <a:ln/>
        </p:spPr>
      </p:sp>
      <p:sp>
        <p:nvSpPr>
          <p:cNvPr id="70" name="Shape 68"/>
          <p:cNvSpPr/>
          <p:nvPr/>
        </p:nvSpPr>
        <p:spPr>
          <a:xfrm flipH="1">
            <a:off x="3146450" y="3369015"/>
            <a:ext cx="1837030" cy="914"/>
          </a:xfrm>
          <a:prstGeom prst="line">
            <a:avLst/>
          </a:prstGeom>
          <a:noFill/>
          <a:ln w="13970">
            <a:solidFill>
              <a:srgbClr val="4A5878"/>
            </a:solidFill>
            <a:prstDash val="dash"/>
          </a:ln>
        </p:spPr>
      </p:sp>
      <p:sp>
        <p:nvSpPr>
          <p:cNvPr id="71" name="Shape 69"/>
          <p:cNvSpPr/>
          <p:nvPr/>
        </p:nvSpPr>
        <p:spPr>
          <a:xfrm>
            <a:off x="3163824" y="3213567"/>
            <a:ext cx="838200" cy="128016"/>
          </a:xfrm>
          <a:prstGeom prst="roundRect">
            <a:avLst>
              <a:gd name="adj" fmla="val 14286"/>
            </a:avLst>
          </a:prstGeom>
          <a:solidFill>
            <a:srgbClr val="FFFFFF"/>
          </a:solidFill>
          <a:ln/>
        </p:spPr>
      </p:sp>
      <p:sp>
        <p:nvSpPr>
          <p:cNvPr id="72" name="Text 70"/>
          <p:cNvSpPr txBox="1"/>
          <p:nvPr/>
        </p:nvSpPr>
        <p:spPr>
          <a:xfrm>
            <a:off x="3182112" y="3213567"/>
            <a:ext cx="838200" cy="128016"/>
          </a:xfrm>
          <a:prstGeom prst="rect">
            <a:avLst/>
          </a:prstGeom>
          <a:noFill/>
          <a:ln/>
        </p:spPr>
        <p:txBody>
          <a:bodyPr wrap="square" lIns="0" tIns="0" rIns="0" bIns="0" rtlCol="0" anchor="ctr"/>
          <a:lstStyle/>
          <a:p>
            <a:pPr indent="0" marL="0">
              <a:buNone/>
            </a:pPr>
            <a:r>
              <a:rPr lang="en-US" sz="700" b="1" dirty="0">
                <a:solidFill>
                  <a:srgbClr val="4A5878"/>
                </a:solidFill>
                <a:latin typeface="Open Sans" pitchFamily="34" charset="0"/>
                <a:ea typeface="Open Sans" pitchFamily="34" charset="-122"/>
                <a:cs typeface="Open Sans" pitchFamily="34" charset="-120"/>
              </a:rPr>
              <a:t>8: HTTP 200 OK</a:t>
            </a:r>
            <a:endParaRPr lang="en-US" sz="700" dirty="0"/>
          </a:p>
        </p:txBody>
      </p:sp>
      <p:sp>
        <p:nvSpPr>
          <p:cNvPr id="73" name="Shape 71"/>
          <p:cNvSpPr/>
          <p:nvPr/>
        </p:nvSpPr>
        <p:spPr>
          <a:xfrm rot="16200000">
            <a:off x="1097280" y="3485144"/>
            <a:ext cx="82296" cy="82296"/>
          </a:xfrm>
          <a:prstGeom prst="triangle">
            <a:avLst/>
          </a:prstGeom>
          <a:solidFill>
            <a:srgbClr val="0B9468"/>
          </a:solidFill>
          <a:ln/>
        </p:spPr>
      </p:sp>
      <p:sp>
        <p:nvSpPr>
          <p:cNvPr id="74" name="Shape 72"/>
          <p:cNvSpPr/>
          <p:nvPr/>
        </p:nvSpPr>
        <p:spPr>
          <a:xfrm flipH="1">
            <a:off x="1171346" y="3526292"/>
            <a:ext cx="1791310" cy="914"/>
          </a:xfrm>
          <a:prstGeom prst="line">
            <a:avLst/>
          </a:prstGeom>
          <a:noFill/>
          <a:ln w="13970">
            <a:solidFill>
              <a:srgbClr val="0B9468"/>
            </a:solidFill>
            <a:prstDash val="dash"/>
          </a:ln>
        </p:spPr>
      </p:sp>
      <p:sp>
        <p:nvSpPr>
          <p:cNvPr id="75" name="Shape 73"/>
          <p:cNvSpPr/>
          <p:nvPr/>
        </p:nvSpPr>
        <p:spPr>
          <a:xfrm>
            <a:off x="1188720" y="3370844"/>
            <a:ext cx="1691640" cy="128016"/>
          </a:xfrm>
          <a:prstGeom prst="roundRect">
            <a:avLst>
              <a:gd name="adj" fmla="val 14286"/>
            </a:avLst>
          </a:prstGeom>
          <a:solidFill>
            <a:srgbClr val="FFFFFF"/>
          </a:solidFill>
          <a:ln/>
        </p:spPr>
      </p:sp>
      <p:sp>
        <p:nvSpPr>
          <p:cNvPr id="76" name="Text 74"/>
          <p:cNvSpPr txBox="1"/>
          <p:nvPr/>
        </p:nvSpPr>
        <p:spPr>
          <a:xfrm>
            <a:off x="1207008" y="3370844"/>
            <a:ext cx="1691640" cy="128016"/>
          </a:xfrm>
          <a:prstGeom prst="rect">
            <a:avLst/>
          </a:prstGeom>
          <a:noFill/>
          <a:ln/>
        </p:spPr>
        <p:txBody>
          <a:bodyPr wrap="square" lIns="0" tIns="0" rIns="0" bIns="0" rtlCol="0" anchor="ctr"/>
          <a:lstStyle/>
          <a:p>
            <a:pPr indent="0" marL="0">
              <a:buNone/>
            </a:pPr>
            <a:r>
              <a:rPr lang="en-US" sz="700" b="1" dirty="0">
                <a:solidFill>
                  <a:srgbClr val="0B9468"/>
                </a:solidFill>
                <a:latin typeface="Open Sans" pitchFamily="34" charset="0"/>
                <a:ea typeface="Open Sans" pitchFamily="34" charset="-122"/>
                <a:cs typeface="Open Sans" pitchFamily="34" charset="-120"/>
              </a:rPr>
              <a:t>9: Mostrar «Constancia VÁLIDA»</a:t>
            </a:r>
            <a:endParaRPr lang="en-US" sz="700" dirty="0"/>
          </a:p>
        </p:txBody>
      </p:sp>
      <p:sp>
        <p:nvSpPr>
          <p:cNvPr id="77" name="Shape 75"/>
          <p:cNvSpPr/>
          <p:nvPr/>
        </p:nvSpPr>
        <p:spPr>
          <a:xfrm>
            <a:off x="3127248" y="3619561"/>
            <a:ext cx="1626870" cy="155448"/>
          </a:xfrm>
          <a:prstGeom prst="roundRect">
            <a:avLst>
              <a:gd name="adj" fmla="val 11765"/>
            </a:avLst>
          </a:prstGeom>
          <a:solidFill>
            <a:srgbClr val="FFFFFF"/>
          </a:solidFill>
          <a:ln/>
        </p:spPr>
      </p:sp>
      <p:sp>
        <p:nvSpPr>
          <p:cNvPr id="78" name="Text 76"/>
          <p:cNvSpPr txBox="1"/>
          <p:nvPr/>
        </p:nvSpPr>
        <p:spPr>
          <a:xfrm>
            <a:off x="3145536" y="3619561"/>
            <a:ext cx="1626870" cy="155448"/>
          </a:xfrm>
          <a:prstGeom prst="rect">
            <a:avLst/>
          </a:prstGeom>
          <a:noFill/>
          <a:ln/>
        </p:spPr>
        <p:txBody>
          <a:bodyPr wrap="square" lIns="0" tIns="0" rIns="0" bIns="0" rtlCol="0" anchor="ctr"/>
          <a:lstStyle/>
          <a:p>
            <a:pPr indent="0" marL="0">
              <a:buNone/>
            </a:pPr>
            <a:r>
              <a:rPr lang="en-US" sz="650" b="1" i="1" dirty="0">
                <a:solidFill>
                  <a:srgbClr val="5B3EE0"/>
                </a:solidFill>
                <a:latin typeface="Open Sans" pitchFamily="34" charset="0"/>
                <a:ea typeface="Open Sans" pitchFamily="34" charset="-122"/>
                <a:cs typeface="Open Sans" pitchFamily="34" charset="-120"/>
              </a:rPr>
              <a:t>[el comerciante recibe su lote]</a:t>
            </a:r>
            <a:endParaRPr lang="en-US" sz="650" dirty="0"/>
          </a:p>
        </p:txBody>
      </p:sp>
      <p:sp>
        <p:nvSpPr>
          <p:cNvPr id="79" name="Shape 77"/>
          <p:cNvSpPr/>
          <p:nvPr/>
        </p:nvSpPr>
        <p:spPr>
          <a:xfrm rot="5400000">
            <a:off x="2880360" y="3861877"/>
            <a:ext cx="82296" cy="82296"/>
          </a:xfrm>
          <a:prstGeom prst="triangle">
            <a:avLst/>
          </a:prstGeom>
          <a:solidFill>
            <a:srgbClr val="0B1E4F"/>
          </a:solidFill>
          <a:ln/>
        </p:spPr>
      </p:sp>
      <p:sp>
        <p:nvSpPr>
          <p:cNvPr id="80" name="Shape 78"/>
          <p:cNvSpPr/>
          <p:nvPr/>
        </p:nvSpPr>
        <p:spPr>
          <a:xfrm>
            <a:off x="1097280" y="3903025"/>
            <a:ext cx="1791310" cy="914"/>
          </a:xfrm>
          <a:prstGeom prst="line">
            <a:avLst/>
          </a:prstGeom>
          <a:noFill/>
          <a:ln w="13970">
            <a:solidFill>
              <a:srgbClr val="0B1E4F"/>
            </a:solidFill>
            <a:prstDash val="solid"/>
          </a:ln>
        </p:spPr>
      </p:sp>
      <p:sp>
        <p:nvSpPr>
          <p:cNvPr id="81" name="Shape 79"/>
          <p:cNvSpPr/>
          <p:nvPr/>
        </p:nvSpPr>
        <p:spPr>
          <a:xfrm>
            <a:off x="1188720" y="3747577"/>
            <a:ext cx="1905000" cy="128016"/>
          </a:xfrm>
          <a:prstGeom prst="roundRect">
            <a:avLst>
              <a:gd name="adj" fmla="val 14286"/>
            </a:avLst>
          </a:prstGeom>
          <a:solidFill>
            <a:srgbClr val="FFFFFF"/>
          </a:solidFill>
          <a:ln/>
        </p:spPr>
      </p:sp>
      <p:sp>
        <p:nvSpPr>
          <p:cNvPr id="82" name="Text 80"/>
          <p:cNvSpPr txBox="1"/>
          <p:nvPr/>
        </p:nvSpPr>
        <p:spPr>
          <a:xfrm>
            <a:off x="1207008" y="3747577"/>
            <a:ext cx="190500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10: ConfirmarRecepcionLote(idLote)</a:t>
            </a:r>
            <a:endParaRPr lang="en-US" sz="700" dirty="0"/>
          </a:p>
        </p:txBody>
      </p:sp>
      <p:sp>
        <p:nvSpPr>
          <p:cNvPr id="83" name="Shape 81"/>
          <p:cNvSpPr/>
          <p:nvPr/>
        </p:nvSpPr>
        <p:spPr>
          <a:xfrm rot="5400000">
            <a:off x="4901184" y="4019154"/>
            <a:ext cx="82296" cy="82296"/>
          </a:xfrm>
          <a:prstGeom prst="triangle">
            <a:avLst/>
          </a:prstGeom>
          <a:solidFill>
            <a:srgbClr val="0B1E4F"/>
          </a:solidFill>
          <a:ln/>
        </p:spPr>
      </p:sp>
      <p:sp>
        <p:nvSpPr>
          <p:cNvPr id="84" name="Shape 82"/>
          <p:cNvSpPr/>
          <p:nvPr/>
        </p:nvSpPr>
        <p:spPr>
          <a:xfrm>
            <a:off x="3072384" y="4060302"/>
            <a:ext cx="1837030" cy="914"/>
          </a:xfrm>
          <a:prstGeom prst="line">
            <a:avLst/>
          </a:prstGeom>
          <a:noFill/>
          <a:ln w="13970">
            <a:solidFill>
              <a:srgbClr val="0B1E4F"/>
            </a:solidFill>
            <a:prstDash val="solid"/>
          </a:ln>
        </p:spPr>
      </p:sp>
      <p:sp>
        <p:nvSpPr>
          <p:cNvPr id="85" name="Shape 83"/>
          <p:cNvSpPr/>
          <p:nvPr/>
        </p:nvSpPr>
        <p:spPr>
          <a:xfrm>
            <a:off x="3163824" y="3904854"/>
            <a:ext cx="1905000" cy="128016"/>
          </a:xfrm>
          <a:prstGeom prst="roundRect">
            <a:avLst>
              <a:gd name="adj" fmla="val 14286"/>
            </a:avLst>
          </a:prstGeom>
          <a:solidFill>
            <a:srgbClr val="FFFFFF"/>
          </a:solidFill>
          <a:ln/>
        </p:spPr>
      </p:sp>
      <p:sp>
        <p:nvSpPr>
          <p:cNvPr id="86" name="Text 84"/>
          <p:cNvSpPr txBox="1"/>
          <p:nvPr/>
        </p:nvSpPr>
        <p:spPr>
          <a:xfrm>
            <a:off x="3182112" y="3904854"/>
            <a:ext cx="190500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11: POST /lotes/{idLote}/recepcion</a:t>
            </a:r>
            <a:endParaRPr lang="en-US" sz="700" dirty="0"/>
          </a:p>
        </p:txBody>
      </p:sp>
      <p:sp>
        <p:nvSpPr>
          <p:cNvPr id="87" name="Shape 85"/>
          <p:cNvSpPr/>
          <p:nvPr/>
        </p:nvSpPr>
        <p:spPr>
          <a:xfrm rot="5400000">
            <a:off x="8833104" y="4176431"/>
            <a:ext cx="82296" cy="82296"/>
          </a:xfrm>
          <a:prstGeom prst="triangle">
            <a:avLst/>
          </a:prstGeom>
          <a:solidFill>
            <a:srgbClr val="0B1E4F"/>
          </a:solidFill>
          <a:ln/>
        </p:spPr>
      </p:sp>
      <p:sp>
        <p:nvSpPr>
          <p:cNvPr id="88" name="Shape 86"/>
          <p:cNvSpPr/>
          <p:nvPr/>
        </p:nvSpPr>
        <p:spPr>
          <a:xfrm>
            <a:off x="4983480" y="4217579"/>
            <a:ext cx="3857854" cy="914"/>
          </a:xfrm>
          <a:prstGeom prst="line">
            <a:avLst/>
          </a:prstGeom>
          <a:noFill/>
          <a:ln w="13970">
            <a:solidFill>
              <a:srgbClr val="0B1E4F"/>
            </a:solidFill>
            <a:prstDash val="solid"/>
          </a:ln>
        </p:spPr>
      </p:sp>
      <p:sp>
        <p:nvSpPr>
          <p:cNvPr id="89" name="Shape 87"/>
          <p:cNvSpPr/>
          <p:nvPr/>
        </p:nvSpPr>
        <p:spPr>
          <a:xfrm>
            <a:off x="5074920" y="4062131"/>
            <a:ext cx="2225040" cy="128016"/>
          </a:xfrm>
          <a:prstGeom prst="roundRect">
            <a:avLst>
              <a:gd name="adj" fmla="val 14286"/>
            </a:avLst>
          </a:prstGeom>
          <a:solidFill>
            <a:srgbClr val="FFFFFF"/>
          </a:solidFill>
          <a:ln/>
        </p:spPr>
      </p:sp>
      <p:sp>
        <p:nvSpPr>
          <p:cNvPr id="90" name="Text 88"/>
          <p:cNvSpPr txBox="1"/>
          <p:nvPr/>
        </p:nvSpPr>
        <p:spPr>
          <a:xfrm>
            <a:off x="5093208" y="4062131"/>
            <a:ext cx="222504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12: ProcesarRecepcion(idLote, idUsuario)</a:t>
            </a:r>
            <a:endParaRPr lang="en-US" sz="700" dirty="0"/>
          </a:p>
        </p:txBody>
      </p:sp>
      <p:sp>
        <p:nvSpPr>
          <p:cNvPr id="91" name="Shape 89"/>
          <p:cNvSpPr/>
          <p:nvPr/>
        </p:nvSpPr>
        <p:spPr>
          <a:xfrm rot="5400000">
            <a:off x="10844784" y="4333707"/>
            <a:ext cx="82296" cy="82296"/>
          </a:xfrm>
          <a:prstGeom prst="triangle">
            <a:avLst/>
          </a:prstGeom>
          <a:solidFill>
            <a:srgbClr val="0B1E4F"/>
          </a:solidFill>
          <a:ln/>
        </p:spPr>
      </p:sp>
      <p:sp>
        <p:nvSpPr>
          <p:cNvPr id="92" name="Shape 90"/>
          <p:cNvSpPr/>
          <p:nvPr/>
        </p:nvSpPr>
        <p:spPr>
          <a:xfrm>
            <a:off x="8915400" y="4374855"/>
            <a:ext cx="1937614" cy="914"/>
          </a:xfrm>
          <a:prstGeom prst="line">
            <a:avLst/>
          </a:prstGeom>
          <a:noFill/>
          <a:ln w="13970">
            <a:solidFill>
              <a:srgbClr val="0B1E4F"/>
            </a:solidFill>
            <a:prstDash val="solid"/>
          </a:ln>
        </p:spPr>
      </p:sp>
      <p:sp>
        <p:nvSpPr>
          <p:cNvPr id="93" name="Shape 91"/>
          <p:cNvSpPr/>
          <p:nvPr/>
        </p:nvSpPr>
        <p:spPr>
          <a:xfrm>
            <a:off x="9006840" y="4219407"/>
            <a:ext cx="2171700" cy="128016"/>
          </a:xfrm>
          <a:prstGeom prst="roundRect">
            <a:avLst>
              <a:gd name="adj" fmla="val 14286"/>
            </a:avLst>
          </a:prstGeom>
          <a:solidFill>
            <a:srgbClr val="FFFFFF"/>
          </a:solidFill>
          <a:ln/>
        </p:spPr>
      </p:sp>
      <p:sp>
        <p:nvSpPr>
          <p:cNvPr id="94" name="Text 92"/>
          <p:cNvSpPr txBox="1"/>
          <p:nvPr/>
        </p:nvSpPr>
        <p:spPr>
          <a:xfrm>
            <a:off x="9025128" y="4219407"/>
            <a:ext cx="217170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13: UPDATE lote SET estado = 'RECIBIDO'</a:t>
            </a:r>
            <a:endParaRPr lang="en-US" sz="700" dirty="0"/>
          </a:p>
        </p:txBody>
      </p:sp>
      <p:sp>
        <p:nvSpPr>
          <p:cNvPr id="95" name="Shape 93"/>
          <p:cNvSpPr/>
          <p:nvPr/>
        </p:nvSpPr>
        <p:spPr>
          <a:xfrm rot="5400000">
            <a:off x="10844784" y="4490984"/>
            <a:ext cx="82296" cy="82296"/>
          </a:xfrm>
          <a:prstGeom prst="triangle">
            <a:avLst/>
          </a:prstGeom>
          <a:solidFill>
            <a:srgbClr val="0B1E4F"/>
          </a:solidFill>
          <a:ln/>
        </p:spPr>
      </p:sp>
      <p:sp>
        <p:nvSpPr>
          <p:cNvPr id="96" name="Shape 94"/>
          <p:cNvSpPr/>
          <p:nvPr/>
        </p:nvSpPr>
        <p:spPr>
          <a:xfrm>
            <a:off x="8915400" y="4532132"/>
            <a:ext cx="1937614" cy="914"/>
          </a:xfrm>
          <a:prstGeom prst="line">
            <a:avLst/>
          </a:prstGeom>
          <a:noFill/>
          <a:ln w="13970">
            <a:solidFill>
              <a:srgbClr val="0B1E4F"/>
            </a:solidFill>
            <a:prstDash val="solid"/>
          </a:ln>
        </p:spPr>
      </p:sp>
      <p:sp>
        <p:nvSpPr>
          <p:cNvPr id="97" name="Shape 95"/>
          <p:cNvSpPr/>
          <p:nvPr/>
        </p:nvSpPr>
        <p:spPr>
          <a:xfrm>
            <a:off x="9006840" y="4376684"/>
            <a:ext cx="1158240" cy="128016"/>
          </a:xfrm>
          <a:prstGeom prst="roundRect">
            <a:avLst>
              <a:gd name="adj" fmla="val 14286"/>
            </a:avLst>
          </a:prstGeom>
          <a:solidFill>
            <a:srgbClr val="FFFFFF"/>
          </a:solidFill>
          <a:ln/>
        </p:spPr>
      </p:sp>
      <p:sp>
        <p:nvSpPr>
          <p:cNvPr id="98" name="Text 96"/>
          <p:cNvSpPr txBox="1"/>
          <p:nvPr/>
        </p:nvSpPr>
        <p:spPr>
          <a:xfrm>
            <a:off x="9025128" y="4376684"/>
            <a:ext cx="115824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14: INSERT auditoría</a:t>
            </a:r>
            <a:endParaRPr lang="en-US" sz="700" dirty="0"/>
          </a:p>
        </p:txBody>
      </p:sp>
      <p:sp>
        <p:nvSpPr>
          <p:cNvPr id="99" name="Shape 97"/>
          <p:cNvSpPr/>
          <p:nvPr/>
        </p:nvSpPr>
        <p:spPr>
          <a:xfrm rot="16200000">
            <a:off x="3072384" y="4648261"/>
            <a:ext cx="82296" cy="82296"/>
          </a:xfrm>
          <a:prstGeom prst="triangle">
            <a:avLst/>
          </a:prstGeom>
          <a:solidFill>
            <a:srgbClr val="4A5878"/>
          </a:solidFill>
          <a:ln/>
        </p:spPr>
      </p:sp>
      <p:sp>
        <p:nvSpPr>
          <p:cNvPr id="100" name="Shape 98"/>
          <p:cNvSpPr/>
          <p:nvPr/>
        </p:nvSpPr>
        <p:spPr>
          <a:xfrm flipH="1">
            <a:off x="3146450" y="4689409"/>
            <a:ext cx="1837030" cy="914"/>
          </a:xfrm>
          <a:prstGeom prst="line">
            <a:avLst/>
          </a:prstGeom>
          <a:noFill/>
          <a:ln w="13970">
            <a:solidFill>
              <a:srgbClr val="4A5878"/>
            </a:solidFill>
            <a:prstDash val="dash"/>
          </a:ln>
        </p:spPr>
      </p:sp>
      <p:sp>
        <p:nvSpPr>
          <p:cNvPr id="101" name="Shape 99"/>
          <p:cNvSpPr/>
          <p:nvPr/>
        </p:nvSpPr>
        <p:spPr>
          <a:xfrm>
            <a:off x="3163824" y="4533961"/>
            <a:ext cx="2065020" cy="128016"/>
          </a:xfrm>
          <a:prstGeom prst="roundRect">
            <a:avLst>
              <a:gd name="adj" fmla="val 14286"/>
            </a:avLst>
          </a:prstGeom>
          <a:solidFill>
            <a:srgbClr val="FFFFFF"/>
          </a:solidFill>
          <a:ln/>
        </p:spPr>
      </p:sp>
      <p:sp>
        <p:nvSpPr>
          <p:cNvPr id="102" name="Text 100"/>
          <p:cNvSpPr txBox="1"/>
          <p:nvPr/>
        </p:nvSpPr>
        <p:spPr>
          <a:xfrm>
            <a:off x="3182112" y="4533961"/>
            <a:ext cx="2065020" cy="128016"/>
          </a:xfrm>
          <a:prstGeom prst="rect">
            <a:avLst/>
          </a:prstGeom>
          <a:noFill/>
          <a:ln/>
        </p:spPr>
        <p:txBody>
          <a:bodyPr wrap="square" lIns="0" tIns="0" rIns="0" bIns="0" rtlCol="0" anchor="ctr"/>
          <a:lstStyle/>
          <a:p>
            <a:pPr indent="0" marL="0">
              <a:buNone/>
            </a:pPr>
            <a:r>
              <a:rPr lang="en-US" sz="700" b="1" dirty="0">
                <a:solidFill>
                  <a:srgbClr val="4A5878"/>
                </a:solidFill>
                <a:latin typeface="Open Sans" pitchFamily="34" charset="0"/>
                <a:ea typeface="Open Sans" pitchFamily="34" charset="-122"/>
                <a:cs typeface="Open Sans" pitchFamily="34" charset="-120"/>
              </a:rPr>
              <a:t>15: HTTP 200 OK (recepcionConfirmada)</a:t>
            </a:r>
            <a:endParaRPr lang="en-US" sz="700" dirty="0"/>
          </a:p>
        </p:txBody>
      </p:sp>
      <p:sp>
        <p:nvSpPr>
          <p:cNvPr id="103" name="Shape 101"/>
          <p:cNvSpPr/>
          <p:nvPr/>
        </p:nvSpPr>
        <p:spPr>
          <a:xfrm>
            <a:off x="3127248" y="4864974"/>
            <a:ext cx="2171700" cy="155448"/>
          </a:xfrm>
          <a:prstGeom prst="roundRect">
            <a:avLst>
              <a:gd name="adj" fmla="val 11765"/>
            </a:avLst>
          </a:prstGeom>
          <a:solidFill>
            <a:srgbClr val="FFFFFF"/>
          </a:solidFill>
          <a:ln/>
        </p:spPr>
      </p:sp>
      <p:sp>
        <p:nvSpPr>
          <p:cNvPr id="104" name="Text 102"/>
          <p:cNvSpPr txBox="1"/>
          <p:nvPr/>
        </p:nvSpPr>
        <p:spPr>
          <a:xfrm>
            <a:off x="3145536" y="4864974"/>
            <a:ext cx="2171700" cy="155448"/>
          </a:xfrm>
          <a:prstGeom prst="rect">
            <a:avLst/>
          </a:prstGeom>
          <a:noFill/>
          <a:ln/>
        </p:spPr>
        <p:txBody>
          <a:bodyPr wrap="square" lIns="0" tIns="0" rIns="0" bIns="0" rtlCol="0" anchor="ctr"/>
          <a:lstStyle/>
          <a:p>
            <a:pPr indent="0" marL="0">
              <a:buNone/>
            </a:pPr>
            <a:r>
              <a:rPr lang="en-US" sz="650" b="1" i="1" dirty="0">
                <a:solidFill>
                  <a:srgbClr val="5B3EE0"/>
                </a:solidFill>
                <a:latin typeface="Open Sans" pitchFamily="34" charset="0"/>
                <a:ea typeface="Open Sans" pitchFamily="34" charset="-122"/>
                <a:cs typeface="Open Sans" pitchFamily="34" charset="-120"/>
              </a:rPr>
              <a:t>[el fiscalizador registra una observación]</a:t>
            </a:r>
            <a:endParaRPr lang="en-US" sz="650" dirty="0"/>
          </a:p>
        </p:txBody>
      </p:sp>
      <p:sp>
        <p:nvSpPr>
          <p:cNvPr id="105" name="Shape 103"/>
          <p:cNvSpPr/>
          <p:nvPr/>
        </p:nvSpPr>
        <p:spPr>
          <a:xfrm rot="5400000">
            <a:off x="2880360" y="5107290"/>
            <a:ext cx="82296" cy="82296"/>
          </a:xfrm>
          <a:prstGeom prst="triangle">
            <a:avLst/>
          </a:prstGeom>
          <a:solidFill>
            <a:srgbClr val="0B1E4F"/>
          </a:solidFill>
          <a:ln/>
        </p:spPr>
      </p:sp>
      <p:sp>
        <p:nvSpPr>
          <p:cNvPr id="106" name="Shape 104"/>
          <p:cNvSpPr/>
          <p:nvPr/>
        </p:nvSpPr>
        <p:spPr>
          <a:xfrm>
            <a:off x="1097280" y="5148438"/>
            <a:ext cx="1791310" cy="914"/>
          </a:xfrm>
          <a:prstGeom prst="line">
            <a:avLst/>
          </a:prstGeom>
          <a:noFill/>
          <a:ln w="13970">
            <a:solidFill>
              <a:srgbClr val="0B1E4F"/>
            </a:solidFill>
            <a:prstDash val="solid"/>
          </a:ln>
        </p:spPr>
      </p:sp>
      <p:sp>
        <p:nvSpPr>
          <p:cNvPr id="107" name="Shape 105"/>
          <p:cNvSpPr/>
          <p:nvPr/>
        </p:nvSpPr>
        <p:spPr>
          <a:xfrm>
            <a:off x="1188720" y="4992990"/>
            <a:ext cx="2225040" cy="128016"/>
          </a:xfrm>
          <a:prstGeom prst="roundRect">
            <a:avLst>
              <a:gd name="adj" fmla="val 14286"/>
            </a:avLst>
          </a:prstGeom>
          <a:solidFill>
            <a:srgbClr val="FFFFFF"/>
          </a:solidFill>
          <a:ln/>
        </p:spPr>
      </p:sp>
      <p:sp>
        <p:nvSpPr>
          <p:cNvPr id="108" name="Text 106"/>
          <p:cNvSpPr txBox="1"/>
          <p:nvPr/>
        </p:nvSpPr>
        <p:spPr>
          <a:xfrm>
            <a:off x="1207008" y="4992990"/>
            <a:ext cx="222504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16: RegistrarObservacion(texto, numActa)</a:t>
            </a:r>
            <a:endParaRPr lang="en-US" sz="700" dirty="0"/>
          </a:p>
        </p:txBody>
      </p:sp>
      <p:sp>
        <p:nvSpPr>
          <p:cNvPr id="109" name="Shape 107"/>
          <p:cNvSpPr/>
          <p:nvPr/>
        </p:nvSpPr>
        <p:spPr>
          <a:xfrm rot="5400000">
            <a:off x="4901184" y="5264567"/>
            <a:ext cx="82296" cy="82296"/>
          </a:xfrm>
          <a:prstGeom prst="triangle">
            <a:avLst/>
          </a:prstGeom>
          <a:solidFill>
            <a:srgbClr val="0B1E4F"/>
          </a:solidFill>
          <a:ln/>
        </p:spPr>
      </p:sp>
      <p:sp>
        <p:nvSpPr>
          <p:cNvPr id="110" name="Shape 108"/>
          <p:cNvSpPr/>
          <p:nvPr/>
        </p:nvSpPr>
        <p:spPr>
          <a:xfrm>
            <a:off x="3072384" y="5305715"/>
            <a:ext cx="1837030" cy="914"/>
          </a:xfrm>
          <a:prstGeom prst="line">
            <a:avLst/>
          </a:prstGeom>
          <a:noFill/>
          <a:ln w="13970">
            <a:solidFill>
              <a:srgbClr val="0B1E4F"/>
            </a:solidFill>
            <a:prstDash val="solid"/>
          </a:ln>
        </p:spPr>
      </p:sp>
      <p:sp>
        <p:nvSpPr>
          <p:cNvPr id="111" name="Shape 109"/>
          <p:cNvSpPr/>
          <p:nvPr/>
        </p:nvSpPr>
        <p:spPr>
          <a:xfrm>
            <a:off x="3163824" y="5150267"/>
            <a:ext cx="1264920" cy="128016"/>
          </a:xfrm>
          <a:prstGeom prst="roundRect">
            <a:avLst>
              <a:gd name="adj" fmla="val 14286"/>
            </a:avLst>
          </a:prstGeom>
          <a:solidFill>
            <a:srgbClr val="FFFFFF"/>
          </a:solidFill>
          <a:ln/>
        </p:spPr>
      </p:sp>
      <p:sp>
        <p:nvSpPr>
          <p:cNvPr id="112" name="Text 110"/>
          <p:cNvSpPr txBox="1"/>
          <p:nvPr/>
        </p:nvSpPr>
        <p:spPr>
          <a:xfrm>
            <a:off x="3182112" y="5150267"/>
            <a:ext cx="126492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17: POST /inspecciones</a:t>
            </a:r>
            <a:endParaRPr lang="en-US" sz="700" dirty="0"/>
          </a:p>
        </p:txBody>
      </p:sp>
      <p:sp>
        <p:nvSpPr>
          <p:cNvPr id="113" name="Shape 111"/>
          <p:cNvSpPr/>
          <p:nvPr/>
        </p:nvSpPr>
        <p:spPr>
          <a:xfrm rot="5400000">
            <a:off x="10844784" y="5421843"/>
            <a:ext cx="82296" cy="82296"/>
          </a:xfrm>
          <a:prstGeom prst="triangle">
            <a:avLst/>
          </a:prstGeom>
          <a:solidFill>
            <a:srgbClr val="0B1E4F"/>
          </a:solidFill>
          <a:ln/>
        </p:spPr>
      </p:sp>
      <p:sp>
        <p:nvSpPr>
          <p:cNvPr id="114" name="Shape 112"/>
          <p:cNvSpPr/>
          <p:nvPr/>
        </p:nvSpPr>
        <p:spPr>
          <a:xfrm>
            <a:off x="4983480" y="5462991"/>
            <a:ext cx="5869534" cy="914"/>
          </a:xfrm>
          <a:prstGeom prst="line">
            <a:avLst/>
          </a:prstGeom>
          <a:noFill/>
          <a:ln w="13970">
            <a:solidFill>
              <a:srgbClr val="0B1E4F"/>
            </a:solidFill>
            <a:prstDash val="solid"/>
          </a:ln>
        </p:spPr>
      </p:sp>
      <p:sp>
        <p:nvSpPr>
          <p:cNvPr id="115" name="Shape 113"/>
          <p:cNvSpPr/>
          <p:nvPr/>
        </p:nvSpPr>
        <p:spPr>
          <a:xfrm>
            <a:off x="5074920" y="5307543"/>
            <a:ext cx="1211580" cy="128016"/>
          </a:xfrm>
          <a:prstGeom prst="roundRect">
            <a:avLst>
              <a:gd name="adj" fmla="val 14286"/>
            </a:avLst>
          </a:prstGeom>
          <a:solidFill>
            <a:srgbClr val="FFFFFF"/>
          </a:solidFill>
          <a:ln/>
        </p:spPr>
      </p:sp>
      <p:sp>
        <p:nvSpPr>
          <p:cNvPr id="116" name="Text 114"/>
          <p:cNvSpPr txBox="1"/>
          <p:nvPr/>
        </p:nvSpPr>
        <p:spPr>
          <a:xfrm>
            <a:off x="5093208" y="5307543"/>
            <a:ext cx="1211580" cy="128016"/>
          </a:xfrm>
          <a:prstGeom prst="rect">
            <a:avLst/>
          </a:prstGeom>
          <a:noFill/>
          <a:ln/>
        </p:spPr>
        <p:txBody>
          <a:bodyPr wrap="square" lIns="0" tIns="0" rIns="0" bIns="0" rtlCol="0" anchor="ctr"/>
          <a:lstStyle/>
          <a:p>
            <a:pPr indent="0" marL="0">
              <a:buNone/>
            </a:pPr>
            <a:r>
              <a:rPr lang="en-US" sz="700" b="1" dirty="0">
                <a:solidFill>
                  <a:srgbClr val="0B1E4F"/>
                </a:solidFill>
                <a:latin typeface="Open Sans" pitchFamily="34" charset="0"/>
                <a:ea typeface="Open Sans" pitchFamily="34" charset="-122"/>
                <a:cs typeface="Open Sans" pitchFamily="34" charset="-120"/>
              </a:rPr>
              <a:t>18: INSERT inspección</a:t>
            </a:r>
            <a:endParaRPr lang="en-US" sz="700" dirty="0"/>
          </a:p>
        </p:txBody>
      </p:sp>
      <p:sp>
        <p:nvSpPr>
          <p:cNvPr id="117" name="Shape 115"/>
          <p:cNvSpPr/>
          <p:nvPr/>
        </p:nvSpPr>
        <p:spPr>
          <a:xfrm>
            <a:off x="841248" y="5656844"/>
            <a:ext cx="10341864" cy="914"/>
          </a:xfrm>
          <a:prstGeom prst="line">
            <a:avLst/>
          </a:prstGeom>
          <a:noFill/>
          <a:ln w="12700">
            <a:solidFill>
              <a:srgbClr val="7B5CFF"/>
            </a:solidFill>
            <a:prstDash val="dash"/>
          </a:ln>
        </p:spPr>
      </p:sp>
      <p:sp>
        <p:nvSpPr>
          <p:cNvPr id="118" name="Shape 116"/>
          <p:cNvSpPr/>
          <p:nvPr/>
        </p:nvSpPr>
        <p:spPr>
          <a:xfrm>
            <a:off x="3127248" y="5675132"/>
            <a:ext cx="2023110" cy="155448"/>
          </a:xfrm>
          <a:prstGeom prst="roundRect">
            <a:avLst>
              <a:gd name="adj" fmla="val 11765"/>
            </a:avLst>
          </a:prstGeom>
          <a:solidFill>
            <a:srgbClr val="FFFFFF"/>
          </a:solidFill>
          <a:ln/>
        </p:spPr>
      </p:sp>
      <p:sp>
        <p:nvSpPr>
          <p:cNvPr id="119" name="Text 117"/>
          <p:cNvSpPr txBox="1"/>
          <p:nvPr/>
        </p:nvSpPr>
        <p:spPr>
          <a:xfrm>
            <a:off x="3145536" y="5675132"/>
            <a:ext cx="2023110" cy="155448"/>
          </a:xfrm>
          <a:prstGeom prst="rect">
            <a:avLst/>
          </a:prstGeom>
          <a:noFill/>
          <a:ln/>
        </p:spPr>
        <p:txBody>
          <a:bodyPr wrap="square" lIns="0" tIns="0" rIns="0" bIns="0" rtlCol="0" anchor="ctr"/>
          <a:lstStyle/>
          <a:p>
            <a:pPr indent="0" marL="0">
              <a:buNone/>
            </a:pPr>
            <a:r>
              <a:rPr lang="en-US" sz="650" b="1" i="1" dirty="0">
                <a:solidFill>
                  <a:srgbClr val="5B3EE0"/>
                </a:solidFill>
                <a:latin typeface="Open Sans" pitchFamily="34" charset="0"/>
                <a:ea typeface="Open Sans" pitchFamily="34" charset="-122"/>
                <a:cs typeface="Open Sans" pitchFamily="34" charset="-120"/>
              </a:rPr>
              <a:t>[hash no coincide o constancia ANULADA]</a:t>
            </a:r>
            <a:endParaRPr lang="en-US" sz="650" dirty="0"/>
          </a:p>
        </p:txBody>
      </p:sp>
      <p:sp>
        <p:nvSpPr>
          <p:cNvPr id="120" name="Shape 118"/>
          <p:cNvSpPr/>
          <p:nvPr/>
        </p:nvSpPr>
        <p:spPr>
          <a:xfrm rot="16200000">
            <a:off x="4983480" y="5871728"/>
            <a:ext cx="82296" cy="82296"/>
          </a:xfrm>
          <a:prstGeom prst="triangle">
            <a:avLst/>
          </a:prstGeom>
          <a:solidFill>
            <a:srgbClr val="E0393F"/>
          </a:solidFill>
          <a:ln/>
        </p:spPr>
      </p:sp>
      <p:sp>
        <p:nvSpPr>
          <p:cNvPr id="121" name="Shape 119"/>
          <p:cNvSpPr/>
          <p:nvPr/>
        </p:nvSpPr>
        <p:spPr>
          <a:xfrm flipH="1">
            <a:off x="5057546" y="5912876"/>
            <a:ext cx="1891894" cy="914"/>
          </a:xfrm>
          <a:prstGeom prst="line">
            <a:avLst/>
          </a:prstGeom>
          <a:noFill/>
          <a:ln w="13970">
            <a:solidFill>
              <a:srgbClr val="E0393F"/>
            </a:solidFill>
            <a:prstDash val="dash"/>
          </a:ln>
        </p:spPr>
      </p:sp>
      <p:sp>
        <p:nvSpPr>
          <p:cNvPr id="122" name="Shape 120"/>
          <p:cNvSpPr/>
          <p:nvPr/>
        </p:nvSpPr>
        <p:spPr>
          <a:xfrm>
            <a:off x="5074920" y="5757428"/>
            <a:ext cx="2225040" cy="128016"/>
          </a:xfrm>
          <a:prstGeom prst="roundRect">
            <a:avLst>
              <a:gd name="adj" fmla="val 14286"/>
            </a:avLst>
          </a:prstGeom>
          <a:solidFill>
            <a:srgbClr val="FFFFFF"/>
          </a:solidFill>
          <a:ln/>
        </p:spPr>
      </p:sp>
      <p:sp>
        <p:nvSpPr>
          <p:cNvPr id="123" name="Text 121"/>
          <p:cNvSpPr txBox="1"/>
          <p:nvPr/>
        </p:nvSpPr>
        <p:spPr>
          <a:xfrm>
            <a:off x="5093208" y="5757428"/>
            <a:ext cx="2225040" cy="128016"/>
          </a:xfrm>
          <a:prstGeom prst="rect">
            <a:avLst/>
          </a:prstGeom>
          <a:noFill/>
          <a:ln/>
        </p:spPr>
        <p:txBody>
          <a:bodyPr wrap="square" lIns="0" tIns="0" rIns="0" bIns="0" rtlCol="0" anchor="ctr"/>
          <a:lstStyle/>
          <a:p>
            <a:pPr indent="0" marL="0">
              <a:buNone/>
            </a:pPr>
            <a:r>
              <a:rPr lang="en-US" sz="700" b="1" dirty="0">
                <a:solidFill>
                  <a:srgbClr val="E0393F"/>
                </a:solidFill>
                <a:latin typeface="Open Sans" pitchFamily="34" charset="0"/>
                <a:ea typeface="Open Sans" pitchFamily="34" charset="-122"/>
                <a:cs typeface="Open Sans" pitchFamily="34" charset="-120"/>
              </a:rPr>
              <a:t>19: Retornar constancia inválida(motivo)</a:t>
            </a:r>
            <a:endParaRPr lang="en-US" sz="700" dirty="0"/>
          </a:p>
        </p:txBody>
      </p:sp>
      <p:sp>
        <p:nvSpPr>
          <p:cNvPr id="124" name="Shape 122"/>
          <p:cNvSpPr/>
          <p:nvPr/>
        </p:nvSpPr>
        <p:spPr>
          <a:xfrm rot="16200000">
            <a:off x="3072384" y="6029005"/>
            <a:ext cx="82296" cy="82296"/>
          </a:xfrm>
          <a:prstGeom prst="triangle">
            <a:avLst/>
          </a:prstGeom>
          <a:solidFill>
            <a:srgbClr val="4A5878"/>
          </a:solidFill>
          <a:ln/>
        </p:spPr>
      </p:sp>
      <p:sp>
        <p:nvSpPr>
          <p:cNvPr id="125" name="Shape 123"/>
          <p:cNvSpPr/>
          <p:nvPr/>
        </p:nvSpPr>
        <p:spPr>
          <a:xfrm flipH="1">
            <a:off x="3146450" y="6070153"/>
            <a:ext cx="1837030" cy="914"/>
          </a:xfrm>
          <a:prstGeom prst="line">
            <a:avLst/>
          </a:prstGeom>
          <a:noFill/>
          <a:ln w="13970">
            <a:solidFill>
              <a:srgbClr val="4A5878"/>
            </a:solidFill>
            <a:prstDash val="dash"/>
          </a:ln>
        </p:spPr>
      </p:sp>
      <p:sp>
        <p:nvSpPr>
          <p:cNvPr id="126" name="Shape 124"/>
          <p:cNvSpPr/>
          <p:nvPr/>
        </p:nvSpPr>
        <p:spPr>
          <a:xfrm>
            <a:off x="3163824" y="5914705"/>
            <a:ext cx="891540" cy="128016"/>
          </a:xfrm>
          <a:prstGeom prst="roundRect">
            <a:avLst>
              <a:gd name="adj" fmla="val 14286"/>
            </a:avLst>
          </a:prstGeom>
          <a:solidFill>
            <a:srgbClr val="FFFFFF"/>
          </a:solidFill>
          <a:ln/>
        </p:spPr>
      </p:sp>
      <p:sp>
        <p:nvSpPr>
          <p:cNvPr id="127" name="Text 125"/>
          <p:cNvSpPr txBox="1"/>
          <p:nvPr/>
        </p:nvSpPr>
        <p:spPr>
          <a:xfrm>
            <a:off x="3182112" y="5914705"/>
            <a:ext cx="891540" cy="128016"/>
          </a:xfrm>
          <a:prstGeom prst="rect">
            <a:avLst/>
          </a:prstGeom>
          <a:noFill/>
          <a:ln/>
        </p:spPr>
        <p:txBody>
          <a:bodyPr wrap="square" lIns="0" tIns="0" rIns="0" bIns="0" rtlCol="0" anchor="ctr"/>
          <a:lstStyle/>
          <a:p>
            <a:pPr indent="0" marL="0">
              <a:buNone/>
            </a:pPr>
            <a:r>
              <a:rPr lang="en-US" sz="700" b="1" dirty="0">
                <a:solidFill>
                  <a:srgbClr val="4A5878"/>
                </a:solidFill>
                <a:latin typeface="Open Sans" pitchFamily="34" charset="0"/>
                <a:ea typeface="Open Sans" pitchFamily="34" charset="-122"/>
                <a:cs typeface="Open Sans" pitchFamily="34" charset="-120"/>
              </a:rPr>
              <a:t>20: HTTP 200 OK</a:t>
            </a:r>
            <a:endParaRPr lang="en-US" sz="700" dirty="0"/>
          </a:p>
        </p:txBody>
      </p:sp>
      <p:sp>
        <p:nvSpPr>
          <p:cNvPr id="128" name="Shape 126"/>
          <p:cNvSpPr/>
          <p:nvPr/>
        </p:nvSpPr>
        <p:spPr>
          <a:xfrm rot="16200000">
            <a:off x="1097280" y="6186282"/>
            <a:ext cx="82296" cy="82296"/>
          </a:xfrm>
          <a:prstGeom prst="triangle">
            <a:avLst/>
          </a:prstGeom>
          <a:solidFill>
            <a:srgbClr val="E0393F"/>
          </a:solidFill>
          <a:ln/>
        </p:spPr>
      </p:sp>
      <p:sp>
        <p:nvSpPr>
          <p:cNvPr id="129" name="Shape 127"/>
          <p:cNvSpPr/>
          <p:nvPr/>
        </p:nvSpPr>
        <p:spPr>
          <a:xfrm flipH="1">
            <a:off x="1171346" y="6227430"/>
            <a:ext cx="1791310" cy="914"/>
          </a:xfrm>
          <a:prstGeom prst="line">
            <a:avLst/>
          </a:prstGeom>
          <a:noFill/>
          <a:ln w="13970">
            <a:solidFill>
              <a:srgbClr val="E0393F"/>
            </a:solidFill>
            <a:prstDash val="dash"/>
          </a:ln>
        </p:spPr>
      </p:sp>
      <p:sp>
        <p:nvSpPr>
          <p:cNvPr id="130" name="Shape 128"/>
          <p:cNvSpPr/>
          <p:nvPr/>
        </p:nvSpPr>
        <p:spPr>
          <a:xfrm>
            <a:off x="1188720" y="6071982"/>
            <a:ext cx="1905000" cy="128016"/>
          </a:xfrm>
          <a:prstGeom prst="roundRect">
            <a:avLst>
              <a:gd name="adj" fmla="val 14286"/>
            </a:avLst>
          </a:prstGeom>
          <a:solidFill>
            <a:srgbClr val="FFFFFF"/>
          </a:solidFill>
          <a:ln/>
        </p:spPr>
      </p:sp>
      <p:sp>
        <p:nvSpPr>
          <p:cNvPr id="131" name="Text 129"/>
          <p:cNvSpPr txBox="1"/>
          <p:nvPr/>
        </p:nvSpPr>
        <p:spPr>
          <a:xfrm>
            <a:off x="1207008" y="6071982"/>
            <a:ext cx="1905000" cy="128016"/>
          </a:xfrm>
          <a:prstGeom prst="rect">
            <a:avLst/>
          </a:prstGeom>
          <a:noFill/>
          <a:ln/>
        </p:spPr>
        <p:txBody>
          <a:bodyPr wrap="square" lIns="0" tIns="0" rIns="0" bIns="0" rtlCol="0" anchor="ctr"/>
          <a:lstStyle/>
          <a:p>
            <a:pPr indent="0" marL="0">
              <a:buNone/>
            </a:pPr>
            <a:r>
              <a:rPr lang="en-US" sz="700" b="1" dirty="0">
                <a:solidFill>
                  <a:srgbClr val="E0393F"/>
                </a:solidFill>
                <a:latin typeface="Open Sans" pitchFamily="34" charset="0"/>
                <a:ea typeface="Open Sans" pitchFamily="34" charset="-122"/>
                <a:cs typeface="Open Sans" pitchFamily="34" charset="-120"/>
              </a:rPr>
              <a:t>21: Mostrar «Constancia NO VÁLIDA»</a:t>
            </a:r>
            <a:endParaRPr lang="en-US" sz="700" dirty="0"/>
          </a:p>
        </p:txBody>
      </p:sp>
      <p:sp>
        <p:nvSpPr>
          <p:cNvPr id="132" name="Text 13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33" name="Text 13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10B981"/>
                </a:solidFill>
                <a:latin typeface="Montserrat" pitchFamily="34" charset="0"/>
                <a:ea typeface="Montserrat" pitchFamily="34" charset="-122"/>
                <a:cs typeface="Montserrat"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135478"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3" name="Text 1"/>
          <p:cNvSpPr txBox="1"/>
          <p:nvPr/>
        </p:nvSpPr>
        <p:spPr>
          <a:xfrm>
            <a:off x="548640" y="411480"/>
            <a:ext cx="3135478"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4 · DECISIONES DE DISEÑO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Diseñado para fallar sin perder datos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DCE9FF"/>
                </a:solidFill>
                <a:latin typeface="Open Sans" pitchFamily="34" charset="0"/>
                <a:ea typeface="Open Sans" pitchFamily="34" charset="-122"/>
                <a:cs typeface="Open Sans" pitchFamily="34" charset="-120"/>
              </a:rPr>
              <a:t>Caso central CU05 Registrar desembarque (incluye CU06 y CU07).</a:t>
            </a:r>
            <a:endParaRPr lang="en-US" sz="1300" dirty="0"/>
          </a:p>
        </p:txBody>
      </p:sp>
      <p:sp>
        <p:nvSpPr>
          <p:cNvPr id="6" name="Shape 4"/>
          <p:cNvSpPr/>
          <p:nvPr/>
        </p:nvSpPr>
        <p:spPr>
          <a:xfrm>
            <a:off x="548640"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7" name="Shape 5"/>
          <p:cNvSpPr/>
          <p:nvPr/>
        </p:nvSpPr>
        <p:spPr>
          <a:xfrm>
            <a:off x="804672" y="2377440"/>
            <a:ext cx="731520" cy="731520"/>
          </a:xfrm>
          <a:prstGeom prst="ellipse">
            <a:avLst/>
          </a:prstGeom>
          <a:solidFill>
            <a:srgbClr val="FFC233"/>
          </a:solidFill>
          <a:ln/>
        </p:spPr>
      </p:sp>
      <p:pic>
        <p:nvPicPr>
          <p:cNvPr id="8" name="Image 0" descr="preencoded.png">    </p:cNvPr>
          <p:cNvPicPr>
            <a:picLocks noChangeAspect="1"/>
          </p:cNvPicPr>
          <p:nvPr/>
        </p:nvPicPr>
        <p:blipFill>
          <a:blip r:embed="rId2"/>
          <a:stretch>
            <a:fillRect/>
          </a:stretch>
        </p:blipFill>
        <p:spPr>
          <a:xfrm>
            <a:off x="980237" y="2553005"/>
            <a:ext cx="380390" cy="380390"/>
          </a:xfrm>
          <a:prstGeom prst="rect">
            <a:avLst/>
          </a:prstGeom>
        </p:spPr>
      </p:pic>
      <p:sp>
        <p:nvSpPr>
          <p:cNvPr id="9" name="Text 6"/>
          <p:cNvSpPr txBox="1"/>
          <p:nvPr/>
        </p:nvSpPr>
        <p:spPr>
          <a:xfrm>
            <a:off x="804672" y="3337560"/>
            <a:ext cx="2240280" cy="73152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Primero se guarda en el celular</a:t>
            </a:r>
            <a:endParaRPr lang="en-US" sz="1500" dirty="0"/>
          </a:p>
        </p:txBody>
      </p:sp>
      <p:sp>
        <p:nvSpPr>
          <p:cNvPr id="10" name="Text 7"/>
          <p:cNvSpPr txBox="1"/>
          <p:nvPr/>
        </p:nvSpPr>
        <p:spPr>
          <a:xfrm>
            <a:off x="804672" y="4114800"/>
            <a:ext cx="2194560" cy="192024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El registro se persiste localmente antes de enviarse: nunca se pierde aunque falle la red (RNF07).</a:t>
            </a:r>
            <a:endParaRPr lang="en-US" sz="1300" dirty="0"/>
          </a:p>
        </p:txBody>
      </p:sp>
      <p:sp>
        <p:nvSpPr>
          <p:cNvPr id="11" name="Shape 8"/>
          <p:cNvSpPr/>
          <p:nvPr/>
        </p:nvSpPr>
        <p:spPr>
          <a:xfrm>
            <a:off x="3364992"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12" name="Shape 9"/>
          <p:cNvSpPr/>
          <p:nvPr/>
        </p:nvSpPr>
        <p:spPr>
          <a:xfrm>
            <a:off x="3621024" y="2377440"/>
            <a:ext cx="731520" cy="731520"/>
          </a:xfrm>
          <a:prstGeom prst="ellipse">
            <a:avLst/>
          </a:prstGeom>
          <a:solidFill>
            <a:srgbClr val="7CF0F5"/>
          </a:solidFill>
          <a:ln/>
        </p:spPr>
      </p:sp>
      <p:pic>
        <p:nvPicPr>
          <p:cNvPr id="13" name="Image 1" descr="preencoded.png">    </p:cNvPr>
          <p:cNvPicPr>
            <a:picLocks noChangeAspect="1"/>
          </p:cNvPicPr>
          <p:nvPr/>
        </p:nvPicPr>
        <p:blipFill>
          <a:blip r:embed="rId3"/>
          <a:stretch>
            <a:fillRect/>
          </a:stretch>
        </p:blipFill>
        <p:spPr>
          <a:xfrm>
            <a:off x="3796589" y="2553005"/>
            <a:ext cx="380390" cy="380390"/>
          </a:xfrm>
          <a:prstGeom prst="rect">
            <a:avLst/>
          </a:prstGeom>
        </p:spPr>
      </p:pic>
      <p:sp>
        <p:nvSpPr>
          <p:cNvPr id="14" name="Text 10"/>
          <p:cNvSpPr txBox="1"/>
          <p:nvPr/>
        </p:nvSpPr>
        <p:spPr>
          <a:xfrm>
            <a:off x="3621024" y="3337560"/>
            <a:ext cx="2240280" cy="73152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Clave de idempotencia</a:t>
            </a:r>
            <a:endParaRPr lang="en-US" sz="1500" dirty="0"/>
          </a:p>
        </p:txBody>
      </p:sp>
      <p:sp>
        <p:nvSpPr>
          <p:cNvPr id="15" name="Text 11"/>
          <p:cNvSpPr txBox="1"/>
          <p:nvPr/>
        </p:nvSpPr>
        <p:spPr>
          <a:xfrm>
            <a:off x="3621024" y="4114800"/>
            <a:ext cx="2194560" cy="192024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El UUID generado en el celular viaja como Idempotency-Key: si la app reintenta tras un corte, el servidor no duplica el registro.</a:t>
            </a:r>
            <a:endParaRPr lang="en-US" sz="1300" dirty="0"/>
          </a:p>
        </p:txBody>
      </p:sp>
      <p:sp>
        <p:nvSpPr>
          <p:cNvPr id="16" name="Shape 12"/>
          <p:cNvSpPr/>
          <p:nvPr/>
        </p:nvSpPr>
        <p:spPr>
          <a:xfrm>
            <a:off x="6181344"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17" name="Shape 13"/>
          <p:cNvSpPr/>
          <p:nvPr/>
        </p:nvSpPr>
        <p:spPr>
          <a:xfrm>
            <a:off x="6437376" y="2377440"/>
            <a:ext cx="731520" cy="731520"/>
          </a:xfrm>
          <a:prstGeom prst="ellipse">
            <a:avLst/>
          </a:prstGeom>
          <a:solidFill>
            <a:srgbClr val="A9FFD6"/>
          </a:solidFill>
          <a:ln/>
        </p:spPr>
      </p:sp>
      <p:pic>
        <p:nvPicPr>
          <p:cNvPr id="18" name="Image 2" descr="preencoded.png">    </p:cNvPr>
          <p:cNvPicPr>
            <a:picLocks noChangeAspect="1"/>
          </p:cNvPicPr>
          <p:nvPr/>
        </p:nvPicPr>
        <p:blipFill>
          <a:blip r:embed="rId4"/>
          <a:stretch>
            <a:fillRect/>
          </a:stretch>
        </p:blipFill>
        <p:spPr>
          <a:xfrm>
            <a:off x="6612941" y="2553005"/>
            <a:ext cx="380390" cy="380390"/>
          </a:xfrm>
          <a:prstGeom prst="rect">
            <a:avLst/>
          </a:prstGeom>
        </p:spPr>
      </p:pic>
      <p:sp>
        <p:nvSpPr>
          <p:cNvPr id="19" name="Text 14"/>
          <p:cNvSpPr txBox="1"/>
          <p:nvPr/>
        </p:nvSpPr>
        <p:spPr>
          <a:xfrm>
            <a:off x="6437376" y="3337560"/>
            <a:ext cx="2240280" cy="73152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La validación no bloquea</a:t>
            </a:r>
            <a:endParaRPr lang="en-US" sz="1500" dirty="0"/>
          </a:p>
        </p:txBody>
      </p:sp>
      <p:sp>
        <p:nvSpPr>
          <p:cNvPr id="20" name="Text 15"/>
          <p:cNvSpPr txBox="1"/>
          <p:nvPr/>
        </p:nvSpPr>
        <p:spPr>
          <a:xfrm>
            <a:off x="6437376" y="4114800"/>
            <a:ext cx="2194560" cy="192024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Un desembarque No conforme se registra igual y alerta al fiscalizador: documentar la realidad, no ocultarla.</a:t>
            </a:r>
            <a:endParaRPr lang="en-US" sz="1300" dirty="0"/>
          </a:p>
        </p:txBody>
      </p:sp>
      <p:sp>
        <p:nvSpPr>
          <p:cNvPr id="21" name="Shape 16"/>
          <p:cNvSpPr/>
          <p:nvPr/>
        </p:nvSpPr>
        <p:spPr>
          <a:xfrm>
            <a:off x="8997696" y="2103120"/>
            <a:ext cx="2651760" cy="4023360"/>
          </a:xfrm>
          <a:prstGeom prst="roundRect">
            <a:avLst>
              <a:gd name="adj" fmla="val 6207"/>
            </a:avLst>
          </a:prstGeom>
          <a:solidFill>
            <a:srgbClr val="FFFFFF">
              <a:alpha val="12000"/>
            </a:srgbClr>
          </a:solidFill>
          <a:ln w="9525">
            <a:solidFill>
              <a:srgbClr val="FFFFFF">
                <a:alpha val="40000"/>
              </a:srgbClr>
            </a:solidFill>
            <a:prstDash val="solid"/>
          </a:ln>
        </p:spPr>
      </p:sp>
      <p:sp>
        <p:nvSpPr>
          <p:cNvPr id="22" name="Shape 17"/>
          <p:cNvSpPr/>
          <p:nvPr/>
        </p:nvSpPr>
        <p:spPr>
          <a:xfrm>
            <a:off x="9253728" y="2377440"/>
            <a:ext cx="731520" cy="731520"/>
          </a:xfrm>
          <a:prstGeom prst="ellipse">
            <a:avLst/>
          </a:prstGeom>
          <a:solidFill>
            <a:srgbClr val="FFB3B6"/>
          </a:solidFill>
          <a:ln/>
        </p:spPr>
      </p:sp>
      <p:pic>
        <p:nvPicPr>
          <p:cNvPr id="23" name="Image 3" descr="preencoded.png">    </p:cNvPr>
          <p:cNvPicPr>
            <a:picLocks noChangeAspect="1"/>
          </p:cNvPicPr>
          <p:nvPr/>
        </p:nvPicPr>
        <p:blipFill>
          <a:blip r:embed="rId5"/>
          <a:stretch>
            <a:fillRect/>
          </a:stretch>
        </p:blipFill>
        <p:spPr>
          <a:xfrm>
            <a:off x="9429293" y="2553005"/>
            <a:ext cx="380390" cy="380390"/>
          </a:xfrm>
          <a:prstGeom prst="rect">
            <a:avLst/>
          </a:prstGeom>
        </p:spPr>
      </p:pic>
      <p:sp>
        <p:nvSpPr>
          <p:cNvPr id="24" name="Text 18"/>
          <p:cNvSpPr txBox="1"/>
          <p:nvPr/>
        </p:nvSpPr>
        <p:spPr>
          <a:xfrm>
            <a:off x="9253728" y="3337560"/>
            <a:ext cx="2240280" cy="73152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Patrón Strategy en el motor de reglas</a:t>
            </a:r>
            <a:endParaRPr lang="en-US" sz="1500" dirty="0"/>
          </a:p>
        </p:txBody>
      </p:sp>
      <p:sp>
        <p:nvSpPr>
          <p:cNvPr id="25" name="Text 19"/>
          <p:cNvSpPr txBox="1"/>
          <p:nvPr/>
        </p:nvSpPr>
        <p:spPr>
          <a:xfrm>
            <a:off x="9253728" y="4114800"/>
            <a:ext cx="2194560" cy="1920240"/>
          </a:xfrm>
          <a:prstGeom prst="rect">
            <a:avLst/>
          </a:prstGeom>
          <a:noFill/>
          <a:ln/>
        </p:spPr>
        <p:txBody>
          <a:bodyPr wrap="square" lIns="0" tIns="0" rIns="0" bIns="0" rtlCol="0" anchor="t"/>
          <a:lstStyle/>
          <a:p>
            <a:pPr indent="0" marL="0">
              <a:buNone/>
            </a:pPr>
            <a:r>
              <a:rPr lang="en-US" sz="1300" dirty="0">
                <a:solidFill>
                  <a:srgbClr val="E6EEFF"/>
                </a:solidFill>
                <a:latin typeface="Open Sans" pitchFamily="34" charset="0"/>
                <a:ea typeface="Open Sans" pitchFamily="34" charset="-122"/>
                <a:cs typeface="Open Sans" pitchFamily="34" charset="-120"/>
              </a:rPr>
              <a:t>Cada regla normativa es intercambiable: el sistema acompaña los cambios frecuentes de la normativa sin reescribir código.</a:t>
            </a:r>
            <a:endParaRPr lang="en-US" sz="1300" dirty="0"/>
          </a:p>
        </p:txBody>
      </p:sp>
      <p:sp>
        <p:nvSpPr>
          <p:cNvPr id="26" name="Text 2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27" name="Text 2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135478" cy="274320"/>
          </a:xfrm>
          <a:prstGeom prst="roundRect">
            <a:avLst>
              <a:gd name="adj" fmla="val 50000"/>
            </a:avLst>
          </a:prstGeom>
          <a:solidFill>
            <a:srgbClr val="FF8A00"/>
          </a:solidFill>
          <a:ln/>
        </p:spPr>
      </p:sp>
      <p:sp>
        <p:nvSpPr>
          <p:cNvPr id="3" name="Text 1"/>
          <p:cNvSpPr txBox="1"/>
          <p:nvPr/>
        </p:nvSpPr>
        <p:spPr>
          <a:xfrm>
            <a:off x="548640" y="411480"/>
            <a:ext cx="3135478"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5.1 METODOLOGÍA ÁGIL</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Scrum: valor en ciclos cortos de dos semanas</a:t>
            </a:r>
            <a:endParaRPr lang="en-US" sz="3000" dirty="0"/>
          </a:p>
        </p:txBody>
      </p:sp>
      <p:sp>
        <p:nvSpPr>
          <p:cNvPr id="5" name="Text 3"/>
          <p:cNvSpPr txBox="1"/>
          <p:nvPr/>
        </p:nvSpPr>
        <p:spPr>
          <a:xfrm>
            <a:off x="548640" y="1572768"/>
            <a:ext cx="6675120" cy="1005840"/>
          </a:xfrm>
          <a:prstGeom prst="rect">
            <a:avLst/>
          </a:prstGeom>
          <a:noFill/>
          <a:ln/>
        </p:spPr>
        <p:txBody>
          <a:bodyPr wrap="square" lIns="0" tIns="0" rIns="0" bIns="0" rtlCol="0" anchor="t"/>
          <a:lstStyle/>
          <a:p>
            <a:pPr indent="0" marL="0">
              <a:buNone/>
            </a:pPr>
            <a:r>
              <a:rPr lang="en-US" sz="1300" dirty="0">
                <a:solidFill>
                  <a:srgbClr val="0E1B3D"/>
                </a:solidFill>
                <a:latin typeface="Open Sans" pitchFamily="34" charset="0"/>
                <a:ea typeface="Open Sans" pitchFamily="34" charset="-122"/>
                <a:cs typeface="Open Sans" pitchFamily="34" charset="-120"/>
              </a:rPr>
              <a:t>Scrum es un marco de trabajo liviano que ayuda a personas, equipos y organizaciones a generar valor mediante soluciones adaptativas para problemas complejos. Se basa en el empirismo y organiza el trabajo en Sprints de duración fija. [30]</a:t>
            </a:r>
            <a:endParaRPr lang="en-US" sz="1300" dirty="0"/>
          </a:p>
        </p:txBody>
      </p:sp>
      <p:sp>
        <p:nvSpPr>
          <p:cNvPr id="6" name="Shape 4"/>
          <p:cNvSpPr/>
          <p:nvPr/>
        </p:nvSpPr>
        <p:spPr>
          <a:xfrm>
            <a:off x="548640" y="2697480"/>
            <a:ext cx="2130552" cy="566928"/>
          </a:xfrm>
          <a:prstGeom prst="roundRect">
            <a:avLst>
              <a:gd name="adj" fmla="val 50000"/>
            </a:avLst>
          </a:prstGeom>
          <a:solidFill>
            <a:srgbClr val="FFF1DE"/>
          </a:solidFill>
          <a:ln/>
        </p:spPr>
      </p:sp>
      <p:sp>
        <p:nvSpPr>
          <p:cNvPr id="7" name="Shape 5"/>
          <p:cNvSpPr/>
          <p:nvPr/>
        </p:nvSpPr>
        <p:spPr>
          <a:xfrm>
            <a:off x="621792" y="2743200"/>
            <a:ext cx="475488" cy="475488"/>
          </a:xfrm>
          <a:prstGeom prst="ellipse">
            <a:avLst/>
          </a:prstGeom>
          <a:solidFill>
            <a:srgbClr val="FF8A00"/>
          </a:solidFill>
          <a:ln/>
        </p:spPr>
      </p:sp>
      <p:pic>
        <p:nvPicPr>
          <p:cNvPr id="8" name="Image 0" descr="preencoded.png">    </p:cNvPr>
          <p:cNvPicPr>
            <a:picLocks noChangeAspect="1"/>
          </p:cNvPicPr>
          <p:nvPr/>
        </p:nvPicPr>
        <p:blipFill>
          <a:blip r:embed="rId2"/>
          <a:stretch>
            <a:fillRect/>
          </a:stretch>
        </p:blipFill>
        <p:spPr>
          <a:xfrm>
            <a:off x="735909" y="2857317"/>
            <a:ext cx="247254" cy="247254"/>
          </a:xfrm>
          <a:prstGeom prst="rect">
            <a:avLst/>
          </a:prstGeom>
        </p:spPr>
      </p:pic>
      <p:sp>
        <p:nvSpPr>
          <p:cNvPr id="9" name="Text 6"/>
          <p:cNvSpPr txBox="1"/>
          <p:nvPr/>
        </p:nvSpPr>
        <p:spPr>
          <a:xfrm>
            <a:off x="1188720" y="2697480"/>
            <a:ext cx="1417320" cy="566928"/>
          </a:xfrm>
          <a:prstGeom prst="rect">
            <a:avLst/>
          </a:prstGeom>
          <a:noFill/>
          <a:ln/>
        </p:spPr>
        <p:txBody>
          <a:bodyPr wrap="square" lIns="0" tIns="0" rIns="0" bIns="0" rtlCol="0" anchor="ctr"/>
          <a:lstStyle/>
          <a:p>
            <a:pPr indent="0" marL="0">
              <a:buNone/>
            </a:pPr>
            <a:r>
              <a:rPr lang="en-US" sz="1200" b="1" dirty="0">
                <a:solidFill>
                  <a:srgbClr val="E06F00"/>
                </a:solidFill>
                <a:latin typeface="Montserrat" pitchFamily="34" charset="0"/>
                <a:ea typeface="Montserrat" pitchFamily="34" charset="-122"/>
                <a:cs typeface="Montserrat" pitchFamily="34" charset="-120"/>
              </a:rPr>
              <a:t>Transparencia</a:t>
            </a:r>
            <a:endParaRPr lang="en-US" sz="1200" dirty="0"/>
          </a:p>
        </p:txBody>
      </p:sp>
      <p:sp>
        <p:nvSpPr>
          <p:cNvPr id="10" name="Shape 7"/>
          <p:cNvSpPr/>
          <p:nvPr/>
        </p:nvSpPr>
        <p:spPr>
          <a:xfrm>
            <a:off x="2816352" y="2697480"/>
            <a:ext cx="2130552" cy="566928"/>
          </a:xfrm>
          <a:prstGeom prst="roundRect">
            <a:avLst>
              <a:gd name="adj" fmla="val 50000"/>
            </a:avLst>
          </a:prstGeom>
          <a:solidFill>
            <a:srgbClr val="FFF1DE"/>
          </a:solidFill>
          <a:ln/>
        </p:spPr>
      </p:sp>
      <p:sp>
        <p:nvSpPr>
          <p:cNvPr id="11" name="Shape 8"/>
          <p:cNvSpPr/>
          <p:nvPr/>
        </p:nvSpPr>
        <p:spPr>
          <a:xfrm>
            <a:off x="2889504" y="2743200"/>
            <a:ext cx="475488" cy="475488"/>
          </a:xfrm>
          <a:prstGeom prst="ellipse">
            <a:avLst/>
          </a:prstGeom>
          <a:solidFill>
            <a:srgbClr val="FF8A00"/>
          </a:solidFill>
          <a:ln/>
        </p:spPr>
      </p:sp>
      <p:pic>
        <p:nvPicPr>
          <p:cNvPr id="12" name="Image 1" descr="preencoded.png">    </p:cNvPr>
          <p:cNvPicPr>
            <a:picLocks noChangeAspect="1"/>
          </p:cNvPicPr>
          <p:nvPr/>
        </p:nvPicPr>
        <p:blipFill>
          <a:blip r:embed="rId3"/>
          <a:stretch>
            <a:fillRect/>
          </a:stretch>
        </p:blipFill>
        <p:spPr>
          <a:xfrm>
            <a:off x="3003621" y="2857317"/>
            <a:ext cx="247254" cy="247254"/>
          </a:xfrm>
          <a:prstGeom prst="rect">
            <a:avLst/>
          </a:prstGeom>
        </p:spPr>
      </p:pic>
      <p:sp>
        <p:nvSpPr>
          <p:cNvPr id="13" name="Text 9"/>
          <p:cNvSpPr txBox="1"/>
          <p:nvPr/>
        </p:nvSpPr>
        <p:spPr>
          <a:xfrm>
            <a:off x="3456432" y="2697480"/>
            <a:ext cx="1417320" cy="566928"/>
          </a:xfrm>
          <a:prstGeom prst="rect">
            <a:avLst/>
          </a:prstGeom>
          <a:noFill/>
          <a:ln/>
        </p:spPr>
        <p:txBody>
          <a:bodyPr wrap="square" lIns="0" tIns="0" rIns="0" bIns="0" rtlCol="0" anchor="ctr"/>
          <a:lstStyle/>
          <a:p>
            <a:pPr indent="0" marL="0">
              <a:buNone/>
            </a:pPr>
            <a:r>
              <a:rPr lang="en-US" sz="1200" b="1" dirty="0">
                <a:solidFill>
                  <a:srgbClr val="E06F00"/>
                </a:solidFill>
                <a:latin typeface="Montserrat" pitchFamily="34" charset="0"/>
                <a:ea typeface="Montserrat" pitchFamily="34" charset="-122"/>
                <a:cs typeface="Montserrat" pitchFamily="34" charset="-120"/>
              </a:rPr>
              <a:t>Inspección</a:t>
            </a:r>
            <a:endParaRPr lang="en-US" sz="1200" dirty="0"/>
          </a:p>
        </p:txBody>
      </p:sp>
      <p:sp>
        <p:nvSpPr>
          <p:cNvPr id="14" name="Shape 10"/>
          <p:cNvSpPr/>
          <p:nvPr/>
        </p:nvSpPr>
        <p:spPr>
          <a:xfrm>
            <a:off x="5084064" y="2697480"/>
            <a:ext cx="2130552" cy="566928"/>
          </a:xfrm>
          <a:prstGeom prst="roundRect">
            <a:avLst>
              <a:gd name="adj" fmla="val 50000"/>
            </a:avLst>
          </a:prstGeom>
          <a:solidFill>
            <a:srgbClr val="FFF1DE"/>
          </a:solidFill>
          <a:ln/>
        </p:spPr>
      </p:sp>
      <p:sp>
        <p:nvSpPr>
          <p:cNvPr id="15" name="Shape 11"/>
          <p:cNvSpPr/>
          <p:nvPr/>
        </p:nvSpPr>
        <p:spPr>
          <a:xfrm>
            <a:off x="5157216" y="2743200"/>
            <a:ext cx="475488" cy="475488"/>
          </a:xfrm>
          <a:prstGeom prst="ellipse">
            <a:avLst/>
          </a:prstGeom>
          <a:solidFill>
            <a:srgbClr val="FF8A00"/>
          </a:solidFill>
          <a:ln/>
        </p:spPr>
      </p:sp>
      <p:pic>
        <p:nvPicPr>
          <p:cNvPr id="16" name="Image 2" descr="preencoded.png">    </p:cNvPr>
          <p:cNvPicPr>
            <a:picLocks noChangeAspect="1"/>
          </p:cNvPicPr>
          <p:nvPr/>
        </p:nvPicPr>
        <p:blipFill>
          <a:blip r:embed="rId4"/>
          <a:stretch>
            <a:fillRect/>
          </a:stretch>
        </p:blipFill>
        <p:spPr>
          <a:xfrm>
            <a:off x="5271333" y="2857317"/>
            <a:ext cx="247254" cy="247254"/>
          </a:xfrm>
          <a:prstGeom prst="rect">
            <a:avLst/>
          </a:prstGeom>
        </p:spPr>
      </p:pic>
      <p:sp>
        <p:nvSpPr>
          <p:cNvPr id="17" name="Text 12"/>
          <p:cNvSpPr txBox="1"/>
          <p:nvPr/>
        </p:nvSpPr>
        <p:spPr>
          <a:xfrm>
            <a:off x="5724144" y="2697480"/>
            <a:ext cx="1417320" cy="566928"/>
          </a:xfrm>
          <a:prstGeom prst="rect">
            <a:avLst/>
          </a:prstGeom>
          <a:noFill/>
          <a:ln/>
        </p:spPr>
        <p:txBody>
          <a:bodyPr wrap="square" lIns="0" tIns="0" rIns="0" bIns="0" rtlCol="0" anchor="ctr"/>
          <a:lstStyle/>
          <a:p>
            <a:pPr indent="0" marL="0">
              <a:buNone/>
            </a:pPr>
            <a:r>
              <a:rPr lang="en-US" sz="1200" b="1" dirty="0">
                <a:solidFill>
                  <a:srgbClr val="E06F00"/>
                </a:solidFill>
                <a:latin typeface="Montserrat" pitchFamily="34" charset="0"/>
                <a:ea typeface="Montserrat" pitchFamily="34" charset="-122"/>
                <a:cs typeface="Montserrat" pitchFamily="34" charset="-120"/>
              </a:rPr>
              <a:t>Adaptación</a:t>
            </a:r>
            <a:endParaRPr lang="en-US" sz="1200" dirty="0"/>
          </a:p>
        </p:txBody>
      </p:sp>
      <p:sp>
        <p:nvSpPr>
          <p:cNvPr id="18" name="Shape 13"/>
          <p:cNvSpPr/>
          <p:nvPr/>
        </p:nvSpPr>
        <p:spPr>
          <a:xfrm>
            <a:off x="548640" y="3493008"/>
            <a:ext cx="6675120" cy="1097280"/>
          </a:xfrm>
          <a:prstGeom prst="roundRect">
            <a:avLst>
              <a:gd name="adj" fmla="val 11667"/>
            </a:avLst>
          </a:prstGeom>
          <a:solidFill>
            <a:srgbClr val="FFFFFF"/>
          </a:solidFill>
          <a:ln w="15875">
            <a:solidFill>
              <a:srgbClr val="FF8A00"/>
            </a:solidFill>
            <a:prstDash val="solid"/>
          </a:ln>
        </p:spPr>
      </p:sp>
      <p:sp>
        <p:nvSpPr>
          <p:cNvPr id="19" name="Text 14"/>
          <p:cNvSpPr txBox="1"/>
          <p:nvPr/>
        </p:nvSpPr>
        <p:spPr>
          <a:xfrm>
            <a:off x="777240" y="3584448"/>
            <a:ext cx="3657600" cy="219456"/>
          </a:xfrm>
          <a:prstGeom prst="rect">
            <a:avLst/>
          </a:prstGeom>
          <a:noFill/>
          <a:ln/>
        </p:spPr>
        <p:txBody>
          <a:bodyPr wrap="square" lIns="0" tIns="0" rIns="0" bIns="0" rtlCol="0" anchor="t"/>
          <a:lstStyle/>
          <a:p>
            <a:pPr indent="0" marL="0">
              <a:buNone/>
            </a:pPr>
            <a:r>
              <a:rPr lang="en-US" sz="850" b="1" spc="150" kern="0" dirty="0">
                <a:solidFill>
                  <a:srgbClr val="E06F00"/>
                </a:solidFill>
                <a:latin typeface="Montserrat" pitchFamily="34" charset="0"/>
                <a:ea typeface="Montserrat" pitchFamily="34" charset="-122"/>
                <a:cs typeface="Montserrat" pitchFamily="34" charset="-120"/>
              </a:rPr>
              <a:t>¿POR QUÉ SCRUM?</a:t>
            </a:r>
            <a:endParaRPr lang="en-US" sz="850" dirty="0"/>
          </a:p>
        </p:txBody>
      </p:sp>
      <p:sp>
        <p:nvSpPr>
          <p:cNvPr id="20" name="Text 15"/>
          <p:cNvSpPr txBox="1"/>
          <p:nvPr/>
        </p:nvSpPr>
        <p:spPr>
          <a:xfrm>
            <a:off x="777240" y="3803904"/>
            <a:ext cx="6309360" cy="749808"/>
          </a:xfrm>
          <a:prstGeom prst="rect">
            <a:avLst/>
          </a:prstGeom>
          <a:noFill/>
          <a:ln/>
        </p:spPr>
        <p:txBody>
          <a:bodyPr wrap="square" lIns="0" tIns="0" rIns="0" bIns="0" rtlCol="0" anchor="t"/>
          <a:lstStyle/>
          <a:p>
            <a:pPr indent="0" marL="0">
              <a:buNone/>
            </a:pPr>
            <a:r>
              <a:rPr lang="en-US" sz="1100" dirty="0">
                <a:solidFill>
                  <a:srgbClr val="0E1B3D"/>
                </a:solidFill>
                <a:latin typeface="Open Sans" pitchFamily="34" charset="0"/>
                <a:ea typeface="Open Sans" pitchFamily="34" charset="-122"/>
                <a:cs typeface="Open Sans" pitchFamily="34" charset="-120"/>
              </a:rPr>
              <a:t>Los requerimientos dependen de la validación con el personal del DPA y de una normativa pesquera que cambia con frecuencia: hay que entregar valor en ciclos cortos y ajustar el plan en cada revisión.</a:t>
            </a:r>
            <a:endParaRPr lang="en-US" sz="1100" dirty="0"/>
          </a:p>
        </p:txBody>
      </p:sp>
      <p:sp>
        <p:nvSpPr>
          <p:cNvPr id="21" name="Shape 16"/>
          <p:cNvSpPr/>
          <p:nvPr/>
        </p:nvSpPr>
        <p:spPr>
          <a:xfrm>
            <a:off x="7498080" y="1572768"/>
            <a:ext cx="4114800" cy="3017520"/>
          </a:xfrm>
          <a:prstGeom prst="roundRect">
            <a:avLst>
              <a:gd name="adj" fmla="val 5455"/>
            </a:avLst>
          </a:prstGeom>
          <a:solidFill>
            <a:srgbClr val="FF8A00"/>
          </a:solidFill>
          <a:ln/>
          <a:effectLst>
            <a:outerShdw sx="100000" sy="100000" kx="0" ky="0" algn="bl" rotWithShape="0" blurRad="228600" dist="63500" dir="5400000">
              <a:srgbClr val="FF8A00">
                <a:alpha val="30000"/>
              </a:srgbClr>
            </a:outerShdw>
          </a:effectLst>
        </p:spPr>
      </p:sp>
      <p:pic>
        <p:nvPicPr>
          <p:cNvPr id="22" name="Image 3" descr="preencoded.png">    </p:cNvPr>
          <p:cNvPicPr>
            <a:picLocks noChangeAspect="1"/>
          </p:cNvPicPr>
          <p:nvPr/>
        </p:nvPicPr>
        <p:blipFill>
          <a:blip r:embed="rId5"/>
          <a:stretch>
            <a:fillRect/>
          </a:stretch>
        </p:blipFill>
        <p:spPr>
          <a:xfrm>
            <a:off x="7754112" y="1810512"/>
            <a:ext cx="502920" cy="502920"/>
          </a:xfrm>
          <a:prstGeom prst="rect">
            <a:avLst/>
          </a:prstGeom>
        </p:spPr>
      </p:pic>
      <p:sp>
        <p:nvSpPr>
          <p:cNvPr id="23" name="Text 17"/>
          <p:cNvSpPr txBox="1"/>
          <p:nvPr/>
        </p:nvSpPr>
        <p:spPr>
          <a:xfrm>
            <a:off x="8366760" y="1810512"/>
            <a:ext cx="3017520" cy="502920"/>
          </a:xfrm>
          <a:prstGeom prst="rect">
            <a:avLst/>
          </a:prstGeom>
          <a:noFill/>
          <a:ln/>
        </p:spPr>
        <p:txBody>
          <a:bodyPr wrap="square" lIns="0" tIns="0" rIns="0" bIns="0" rtlCol="0" anchor="ctr"/>
          <a:lstStyle/>
          <a:p>
            <a:pPr indent="0" marL="0">
              <a:buNone/>
            </a:pPr>
            <a:r>
              <a:rPr lang="en-US" sz="1000" b="1" spc="150" kern="0" dirty="0">
                <a:solidFill>
                  <a:srgbClr val="FFFFFF"/>
                </a:solidFill>
                <a:latin typeface="Montserrat" pitchFamily="34" charset="0"/>
                <a:ea typeface="Montserrat" pitchFamily="34" charset="-122"/>
                <a:cs typeface="Montserrat" pitchFamily="34" charset="-120"/>
              </a:rPr>
              <a:t>OBJETIVO DEL PRODUCTO</a:t>
            </a:r>
            <a:endParaRPr lang="en-US" sz="1000" dirty="0"/>
          </a:p>
        </p:txBody>
      </p:sp>
      <p:sp>
        <p:nvSpPr>
          <p:cNvPr id="24" name="Text 18"/>
          <p:cNvSpPr txBox="1"/>
          <p:nvPr/>
        </p:nvSpPr>
        <p:spPr>
          <a:xfrm>
            <a:off x="7754112" y="2423160"/>
            <a:ext cx="3611880" cy="1417320"/>
          </a:xfrm>
          <a:prstGeom prst="rect">
            <a:avLst/>
          </a:prstGeom>
          <a:noFill/>
          <a:ln/>
        </p:spPr>
        <p:txBody>
          <a:bodyPr wrap="square" lIns="0" tIns="0" rIns="0" bIns="0" rtlCol="0" anchor="t"/>
          <a:lstStyle/>
          <a:p>
            <a:pPr indent="0" marL="0">
              <a:buNone/>
            </a:pPr>
            <a:r>
              <a:rPr lang="en-US" sz="1600" b="1" dirty="0">
                <a:solidFill>
                  <a:srgbClr val="FFFFFF"/>
                </a:solidFill>
                <a:latin typeface="Montserrat" pitchFamily="34" charset="0"/>
                <a:ea typeface="Montserrat" pitchFamily="34" charset="-122"/>
                <a:cs typeface="Montserrat" pitchFamily="34" charset="-120"/>
              </a:rPr>
              <a:t>Que todo desembarque del DPA piloto quede registrado, validado y con constancia verificable el mismo día en que ocurre.</a:t>
            </a:r>
            <a:endParaRPr lang="en-US" sz="1600" dirty="0"/>
          </a:p>
        </p:txBody>
      </p:sp>
      <p:sp>
        <p:nvSpPr>
          <p:cNvPr id="25" name="Shape 19"/>
          <p:cNvSpPr/>
          <p:nvPr/>
        </p:nvSpPr>
        <p:spPr>
          <a:xfrm>
            <a:off x="7754112" y="4041648"/>
            <a:ext cx="1682496" cy="292608"/>
          </a:xfrm>
          <a:prstGeom prst="roundRect">
            <a:avLst>
              <a:gd name="adj" fmla="val 50000"/>
            </a:avLst>
          </a:prstGeom>
          <a:solidFill>
            <a:srgbClr val="FFFFFF"/>
          </a:solidFill>
          <a:ln/>
        </p:spPr>
      </p:sp>
      <p:sp>
        <p:nvSpPr>
          <p:cNvPr id="26" name="Text 20"/>
          <p:cNvSpPr txBox="1"/>
          <p:nvPr/>
        </p:nvSpPr>
        <p:spPr>
          <a:xfrm>
            <a:off x="7754112" y="4041648"/>
            <a:ext cx="1682496" cy="292608"/>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Sprints de 2 semanas</a:t>
            </a:r>
            <a:endParaRPr lang="en-US" sz="900" dirty="0"/>
          </a:p>
        </p:txBody>
      </p:sp>
      <p:sp>
        <p:nvSpPr>
          <p:cNvPr id="27" name="Shape 21"/>
          <p:cNvSpPr/>
          <p:nvPr/>
        </p:nvSpPr>
        <p:spPr>
          <a:xfrm>
            <a:off x="9528048" y="4041648"/>
            <a:ext cx="928116" cy="292608"/>
          </a:xfrm>
          <a:prstGeom prst="roundRect">
            <a:avLst>
              <a:gd name="adj" fmla="val 50000"/>
            </a:avLst>
          </a:prstGeom>
          <a:solidFill>
            <a:srgbClr val="FFFFFF"/>
          </a:solidFill>
          <a:ln/>
        </p:spPr>
      </p:sp>
      <p:sp>
        <p:nvSpPr>
          <p:cNvPr id="28" name="Text 22"/>
          <p:cNvSpPr txBox="1"/>
          <p:nvPr/>
        </p:nvSpPr>
        <p:spPr>
          <a:xfrm>
            <a:off x="9528048" y="4041648"/>
            <a:ext cx="928116" cy="292608"/>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3 Sprints</a:t>
            </a:r>
            <a:endParaRPr lang="en-US" sz="900" dirty="0"/>
          </a:p>
        </p:txBody>
      </p:sp>
      <p:sp>
        <p:nvSpPr>
          <p:cNvPr id="29" name="Shape 23"/>
          <p:cNvSpPr/>
          <p:nvPr/>
        </p:nvSpPr>
        <p:spPr>
          <a:xfrm>
            <a:off x="10547604" y="4041648"/>
            <a:ext cx="722376" cy="292608"/>
          </a:xfrm>
          <a:prstGeom prst="roundRect">
            <a:avLst>
              <a:gd name="adj" fmla="val 50000"/>
            </a:avLst>
          </a:prstGeom>
          <a:solidFill>
            <a:srgbClr val="FFFFFF"/>
          </a:solidFill>
          <a:ln/>
        </p:spPr>
      </p:sp>
      <p:sp>
        <p:nvSpPr>
          <p:cNvPr id="30" name="Text 24"/>
          <p:cNvSpPr txBox="1"/>
          <p:nvPr/>
        </p:nvSpPr>
        <p:spPr>
          <a:xfrm>
            <a:off x="10547604" y="4041648"/>
            <a:ext cx="722376" cy="292608"/>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66 pts</a:t>
            </a:r>
            <a:endParaRPr lang="en-US" sz="900" dirty="0"/>
          </a:p>
        </p:txBody>
      </p:sp>
      <p:sp>
        <p:nvSpPr>
          <p:cNvPr id="31" name="Text 25"/>
          <p:cNvSpPr txBox="1"/>
          <p:nvPr/>
        </p:nvSpPr>
        <p:spPr>
          <a:xfrm>
            <a:off x="548640" y="4818888"/>
            <a:ext cx="8229600" cy="256032"/>
          </a:xfrm>
          <a:prstGeom prst="rect">
            <a:avLst/>
          </a:prstGeom>
          <a:noFill/>
          <a:ln/>
        </p:spPr>
        <p:txBody>
          <a:bodyPr wrap="square" lIns="0" tIns="0" rIns="0" bIns="0" rtlCol="0" anchor="ctr"/>
          <a:lstStyle/>
          <a:p>
            <a:pPr indent="0" marL="0">
              <a:buNone/>
            </a:pPr>
            <a:r>
              <a:rPr lang="en-US" sz="900" b="1" spc="120" kern="0" dirty="0">
                <a:solidFill>
                  <a:srgbClr val="E06F00"/>
                </a:solidFill>
                <a:latin typeface="Montserrat" pitchFamily="34" charset="0"/>
                <a:ea typeface="Montserrat" pitchFamily="34" charset="-122"/>
                <a:cs typeface="Montserrat" pitchFamily="34" charset="-120"/>
              </a:rPr>
              <a:t>ARTEFACTOS EN JIRA SOFTWARE · ESPACIO «VIDA SUBMARINA - ODS 14»</a:t>
            </a:r>
            <a:endParaRPr lang="en-US" sz="900" dirty="0"/>
          </a:p>
        </p:txBody>
      </p:sp>
      <p:sp>
        <p:nvSpPr>
          <p:cNvPr id="32" name="Shape 26"/>
          <p:cNvSpPr/>
          <p:nvPr/>
        </p:nvSpPr>
        <p:spPr>
          <a:xfrm>
            <a:off x="548640" y="5138928"/>
            <a:ext cx="3584448" cy="1051560"/>
          </a:xfrm>
          <a:prstGeom prst="roundRect">
            <a:avLst>
              <a:gd name="adj" fmla="val 12174"/>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3" name="Shape 27"/>
          <p:cNvSpPr/>
          <p:nvPr/>
        </p:nvSpPr>
        <p:spPr>
          <a:xfrm>
            <a:off x="731520" y="5376672"/>
            <a:ext cx="566928" cy="566928"/>
          </a:xfrm>
          <a:prstGeom prst="roundRect">
            <a:avLst>
              <a:gd name="adj" fmla="val 28000"/>
            </a:avLst>
          </a:prstGeom>
          <a:solidFill>
            <a:srgbClr val="FF8A00"/>
          </a:solidFill>
          <a:ln/>
        </p:spPr>
      </p:sp>
      <p:pic>
        <p:nvPicPr>
          <p:cNvPr id="34" name="Image 4" descr="preencoded.png">    </p:cNvPr>
          <p:cNvPicPr>
            <a:picLocks noChangeAspect="1"/>
          </p:cNvPicPr>
          <p:nvPr/>
        </p:nvPicPr>
        <p:blipFill>
          <a:blip r:embed="rId6"/>
          <a:stretch>
            <a:fillRect/>
          </a:stretch>
        </p:blipFill>
        <p:spPr>
          <a:xfrm>
            <a:off x="867583" y="5512735"/>
            <a:ext cx="294803" cy="294803"/>
          </a:xfrm>
          <a:prstGeom prst="rect">
            <a:avLst/>
          </a:prstGeom>
        </p:spPr>
      </p:pic>
      <p:sp>
        <p:nvSpPr>
          <p:cNvPr id="35" name="Text 28"/>
          <p:cNvSpPr txBox="1"/>
          <p:nvPr/>
        </p:nvSpPr>
        <p:spPr>
          <a:xfrm>
            <a:off x="1463040" y="5230368"/>
            <a:ext cx="2560320" cy="868680"/>
          </a:xfrm>
          <a:prstGeom prst="rect">
            <a:avLst/>
          </a:prstGeom>
          <a:noFill/>
          <a:ln/>
        </p:spPr>
        <p:txBody>
          <a:bodyPr wrap="square" lIns="0" tIns="0" rIns="0" bIns="0" rtlCol="0" anchor="ctr"/>
          <a:lstStyle/>
          <a:p>
            <a:pPr indent="0" marL="0">
              <a:buNone/>
            </a:pPr>
            <a:r>
              <a:rPr lang="en-US" sz="1300" b="1" dirty="0">
                <a:solidFill>
                  <a:srgbClr val="0E1B3D"/>
                </a:solidFill>
                <a:latin typeface="Montserrat" pitchFamily="34" charset="0"/>
                <a:ea typeface="Montserrat" pitchFamily="34" charset="-122"/>
                <a:cs typeface="Montserrat" pitchFamily="34" charset="-120"/>
              </a:rPr>
              <a:t>Product Backlog</a:t>
            </a:r>
            <a:endParaRPr lang="en-US" sz="1200" dirty="0"/>
          </a:p>
          <a:p>
            <a:pPr indent="0" marL="0">
              <a:buNone/>
            </a:pPr>
            <a:r>
              <a:rPr lang="en-US" sz="1000" dirty="0">
                <a:solidFill>
                  <a:srgbClr val="4A5878"/>
                </a:solidFill>
                <a:latin typeface="Open Sans" pitchFamily="34" charset="0"/>
                <a:ea typeface="Open Sans" pitchFamily="34" charset="-122"/>
                <a:cs typeface="Open Sans" pitchFamily="34" charset="-120"/>
              </a:rPr>
              <a:t>Compromiso: Objetivo del Producto</a:t>
            </a:r>
            <a:endParaRPr lang="en-US" sz="1200" dirty="0"/>
          </a:p>
        </p:txBody>
      </p:sp>
      <p:sp>
        <p:nvSpPr>
          <p:cNvPr id="36" name="Shape 29"/>
          <p:cNvSpPr/>
          <p:nvPr/>
        </p:nvSpPr>
        <p:spPr>
          <a:xfrm>
            <a:off x="4270248" y="5138928"/>
            <a:ext cx="3584448" cy="1051560"/>
          </a:xfrm>
          <a:prstGeom prst="roundRect">
            <a:avLst>
              <a:gd name="adj" fmla="val 12174"/>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7" name="Shape 30"/>
          <p:cNvSpPr/>
          <p:nvPr/>
        </p:nvSpPr>
        <p:spPr>
          <a:xfrm>
            <a:off x="4453128" y="5376672"/>
            <a:ext cx="566928" cy="566928"/>
          </a:xfrm>
          <a:prstGeom prst="roundRect">
            <a:avLst>
              <a:gd name="adj" fmla="val 28000"/>
            </a:avLst>
          </a:prstGeom>
          <a:solidFill>
            <a:srgbClr val="FF8A00"/>
          </a:solidFill>
          <a:ln/>
        </p:spPr>
      </p:sp>
      <p:pic>
        <p:nvPicPr>
          <p:cNvPr id="38" name="Image 5" descr="preencoded.png">    </p:cNvPr>
          <p:cNvPicPr>
            <a:picLocks noChangeAspect="1"/>
          </p:cNvPicPr>
          <p:nvPr/>
        </p:nvPicPr>
        <p:blipFill>
          <a:blip r:embed="rId7"/>
          <a:stretch>
            <a:fillRect/>
          </a:stretch>
        </p:blipFill>
        <p:spPr>
          <a:xfrm>
            <a:off x="4589191" y="5512735"/>
            <a:ext cx="294803" cy="294803"/>
          </a:xfrm>
          <a:prstGeom prst="rect">
            <a:avLst/>
          </a:prstGeom>
        </p:spPr>
      </p:pic>
      <p:sp>
        <p:nvSpPr>
          <p:cNvPr id="39" name="Text 31"/>
          <p:cNvSpPr txBox="1"/>
          <p:nvPr/>
        </p:nvSpPr>
        <p:spPr>
          <a:xfrm>
            <a:off x="5184648" y="5230368"/>
            <a:ext cx="2560320" cy="868680"/>
          </a:xfrm>
          <a:prstGeom prst="rect">
            <a:avLst/>
          </a:prstGeom>
          <a:noFill/>
          <a:ln/>
        </p:spPr>
        <p:txBody>
          <a:bodyPr wrap="square" lIns="0" tIns="0" rIns="0" bIns="0" rtlCol="0" anchor="ctr"/>
          <a:lstStyle/>
          <a:p>
            <a:pPr indent="0" marL="0">
              <a:buNone/>
            </a:pPr>
            <a:r>
              <a:rPr lang="en-US" sz="1300" b="1" dirty="0">
                <a:solidFill>
                  <a:srgbClr val="0E1B3D"/>
                </a:solidFill>
                <a:latin typeface="Montserrat" pitchFamily="34" charset="0"/>
                <a:ea typeface="Montserrat" pitchFamily="34" charset="-122"/>
                <a:cs typeface="Montserrat" pitchFamily="34" charset="-120"/>
              </a:rPr>
              <a:t>Sprint Backlog</a:t>
            </a:r>
            <a:endParaRPr lang="en-US" sz="1200" dirty="0"/>
          </a:p>
          <a:p>
            <a:pPr indent="0" marL="0">
              <a:buNone/>
            </a:pPr>
            <a:r>
              <a:rPr lang="en-US" sz="1000" dirty="0">
                <a:solidFill>
                  <a:srgbClr val="4A5878"/>
                </a:solidFill>
                <a:latin typeface="Open Sans" pitchFamily="34" charset="0"/>
                <a:ea typeface="Open Sans" pitchFamily="34" charset="-122"/>
                <a:cs typeface="Open Sans" pitchFamily="34" charset="-120"/>
              </a:rPr>
              <a:t>Compromiso: Objetivo del Sprint</a:t>
            </a:r>
            <a:endParaRPr lang="en-US" sz="1200" dirty="0"/>
          </a:p>
        </p:txBody>
      </p:sp>
      <p:sp>
        <p:nvSpPr>
          <p:cNvPr id="40" name="Shape 32"/>
          <p:cNvSpPr/>
          <p:nvPr/>
        </p:nvSpPr>
        <p:spPr>
          <a:xfrm>
            <a:off x="7991856" y="5138928"/>
            <a:ext cx="3584448" cy="1051560"/>
          </a:xfrm>
          <a:prstGeom prst="roundRect">
            <a:avLst>
              <a:gd name="adj" fmla="val 12174"/>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1" name="Shape 33"/>
          <p:cNvSpPr/>
          <p:nvPr/>
        </p:nvSpPr>
        <p:spPr>
          <a:xfrm>
            <a:off x="8174736" y="5376672"/>
            <a:ext cx="566928" cy="566928"/>
          </a:xfrm>
          <a:prstGeom prst="roundRect">
            <a:avLst>
              <a:gd name="adj" fmla="val 28000"/>
            </a:avLst>
          </a:prstGeom>
          <a:solidFill>
            <a:srgbClr val="FF8A00"/>
          </a:solidFill>
          <a:ln/>
        </p:spPr>
      </p:sp>
      <p:pic>
        <p:nvPicPr>
          <p:cNvPr id="42" name="Image 6" descr="preencoded.png">    </p:cNvPr>
          <p:cNvPicPr>
            <a:picLocks noChangeAspect="1"/>
          </p:cNvPicPr>
          <p:nvPr/>
        </p:nvPicPr>
        <p:blipFill>
          <a:blip r:embed="rId8"/>
          <a:stretch>
            <a:fillRect/>
          </a:stretch>
        </p:blipFill>
        <p:spPr>
          <a:xfrm>
            <a:off x="8310799" y="5512735"/>
            <a:ext cx="294803" cy="294803"/>
          </a:xfrm>
          <a:prstGeom prst="rect">
            <a:avLst/>
          </a:prstGeom>
        </p:spPr>
      </p:pic>
      <p:sp>
        <p:nvSpPr>
          <p:cNvPr id="43" name="Text 34"/>
          <p:cNvSpPr txBox="1"/>
          <p:nvPr/>
        </p:nvSpPr>
        <p:spPr>
          <a:xfrm>
            <a:off x="8906256" y="5230368"/>
            <a:ext cx="2560320" cy="868680"/>
          </a:xfrm>
          <a:prstGeom prst="rect">
            <a:avLst/>
          </a:prstGeom>
          <a:noFill/>
          <a:ln/>
        </p:spPr>
        <p:txBody>
          <a:bodyPr wrap="square" lIns="0" tIns="0" rIns="0" bIns="0" rtlCol="0" anchor="ctr"/>
          <a:lstStyle/>
          <a:p>
            <a:pPr indent="0" marL="0">
              <a:buNone/>
            </a:pPr>
            <a:r>
              <a:rPr lang="en-US" sz="1300" b="1" dirty="0">
                <a:solidFill>
                  <a:srgbClr val="0E1B3D"/>
                </a:solidFill>
                <a:latin typeface="Montserrat" pitchFamily="34" charset="0"/>
                <a:ea typeface="Montserrat" pitchFamily="34" charset="-122"/>
                <a:cs typeface="Montserrat" pitchFamily="34" charset="-120"/>
              </a:rPr>
              <a:t>Incremento</a:t>
            </a:r>
            <a:endParaRPr lang="en-US" sz="1200" dirty="0"/>
          </a:p>
          <a:p>
            <a:pPr indent="0" marL="0">
              <a:buNone/>
            </a:pPr>
            <a:r>
              <a:rPr lang="en-US" sz="1000" dirty="0">
                <a:solidFill>
                  <a:srgbClr val="4A5878"/>
                </a:solidFill>
                <a:latin typeface="Open Sans" pitchFamily="34" charset="0"/>
                <a:ea typeface="Open Sans" pitchFamily="34" charset="-122"/>
                <a:cs typeface="Open Sans" pitchFamily="34" charset="-120"/>
              </a:rPr>
              <a:t>Compromiso: Definición de Terminado</a:t>
            </a:r>
            <a:endParaRPr lang="en-US" sz="1200" dirty="0"/>
          </a:p>
        </p:txBody>
      </p:sp>
      <p:sp>
        <p:nvSpPr>
          <p:cNvPr id="44" name="Text 3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5" name="Text 3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390595" cy="274320"/>
          </a:xfrm>
          <a:prstGeom prst="roundRect">
            <a:avLst>
              <a:gd name="adj" fmla="val 50000"/>
            </a:avLst>
          </a:prstGeom>
          <a:solidFill>
            <a:srgbClr val="FF8A00"/>
          </a:solidFill>
          <a:ln/>
        </p:spPr>
      </p:sp>
      <p:sp>
        <p:nvSpPr>
          <p:cNvPr id="3" name="Text 1"/>
          <p:cNvSpPr txBox="1"/>
          <p:nvPr/>
        </p:nvSpPr>
        <p:spPr>
          <a:xfrm>
            <a:off x="548640" y="411480"/>
            <a:ext cx="3390595"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5.1 ACUERDOS DEL EQUIPO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Definición de Listo y de Terminado</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Acuerdos para que el trabajo sea transparente y verificable en cada Sprint.</a:t>
            </a:r>
            <a:endParaRPr lang="en-US" sz="1300" dirty="0"/>
          </a:p>
        </p:txBody>
      </p:sp>
      <p:sp>
        <p:nvSpPr>
          <p:cNvPr id="6" name="Shape 4"/>
          <p:cNvSpPr/>
          <p:nvPr/>
        </p:nvSpPr>
        <p:spPr>
          <a:xfrm>
            <a:off x="548640" y="2011680"/>
            <a:ext cx="5440680" cy="4206240"/>
          </a:xfrm>
          <a:prstGeom prst="roundRect">
            <a:avLst>
              <a:gd name="adj" fmla="val 4348"/>
            </a:avLst>
          </a:prstGeom>
          <a:solidFill>
            <a:srgbClr val="EAF1FF"/>
          </a:solidFill>
          <a:ln/>
        </p:spPr>
      </p:sp>
      <p:sp>
        <p:nvSpPr>
          <p:cNvPr id="7" name="Shape 5"/>
          <p:cNvSpPr/>
          <p:nvPr/>
        </p:nvSpPr>
        <p:spPr>
          <a:xfrm>
            <a:off x="822960" y="2286000"/>
            <a:ext cx="640080" cy="640080"/>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976579" y="2439619"/>
            <a:ext cx="332842" cy="332842"/>
          </a:xfrm>
          <a:prstGeom prst="rect">
            <a:avLst/>
          </a:prstGeom>
        </p:spPr>
      </p:pic>
      <p:sp>
        <p:nvSpPr>
          <p:cNvPr id="9" name="Text 6"/>
          <p:cNvSpPr txBox="1"/>
          <p:nvPr/>
        </p:nvSpPr>
        <p:spPr>
          <a:xfrm>
            <a:off x="1645920" y="2267712"/>
            <a:ext cx="4160520" cy="411480"/>
          </a:xfrm>
          <a:prstGeom prst="rect">
            <a:avLst/>
          </a:prstGeom>
          <a:noFill/>
          <a:ln/>
        </p:spPr>
        <p:txBody>
          <a:bodyPr wrap="square" lIns="0" tIns="0" rIns="0" bIns="0" rtlCol="0" anchor="ctr"/>
          <a:lstStyle/>
          <a:p>
            <a:pPr indent="0" marL="0">
              <a:buNone/>
            </a:pPr>
            <a:r>
              <a:rPr lang="en-US" sz="1700" b="1" dirty="0">
                <a:solidFill>
                  <a:srgbClr val="0E1B3D"/>
                </a:solidFill>
                <a:latin typeface="Montserrat" pitchFamily="34" charset="0"/>
                <a:ea typeface="Montserrat" pitchFamily="34" charset="-122"/>
                <a:cs typeface="Montserrat" pitchFamily="34" charset="-120"/>
              </a:rPr>
              <a:t>Definición de Listo (DoR)</a:t>
            </a:r>
            <a:endParaRPr lang="en-US" sz="1700" dirty="0"/>
          </a:p>
        </p:txBody>
      </p:sp>
      <p:sp>
        <p:nvSpPr>
          <p:cNvPr id="10" name="Text 7"/>
          <p:cNvSpPr txBox="1"/>
          <p:nvPr/>
        </p:nvSpPr>
        <p:spPr>
          <a:xfrm>
            <a:off x="1645920" y="2670048"/>
            <a:ext cx="4160520" cy="274320"/>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Una historia entra a un Sprint solo si:</a:t>
            </a:r>
            <a:endParaRPr lang="en-US" sz="1100" dirty="0"/>
          </a:p>
        </p:txBody>
      </p:sp>
      <p:sp>
        <p:nvSpPr>
          <p:cNvPr id="11" name="Shape 8"/>
          <p:cNvSpPr/>
          <p:nvPr/>
        </p:nvSpPr>
        <p:spPr>
          <a:xfrm>
            <a:off x="822960" y="3200400"/>
            <a:ext cx="4892040" cy="493776"/>
          </a:xfrm>
          <a:prstGeom prst="roundRect">
            <a:avLst>
              <a:gd name="adj" fmla="val 18519"/>
            </a:avLst>
          </a:prstGeom>
          <a:solidFill>
            <a:srgbClr val="FFFFFF"/>
          </a:solidFill>
          <a:ln/>
        </p:spPr>
      </p:sp>
      <p:sp>
        <p:nvSpPr>
          <p:cNvPr id="12" name="Shape 9"/>
          <p:cNvSpPr/>
          <p:nvPr/>
        </p:nvSpPr>
        <p:spPr>
          <a:xfrm>
            <a:off x="932688" y="3291840"/>
            <a:ext cx="310896" cy="310896"/>
          </a:xfrm>
          <a:prstGeom prst="ellipse">
            <a:avLst/>
          </a:prstGeom>
          <a:solidFill>
            <a:srgbClr val="0B5FFF"/>
          </a:solidFill>
          <a:ln/>
        </p:spPr>
      </p:sp>
      <p:sp>
        <p:nvSpPr>
          <p:cNvPr id="13" name="Text 10"/>
          <p:cNvSpPr txBox="1"/>
          <p:nvPr/>
        </p:nvSpPr>
        <p:spPr>
          <a:xfrm>
            <a:off x="932688" y="329184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1</a:t>
            </a:r>
            <a:endParaRPr lang="en-US" sz="1000" dirty="0"/>
          </a:p>
        </p:txBody>
      </p:sp>
      <p:sp>
        <p:nvSpPr>
          <p:cNvPr id="14" name="Text 11"/>
          <p:cNvSpPr txBox="1"/>
          <p:nvPr/>
        </p:nvSpPr>
        <p:spPr>
          <a:xfrm>
            <a:off x="1371600" y="3200400"/>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Redactada como «Como… quiero… para…».</a:t>
            </a:r>
            <a:endParaRPr lang="en-US" sz="1100" dirty="0"/>
          </a:p>
        </p:txBody>
      </p:sp>
      <p:sp>
        <p:nvSpPr>
          <p:cNvPr id="15" name="Shape 12"/>
          <p:cNvSpPr/>
          <p:nvPr/>
        </p:nvSpPr>
        <p:spPr>
          <a:xfrm>
            <a:off x="822960" y="3785616"/>
            <a:ext cx="4892040" cy="493776"/>
          </a:xfrm>
          <a:prstGeom prst="roundRect">
            <a:avLst>
              <a:gd name="adj" fmla="val 18519"/>
            </a:avLst>
          </a:prstGeom>
          <a:solidFill>
            <a:srgbClr val="FFFFFF"/>
          </a:solidFill>
          <a:ln/>
        </p:spPr>
      </p:sp>
      <p:sp>
        <p:nvSpPr>
          <p:cNvPr id="16" name="Shape 13"/>
          <p:cNvSpPr/>
          <p:nvPr/>
        </p:nvSpPr>
        <p:spPr>
          <a:xfrm>
            <a:off x="932688" y="3877056"/>
            <a:ext cx="310896" cy="310896"/>
          </a:xfrm>
          <a:prstGeom prst="ellipse">
            <a:avLst/>
          </a:prstGeom>
          <a:solidFill>
            <a:srgbClr val="0B5FFF"/>
          </a:solidFill>
          <a:ln/>
        </p:spPr>
      </p:sp>
      <p:sp>
        <p:nvSpPr>
          <p:cNvPr id="17" name="Text 14"/>
          <p:cNvSpPr txBox="1"/>
          <p:nvPr/>
        </p:nvSpPr>
        <p:spPr>
          <a:xfrm>
            <a:off x="932688" y="3877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2</a:t>
            </a:r>
            <a:endParaRPr lang="en-US" sz="1000" dirty="0"/>
          </a:p>
        </p:txBody>
      </p:sp>
      <p:sp>
        <p:nvSpPr>
          <p:cNvPr id="18" name="Text 15"/>
          <p:cNvSpPr txBox="1"/>
          <p:nvPr/>
        </p:nvSpPr>
        <p:spPr>
          <a:xfrm>
            <a:off x="1371600" y="3785616"/>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Tiene criterios de aceptación verificables.</a:t>
            </a:r>
            <a:endParaRPr lang="en-US" sz="1100" dirty="0"/>
          </a:p>
        </p:txBody>
      </p:sp>
      <p:sp>
        <p:nvSpPr>
          <p:cNvPr id="19" name="Shape 16"/>
          <p:cNvSpPr/>
          <p:nvPr/>
        </p:nvSpPr>
        <p:spPr>
          <a:xfrm>
            <a:off x="822960" y="4370832"/>
            <a:ext cx="4892040" cy="493776"/>
          </a:xfrm>
          <a:prstGeom prst="roundRect">
            <a:avLst>
              <a:gd name="adj" fmla="val 18519"/>
            </a:avLst>
          </a:prstGeom>
          <a:solidFill>
            <a:srgbClr val="FFFFFF"/>
          </a:solidFill>
          <a:ln/>
        </p:spPr>
      </p:sp>
      <p:sp>
        <p:nvSpPr>
          <p:cNvPr id="20" name="Shape 17"/>
          <p:cNvSpPr/>
          <p:nvPr/>
        </p:nvSpPr>
        <p:spPr>
          <a:xfrm>
            <a:off x="932688" y="4462272"/>
            <a:ext cx="310896" cy="310896"/>
          </a:xfrm>
          <a:prstGeom prst="ellipse">
            <a:avLst/>
          </a:prstGeom>
          <a:solidFill>
            <a:srgbClr val="0B5FFF"/>
          </a:solidFill>
          <a:ln/>
        </p:spPr>
      </p:sp>
      <p:sp>
        <p:nvSpPr>
          <p:cNvPr id="21" name="Text 18"/>
          <p:cNvSpPr txBox="1"/>
          <p:nvPr/>
        </p:nvSpPr>
        <p:spPr>
          <a:xfrm>
            <a:off x="932688" y="44622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3</a:t>
            </a:r>
            <a:endParaRPr lang="en-US" sz="1000" dirty="0"/>
          </a:p>
        </p:txBody>
      </p:sp>
      <p:sp>
        <p:nvSpPr>
          <p:cNvPr id="22" name="Text 19"/>
          <p:cNvSpPr txBox="1"/>
          <p:nvPr/>
        </p:nvSpPr>
        <p:spPr>
          <a:xfrm>
            <a:off x="1371600" y="4370832"/>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Está estimada en puntos de historia.</a:t>
            </a:r>
            <a:endParaRPr lang="en-US" sz="1100" dirty="0"/>
          </a:p>
        </p:txBody>
      </p:sp>
      <p:sp>
        <p:nvSpPr>
          <p:cNvPr id="23" name="Shape 20"/>
          <p:cNvSpPr/>
          <p:nvPr/>
        </p:nvSpPr>
        <p:spPr>
          <a:xfrm>
            <a:off x="822960" y="4956048"/>
            <a:ext cx="4892040" cy="493776"/>
          </a:xfrm>
          <a:prstGeom prst="roundRect">
            <a:avLst>
              <a:gd name="adj" fmla="val 18519"/>
            </a:avLst>
          </a:prstGeom>
          <a:solidFill>
            <a:srgbClr val="FFFFFF"/>
          </a:solidFill>
          <a:ln/>
        </p:spPr>
      </p:sp>
      <p:sp>
        <p:nvSpPr>
          <p:cNvPr id="24" name="Shape 21"/>
          <p:cNvSpPr/>
          <p:nvPr/>
        </p:nvSpPr>
        <p:spPr>
          <a:xfrm>
            <a:off x="932688" y="5047488"/>
            <a:ext cx="310896" cy="310896"/>
          </a:xfrm>
          <a:prstGeom prst="ellipse">
            <a:avLst/>
          </a:prstGeom>
          <a:solidFill>
            <a:srgbClr val="0B5FFF"/>
          </a:solidFill>
          <a:ln/>
        </p:spPr>
      </p:sp>
      <p:sp>
        <p:nvSpPr>
          <p:cNvPr id="25" name="Text 22"/>
          <p:cNvSpPr txBox="1"/>
          <p:nvPr/>
        </p:nvSpPr>
        <p:spPr>
          <a:xfrm>
            <a:off x="932688" y="50474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4</a:t>
            </a:r>
            <a:endParaRPr lang="en-US" sz="1000" dirty="0"/>
          </a:p>
        </p:txBody>
      </p:sp>
      <p:sp>
        <p:nvSpPr>
          <p:cNvPr id="26" name="Text 23"/>
          <p:cNvSpPr txBox="1"/>
          <p:nvPr/>
        </p:nvSpPr>
        <p:spPr>
          <a:xfrm>
            <a:off x="1371600" y="4956048"/>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Sus dependencias están identificadas.</a:t>
            </a:r>
            <a:endParaRPr lang="en-US" sz="1100" dirty="0"/>
          </a:p>
        </p:txBody>
      </p:sp>
      <p:sp>
        <p:nvSpPr>
          <p:cNvPr id="27" name="Shape 24"/>
          <p:cNvSpPr/>
          <p:nvPr/>
        </p:nvSpPr>
        <p:spPr>
          <a:xfrm>
            <a:off x="822960" y="5541264"/>
            <a:ext cx="4892040" cy="493776"/>
          </a:xfrm>
          <a:prstGeom prst="roundRect">
            <a:avLst>
              <a:gd name="adj" fmla="val 18519"/>
            </a:avLst>
          </a:prstGeom>
          <a:solidFill>
            <a:srgbClr val="FFFFFF"/>
          </a:solidFill>
          <a:ln/>
        </p:spPr>
      </p:sp>
      <p:sp>
        <p:nvSpPr>
          <p:cNvPr id="28" name="Shape 25"/>
          <p:cNvSpPr/>
          <p:nvPr/>
        </p:nvSpPr>
        <p:spPr>
          <a:xfrm>
            <a:off x="932688" y="5632704"/>
            <a:ext cx="310896" cy="310896"/>
          </a:xfrm>
          <a:prstGeom prst="ellipse">
            <a:avLst/>
          </a:prstGeom>
          <a:solidFill>
            <a:srgbClr val="0B5FFF"/>
          </a:solidFill>
          <a:ln/>
        </p:spPr>
      </p:sp>
      <p:sp>
        <p:nvSpPr>
          <p:cNvPr id="29" name="Text 26"/>
          <p:cNvSpPr txBox="1"/>
          <p:nvPr/>
        </p:nvSpPr>
        <p:spPr>
          <a:xfrm>
            <a:off x="932688" y="56327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5</a:t>
            </a:r>
            <a:endParaRPr lang="en-US" sz="1000" dirty="0"/>
          </a:p>
        </p:txBody>
      </p:sp>
      <p:sp>
        <p:nvSpPr>
          <p:cNvPr id="30" name="Text 27"/>
          <p:cNvSpPr txBox="1"/>
          <p:nvPr/>
        </p:nvSpPr>
        <p:spPr>
          <a:xfrm>
            <a:off x="1371600" y="5541264"/>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Cabe dentro de un Sprint.</a:t>
            </a:r>
            <a:endParaRPr lang="en-US" sz="1100" dirty="0"/>
          </a:p>
        </p:txBody>
      </p:sp>
      <p:sp>
        <p:nvSpPr>
          <p:cNvPr id="31" name="Shape 28"/>
          <p:cNvSpPr/>
          <p:nvPr/>
        </p:nvSpPr>
        <p:spPr>
          <a:xfrm>
            <a:off x="6172200" y="2011680"/>
            <a:ext cx="5440680" cy="4206240"/>
          </a:xfrm>
          <a:prstGeom prst="roundRect">
            <a:avLst>
              <a:gd name="adj" fmla="val 4348"/>
            </a:avLst>
          </a:prstGeom>
          <a:solidFill>
            <a:srgbClr val="E2F8EF"/>
          </a:solidFill>
          <a:ln/>
        </p:spPr>
      </p:sp>
      <p:sp>
        <p:nvSpPr>
          <p:cNvPr id="32" name="Shape 29"/>
          <p:cNvSpPr/>
          <p:nvPr/>
        </p:nvSpPr>
        <p:spPr>
          <a:xfrm>
            <a:off x="6446520" y="2286000"/>
            <a:ext cx="640080" cy="640080"/>
          </a:xfrm>
          <a:prstGeom prst="roundRect">
            <a:avLst>
              <a:gd name="adj" fmla="val 28000"/>
            </a:avLst>
          </a:prstGeom>
          <a:solidFill>
            <a:srgbClr val="0B9468"/>
          </a:solidFill>
          <a:ln/>
        </p:spPr>
      </p:sp>
      <p:pic>
        <p:nvPicPr>
          <p:cNvPr id="33" name="Image 1" descr="preencoded.png">    </p:cNvPr>
          <p:cNvPicPr>
            <a:picLocks noChangeAspect="1"/>
          </p:cNvPicPr>
          <p:nvPr/>
        </p:nvPicPr>
        <p:blipFill>
          <a:blip r:embed="rId3"/>
          <a:stretch>
            <a:fillRect/>
          </a:stretch>
        </p:blipFill>
        <p:spPr>
          <a:xfrm>
            <a:off x="6600139" y="2439619"/>
            <a:ext cx="332842" cy="332842"/>
          </a:xfrm>
          <a:prstGeom prst="rect">
            <a:avLst/>
          </a:prstGeom>
        </p:spPr>
      </p:pic>
      <p:sp>
        <p:nvSpPr>
          <p:cNvPr id="34" name="Text 30"/>
          <p:cNvSpPr txBox="1"/>
          <p:nvPr/>
        </p:nvSpPr>
        <p:spPr>
          <a:xfrm>
            <a:off x="7269480" y="2267712"/>
            <a:ext cx="4160520" cy="411480"/>
          </a:xfrm>
          <a:prstGeom prst="rect">
            <a:avLst/>
          </a:prstGeom>
          <a:noFill/>
          <a:ln/>
        </p:spPr>
        <p:txBody>
          <a:bodyPr wrap="square" lIns="0" tIns="0" rIns="0" bIns="0" rtlCol="0" anchor="ctr"/>
          <a:lstStyle/>
          <a:p>
            <a:pPr indent="0" marL="0">
              <a:buNone/>
            </a:pPr>
            <a:r>
              <a:rPr lang="en-US" sz="1700" b="1" dirty="0">
                <a:solidFill>
                  <a:srgbClr val="0E1B3D"/>
                </a:solidFill>
                <a:latin typeface="Montserrat" pitchFamily="34" charset="0"/>
                <a:ea typeface="Montserrat" pitchFamily="34" charset="-122"/>
                <a:cs typeface="Montserrat" pitchFamily="34" charset="-120"/>
              </a:rPr>
              <a:t>Definición de Terminado (DoD)</a:t>
            </a:r>
            <a:endParaRPr lang="en-US" sz="1700" dirty="0"/>
          </a:p>
        </p:txBody>
      </p:sp>
      <p:sp>
        <p:nvSpPr>
          <p:cNvPr id="35" name="Text 31"/>
          <p:cNvSpPr txBox="1"/>
          <p:nvPr/>
        </p:nvSpPr>
        <p:spPr>
          <a:xfrm>
            <a:off x="7269480" y="2670048"/>
            <a:ext cx="4160520" cy="274320"/>
          </a:xfrm>
          <a:prstGeom prst="rect">
            <a:avLst/>
          </a:prstGeom>
          <a:noFill/>
          <a:ln/>
        </p:spPr>
        <p:txBody>
          <a:bodyPr wrap="square" lIns="0" tIns="0" rIns="0" bIns="0" rtlCol="0" anchor="ctr"/>
          <a:lstStyle/>
          <a:p>
            <a:pPr indent="0" marL="0">
              <a:buNone/>
            </a:pPr>
            <a:r>
              <a:rPr lang="en-US" sz="1100" dirty="0">
                <a:solidFill>
                  <a:srgbClr val="4A5878"/>
                </a:solidFill>
                <a:latin typeface="Open Sans" pitchFamily="34" charset="0"/>
                <a:ea typeface="Open Sans" pitchFamily="34" charset="-122"/>
                <a:cs typeface="Open Sans" pitchFamily="34" charset="-120"/>
              </a:rPr>
              <a:t>Una historia está terminada cuando:</a:t>
            </a:r>
            <a:endParaRPr lang="en-US" sz="1100" dirty="0"/>
          </a:p>
        </p:txBody>
      </p:sp>
      <p:sp>
        <p:nvSpPr>
          <p:cNvPr id="36" name="Shape 32"/>
          <p:cNvSpPr/>
          <p:nvPr/>
        </p:nvSpPr>
        <p:spPr>
          <a:xfrm>
            <a:off x="6446520" y="3200400"/>
            <a:ext cx="4892040" cy="493776"/>
          </a:xfrm>
          <a:prstGeom prst="roundRect">
            <a:avLst>
              <a:gd name="adj" fmla="val 18519"/>
            </a:avLst>
          </a:prstGeom>
          <a:solidFill>
            <a:srgbClr val="FFFFFF"/>
          </a:solidFill>
          <a:ln/>
        </p:spPr>
      </p:sp>
      <p:sp>
        <p:nvSpPr>
          <p:cNvPr id="37" name="Shape 33"/>
          <p:cNvSpPr/>
          <p:nvPr/>
        </p:nvSpPr>
        <p:spPr>
          <a:xfrm>
            <a:off x="6556248" y="3291840"/>
            <a:ext cx="310896" cy="310896"/>
          </a:xfrm>
          <a:prstGeom prst="ellipse">
            <a:avLst/>
          </a:prstGeom>
          <a:solidFill>
            <a:srgbClr val="0B9468"/>
          </a:solidFill>
          <a:ln/>
        </p:spPr>
      </p:sp>
      <p:sp>
        <p:nvSpPr>
          <p:cNvPr id="38" name="Text 34"/>
          <p:cNvSpPr txBox="1"/>
          <p:nvPr/>
        </p:nvSpPr>
        <p:spPr>
          <a:xfrm>
            <a:off x="6556248" y="329184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1</a:t>
            </a:r>
            <a:endParaRPr lang="en-US" sz="1000" dirty="0"/>
          </a:p>
        </p:txBody>
      </p:sp>
      <p:sp>
        <p:nvSpPr>
          <p:cNvPr id="39" name="Text 35"/>
          <p:cNvSpPr txBox="1"/>
          <p:nvPr/>
        </p:nvSpPr>
        <p:spPr>
          <a:xfrm>
            <a:off x="6995160" y="3200400"/>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El código está en GitHub y otro integrante lo revisó mediante pull request.</a:t>
            </a:r>
            <a:endParaRPr lang="en-US" sz="1100" dirty="0"/>
          </a:p>
        </p:txBody>
      </p:sp>
      <p:sp>
        <p:nvSpPr>
          <p:cNvPr id="40" name="Shape 36"/>
          <p:cNvSpPr/>
          <p:nvPr/>
        </p:nvSpPr>
        <p:spPr>
          <a:xfrm>
            <a:off x="6446520" y="3785616"/>
            <a:ext cx="4892040" cy="493776"/>
          </a:xfrm>
          <a:prstGeom prst="roundRect">
            <a:avLst>
              <a:gd name="adj" fmla="val 18519"/>
            </a:avLst>
          </a:prstGeom>
          <a:solidFill>
            <a:srgbClr val="FFFFFF"/>
          </a:solidFill>
          <a:ln/>
        </p:spPr>
      </p:sp>
      <p:sp>
        <p:nvSpPr>
          <p:cNvPr id="41" name="Shape 37"/>
          <p:cNvSpPr/>
          <p:nvPr/>
        </p:nvSpPr>
        <p:spPr>
          <a:xfrm>
            <a:off x="6556248" y="3877056"/>
            <a:ext cx="310896" cy="310896"/>
          </a:xfrm>
          <a:prstGeom prst="ellipse">
            <a:avLst/>
          </a:prstGeom>
          <a:solidFill>
            <a:srgbClr val="0B9468"/>
          </a:solidFill>
          <a:ln/>
        </p:spPr>
      </p:sp>
      <p:sp>
        <p:nvSpPr>
          <p:cNvPr id="42" name="Text 38"/>
          <p:cNvSpPr txBox="1"/>
          <p:nvPr/>
        </p:nvSpPr>
        <p:spPr>
          <a:xfrm>
            <a:off x="6556248" y="387705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2</a:t>
            </a:r>
            <a:endParaRPr lang="en-US" sz="1000" dirty="0"/>
          </a:p>
        </p:txBody>
      </p:sp>
      <p:sp>
        <p:nvSpPr>
          <p:cNvPr id="43" name="Text 39"/>
          <p:cNvSpPr txBox="1"/>
          <p:nvPr/>
        </p:nvSpPr>
        <p:spPr>
          <a:xfrm>
            <a:off x="6995160" y="3785616"/>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Las pruebas unitarias pasan (≥ 70 % de cobertura en el motor de reglas).</a:t>
            </a:r>
            <a:endParaRPr lang="en-US" sz="1100" dirty="0"/>
          </a:p>
        </p:txBody>
      </p:sp>
      <p:sp>
        <p:nvSpPr>
          <p:cNvPr id="44" name="Shape 40"/>
          <p:cNvSpPr/>
          <p:nvPr/>
        </p:nvSpPr>
        <p:spPr>
          <a:xfrm>
            <a:off x="6446520" y="4370832"/>
            <a:ext cx="4892040" cy="493776"/>
          </a:xfrm>
          <a:prstGeom prst="roundRect">
            <a:avLst>
              <a:gd name="adj" fmla="val 18519"/>
            </a:avLst>
          </a:prstGeom>
          <a:solidFill>
            <a:srgbClr val="FFFFFF"/>
          </a:solidFill>
          <a:ln/>
        </p:spPr>
      </p:sp>
      <p:sp>
        <p:nvSpPr>
          <p:cNvPr id="45" name="Shape 41"/>
          <p:cNvSpPr/>
          <p:nvPr/>
        </p:nvSpPr>
        <p:spPr>
          <a:xfrm>
            <a:off x="6556248" y="4462272"/>
            <a:ext cx="310896" cy="310896"/>
          </a:xfrm>
          <a:prstGeom prst="ellipse">
            <a:avLst/>
          </a:prstGeom>
          <a:solidFill>
            <a:srgbClr val="0B9468"/>
          </a:solidFill>
          <a:ln/>
        </p:spPr>
      </p:sp>
      <p:sp>
        <p:nvSpPr>
          <p:cNvPr id="46" name="Text 42"/>
          <p:cNvSpPr txBox="1"/>
          <p:nvPr/>
        </p:nvSpPr>
        <p:spPr>
          <a:xfrm>
            <a:off x="6556248" y="44622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3</a:t>
            </a:r>
            <a:endParaRPr lang="en-US" sz="1000" dirty="0"/>
          </a:p>
        </p:txBody>
      </p:sp>
      <p:sp>
        <p:nvSpPr>
          <p:cNvPr id="47" name="Text 43"/>
          <p:cNvSpPr txBox="1"/>
          <p:nvPr/>
        </p:nvSpPr>
        <p:spPr>
          <a:xfrm>
            <a:off x="6995160" y="4370832"/>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El Product Owner verificó los criterios de aceptación.</a:t>
            </a:r>
            <a:endParaRPr lang="en-US" sz="1100" dirty="0"/>
          </a:p>
        </p:txBody>
      </p:sp>
      <p:sp>
        <p:nvSpPr>
          <p:cNvPr id="48" name="Shape 44"/>
          <p:cNvSpPr/>
          <p:nvPr/>
        </p:nvSpPr>
        <p:spPr>
          <a:xfrm>
            <a:off x="6446520" y="4956048"/>
            <a:ext cx="4892040" cy="493776"/>
          </a:xfrm>
          <a:prstGeom prst="roundRect">
            <a:avLst>
              <a:gd name="adj" fmla="val 18519"/>
            </a:avLst>
          </a:prstGeom>
          <a:solidFill>
            <a:srgbClr val="FFFFFF"/>
          </a:solidFill>
          <a:ln/>
        </p:spPr>
      </p:sp>
      <p:sp>
        <p:nvSpPr>
          <p:cNvPr id="49" name="Shape 45"/>
          <p:cNvSpPr/>
          <p:nvPr/>
        </p:nvSpPr>
        <p:spPr>
          <a:xfrm>
            <a:off x="6556248" y="5047488"/>
            <a:ext cx="310896" cy="310896"/>
          </a:xfrm>
          <a:prstGeom prst="ellipse">
            <a:avLst/>
          </a:prstGeom>
          <a:solidFill>
            <a:srgbClr val="0B9468"/>
          </a:solidFill>
          <a:ln/>
        </p:spPr>
      </p:sp>
      <p:sp>
        <p:nvSpPr>
          <p:cNvPr id="50" name="Text 46"/>
          <p:cNvSpPr txBox="1"/>
          <p:nvPr/>
        </p:nvSpPr>
        <p:spPr>
          <a:xfrm>
            <a:off x="6556248" y="50474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4</a:t>
            </a:r>
            <a:endParaRPr lang="en-US" sz="1000" dirty="0"/>
          </a:p>
        </p:txBody>
      </p:sp>
      <p:sp>
        <p:nvSpPr>
          <p:cNvPr id="51" name="Text 47"/>
          <p:cNvSpPr txBox="1"/>
          <p:nvPr/>
        </p:nvSpPr>
        <p:spPr>
          <a:xfrm>
            <a:off x="6995160" y="4956048"/>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Los diagramas y el README se actualizaron.</a:t>
            </a:r>
            <a:endParaRPr lang="en-US" sz="1100" dirty="0"/>
          </a:p>
        </p:txBody>
      </p:sp>
      <p:sp>
        <p:nvSpPr>
          <p:cNvPr id="52" name="Shape 48"/>
          <p:cNvSpPr/>
          <p:nvPr/>
        </p:nvSpPr>
        <p:spPr>
          <a:xfrm>
            <a:off x="6446520" y="5541264"/>
            <a:ext cx="4892040" cy="493776"/>
          </a:xfrm>
          <a:prstGeom prst="roundRect">
            <a:avLst>
              <a:gd name="adj" fmla="val 18519"/>
            </a:avLst>
          </a:prstGeom>
          <a:solidFill>
            <a:srgbClr val="FFFFFF"/>
          </a:solidFill>
          <a:ln/>
        </p:spPr>
      </p:sp>
      <p:sp>
        <p:nvSpPr>
          <p:cNvPr id="53" name="Shape 49"/>
          <p:cNvSpPr/>
          <p:nvPr/>
        </p:nvSpPr>
        <p:spPr>
          <a:xfrm>
            <a:off x="6556248" y="5632704"/>
            <a:ext cx="310896" cy="310896"/>
          </a:xfrm>
          <a:prstGeom prst="ellipse">
            <a:avLst/>
          </a:prstGeom>
          <a:solidFill>
            <a:srgbClr val="0B9468"/>
          </a:solidFill>
          <a:ln/>
        </p:spPr>
      </p:sp>
      <p:sp>
        <p:nvSpPr>
          <p:cNvPr id="54" name="Text 50"/>
          <p:cNvSpPr txBox="1"/>
          <p:nvPr/>
        </p:nvSpPr>
        <p:spPr>
          <a:xfrm>
            <a:off x="6556248" y="56327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Montserrat" pitchFamily="34" charset="0"/>
                <a:ea typeface="Montserrat" pitchFamily="34" charset="-122"/>
                <a:cs typeface="Montserrat" pitchFamily="34" charset="-120"/>
              </a:rPr>
              <a:t>5</a:t>
            </a:r>
            <a:endParaRPr lang="en-US" sz="1000" dirty="0"/>
          </a:p>
        </p:txBody>
      </p:sp>
      <p:sp>
        <p:nvSpPr>
          <p:cNvPr id="55" name="Text 51"/>
          <p:cNvSpPr txBox="1"/>
          <p:nvPr/>
        </p:nvSpPr>
        <p:spPr>
          <a:xfrm>
            <a:off x="6995160" y="5541264"/>
            <a:ext cx="4251960" cy="493776"/>
          </a:xfrm>
          <a:prstGeom prst="rect">
            <a:avLst/>
          </a:prstGeom>
          <a:noFill/>
          <a:ln/>
        </p:spPr>
        <p:txBody>
          <a:bodyPr wrap="square" lIns="0" tIns="0" rIns="0" bIns="0" rtlCol="0" anchor="ctr"/>
          <a:lstStyle/>
          <a:p>
            <a:pPr indent="0" marL="0">
              <a:buNone/>
            </a:pPr>
            <a:r>
              <a:rPr lang="en-US" sz="1100" dirty="0">
                <a:solidFill>
                  <a:srgbClr val="0E1B3D"/>
                </a:solidFill>
                <a:latin typeface="Open Sans" pitchFamily="34" charset="0"/>
                <a:ea typeface="Open Sans" pitchFamily="34" charset="-122"/>
                <a:cs typeface="Open Sans" pitchFamily="34" charset="-120"/>
              </a:rPr>
              <a:t>Corre en el entorno de pruebas sin errores críticos.</a:t>
            </a:r>
            <a:endParaRPr lang="en-US" sz="1100" dirty="0"/>
          </a:p>
        </p:txBody>
      </p:sp>
      <p:sp>
        <p:nvSpPr>
          <p:cNvPr id="56" name="Text 52"/>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7" name="Text 53"/>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475634" cy="274320"/>
          </a:xfrm>
          <a:prstGeom prst="roundRect">
            <a:avLst>
              <a:gd name="adj" fmla="val 50000"/>
            </a:avLst>
          </a:prstGeom>
          <a:solidFill>
            <a:srgbClr val="FF8A00"/>
          </a:solidFill>
          <a:ln/>
        </p:spPr>
      </p:sp>
      <p:sp>
        <p:nvSpPr>
          <p:cNvPr id="3" name="Text 1"/>
          <p:cNvSpPr txBox="1"/>
          <p:nvPr/>
        </p:nvSpPr>
        <p:spPr>
          <a:xfrm>
            <a:off x="548640" y="292608"/>
            <a:ext cx="3475634"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5.2 BACKLOG DEL PRODUCTO</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Product Backlog en Jira: 5 épicas, 16 historias, 66 puntos</a:t>
            </a:r>
            <a:endParaRPr lang="en-US" sz="2400" dirty="0"/>
          </a:p>
        </p:txBody>
      </p:sp>
      <p:sp>
        <p:nvSpPr>
          <p:cNvPr id="5" name="Shape 3"/>
          <p:cNvSpPr/>
          <p:nvPr/>
        </p:nvSpPr>
        <p:spPr>
          <a:xfrm>
            <a:off x="548640" y="1188720"/>
            <a:ext cx="2103120" cy="658368"/>
          </a:xfrm>
          <a:prstGeom prst="roundRect">
            <a:avLst>
              <a:gd name="adj" fmla="val 19444"/>
            </a:avLst>
          </a:prstGeom>
          <a:solidFill>
            <a:srgbClr val="FFF1DE"/>
          </a:solidFill>
          <a:ln/>
        </p:spPr>
      </p:sp>
      <p:sp>
        <p:nvSpPr>
          <p:cNvPr id="6" name="Text 4"/>
          <p:cNvSpPr txBox="1"/>
          <p:nvPr/>
        </p:nvSpPr>
        <p:spPr>
          <a:xfrm>
            <a:off x="713232" y="1188720"/>
            <a:ext cx="1097280" cy="658368"/>
          </a:xfrm>
          <a:prstGeom prst="rect">
            <a:avLst/>
          </a:prstGeom>
          <a:noFill/>
          <a:ln/>
        </p:spPr>
        <p:txBody>
          <a:bodyPr wrap="square" lIns="0" tIns="0" rIns="0" bIns="0" rtlCol="0" anchor="ctr"/>
          <a:lstStyle/>
          <a:p>
            <a:pPr indent="0" marL="0">
              <a:buNone/>
            </a:pPr>
            <a:r>
              <a:rPr lang="en-US" sz="2200" b="1" dirty="0">
                <a:solidFill>
                  <a:srgbClr val="E06F00"/>
                </a:solidFill>
                <a:latin typeface="Montserrat" pitchFamily="34" charset="0"/>
                <a:ea typeface="Montserrat" pitchFamily="34" charset="-122"/>
                <a:cs typeface="Montserrat" pitchFamily="34" charset="-120"/>
              </a:rPr>
              <a:t>16</a:t>
            </a:r>
            <a:endParaRPr lang="en-US" sz="2200" dirty="0"/>
          </a:p>
        </p:txBody>
      </p:sp>
      <p:sp>
        <p:nvSpPr>
          <p:cNvPr id="7" name="Text 5"/>
          <p:cNvSpPr txBox="1"/>
          <p:nvPr/>
        </p:nvSpPr>
        <p:spPr>
          <a:xfrm>
            <a:off x="1417320" y="1188720"/>
            <a:ext cx="1143000" cy="65836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historias de usuario</a:t>
            </a:r>
            <a:endParaRPr lang="en-US" sz="950" dirty="0"/>
          </a:p>
        </p:txBody>
      </p:sp>
      <p:sp>
        <p:nvSpPr>
          <p:cNvPr id="8" name="Shape 6"/>
          <p:cNvSpPr/>
          <p:nvPr/>
        </p:nvSpPr>
        <p:spPr>
          <a:xfrm>
            <a:off x="2798064" y="1188720"/>
            <a:ext cx="2103120" cy="658368"/>
          </a:xfrm>
          <a:prstGeom prst="roundRect">
            <a:avLst>
              <a:gd name="adj" fmla="val 19444"/>
            </a:avLst>
          </a:prstGeom>
          <a:solidFill>
            <a:srgbClr val="FF8A00"/>
          </a:solidFill>
          <a:ln/>
        </p:spPr>
      </p:sp>
      <p:sp>
        <p:nvSpPr>
          <p:cNvPr id="9" name="Text 7"/>
          <p:cNvSpPr txBox="1"/>
          <p:nvPr/>
        </p:nvSpPr>
        <p:spPr>
          <a:xfrm>
            <a:off x="2962656" y="1188720"/>
            <a:ext cx="1097280" cy="658368"/>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66</a:t>
            </a:r>
            <a:endParaRPr lang="en-US" sz="2200" dirty="0"/>
          </a:p>
        </p:txBody>
      </p:sp>
      <p:sp>
        <p:nvSpPr>
          <p:cNvPr id="10" name="Text 8"/>
          <p:cNvSpPr txBox="1"/>
          <p:nvPr/>
        </p:nvSpPr>
        <p:spPr>
          <a:xfrm>
            <a:off x="3666744" y="1188720"/>
            <a:ext cx="1143000" cy="658368"/>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puntos de historia</a:t>
            </a:r>
            <a:endParaRPr lang="en-US" sz="950" dirty="0"/>
          </a:p>
        </p:txBody>
      </p:sp>
      <p:sp>
        <p:nvSpPr>
          <p:cNvPr id="11" name="Shape 9"/>
          <p:cNvSpPr/>
          <p:nvPr/>
        </p:nvSpPr>
        <p:spPr>
          <a:xfrm>
            <a:off x="5047488" y="1188720"/>
            <a:ext cx="2103120" cy="658368"/>
          </a:xfrm>
          <a:prstGeom prst="roundRect">
            <a:avLst>
              <a:gd name="adj" fmla="val 19444"/>
            </a:avLst>
          </a:prstGeom>
          <a:solidFill>
            <a:srgbClr val="FFF1DE"/>
          </a:solidFill>
          <a:ln/>
        </p:spPr>
      </p:sp>
      <p:sp>
        <p:nvSpPr>
          <p:cNvPr id="12" name="Text 10"/>
          <p:cNvSpPr txBox="1"/>
          <p:nvPr/>
        </p:nvSpPr>
        <p:spPr>
          <a:xfrm>
            <a:off x="5212080" y="1188720"/>
            <a:ext cx="1097280" cy="658368"/>
          </a:xfrm>
          <a:prstGeom prst="rect">
            <a:avLst/>
          </a:prstGeom>
          <a:noFill/>
          <a:ln/>
        </p:spPr>
        <p:txBody>
          <a:bodyPr wrap="square" lIns="0" tIns="0" rIns="0" bIns="0" rtlCol="0" anchor="ctr"/>
          <a:lstStyle/>
          <a:p>
            <a:pPr indent="0" marL="0">
              <a:buNone/>
            </a:pPr>
            <a:r>
              <a:rPr lang="en-US" sz="2200" b="1" dirty="0">
                <a:solidFill>
                  <a:srgbClr val="E06F00"/>
                </a:solidFill>
                <a:latin typeface="Montserrat" pitchFamily="34" charset="0"/>
                <a:ea typeface="Montserrat" pitchFamily="34" charset="-122"/>
                <a:cs typeface="Montserrat" pitchFamily="34" charset="-120"/>
              </a:rPr>
              <a:t>5</a:t>
            </a:r>
            <a:endParaRPr lang="en-US" sz="2200" dirty="0"/>
          </a:p>
        </p:txBody>
      </p:sp>
      <p:sp>
        <p:nvSpPr>
          <p:cNvPr id="13" name="Text 11"/>
          <p:cNvSpPr txBox="1"/>
          <p:nvPr/>
        </p:nvSpPr>
        <p:spPr>
          <a:xfrm>
            <a:off x="5916168" y="1188720"/>
            <a:ext cx="1143000" cy="65836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épicas / componentes</a:t>
            </a:r>
            <a:endParaRPr lang="en-US" sz="950" dirty="0"/>
          </a:p>
        </p:txBody>
      </p:sp>
      <p:sp>
        <p:nvSpPr>
          <p:cNvPr id="14" name="Shape 12"/>
          <p:cNvSpPr/>
          <p:nvPr/>
        </p:nvSpPr>
        <p:spPr>
          <a:xfrm>
            <a:off x="7296912" y="1188720"/>
            <a:ext cx="2103120" cy="658368"/>
          </a:xfrm>
          <a:prstGeom prst="roundRect">
            <a:avLst>
              <a:gd name="adj" fmla="val 19444"/>
            </a:avLst>
          </a:prstGeom>
          <a:solidFill>
            <a:srgbClr val="FFF1DE"/>
          </a:solidFill>
          <a:ln/>
        </p:spPr>
      </p:sp>
      <p:sp>
        <p:nvSpPr>
          <p:cNvPr id="15" name="Text 13"/>
          <p:cNvSpPr txBox="1"/>
          <p:nvPr/>
        </p:nvSpPr>
        <p:spPr>
          <a:xfrm>
            <a:off x="7461504" y="1188720"/>
            <a:ext cx="1097280" cy="658368"/>
          </a:xfrm>
          <a:prstGeom prst="rect">
            <a:avLst/>
          </a:prstGeom>
          <a:noFill/>
          <a:ln/>
        </p:spPr>
        <p:txBody>
          <a:bodyPr wrap="square" lIns="0" tIns="0" rIns="0" bIns="0" rtlCol="0" anchor="ctr"/>
          <a:lstStyle/>
          <a:p>
            <a:pPr indent="0" marL="0">
              <a:buNone/>
            </a:pPr>
            <a:r>
              <a:rPr lang="en-US" sz="2200" b="1" dirty="0">
                <a:solidFill>
                  <a:srgbClr val="E06F00"/>
                </a:solidFill>
                <a:latin typeface="Montserrat" pitchFamily="34" charset="0"/>
                <a:ea typeface="Montserrat" pitchFamily="34" charset="-122"/>
                <a:cs typeface="Montserrat" pitchFamily="34" charset="-120"/>
              </a:rPr>
              <a:t>3</a:t>
            </a:r>
            <a:endParaRPr lang="en-US" sz="2200" dirty="0"/>
          </a:p>
        </p:txBody>
      </p:sp>
      <p:sp>
        <p:nvSpPr>
          <p:cNvPr id="16" name="Text 14"/>
          <p:cNvSpPr txBox="1"/>
          <p:nvPr/>
        </p:nvSpPr>
        <p:spPr>
          <a:xfrm>
            <a:off x="8165592" y="1188720"/>
            <a:ext cx="1143000" cy="65836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sprints</a:t>
            </a:r>
            <a:endParaRPr lang="en-US" sz="950" dirty="0"/>
          </a:p>
        </p:txBody>
      </p:sp>
      <p:sp>
        <p:nvSpPr>
          <p:cNvPr id="17" name="Shape 15"/>
          <p:cNvSpPr/>
          <p:nvPr/>
        </p:nvSpPr>
        <p:spPr>
          <a:xfrm>
            <a:off x="9546336" y="1188720"/>
            <a:ext cx="2103120" cy="658368"/>
          </a:xfrm>
          <a:prstGeom prst="roundRect">
            <a:avLst>
              <a:gd name="adj" fmla="val 19444"/>
            </a:avLst>
          </a:prstGeom>
          <a:solidFill>
            <a:srgbClr val="FFF1DE"/>
          </a:solidFill>
          <a:ln/>
        </p:spPr>
      </p:sp>
      <p:sp>
        <p:nvSpPr>
          <p:cNvPr id="18" name="Text 16"/>
          <p:cNvSpPr txBox="1"/>
          <p:nvPr/>
        </p:nvSpPr>
        <p:spPr>
          <a:xfrm>
            <a:off x="9710928" y="1188720"/>
            <a:ext cx="1097280" cy="658368"/>
          </a:xfrm>
          <a:prstGeom prst="rect">
            <a:avLst/>
          </a:prstGeom>
          <a:noFill/>
          <a:ln/>
        </p:spPr>
        <p:txBody>
          <a:bodyPr wrap="square" lIns="0" tIns="0" rIns="0" bIns="0" rtlCol="0" anchor="ctr"/>
          <a:lstStyle/>
          <a:p>
            <a:pPr indent="0" marL="0">
              <a:buNone/>
            </a:pPr>
            <a:r>
              <a:rPr lang="en-US" sz="1400" b="1" dirty="0">
                <a:solidFill>
                  <a:srgbClr val="E06F00"/>
                </a:solidFill>
                <a:latin typeface="Montserrat" pitchFamily="34" charset="0"/>
                <a:ea typeface="Montserrat" pitchFamily="34" charset="-122"/>
                <a:cs typeface="Montserrat" pitchFamily="34" charset="-120"/>
              </a:rPr>
              <a:t>Fibonacci</a:t>
            </a:r>
            <a:endParaRPr lang="en-US" sz="1400" dirty="0"/>
          </a:p>
        </p:txBody>
      </p:sp>
      <p:sp>
        <p:nvSpPr>
          <p:cNvPr id="19" name="Text 17"/>
          <p:cNvSpPr txBox="1"/>
          <p:nvPr/>
        </p:nvSpPr>
        <p:spPr>
          <a:xfrm>
            <a:off x="10716768" y="1188720"/>
            <a:ext cx="1143000" cy="658368"/>
          </a:xfrm>
          <a:prstGeom prst="rect">
            <a:avLst/>
          </a:prstGeom>
          <a:noFill/>
          <a:ln/>
        </p:spPr>
        <p:txBody>
          <a:bodyPr wrap="square" lIns="0" tIns="0" rIns="0" bIns="0" rtlCol="0" anchor="ctr"/>
          <a:lstStyle/>
          <a:p>
            <a:pPr indent="0" marL="0">
              <a:buNone/>
            </a:pPr>
            <a:r>
              <a:rPr lang="en-US" sz="950" dirty="0">
                <a:solidFill>
                  <a:srgbClr val="0E1B3D"/>
                </a:solidFill>
                <a:latin typeface="Open Sans" pitchFamily="34" charset="0"/>
                <a:ea typeface="Open Sans" pitchFamily="34" charset="-122"/>
                <a:cs typeface="Open Sans" pitchFamily="34" charset="-120"/>
              </a:rPr>
              <a:t>escala de estimación</a:t>
            </a:r>
            <a:endParaRPr lang="en-US" sz="950" dirty="0"/>
          </a:p>
        </p:txBody>
      </p:sp>
      <p:sp>
        <p:nvSpPr>
          <p:cNvPr id="20" name="Shape 18"/>
          <p:cNvSpPr/>
          <p:nvPr/>
        </p:nvSpPr>
        <p:spPr>
          <a:xfrm>
            <a:off x="548640" y="2011680"/>
            <a:ext cx="2103120" cy="868680"/>
          </a:xfrm>
          <a:prstGeom prst="roundRect">
            <a:avLst>
              <a:gd name="adj" fmla="val 14737"/>
            </a:avLst>
          </a:prstGeom>
          <a:solidFill>
            <a:srgbClr val="0B5FFF"/>
          </a:solidFill>
          <a:ln/>
        </p:spPr>
      </p:sp>
      <p:pic>
        <p:nvPicPr>
          <p:cNvPr id="21" name="Image 0" descr="preencoded.png">    </p:cNvPr>
          <p:cNvPicPr>
            <a:picLocks noChangeAspect="1"/>
          </p:cNvPicPr>
          <p:nvPr/>
        </p:nvPicPr>
        <p:blipFill>
          <a:blip r:embed="rId2"/>
          <a:stretch>
            <a:fillRect/>
          </a:stretch>
        </p:blipFill>
        <p:spPr>
          <a:xfrm>
            <a:off x="694944" y="2157984"/>
            <a:ext cx="292608" cy="292608"/>
          </a:xfrm>
          <a:prstGeom prst="rect">
            <a:avLst/>
          </a:prstGeom>
        </p:spPr>
      </p:pic>
      <p:sp>
        <p:nvSpPr>
          <p:cNvPr id="22" name="Text 19"/>
          <p:cNvSpPr txBox="1"/>
          <p:nvPr/>
        </p:nvSpPr>
        <p:spPr>
          <a:xfrm>
            <a:off x="1051560" y="2139696"/>
            <a:ext cx="914400" cy="329184"/>
          </a:xfrm>
          <a:prstGeom prst="rect">
            <a:avLst/>
          </a:prstGeom>
          <a:noFill/>
          <a:ln/>
        </p:spPr>
        <p:txBody>
          <a:bodyPr wrap="square" lIns="0" tIns="0" rIns="0" bIns="0" rtlCol="0" anchor="ctr"/>
          <a:lstStyle/>
          <a:p>
            <a:pPr indent="0" marL="0">
              <a:buNone/>
            </a:pPr>
            <a:r>
              <a:rPr lang="en-US" sz="800" b="1" spc="150" kern="0" dirty="0">
                <a:solidFill>
                  <a:srgbClr val="FFFFFF"/>
                </a:solidFill>
                <a:latin typeface="Montserrat" pitchFamily="34" charset="0"/>
                <a:ea typeface="Montserrat" pitchFamily="34" charset="-122"/>
                <a:cs typeface="Montserrat" pitchFamily="34" charset="-120"/>
              </a:rPr>
              <a:t>ÉPICA</a:t>
            </a:r>
            <a:endParaRPr lang="en-US" sz="800" dirty="0"/>
          </a:p>
        </p:txBody>
      </p:sp>
      <p:sp>
        <p:nvSpPr>
          <p:cNvPr id="23" name="Text 20"/>
          <p:cNvSpPr txBox="1"/>
          <p:nvPr/>
        </p:nvSpPr>
        <p:spPr>
          <a:xfrm>
            <a:off x="1783080" y="2139696"/>
            <a:ext cx="73152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ontserrat" pitchFamily="34" charset="0"/>
                <a:ea typeface="Montserrat" pitchFamily="34" charset="-122"/>
                <a:cs typeface="Montserrat" pitchFamily="34" charset="-120"/>
              </a:rPr>
              <a:t>12 pts</a:t>
            </a:r>
            <a:endParaRPr lang="en-US" sz="1100" dirty="0"/>
          </a:p>
        </p:txBody>
      </p:sp>
      <p:sp>
        <p:nvSpPr>
          <p:cNvPr id="24" name="Text 21"/>
          <p:cNvSpPr txBox="1"/>
          <p:nvPr/>
        </p:nvSpPr>
        <p:spPr>
          <a:xfrm>
            <a:off x="694944" y="2468880"/>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Seguridad y Autenticación</a:t>
            </a:r>
            <a:endParaRPr lang="en-US" sz="1050" dirty="0"/>
          </a:p>
        </p:txBody>
      </p:sp>
      <p:sp>
        <p:nvSpPr>
          <p:cNvPr id="25" name="Shape 22"/>
          <p:cNvSpPr/>
          <p:nvPr/>
        </p:nvSpPr>
        <p:spPr>
          <a:xfrm>
            <a:off x="548640" y="299923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6" name="Text 23"/>
          <p:cNvSpPr txBox="1"/>
          <p:nvPr/>
        </p:nvSpPr>
        <p:spPr>
          <a:xfrm>
            <a:off x="676656" y="3054096"/>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ODS14-19</a:t>
            </a:r>
            <a:endParaRPr lang="en-US" sz="850" dirty="0"/>
          </a:p>
        </p:txBody>
      </p:sp>
      <p:sp>
        <p:nvSpPr>
          <p:cNvPr id="27" name="Shape 24"/>
          <p:cNvSpPr/>
          <p:nvPr/>
        </p:nvSpPr>
        <p:spPr>
          <a:xfrm>
            <a:off x="1783080" y="3072384"/>
            <a:ext cx="365760" cy="201168"/>
          </a:xfrm>
          <a:prstGeom prst="roundRect">
            <a:avLst>
              <a:gd name="adj" fmla="val 50000"/>
            </a:avLst>
          </a:prstGeom>
          <a:solidFill>
            <a:srgbClr val="0B5FFF"/>
          </a:solidFill>
          <a:ln/>
        </p:spPr>
      </p:sp>
      <p:sp>
        <p:nvSpPr>
          <p:cNvPr id="28" name="Text 25"/>
          <p:cNvSpPr txBox="1"/>
          <p:nvPr/>
        </p:nvSpPr>
        <p:spPr>
          <a:xfrm>
            <a:off x="1783080" y="307238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29" name="Shape 26"/>
          <p:cNvSpPr/>
          <p:nvPr/>
        </p:nvSpPr>
        <p:spPr>
          <a:xfrm>
            <a:off x="2212848" y="3054096"/>
            <a:ext cx="256032" cy="256032"/>
          </a:xfrm>
          <a:prstGeom prst="ellipse">
            <a:avLst/>
          </a:prstGeom>
          <a:solidFill>
            <a:srgbClr val="EAF1FF"/>
          </a:solidFill>
          <a:ln/>
        </p:spPr>
      </p:sp>
      <p:sp>
        <p:nvSpPr>
          <p:cNvPr id="30" name="Text 27"/>
          <p:cNvSpPr txBox="1"/>
          <p:nvPr/>
        </p:nvSpPr>
        <p:spPr>
          <a:xfrm>
            <a:off x="2212848" y="3054096"/>
            <a:ext cx="256032" cy="256032"/>
          </a:xfrm>
          <a:prstGeom prst="rect">
            <a:avLst/>
          </a:prstGeom>
          <a:noFill/>
          <a:ln/>
        </p:spPr>
        <p:txBody>
          <a:bodyPr wrap="square" lIns="0" tIns="0" rIns="0" bIns="0" rtlCol="0" anchor="ctr"/>
          <a:lstStyle/>
          <a:p>
            <a:pPr algn="ctr" indent="0" marL="0">
              <a:buNone/>
            </a:pPr>
            <a:r>
              <a:rPr lang="en-US" sz="900" b="1" dirty="0">
                <a:solidFill>
                  <a:srgbClr val="0B5FFF"/>
                </a:solidFill>
                <a:latin typeface="Montserrat" pitchFamily="34" charset="0"/>
                <a:ea typeface="Montserrat" pitchFamily="34" charset="-122"/>
                <a:cs typeface="Montserrat" pitchFamily="34" charset="-120"/>
              </a:rPr>
              <a:t>5</a:t>
            </a:r>
            <a:endParaRPr lang="en-US" sz="900" dirty="0"/>
          </a:p>
        </p:txBody>
      </p:sp>
      <p:sp>
        <p:nvSpPr>
          <p:cNvPr id="31" name="Text 28"/>
          <p:cNvSpPr txBox="1"/>
          <p:nvPr/>
        </p:nvSpPr>
        <p:spPr>
          <a:xfrm>
            <a:off x="676656" y="329184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Iniciar sesión</a:t>
            </a:r>
            <a:endParaRPr lang="en-US" sz="900" dirty="0"/>
          </a:p>
        </p:txBody>
      </p:sp>
      <p:sp>
        <p:nvSpPr>
          <p:cNvPr id="32" name="Shape 29"/>
          <p:cNvSpPr/>
          <p:nvPr/>
        </p:nvSpPr>
        <p:spPr>
          <a:xfrm>
            <a:off x="548640" y="382219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3" name="Text 30"/>
          <p:cNvSpPr txBox="1"/>
          <p:nvPr/>
        </p:nvSpPr>
        <p:spPr>
          <a:xfrm>
            <a:off x="676656" y="3877056"/>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ODS14-20</a:t>
            </a:r>
            <a:endParaRPr lang="en-US" sz="850" dirty="0"/>
          </a:p>
        </p:txBody>
      </p:sp>
      <p:sp>
        <p:nvSpPr>
          <p:cNvPr id="34" name="Shape 31"/>
          <p:cNvSpPr/>
          <p:nvPr/>
        </p:nvSpPr>
        <p:spPr>
          <a:xfrm>
            <a:off x="1783080" y="3895344"/>
            <a:ext cx="365760" cy="201168"/>
          </a:xfrm>
          <a:prstGeom prst="roundRect">
            <a:avLst>
              <a:gd name="adj" fmla="val 50000"/>
            </a:avLst>
          </a:prstGeom>
          <a:solidFill>
            <a:srgbClr val="7B5CFF"/>
          </a:solidFill>
          <a:ln/>
        </p:spPr>
      </p:sp>
      <p:sp>
        <p:nvSpPr>
          <p:cNvPr id="35" name="Text 32"/>
          <p:cNvSpPr txBox="1"/>
          <p:nvPr/>
        </p:nvSpPr>
        <p:spPr>
          <a:xfrm>
            <a:off x="1783080" y="389534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36" name="Shape 33"/>
          <p:cNvSpPr/>
          <p:nvPr/>
        </p:nvSpPr>
        <p:spPr>
          <a:xfrm>
            <a:off x="2212848" y="3877056"/>
            <a:ext cx="256032" cy="256032"/>
          </a:xfrm>
          <a:prstGeom prst="ellipse">
            <a:avLst/>
          </a:prstGeom>
          <a:solidFill>
            <a:srgbClr val="EAF1FF"/>
          </a:solidFill>
          <a:ln/>
        </p:spPr>
      </p:sp>
      <p:sp>
        <p:nvSpPr>
          <p:cNvPr id="37" name="Text 34"/>
          <p:cNvSpPr txBox="1"/>
          <p:nvPr/>
        </p:nvSpPr>
        <p:spPr>
          <a:xfrm>
            <a:off x="2212848" y="3877056"/>
            <a:ext cx="256032" cy="256032"/>
          </a:xfrm>
          <a:prstGeom prst="rect">
            <a:avLst/>
          </a:prstGeom>
          <a:noFill/>
          <a:ln/>
        </p:spPr>
        <p:txBody>
          <a:bodyPr wrap="square" lIns="0" tIns="0" rIns="0" bIns="0" rtlCol="0" anchor="ctr"/>
          <a:lstStyle/>
          <a:p>
            <a:pPr algn="ctr" indent="0" marL="0">
              <a:buNone/>
            </a:pPr>
            <a:r>
              <a:rPr lang="en-US" sz="900" b="1" dirty="0">
                <a:solidFill>
                  <a:srgbClr val="0B5FFF"/>
                </a:solidFill>
                <a:latin typeface="Montserrat" pitchFamily="34" charset="0"/>
                <a:ea typeface="Montserrat" pitchFamily="34" charset="-122"/>
                <a:cs typeface="Montserrat" pitchFamily="34" charset="-120"/>
              </a:rPr>
              <a:t>4</a:t>
            </a:r>
            <a:endParaRPr lang="en-US" sz="900" dirty="0"/>
          </a:p>
        </p:txBody>
      </p:sp>
      <p:sp>
        <p:nvSpPr>
          <p:cNvPr id="38" name="Text 35"/>
          <p:cNvSpPr txBox="1"/>
          <p:nvPr/>
        </p:nvSpPr>
        <p:spPr>
          <a:xfrm>
            <a:off x="676656" y="411480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Gestionar roles de usuario</a:t>
            </a:r>
            <a:endParaRPr lang="en-US" sz="900" dirty="0"/>
          </a:p>
        </p:txBody>
      </p:sp>
      <p:sp>
        <p:nvSpPr>
          <p:cNvPr id="39" name="Shape 36"/>
          <p:cNvSpPr/>
          <p:nvPr/>
        </p:nvSpPr>
        <p:spPr>
          <a:xfrm>
            <a:off x="548640" y="464515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0" name="Text 37"/>
          <p:cNvSpPr txBox="1"/>
          <p:nvPr/>
        </p:nvSpPr>
        <p:spPr>
          <a:xfrm>
            <a:off x="676656" y="4700016"/>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ODS14-21</a:t>
            </a:r>
            <a:endParaRPr lang="en-US" sz="850" dirty="0"/>
          </a:p>
        </p:txBody>
      </p:sp>
      <p:sp>
        <p:nvSpPr>
          <p:cNvPr id="41" name="Shape 38"/>
          <p:cNvSpPr/>
          <p:nvPr/>
        </p:nvSpPr>
        <p:spPr>
          <a:xfrm>
            <a:off x="1783080" y="4718304"/>
            <a:ext cx="365760" cy="201168"/>
          </a:xfrm>
          <a:prstGeom prst="roundRect">
            <a:avLst>
              <a:gd name="adj" fmla="val 50000"/>
            </a:avLst>
          </a:prstGeom>
          <a:solidFill>
            <a:srgbClr val="7B5CFF"/>
          </a:solidFill>
          <a:ln/>
        </p:spPr>
      </p:sp>
      <p:sp>
        <p:nvSpPr>
          <p:cNvPr id="42" name="Text 39"/>
          <p:cNvSpPr txBox="1"/>
          <p:nvPr/>
        </p:nvSpPr>
        <p:spPr>
          <a:xfrm>
            <a:off x="1783080" y="471830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43" name="Shape 40"/>
          <p:cNvSpPr/>
          <p:nvPr/>
        </p:nvSpPr>
        <p:spPr>
          <a:xfrm>
            <a:off x="2212848" y="4700016"/>
            <a:ext cx="256032" cy="256032"/>
          </a:xfrm>
          <a:prstGeom prst="ellipse">
            <a:avLst/>
          </a:prstGeom>
          <a:solidFill>
            <a:srgbClr val="EAF1FF"/>
          </a:solidFill>
          <a:ln/>
        </p:spPr>
      </p:sp>
      <p:sp>
        <p:nvSpPr>
          <p:cNvPr id="44" name="Text 41"/>
          <p:cNvSpPr txBox="1"/>
          <p:nvPr/>
        </p:nvSpPr>
        <p:spPr>
          <a:xfrm>
            <a:off x="2212848" y="4700016"/>
            <a:ext cx="256032" cy="256032"/>
          </a:xfrm>
          <a:prstGeom prst="rect">
            <a:avLst/>
          </a:prstGeom>
          <a:noFill/>
          <a:ln/>
        </p:spPr>
        <p:txBody>
          <a:bodyPr wrap="square" lIns="0" tIns="0" rIns="0" bIns="0" rtlCol="0" anchor="ctr"/>
          <a:lstStyle/>
          <a:p>
            <a:pPr algn="ctr" indent="0" marL="0">
              <a:buNone/>
            </a:pPr>
            <a:r>
              <a:rPr lang="en-US" sz="900" b="1" dirty="0">
                <a:solidFill>
                  <a:srgbClr val="0B5FFF"/>
                </a:solidFill>
                <a:latin typeface="Montserrat" pitchFamily="34" charset="0"/>
                <a:ea typeface="Montserrat" pitchFamily="34" charset="-122"/>
                <a:cs typeface="Montserrat" pitchFamily="34" charset="-120"/>
              </a:rPr>
              <a:t>3</a:t>
            </a:r>
            <a:endParaRPr lang="en-US" sz="900" dirty="0"/>
          </a:p>
        </p:txBody>
      </p:sp>
      <p:sp>
        <p:nvSpPr>
          <p:cNvPr id="45" name="Text 42"/>
          <p:cNvSpPr txBox="1"/>
          <p:nvPr/>
        </p:nvSpPr>
        <p:spPr>
          <a:xfrm>
            <a:off x="676656" y="493776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Cambiar contraseña y verificación en dos pasos</a:t>
            </a:r>
            <a:endParaRPr lang="en-US" sz="900" dirty="0"/>
          </a:p>
        </p:txBody>
      </p:sp>
      <p:sp>
        <p:nvSpPr>
          <p:cNvPr id="46" name="Shape 43"/>
          <p:cNvSpPr/>
          <p:nvPr/>
        </p:nvSpPr>
        <p:spPr>
          <a:xfrm>
            <a:off x="2798064" y="2011680"/>
            <a:ext cx="2103120" cy="868680"/>
          </a:xfrm>
          <a:prstGeom prst="roundRect">
            <a:avLst>
              <a:gd name="adj" fmla="val 14737"/>
            </a:avLst>
          </a:prstGeom>
          <a:solidFill>
            <a:srgbClr val="7B5CFF"/>
          </a:solidFill>
          <a:ln/>
        </p:spPr>
      </p:sp>
      <p:pic>
        <p:nvPicPr>
          <p:cNvPr id="47" name="Image 1" descr="preencoded.png">    </p:cNvPr>
          <p:cNvPicPr>
            <a:picLocks noChangeAspect="1"/>
          </p:cNvPicPr>
          <p:nvPr/>
        </p:nvPicPr>
        <p:blipFill>
          <a:blip r:embed="rId3"/>
          <a:stretch>
            <a:fillRect/>
          </a:stretch>
        </p:blipFill>
        <p:spPr>
          <a:xfrm>
            <a:off x="2944368" y="2157984"/>
            <a:ext cx="292608" cy="292608"/>
          </a:xfrm>
          <a:prstGeom prst="rect">
            <a:avLst/>
          </a:prstGeom>
        </p:spPr>
      </p:pic>
      <p:sp>
        <p:nvSpPr>
          <p:cNvPr id="48" name="Text 44"/>
          <p:cNvSpPr txBox="1"/>
          <p:nvPr/>
        </p:nvSpPr>
        <p:spPr>
          <a:xfrm>
            <a:off x="3300984" y="2139696"/>
            <a:ext cx="914400" cy="329184"/>
          </a:xfrm>
          <a:prstGeom prst="rect">
            <a:avLst/>
          </a:prstGeom>
          <a:noFill/>
          <a:ln/>
        </p:spPr>
        <p:txBody>
          <a:bodyPr wrap="square" lIns="0" tIns="0" rIns="0" bIns="0" rtlCol="0" anchor="ctr"/>
          <a:lstStyle/>
          <a:p>
            <a:pPr indent="0" marL="0">
              <a:buNone/>
            </a:pPr>
            <a:r>
              <a:rPr lang="en-US" sz="800" b="1" spc="150" kern="0" dirty="0">
                <a:solidFill>
                  <a:srgbClr val="FFFFFF"/>
                </a:solidFill>
                <a:latin typeface="Montserrat" pitchFamily="34" charset="0"/>
                <a:ea typeface="Montserrat" pitchFamily="34" charset="-122"/>
                <a:cs typeface="Montserrat" pitchFamily="34" charset="-120"/>
              </a:rPr>
              <a:t>ÉPICA</a:t>
            </a:r>
            <a:endParaRPr lang="en-US" sz="800" dirty="0"/>
          </a:p>
        </p:txBody>
      </p:sp>
      <p:sp>
        <p:nvSpPr>
          <p:cNvPr id="49" name="Text 45"/>
          <p:cNvSpPr txBox="1"/>
          <p:nvPr/>
        </p:nvSpPr>
        <p:spPr>
          <a:xfrm>
            <a:off x="4032504" y="2139696"/>
            <a:ext cx="73152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ontserrat" pitchFamily="34" charset="0"/>
                <a:ea typeface="Montserrat" pitchFamily="34" charset="-122"/>
                <a:cs typeface="Montserrat" pitchFamily="34" charset="-120"/>
              </a:rPr>
              <a:t>12 pts</a:t>
            </a:r>
            <a:endParaRPr lang="en-US" sz="1100" dirty="0"/>
          </a:p>
        </p:txBody>
      </p:sp>
      <p:sp>
        <p:nvSpPr>
          <p:cNvPr id="50" name="Text 46"/>
          <p:cNvSpPr txBox="1"/>
          <p:nvPr/>
        </p:nvSpPr>
        <p:spPr>
          <a:xfrm>
            <a:off x="2944368" y="2468880"/>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Gestión de Usuarios</a:t>
            </a:r>
            <a:endParaRPr lang="en-US" sz="1050" dirty="0"/>
          </a:p>
        </p:txBody>
      </p:sp>
      <p:sp>
        <p:nvSpPr>
          <p:cNvPr id="51" name="Shape 47"/>
          <p:cNvSpPr/>
          <p:nvPr/>
        </p:nvSpPr>
        <p:spPr>
          <a:xfrm>
            <a:off x="2798064" y="299923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2" name="Text 48"/>
          <p:cNvSpPr txBox="1"/>
          <p:nvPr/>
        </p:nvSpPr>
        <p:spPr>
          <a:xfrm>
            <a:off x="2926080" y="3054096"/>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ODS14-10</a:t>
            </a:r>
            <a:endParaRPr lang="en-US" sz="850" dirty="0"/>
          </a:p>
        </p:txBody>
      </p:sp>
      <p:sp>
        <p:nvSpPr>
          <p:cNvPr id="53" name="Shape 49"/>
          <p:cNvSpPr/>
          <p:nvPr/>
        </p:nvSpPr>
        <p:spPr>
          <a:xfrm>
            <a:off x="4032504" y="3072384"/>
            <a:ext cx="365760" cy="201168"/>
          </a:xfrm>
          <a:prstGeom prst="roundRect">
            <a:avLst>
              <a:gd name="adj" fmla="val 50000"/>
            </a:avLst>
          </a:prstGeom>
          <a:solidFill>
            <a:srgbClr val="0B5FFF"/>
          </a:solidFill>
          <a:ln/>
        </p:spPr>
      </p:sp>
      <p:sp>
        <p:nvSpPr>
          <p:cNvPr id="54" name="Text 50"/>
          <p:cNvSpPr txBox="1"/>
          <p:nvPr/>
        </p:nvSpPr>
        <p:spPr>
          <a:xfrm>
            <a:off x="4032504" y="307238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55" name="Shape 51"/>
          <p:cNvSpPr/>
          <p:nvPr/>
        </p:nvSpPr>
        <p:spPr>
          <a:xfrm>
            <a:off x="4462272" y="3054096"/>
            <a:ext cx="256032" cy="256032"/>
          </a:xfrm>
          <a:prstGeom prst="ellipse">
            <a:avLst/>
          </a:prstGeom>
          <a:solidFill>
            <a:srgbClr val="EFEBFF"/>
          </a:solidFill>
          <a:ln/>
        </p:spPr>
      </p:sp>
      <p:sp>
        <p:nvSpPr>
          <p:cNvPr id="56" name="Text 52"/>
          <p:cNvSpPr txBox="1"/>
          <p:nvPr/>
        </p:nvSpPr>
        <p:spPr>
          <a:xfrm>
            <a:off x="4462272" y="3054096"/>
            <a:ext cx="256032" cy="256032"/>
          </a:xfrm>
          <a:prstGeom prst="rect">
            <a:avLst/>
          </a:prstGeom>
          <a:noFill/>
          <a:ln/>
        </p:spPr>
        <p:txBody>
          <a:bodyPr wrap="square" lIns="0" tIns="0" rIns="0" bIns="0" rtlCol="0" anchor="ctr"/>
          <a:lstStyle/>
          <a:p>
            <a:pPr algn="ctr" indent="0" marL="0">
              <a:buNone/>
            </a:pPr>
            <a:r>
              <a:rPr lang="en-US" sz="900" b="1" dirty="0">
                <a:solidFill>
                  <a:srgbClr val="7B5CFF"/>
                </a:solidFill>
                <a:latin typeface="Montserrat" pitchFamily="34" charset="0"/>
                <a:ea typeface="Montserrat" pitchFamily="34" charset="-122"/>
                <a:cs typeface="Montserrat" pitchFamily="34" charset="-120"/>
              </a:rPr>
              <a:t>5</a:t>
            </a:r>
            <a:endParaRPr lang="en-US" sz="900" dirty="0"/>
          </a:p>
        </p:txBody>
      </p:sp>
      <p:sp>
        <p:nvSpPr>
          <p:cNvPr id="57" name="Text 53"/>
          <p:cNvSpPr txBox="1"/>
          <p:nvPr/>
        </p:nvSpPr>
        <p:spPr>
          <a:xfrm>
            <a:off x="2926080" y="329184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Registrar nuevos usuarios</a:t>
            </a:r>
            <a:endParaRPr lang="en-US" sz="900" dirty="0"/>
          </a:p>
        </p:txBody>
      </p:sp>
      <p:sp>
        <p:nvSpPr>
          <p:cNvPr id="58" name="Shape 54"/>
          <p:cNvSpPr/>
          <p:nvPr/>
        </p:nvSpPr>
        <p:spPr>
          <a:xfrm>
            <a:off x="2798064" y="382219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9" name="Text 55"/>
          <p:cNvSpPr txBox="1"/>
          <p:nvPr/>
        </p:nvSpPr>
        <p:spPr>
          <a:xfrm>
            <a:off x="2926080" y="3877056"/>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ODS14-11</a:t>
            </a:r>
            <a:endParaRPr lang="en-US" sz="850" dirty="0"/>
          </a:p>
        </p:txBody>
      </p:sp>
      <p:sp>
        <p:nvSpPr>
          <p:cNvPr id="60" name="Shape 56"/>
          <p:cNvSpPr/>
          <p:nvPr/>
        </p:nvSpPr>
        <p:spPr>
          <a:xfrm>
            <a:off x="4032504" y="3895344"/>
            <a:ext cx="365760" cy="201168"/>
          </a:xfrm>
          <a:prstGeom prst="roundRect">
            <a:avLst>
              <a:gd name="adj" fmla="val 50000"/>
            </a:avLst>
          </a:prstGeom>
          <a:solidFill>
            <a:srgbClr val="7B5CFF"/>
          </a:solidFill>
          <a:ln/>
        </p:spPr>
      </p:sp>
      <p:sp>
        <p:nvSpPr>
          <p:cNvPr id="61" name="Text 57"/>
          <p:cNvSpPr txBox="1"/>
          <p:nvPr/>
        </p:nvSpPr>
        <p:spPr>
          <a:xfrm>
            <a:off x="4032504" y="389534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62" name="Shape 58"/>
          <p:cNvSpPr/>
          <p:nvPr/>
        </p:nvSpPr>
        <p:spPr>
          <a:xfrm>
            <a:off x="4462272" y="3877056"/>
            <a:ext cx="256032" cy="256032"/>
          </a:xfrm>
          <a:prstGeom prst="ellipse">
            <a:avLst/>
          </a:prstGeom>
          <a:solidFill>
            <a:srgbClr val="EFEBFF"/>
          </a:solidFill>
          <a:ln/>
        </p:spPr>
      </p:sp>
      <p:sp>
        <p:nvSpPr>
          <p:cNvPr id="63" name="Text 59"/>
          <p:cNvSpPr txBox="1"/>
          <p:nvPr/>
        </p:nvSpPr>
        <p:spPr>
          <a:xfrm>
            <a:off x="4462272" y="3877056"/>
            <a:ext cx="256032" cy="256032"/>
          </a:xfrm>
          <a:prstGeom prst="rect">
            <a:avLst/>
          </a:prstGeom>
          <a:noFill/>
          <a:ln/>
        </p:spPr>
        <p:txBody>
          <a:bodyPr wrap="square" lIns="0" tIns="0" rIns="0" bIns="0" rtlCol="0" anchor="ctr"/>
          <a:lstStyle/>
          <a:p>
            <a:pPr algn="ctr" indent="0" marL="0">
              <a:buNone/>
            </a:pPr>
            <a:r>
              <a:rPr lang="en-US" sz="900" b="1" dirty="0">
                <a:solidFill>
                  <a:srgbClr val="7B5CFF"/>
                </a:solidFill>
                <a:latin typeface="Montserrat" pitchFamily="34" charset="0"/>
                <a:ea typeface="Montserrat" pitchFamily="34" charset="-122"/>
                <a:cs typeface="Montserrat" pitchFamily="34" charset="-120"/>
              </a:rPr>
              <a:t>3</a:t>
            </a:r>
            <a:endParaRPr lang="en-US" sz="900" dirty="0"/>
          </a:p>
        </p:txBody>
      </p:sp>
      <p:sp>
        <p:nvSpPr>
          <p:cNvPr id="64" name="Text 60"/>
          <p:cNvSpPr txBox="1"/>
          <p:nvPr/>
        </p:nvSpPr>
        <p:spPr>
          <a:xfrm>
            <a:off x="2926080" y="411480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Ver perfil de usuario</a:t>
            </a:r>
            <a:endParaRPr lang="en-US" sz="900" dirty="0"/>
          </a:p>
        </p:txBody>
      </p:sp>
      <p:sp>
        <p:nvSpPr>
          <p:cNvPr id="65" name="Shape 61"/>
          <p:cNvSpPr/>
          <p:nvPr/>
        </p:nvSpPr>
        <p:spPr>
          <a:xfrm>
            <a:off x="2798064" y="464515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6" name="Text 62"/>
          <p:cNvSpPr txBox="1"/>
          <p:nvPr/>
        </p:nvSpPr>
        <p:spPr>
          <a:xfrm>
            <a:off x="2926080" y="4700016"/>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ODS14-12</a:t>
            </a:r>
            <a:endParaRPr lang="en-US" sz="850" dirty="0"/>
          </a:p>
        </p:txBody>
      </p:sp>
      <p:sp>
        <p:nvSpPr>
          <p:cNvPr id="67" name="Shape 63"/>
          <p:cNvSpPr/>
          <p:nvPr/>
        </p:nvSpPr>
        <p:spPr>
          <a:xfrm>
            <a:off x="4032504" y="4718304"/>
            <a:ext cx="365760" cy="201168"/>
          </a:xfrm>
          <a:prstGeom prst="roundRect">
            <a:avLst>
              <a:gd name="adj" fmla="val 50000"/>
            </a:avLst>
          </a:prstGeom>
          <a:solidFill>
            <a:srgbClr val="7B5CFF"/>
          </a:solidFill>
          <a:ln/>
        </p:spPr>
      </p:sp>
      <p:sp>
        <p:nvSpPr>
          <p:cNvPr id="68" name="Text 64"/>
          <p:cNvSpPr txBox="1"/>
          <p:nvPr/>
        </p:nvSpPr>
        <p:spPr>
          <a:xfrm>
            <a:off x="4032504" y="471830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69" name="Shape 65"/>
          <p:cNvSpPr/>
          <p:nvPr/>
        </p:nvSpPr>
        <p:spPr>
          <a:xfrm>
            <a:off x="4462272" y="4700016"/>
            <a:ext cx="256032" cy="256032"/>
          </a:xfrm>
          <a:prstGeom prst="ellipse">
            <a:avLst/>
          </a:prstGeom>
          <a:solidFill>
            <a:srgbClr val="EFEBFF"/>
          </a:solidFill>
          <a:ln/>
        </p:spPr>
      </p:sp>
      <p:sp>
        <p:nvSpPr>
          <p:cNvPr id="70" name="Text 66"/>
          <p:cNvSpPr txBox="1"/>
          <p:nvPr/>
        </p:nvSpPr>
        <p:spPr>
          <a:xfrm>
            <a:off x="4462272" y="4700016"/>
            <a:ext cx="256032" cy="256032"/>
          </a:xfrm>
          <a:prstGeom prst="rect">
            <a:avLst/>
          </a:prstGeom>
          <a:noFill/>
          <a:ln/>
        </p:spPr>
        <p:txBody>
          <a:bodyPr wrap="square" lIns="0" tIns="0" rIns="0" bIns="0" rtlCol="0" anchor="ctr"/>
          <a:lstStyle/>
          <a:p>
            <a:pPr algn="ctr" indent="0" marL="0">
              <a:buNone/>
            </a:pPr>
            <a:r>
              <a:rPr lang="en-US" sz="900" b="1" dirty="0">
                <a:solidFill>
                  <a:srgbClr val="7B5CFF"/>
                </a:solidFill>
                <a:latin typeface="Montserrat" pitchFamily="34" charset="0"/>
                <a:ea typeface="Montserrat" pitchFamily="34" charset="-122"/>
                <a:cs typeface="Montserrat" pitchFamily="34" charset="-120"/>
              </a:rPr>
              <a:t>4</a:t>
            </a:r>
            <a:endParaRPr lang="en-US" sz="900" dirty="0"/>
          </a:p>
        </p:txBody>
      </p:sp>
      <p:sp>
        <p:nvSpPr>
          <p:cNvPr id="71" name="Text 67"/>
          <p:cNvSpPr txBox="1"/>
          <p:nvPr/>
        </p:nvSpPr>
        <p:spPr>
          <a:xfrm>
            <a:off x="2926080" y="493776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Editar perfiles de usuario</a:t>
            </a:r>
            <a:endParaRPr lang="en-US" sz="900" dirty="0"/>
          </a:p>
        </p:txBody>
      </p:sp>
      <p:sp>
        <p:nvSpPr>
          <p:cNvPr id="72" name="Shape 68"/>
          <p:cNvSpPr/>
          <p:nvPr/>
        </p:nvSpPr>
        <p:spPr>
          <a:xfrm>
            <a:off x="5047488" y="2011680"/>
            <a:ext cx="2103120" cy="868680"/>
          </a:xfrm>
          <a:prstGeom prst="roundRect">
            <a:avLst>
              <a:gd name="adj" fmla="val 14737"/>
            </a:avLst>
          </a:prstGeom>
          <a:solidFill>
            <a:srgbClr val="008FB0"/>
          </a:solidFill>
          <a:ln/>
        </p:spPr>
      </p:sp>
      <p:pic>
        <p:nvPicPr>
          <p:cNvPr id="73" name="Image 2" descr="preencoded.png">    </p:cNvPr>
          <p:cNvPicPr>
            <a:picLocks noChangeAspect="1"/>
          </p:cNvPicPr>
          <p:nvPr/>
        </p:nvPicPr>
        <p:blipFill>
          <a:blip r:embed="rId4"/>
          <a:stretch>
            <a:fillRect/>
          </a:stretch>
        </p:blipFill>
        <p:spPr>
          <a:xfrm>
            <a:off x="5193792" y="2157984"/>
            <a:ext cx="292608" cy="292608"/>
          </a:xfrm>
          <a:prstGeom prst="rect">
            <a:avLst/>
          </a:prstGeom>
        </p:spPr>
      </p:pic>
      <p:sp>
        <p:nvSpPr>
          <p:cNvPr id="74" name="Text 69"/>
          <p:cNvSpPr txBox="1"/>
          <p:nvPr/>
        </p:nvSpPr>
        <p:spPr>
          <a:xfrm>
            <a:off x="5550408" y="2139696"/>
            <a:ext cx="914400" cy="329184"/>
          </a:xfrm>
          <a:prstGeom prst="rect">
            <a:avLst/>
          </a:prstGeom>
          <a:noFill/>
          <a:ln/>
        </p:spPr>
        <p:txBody>
          <a:bodyPr wrap="square" lIns="0" tIns="0" rIns="0" bIns="0" rtlCol="0" anchor="ctr"/>
          <a:lstStyle/>
          <a:p>
            <a:pPr indent="0" marL="0">
              <a:buNone/>
            </a:pPr>
            <a:r>
              <a:rPr lang="en-US" sz="800" b="1" spc="150" kern="0" dirty="0">
                <a:solidFill>
                  <a:srgbClr val="FFFFFF"/>
                </a:solidFill>
                <a:latin typeface="Montserrat" pitchFamily="34" charset="0"/>
                <a:ea typeface="Montserrat" pitchFamily="34" charset="-122"/>
                <a:cs typeface="Montserrat" pitchFamily="34" charset="-120"/>
              </a:rPr>
              <a:t>ÉPICA</a:t>
            </a:r>
            <a:endParaRPr lang="en-US" sz="800" dirty="0"/>
          </a:p>
        </p:txBody>
      </p:sp>
      <p:sp>
        <p:nvSpPr>
          <p:cNvPr id="75" name="Text 70"/>
          <p:cNvSpPr txBox="1"/>
          <p:nvPr/>
        </p:nvSpPr>
        <p:spPr>
          <a:xfrm>
            <a:off x="6281928" y="2139696"/>
            <a:ext cx="73152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ontserrat" pitchFamily="34" charset="0"/>
                <a:ea typeface="Montserrat" pitchFamily="34" charset="-122"/>
                <a:cs typeface="Montserrat" pitchFamily="34" charset="-120"/>
              </a:rPr>
              <a:t>15 pts</a:t>
            </a:r>
            <a:endParaRPr lang="en-US" sz="1100" dirty="0"/>
          </a:p>
        </p:txBody>
      </p:sp>
      <p:sp>
        <p:nvSpPr>
          <p:cNvPr id="76" name="Text 71"/>
          <p:cNvSpPr txBox="1"/>
          <p:nvPr/>
        </p:nvSpPr>
        <p:spPr>
          <a:xfrm>
            <a:off x="5193792" y="2468880"/>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Gestión de Embarcaciones</a:t>
            </a:r>
            <a:endParaRPr lang="en-US" sz="1050" dirty="0"/>
          </a:p>
        </p:txBody>
      </p:sp>
      <p:sp>
        <p:nvSpPr>
          <p:cNvPr id="77" name="Shape 72"/>
          <p:cNvSpPr/>
          <p:nvPr/>
        </p:nvSpPr>
        <p:spPr>
          <a:xfrm>
            <a:off x="5047488" y="299923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8" name="Text 73"/>
          <p:cNvSpPr txBox="1"/>
          <p:nvPr/>
        </p:nvSpPr>
        <p:spPr>
          <a:xfrm>
            <a:off x="5175504" y="3054096"/>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ODS14-6</a:t>
            </a:r>
            <a:endParaRPr lang="en-US" sz="850" dirty="0"/>
          </a:p>
        </p:txBody>
      </p:sp>
      <p:sp>
        <p:nvSpPr>
          <p:cNvPr id="79" name="Shape 74"/>
          <p:cNvSpPr/>
          <p:nvPr/>
        </p:nvSpPr>
        <p:spPr>
          <a:xfrm>
            <a:off x="6281928" y="3072384"/>
            <a:ext cx="365760" cy="201168"/>
          </a:xfrm>
          <a:prstGeom prst="roundRect">
            <a:avLst>
              <a:gd name="adj" fmla="val 50000"/>
            </a:avLst>
          </a:prstGeom>
          <a:solidFill>
            <a:srgbClr val="0B5FFF"/>
          </a:solidFill>
          <a:ln/>
        </p:spPr>
      </p:sp>
      <p:sp>
        <p:nvSpPr>
          <p:cNvPr id="80" name="Text 75"/>
          <p:cNvSpPr txBox="1"/>
          <p:nvPr/>
        </p:nvSpPr>
        <p:spPr>
          <a:xfrm>
            <a:off x="6281928" y="307238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81" name="Shape 76"/>
          <p:cNvSpPr/>
          <p:nvPr/>
        </p:nvSpPr>
        <p:spPr>
          <a:xfrm>
            <a:off x="6711696" y="3054096"/>
            <a:ext cx="256032" cy="256032"/>
          </a:xfrm>
          <a:prstGeom prst="ellipse">
            <a:avLst/>
          </a:prstGeom>
          <a:solidFill>
            <a:srgbClr val="E0F8FB"/>
          </a:solidFill>
          <a:ln/>
        </p:spPr>
      </p:sp>
      <p:sp>
        <p:nvSpPr>
          <p:cNvPr id="82" name="Text 77"/>
          <p:cNvSpPr txBox="1"/>
          <p:nvPr/>
        </p:nvSpPr>
        <p:spPr>
          <a:xfrm>
            <a:off x="6711696" y="3054096"/>
            <a:ext cx="256032" cy="256032"/>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5</a:t>
            </a:r>
            <a:endParaRPr lang="en-US" sz="900" dirty="0"/>
          </a:p>
        </p:txBody>
      </p:sp>
      <p:sp>
        <p:nvSpPr>
          <p:cNvPr id="83" name="Text 78"/>
          <p:cNvSpPr txBox="1"/>
          <p:nvPr/>
        </p:nvSpPr>
        <p:spPr>
          <a:xfrm>
            <a:off x="5175504" y="329184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Registrar nueva embarcación</a:t>
            </a:r>
            <a:endParaRPr lang="en-US" sz="900" dirty="0"/>
          </a:p>
        </p:txBody>
      </p:sp>
      <p:sp>
        <p:nvSpPr>
          <p:cNvPr id="84" name="Shape 79"/>
          <p:cNvSpPr/>
          <p:nvPr/>
        </p:nvSpPr>
        <p:spPr>
          <a:xfrm>
            <a:off x="5047488" y="382219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85" name="Text 80"/>
          <p:cNvSpPr txBox="1"/>
          <p:nvPr/>
        </p:nvSpPr>
        <p:spPr>
          <a:xfrm>
            <a:off x="5175504" y="3877056"/>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ODS14-7</a:t>
            </a:r>
            <a:endParaRPr lang="en-US" sz="850" dirty="0"/>
          </a:p>
        </p:txBody>
      </p:sp>
      <p:sp>
        <p:nvSpPr>
          <p:cNvPr id="86" name="Shape 81"/>
          <p:cNvSpPr/>
          <p:nvPr/>
        </p:nvSpPr>
        <p:spPr>
          <a:xfrm>
            <a:off x="6281928" y="3895344"/>
            <a:ext cx="365760" cy="201168"/>
          </a:xfrm>
          <a:prstGeom prst="roundRect">
            <a:avLst>
              <a:gd name="adj" fmla="val 50000"/>
            </a:avLst>
          </a:prstGeom>
          <a:solidFill>
            <a:srgbClr val="0B5FFF"/>
          </a:solidFill>
          <a:ln/>
        </p:spPr>
      </p:sp>
      <p:sp>
        <p:nvSpPr>
          <p:cNvPr id="87" name="Text 82"/>
          <p:cNvSpPr txBox="1"/>
          <p:nvPr/>
        </p:nvSpPr>
        <p:spPr>
          <a:xfrm>
            <a:off x="6281928" y="389534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88" name="Shape 83"/>
          <p:cNvSpPr/>
          <p:nvPr/>
        </p:nvSpPr>
        <p:spPr>
          <a:xfrm>
            <a:off x="6711696" y="3877056"/>
            <a:ext cx="256032" cy="256032"/>
          </a:xfrm>
          <a:prstGeom prst="ellipse">
            <a:avLst/>
          </a:prstGeom>
          <a:solidFill>
            <a:srgbClr val="E0F8FB"/>
          </a:solidFill>
          <a:ln/>
        </p:spPr>
      </p:sp>
      <p:sp>
        <p:nvSpPr>
          <p:cNvPr id="89" name="Text 84"/>
          <p:cNvSpPr txBox="1"/>
          <p:nvPr/>
        </p:nvSpPr>
        <p:spPr>
          <a:xfrm>
            <a:off x="6711696" y="3877056"/>
            <a:ext cx="256032" cy="256032"/>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3</a:t>
            </a:r>
            <a:endParaRPr lang="en-US" sz="900" dirty="0"/>
          </a:p>
        </p:txBody>
      </p:sp>
      <p:sp>
        <p:nvSpPr>
          <p:cNvPr id="90" name="Text 85"/>
          <p:cNvSpPr txBox="1"/>
          <p:nvPr/>
        </p:nvSpPr>
        <p:spPr>
          <a:xfrm>
            <a:off x="5175504" y="411480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Buscar embarcaciones</a:t>
            </a:r>
            <a:endParaRPr lang="en-US" sz="900" dirty="0"/>
          </a:p>
        </p:txBody>
      </p:sp>
      <p:sp>
        <p:nvSpPr>
          <p:cNvPr id="91" name="Shape 86"/>
          <p:cNvSpPr/>
          <p:nvPr/>
        </p:nvSpPr>
        <p:spPr>
          <a:xfrm>
            <a:off x="5047488" y="464515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92" name="Text 87"/>
          <p:cNvSpPr txBox="1"/>
          <p:nvPr/>
        </p:nvSpPr>
        <p:spPr>
          <a:xfrm>
            <a:off x="5175504" y="4700016"/>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ODS14-8</a:t>
            </a:r>
            <a:endParaRPr lang="en-US" sz="850" dirty="0"/>
          </a:p>
        </p:txBody>
      </p:sp>
      <p:sp>
        <p:nvSpPr>
          <p:cNvPr id="93" name="Shape 88"/>
          <p:cNvSpPr/>
          <p:nvPr/>
        </p:nvSpPr>
        <p:spPr>
          <a:xfrm>
            <a:off x="6281928" y="4718304"/>
            <a:ext cx="365760" cy="201168"/>
          </a:xfrm>
          <a:prstGeom prst="roundRect">
            <a:avLst>
              <a:gd name="adj" fmla="val 50000"/>
            </a:avLst>
          </a:prstGeom>
          <a:solidFill>
            <a:srgbClr val="7B5CFF"/>
          </a:solidFill>
          <a:ln/>
        </p:spPr>
      </p:sp>
      <p:sp>
        <p:nvSpPr>
          <p:cNvPr id="94" name="Text 89"/>
          <p:cNvSpPr txBox="1"/>
          <p:nvPr/>
        </p:nvSpPr>
        <p:spPr>
          <a:xfrm>
            <a:off x="6281928" y="471830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95" name="Shape 90"/>
          <p:cNvSpPr/>
          <p:nvPr/>
        </p:nvSpPr>
        <p:spPr>
          <a:xfrm>
            <a:off x="6711696" y="4700016"/>
            <a:ext cx="256032" cy="256032"/>
          </a:xfrm>
          <a:prstGeom prst="ellipse">
            <a:avLst/>
          </a:prstGeom>
          <a:solidFill>
            <a:srgbClr val="E0F8FB"/>
          </a:solidFill>
          <a:ln/>
        </p:spPr>
      </p:sp>
      <p:sp>
        <p:nvSpPr>
          <p:cNvPr id="96" name="Text 91"/>
          <p:cNvSpPr txBox="1"/>
          <p:nvPr/>
        </p:nvSpPr>
        <p:spPr>
          <a:xfrm>
            <a:off x="6711696" y="4700016"/>
            <a:ext cx="256032" cy="256032"/>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4</a:t>
            </a:r>
            <a:endParaRPr lang="en-US" sz="900" dirty="0"/>
          </a:p>
        </p:txBody>
      </p:sp>
      <p:sp>
        <p:nvSpPr>
          <p:cNvPr id="97" name="Text 92"/>
          <p:cNvSpPr txBox="1"/>
          <p:nvPr/>
        </p:nvSpPr>
        <p:spPr>
          <a:xfrm>
            <a:off x="5175504" y="493776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Editar información de una embarcación</a:t>
            </a:r>
            <a:endParaRPr lang="en-US" sz="900" dirty="0"/>
          </a:p>
        </p:txBody>
      </p:sp>
      <p:sp>
        <p:nvSpPr>
          <p:cNvPr id="98" name="Shape 93"/>
          <p:cNvSpPr/>
          <p:nvPr/>
        </p:nvSpPr>
        <p:spPr>
          <a:xfrm>
            <a:off x="5047488" y="546811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99" name="Text 94"/>
          <p:cNvSpPr txBox="1"/>
          <p:nvPr/>
        </p:nvSpPr>
        <p:spPr>
          <a:xfrm>
            <a:off x="5175504" y="5522976"/>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ODS14-9</a:t>
            </a:r>
            <a:endParaRPr lang="en-US" sz="850" dirty="0"/>
          </a:p>
        </p:txBody>
      </p:sp>
      <p:sp>
        <p:nvSpPr>
          <p:cNvPr id="100" name="Shape 95"/>
          <p:cNvSpPr/>
          <p:nvPr/>
        </p:nvSpPr>
        <p:spPr>
          <a:xfrm>
            <a:off x="6281928" y="5541264"/>
            <a:ext cx="365760" cy="201168"/>
          </a:xfrm>
          <a:prstGeom prst="roundRect">
            <a:avLst>
              <a:gd name="adj" fmla="val 50000"/>
            </a:avLst>
          </a:prstGeom>
          <a:solidFill>
            <a:srgbClr val="7B5CFF"/>
          </a:solidFill>
          <a:ln/>
        </p:spPr>
      </p:sp>
      <p:sp>
        <p:nvSpPr>
          <p:cNvPr id="101" name="Text 96"/>
          <p:cNvSpPr txBox="1"/>
          <p:nvPr/>
        </p:nvSpPr>
        <p:spPr>
          <a:xfrm>
            <a:off x="6281928" y="554126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102" name="Shape 97"/>
          <p:cNvSpPr/>
          <p:nvPr/>
        </p:nvSpPr>
        <p:spPr>
          <a:xfrm>
            <a:off x="6711696" y="5522976"/>
            <a:ext cx="256032" cy="256032"/>
          </a:xfrm>
          <a:prstGeom prst="ellipse">
            <a:avLst/>
          </a:prstGeom>
          <a:solidFill>
            <a:srgbClr val="E0F8FB"/>
          </a:solidFill>
          <a:ln/>
        </p:spPr>
      </p:sp>
      <p:sp>
        <p:nvSpPr>
          <p:cNvPr id="103" name="Text 98"/>
          <p:cNvSpPr txBox="1"/>
          <p:nvPr/>
        </p:nvSpPr>
        <p:spPr>
          <a:xfrm>
            <a:off x="6711696" y="5522976"/>
            <a:ext cx="256032" cy="256032"/>
          </a:xfrm>
          <a:prstGeom prst="rect">
            <a:avLst/>
          </a:prstGeom>
          <a:noFill/>
          <a:ln/>
        </p:spPr>
        <p:txBody>
          <a:bodyPr wrap="square" lIns="0" tIns="0" rIns="0" bIns="0" rtlCol="0" anchor="ctr"/>
          <a:lstStyle/>
          <a:p>
            <a:pPr algn="ctr" indent="0" marL="0">
              <a:buNone/>
            </a:pPr>
            <a:r>
              <a:rPr lang="en-US" sz="900" b="1" dirty="0">
                <a:solidFill>
                  <a:srgbClr val="008FB0"/>
                </a:solidFill>
                <a:latin typeface="Montserrat" pitchFamily="34" charset="0"/>
                <a:ea typeface="Montserrat" pitchFamily="34" charset="-122"/>
                <a:cs typeface="Montserrat" pitchFamily="34" charset="-120"/>
              </a:rPr>
              <a:t>3</a:t>
            </a:r>
            <a:endParaRPr lang="en-US" sz="900" dirty="0"/>
          </a:p>
        </p:txBody>
      </p:sp>
      <p:sp>
        <p:nvSpPr>
          <p:cNvPr id="104" name="Text 99"/>
          <p:cNvSpPr txBox="1"/>
          <p:nvPr/>
        </p:nvSpPr>
        <p:spPr>
          <a:xfrm>
            <a:off x="5175504" y="576072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Dar de baja embarcaciones</a:t>
            </a:r>
            <a:endParaRPr lang="en-US" sz="900" dirty="0"/>
          </a:p>
        </p:txBody>
      </p:sp>
      <p:sp>
        <p:nvSpPr>
          <p:cNvPr id="105" name="Shape 100"/>
          <p:cNvSpPr/>
          <p:nvPr/>
        </p:nvSpPr>
        <p:spPr>
          <a:xfrm>
            <a:off x="7296912" y="2011680"/>
            <a:ext cx="2103120" cy="868680"/>
          </a:xfrm>
          <a:prstGeom prst="roundRect">
            <a:avLst>
              <a:gd name="adj" fmla="val 14737"/>
            </a:avLst>
          </a:prstGeom>
          <a:solidFill>
            <a:srgbClr val="0B9468"/>
          </a:solidFill>
          <a:ln/>
        </p:spPr>
      </p:sp>
      <p:pic>
        <p:nvPicPr>
          <p:cNvPr id="106" name="Image 3" descr="preencoded.png">    </p:cNvPr>
          <p:cNvPicPr>
            <a:picLocks noChangeAspect="1"/>
          </p:cNvPicPr>
          <p:nvPr/>
        </p:nvPicPr>
        <p:blipFill>
          <a:blip r:embed="rId5"/>
          <a:stretch>
            <a:fillRect/>
          </a:stretch>
        </p:blipFill>
        <p:spPr>
          <a:xfrm>
            <a:off x="7443216" y="2157984"/>
            <a:ext cx="292608" cy="292608"/>
          </a:xfrm>
          <a:prstGeom prst="rect">
            <a:avLst/>
          </a:prstGeom>
        </p:spPr>
      </p:pic>
      <p:sp>
        <p:nvSpPr>
          <p:cNvPr id="107" name="Text 101"/>
          <p:cNvSpPr txBox="1"/>
          <p:nvPr/>
        </p:nvSpPr>
        <p:spPr>
          <a:xfrm>
            <a:off x="7799832" y="2139696"/>
            <a:ext cx="914400" cy="329184"/>
          </a:xfrm>
          <a:prstGeom prst="rect">
            <a:avLst/>
          </a:prstGeom>
          <a:noFill/>
          <a:ln/>
        </p:spPr>
        <p:txBody>
          <a:bodyPr wrap="square" lIns="0" tIns="0" rIns="0" bIns="0" rtlCol="0" anchor="ctr"/>
          <a:lstStyle/>
          <a:p>
            <a:pPr indent="0" marL="0">
              <a:buNone/>
            </a:pPr>
            <a:r>
              <a:rPr lang="en-US" sz="800" b="1" spc="150" kern="0" dirty="0">
                <a:solidFill>
                  <a:srgbClr val="FFFFFF"/>
                </a:solidFill>
                <a:latin typeface="Montserrat" pitchFamily="34" charset="0"/>
                <a:ea typeface="Montserrat" pitchFamily="34" charset="-122"/>
                <a:cs typeface="Montserrat" pitchFamily="34" charset="-120"/>
              </a:rPr>
              <a:t>ÉPICA</a:t>
            </a:r>
            <a:endParaRPr lang="en-US" sz="800" dirty="0"/>
          </a:p>
        </p:txBody>
      </p:sp>
      <p:sp>
        <p:nvSpPr>
          <p:cNvPr id="108" name="Text 102"/>
          <p:cNvSpPr txBox="1"/>
          <p:nvPr/>
        </p:nvSpPr>
        <p:spPr>
          <a:xfrm>
            <a:off x="8531352" y="2139696"/>
            <a:ext cx="73152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ontserrat" pitchFamily="34" charset="0"/>
                <a:ea typeface="Montserrat" pitchFamily="34" charset="-122"/>
                <a:cs typeface="Montserrat" pitchFamily="34" charset="-120"/>
              </a:rPr>
              <a:t>14 pts</a:t>
            </a:r>
            <a:endParaRPr lang="en-US" sz="1100" dirty="0"/>
          </a:p>
        </p:txBody>
      </p:sp>
      <p:sp>
        <p:nvSpPr>
          <p:cNvPr id="109" name="Text 103"/>
          <p:cNvSpPr txBox="1"/>
          <p:nvPr/>
        </p:nvSpPr>
        <p:spPr>
          <a:xfrm>
            <a:off x="7443216" y="2468880"/>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Registro de Capturas</a:t>
            </a:r>
            <a:endParaRPr lang="en-US" sz="1050" dirty="0"/>
          </a:p>
        </p:txBody>
      </p:sp>
      <p:sp>
        <p:nvSpPr>
          <p:cNvPr id="110" name="Shape 104"/>
          <p:cNvSpPr/>
          <p:nvPr/>
        </p:nvSpPr>
        <p:spPr>
          <a:xfrm>
            <a:off x="7296912" y="299923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11" name="Text 105"/>
          <p:cNvSpPr txBox="1"/>
          <p:nvPr/>
        </p:nvSpPr>
        <p:spPr>
          <a:xfrm>
            <a:off x="7424928" y="3054096"/>
            <a:ext cx="1005840" cy="219456"/>
          </a:xfrm>
          <a:prstGeom prst="rect">
            <a:avLst/>
          </a:prstGeom>
          <a:noFill/>
          <a:ln/>
        </p:spPr>
        <p:txBody>
          <a:bodyPr wrap="square" lIns="0" tIns="0" rIns="0" bIns="0" rtlCol="0" anchor="ctr"/>
          <a:lstStyle/>
          <a:p>
            <a:pPr indent="0" marL="0">
              <a:buNone/>
            </a:pPr>
            <a:r>
              <a:rPr lang="en-US" sz="850" b="1" dirty="0">
                <a:solidFill>
                  <a:srgbClr val="0B9468"/>
                </a:solidFill>
                <a:latin typeface="Montserrat" pitchFamily="34" charset="0"/>
                <a:ea typeface="Montserrat" pitchFamily="34" charset="-122"/>
                <a:cs typeface="Montserrat" pitchFamily="34" charset="-120"/>
              </a:rPr>
              <a:t>ODS14-13</a:t>
            </a:r>
            <a:endParaRPr lang="en-US" sz="850" dirty="0"/>
          </a:p>
        </p:txBody>
      </p:sp>
      <p:sp>
        <p:nvSpPr>
          <p:cNvPr id="112" name="Shape 106"/>
          <p:cNvSpPr/>
          <p:nvPr/>
        </p:nvSpPr>
        <p:spPr>
          <a:xfrm>
            <a:off x="8531352" y="3072384"/>
            <a:ext cx="365760" cy="201168"/>
          </a:xfrm>
          <a:prstGeom prst="roundRect">
            <a:avLst>
              <a:gd name="adj" fmla="val 50000"/>
            </a:avLst>
          </a:prstGeom>
          <a:solidFill>
            <a:srgbClr val="0B5FFF"/>
          </a:solidFill>
          <a:ln/>
        </p:spPr>
      </p:sp>
      <p:sp>
        <p:nvSpPr>
          <p:cNvPr id="113" name="Text 107"/>
          <p:cNvSpPr txBox="1"/>
          <p:nvPr/>
        </p:nvSpPr>
        <p:spPr>
          <a:xfrm>
            <a:off x="8531352" y="307238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114" name="Shape 108"/>
          <p:cNvSpPr/>
          <p:nvPr/>
        </p:nvSpPr>
        <p:spPr>
          <a:xfrm>
            <a:off x="8961120" y="3054096"/>
            <a:ext cx="256032" cy="256032"/>
          </a:xfrm>
          <a:prstGeom prst="ellipse">
            <a:avLst/>
          </a:prstGeom>
          <a:solidFill>
            <a:srgbClr val="E2F8EF"/>
          </a:solidFill>
          <a:ln/>
        </p:spPr>
      </p:sp>
      <p:sp>
        <p:nvSpPr>
          <p:cNvPr id="115" name="Text 109"/>
          <p:cNvSpPr txBox="1"/>
          <p:nvPr/>
        </p:nvSpPr>
        <p:spPr>
          <a:xfrm>
            <a:off x="8961120" y="3054096"/>
            <a:ext cx="256032" cy="256032"/>
          </a:xfrm>
          <a:prstGeom prst="rect">
            <a:avLst/>
          </a:prstGeom>
          <a:noFill/>
          <a:ln/>
        </p:spPr>
        <p:txBody>
          <a:bodyPr wrap="square" lIns="0" tIns="0" rIns="0" bIns="0" rtlCol="0" anchor="ctr"/>
          <a:lstStyle/>
          <a:p>
            <a:pPr algn="ctr" indent="0" marL="0">
              <a:buNone/>
            </a:pPr>
            <a:r>
              <a:rPr lang="en-US" sz="900" b="1" dirty="0">
                <a:solidFill>
                  <a:srgbClr val="0B9468"/>
                </a:solidFill>
                <a:latin typeface="Montserrat" pitchFamily="34" charset="0"/>
                <a:ea typeface="Montserrat" pitchFamily="34" charset="-122"/>
                <a:cs typeface="Montserrat" pitchFamily="34" charset="-120"/>
              </a:rPr>
              <a:t>5</a:t>
            </a:r>
            <a:endParaRPr lang="en-US" sz="900" dirty="0"/>
          </a:p>
        </p:txBody>
      </p:sp>
      <p:sp>
        <p:nvSpPr>
          <p:cNvPr id="116" name="Text 110"/>
          <p:cNvSpPr txBox="1"/>
          <p:nvPr/>
        </p:nvSpPr>
        <p:spPr>
          <a:xfrm>
            <a:off x="7424928" y="329184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Registrar captura en bitácora digital</a:t>
            </a:r>
            <a:endParaRPr lang="en-US" sz="900" dirty="0"/>
          </a:p>
        </p:txBody>
      </p:sp>
      <p:sp>
        <p:nvSpPr>
          <p:cNvPr id="117" name="Shape 111"/>
          <p:cNvSpPr/>
          <p:nvPr/>
        </p:nvSpPr>
        <p:spPr>
          <a:xfrm>
            <a:off x="7296912" y="382219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18" name="Text 112"/>
          <p:cNvSpPr txBox="1"/>
          <p:nvPr/>
        </p:nvSpPr>
        <p:spPr>
          <a:xfrm>
            <a:off x="7424928" y="3877056"/>
            <a:ext cx="1005840" cy="219456"/>
          </a:xfrm>
          <a:prstGeom prst="rect">
            <a:avLst/>
          </a:prstGeom>
          <a:noFill/>
          <a:ln/>
        </p:spPr>
        <p:txBody>
          <a:bodyPr wrap="square" lIns="0" tIns="0" rIns="0" bIns="0" rtlCol="0" anchor="ctr"/>
          <a:lstStyle/>
          <a:p>
            <a:pPr indent="0" marL="0">
              <a:buNone/>
            </a:pPr>
            <a:r>
              <a:rPr lang="en-US" sz="850" b="1" dirty="0">
                <a:solidFill>
                  <a:srgbClr val="0B9468"/>
                </a:solidFill>
                <a:latin typeface="Montserrat" pitchFamily="34" charset="0"/>
                <a:ea typeface="Montserrat" pitchFamily="34" charset="-122"/>
                <a:cs typeface="Montserrat" pitchFamily="34" charset="-120"/>
              </a:rPr>
              <a:t>ODS14-14</a:t>
            </a:r>
            <a:endParaRPr lang="en-US" sz="850" dirty="0"/>
          </a:p>
        </p:txBody>
      </p:sp>
      <p:sp>
        <p:nvSpPr>
          <p:cNvPr id="119" name="Shape 113"/>
          <p:cNvSpPr/>
          <p:nvPr/>
        </p:nvSpPr>
        <p:spPr>
          <a:xfrm>
            <a:off x="8531352" y="3895344"/>
            <a:ext cx="365760" cy="201168"/>
          </a:xfrm>
          <a:prstGeom prst="roundRect">
            <a:avLst>
              <a:gd name="adj" fmla="val 50000"/>
            </a:avLst>
          </a:prstGeom>
          <a:solidFill>
            <a:srgbClr val="7B5CFF"/>
          </a:solidFill>
          <a:ln/>
        </p:spPr>
      </p:sp>
      <p:sp>
        <p:nvSpPr>
          <p:cNvPr id="120" name="Text 114"/>
          <p:cNvSpPr txBox="1"/>
          <p:nvPr/>
        </p:nvSpPr>
        <p:spPr>
          <a:xfrm>
            <a:off x="8531352" y="389534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121" name="Shape 115"/>
          <p:cNvSpPr/>
          <p:nvPr/>
        </p:nvSpPr>
        <p:spPr>
          <a:xfrm>
            <a:off x="8961120" y="3877056"/>
            <a:ext cx="256032" cy="256032"/>
          </a:xfrm>
          <a:prstGeom prst="ellipse">
            <a:avLst/>
          </a:prstGeom>
          <a:solidFill>
            <a:srgbClr val="E2F8EF"/>
          </a:solidFill>
          <a:ln/>
        </p:spPr>
      </p:sp>
      <p:sp>
        <p:nvSpPr>
          <p:cNvPr id="122" name="Text 116"/>
          <p:cNvSpPr txBox="1"/>
          <p:nvPr/>
        </p:nvSpPr>
        <p:spPr>
          <a:xfrm>
            <a:off x="8961120" y="3877056"/>
            <a:ext cx="256032" cy="256032"/>
          </a:xfrm>
          <a:prstGeom prst="rect">
            <a:avLst/>
          </a:prstGeom>
          <a:noFill/>
          <a:ln/>
        </p:spPr>
        <p:txBody>
          <a:bodyPr wrap="square" lIns="0" tIns="0" rIns="0" bIns="0" rtlCol="0" anchor="ctr"/>
          <a:lstStyle/>
          <a:p>
            <a:pPr algn="ctr" indent="0" marL="0">
              <a:buNone/>
            </a:pPr>
            <a:r>
              <a:rPr lang="en-US" sz="900" b="1" dirty="0">
                <a:solidFill>
                  <a:srgbClr val="0B9468"/>
                </a:solidFill>
                <a:latin typeface="Montserrat" pitchFamily="34" charset="0"/>
                <a:ea typeface="Montserrat" pitchFamily="34" charset="-122"/>
                <a:cs typeface="Montserrat" pitchFamily="34" charset="-120"/>
              </a:rPr>
              <a:t>5</a:t>
            </a:r>
            <a:endParaRPr lang="en-US" sz="900" dirty="0"/>
          </a:p>
        </p:txBody>
      </p:sp>
      <p:sp>
        <p:nvSpPr>
          <p:cNvPr id="123" name="Text 117"/>
          <p:cNvSpPr txBox="1"/>
          <p:nvPr/>
        </p:nvSpPr>
        <p:spPr>
          <a:xfrm>
            <a:off x="7424928" y="411480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Registrar posición GPS de la embarcación</a:t>
            </a:r>
            <a:endParaRPr lang="en-US" sz="900" dirty="0"/>
          </a:p>
        </p:txBody>
      </p:sp>
      <p:sp>
        <p:nvSpPr>
          <p:cNvPr id="124" name="Shape 118"/>
          <p:cNvSpPr/>
          <p:nvPr/>
        </p:nvSpPr>
        <p:spPr>
          <a:xfrm>
            <a:off x="7296912" y="464515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25" name="Text 119"/>
          <p:cNvSpPr txBox="1"/>
          <p:nvPr/>
        </p:nvSpPr>
        <p:spPr>
          <a:xfrm>
            <a:off x="7424928" y="4700016"/>
            <a:ext cx="1005840" cy="219456"/>
          </a:xfrm>
          <a:prstGeom prst="rect">
            <a:avLst/>
          </a:prstGeom>
          <a:noFill/>
          <a:ln/>
        </p:spPr>
        <p:txBody>
          <a:bodyPr wrap="square" lIns="0" tIns="0" rIns="0" bIns="0" rtlCol="0" anchor="ctr"/>
          <a:lstStyle/>
          <a:p>
            <a:pPr indent="0" marL="0">
              <a:buNone/>
            </a:pPr>
            <a:r>
              <a:rPr lang="en-US" sz="850" b="1" dirty="0">
                <a:solidFill>
                  <a:srgbClr val="0B9468"/>
                </a:solidFill>
                <a:latin typeface="Montserrat" pitchFamily="34" charset="0"/>
                <a:ea typeface="Montserrat" pitchFamily="34" charset="-122"/>
                <a:cs typeface="Montserrat" pitchFamily="34" charset="-120"/>
              </a:rPr>
              <a:t>ODS14-15</a:t>
            </a:r>
            <a:endParaRPr lang="en-US" sz="850" dirty="0"/>
          </a:p>
        </p:txBody>
      </p:sp>
      <p:sp>
        <p:nvSpPr>
          <p:cNvPr id="126" name="Shape 120"/>
          <p:cNvSpPr/>
          <p:nvPr/>
        </p:nvSpPr>
        <p:spPr>
          <a:xfrm>
            <a:off x="8531352" y="4718304"/>
            <a:ext cx="365760" cy="201168"/>
          </a:xfrm>
          <a:prstGeom prst="roundRect">
            <a:avLst>
              <a:gd name="adj" fmla="val 50000"/>
            </a:avLst>
          </a:prstGeom>
          <a:solidFill>
            <a:srgbClr val="7B5CFF"/>
          </a:solidFill>
          <a:ln/>
        </p:spPr>
      </p:sp>
      <p:sp>
        <p:nvSpPr>
          <p:cNvPr id="127" name="Text 121"/>
          <p:cNvSpPr txBox="1"/>
          <p:nvPr/>
        </p:nvSpPr>
        <p:spPr>
          <a:xfrm>
            <a:off x="8531352" y="471830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128" name="Shape 122"/>
          <p:cNvSpPr/>
          <p:nvPr/>
        </p:nvSpPr>
        <p:spPr>
          <a:xfrm>
            <a:off x="8961120" y="4700016"/>
            <a:ext cx="256032" cy="256032"/>
          </a:xfrm>
          <a:prstGeom prst="ellipse">
            <a:avLst/>
          </a:prstGeom>
          <a:solidFill>
            <a:srgbClr val="E2F8EF"/>
          </a:solidFill>
          <a:ln/>
        </p:spPr>
      </p:sp>
      <p:sp>
        <p:nvSpPr>
          <p:cNvPr id="129" name="Text 123"/>
          <p:cNvSpPr txBox="1"/>
          <p:nvPr/>
        </p:nvSpPr>
        <p:spPr>
          <a:xfrm>
            <a:off x="8961120" y="4700016"/>
            <a:ext cx="256032" cy="256032"/>
          </a:xfrm>
          <a:prstGeom prst="rect">
            <a:avLst/>
          </a:prstGeom>
          <a:noFill/>
          <a:ln/>
        </p:spPr>
        <p:txBody>
          <a:bodyPr wrap="square" lIns="0" tIns="0" rIns="0" bIns="0" rtlCol="0" anchor="ctr"/>
          <a:lstStyle/>
          <a:p>
            <a:pPr algn="ctr" indent="0" marL="0">
              <a:buNone/>
            </a:pPr>
            <a:r>
              <a:rPr lang="en-US" sz="900" b="1" dirty="0">
                <a:solidFill>
                  <a:srgbClr val="0B9468"/>
                </a:solidFill>
                <a:latin typeface="Montserrat" pitchFamily="34" charset="0"/>
                <a:ea typeface="Montserrat" pitchFamily="34" charset="-122"/>
                <a:cs typeface="Montserrat" pitchFamily="34" charset="-120"/>
              </a:rPr>
              <a:t>4</a:t>
            </a:r>
            <a:endParaRPr lang="en-US" sz="900" dirty="0"/>
          </a:p>
        </p:txBody>
      </p:sp>
      <p:sp>
        <p:nvSpPr>
          <p:cNvPr id="130" name="Text 124"/>
          <p:cNvSpPr txBox="1"/>
          <p:nvPr/>
        </p:nvSpPr>
        <p:spPr>
          <a:xfrm>
            <a:off x="7424928" y="493776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Ver embarcaciones en faena</a:t>
            </a:r>
            <a:endParaRPr lang="en-US" sz="900" dirty="0"/>
          </a:p>
        </p:txBody>
      </p:sp>
      <p:sp>
        <p:nvSpPr>
          <p:cNvPr id="131" name="Shape 125"/>
          <p:cNvSpPr/>
          <p:nvPr/>
        </p:nvSpPr>
        <p:spPr>
          <a:xfrm>
            <a:off x="9546336" y="2011680"/>
            <a:ext cx="2103120" cy="868680"/>
          </a:xfrm>
          <a:prstGeom prst="roundRect">
            <a:avLst>
              <a:gd name="adj" fmla="val 14737"/>
            </a:avLst>
          </a:prstGeom>
          <a:solidFill>
            <a:srgbClr val="E06F00"/>
          </a:solidFill>
          <a:ln/>
        </p:spPr>
      </p:sp>
      <p:pic>
        <p:nvPicPr>
          <p:cNvPr id="132" name="Image 4" descr="preencoded.png">    </p:cNvPr>
          <p:cNvPicPr>
            <a:picLocks noChangeAspect="1"/>
          </p:cNvPicPr>
          <p:nvPr/>
        </p:nvPicPr>
        <p:blipFill>
          <a:blip r:embed="rId6"/>
          <a:stretch>
            <a:fillRect/>
          </a:stretch>
        </p:blipFill>
        <p:spPr>
          <a:xfrm>
            <a:off x="9692640" y="2157984"/>
            <a:ext cx="292608" cy="292608"/>
          </a:xfrm>
          <a:prstGeom prst="rect">
            <a:avLst/>
          </a:prstGeom>
        </p:spPr>
      </p:pic>
      <p:sp>
        <p:nvSpPr>
          <p:cNvPr id="133" name="Text 126"/>
          <p:cNvSpPr txBox="1"/>
          <p:nvPr/>
        </p:nvSpPr>
        <p:spPr>
          <a:xfrm>
            <a:off x="10049256" y="2139696"/>
            <a:ext cx="914400" cy="329184"/>
          </a:xfrm>
          <a:prstGeom prst="rect">
            <a:avLst/>
          </a:prstGeom>
          <a:noFill/>
          <a:ln/>
        </p:spPr>
        <p:txBody>
          <a:bodyPr wrap="square" lIns="0" tIns="0" rIns="0" bIns="0" rtlCol="0" anchor="ctr"/>
          <a:lstStyle/>
          <a:p>
            <a:pPr indent="0" marL="0">
              <a:buNone/>
            </a:pPr>
            <a:r>
              <a:rPr lang="en-US" sz="800" b="1" spc="150" kern="0" dirty="0">
                <a:solidFill>
                  <a:srgbClr val="FFFFFF"/>
                </a:solidFill>
                <a:latin typeface="Montserrat" pitchFamily="34" charset="0"/>
                <a:ea typeface="Montserrat" pitchFamily="34" charset="-122"/>
                <a:cs typeface="Montserrat" pitchFamily="34" charset="-120"/>
              </a:rPr>
              <a:t>ÉPICA</a:t>
            </a:r>
            <a:endParaRPr lang="en-US" sz="800" dirty="0"/>
          </a:p>
        </p:txBody>
      </p:sp>
      <p:sp>
        <p:nvSpPr>
          <p:cNvPr id="134" name="Text 127"/>
          <p:cNvSpPr txBox="1"/>
          <p:nvPr/>
        </p:nvSpPr>
        <p:spPr>
          <a:xfrm>
            <a:off x="10780776" y="2139696"/>
            <a:ext cx="731520" cy="329184"/>
          </a:xfrm>
          <a:prstGeom prst="rect">
            <a:avLst/>
          </a:prstGeom>
          <a:noFill/>
          <a:ln/>
        </p:spPr>
        <p:txBody>
          <a:bodyPr wrap="square" lIns="0" tIns="0" rIns="0" bIns="0" rtlCol="0" anchor="ctr"/>
          <a:lstStyle/>
          <a:p>
            <a:pPr algn="r" indent="0" marL="0">
              <a:buNone/>
            </a:pPr>
            <a:r>
              <a:rPr lang="en-US" sz="1100" b="1" dirty="0">
                <a:solidFill>
                  <a:srgbClr val="FFFFFF"/>
                </a:solidFill>
                <a:latin typeface="Montserrat" pitchFamily="34" charset="0"/>
                <a:ea typeface="Montserrat" pitchFamily="34" charset="-122"/>
                <a:cs typeface="Montserrat" pitchFamily="34" charset="-120"/>
              </a:rPr>
              <a:t>13 pts</a:t>
            </a:r>
            <a:endParaRPr lang="en-US" sz="1100" dirty="0"/>
          </a:p>
        </p:txBody>
      </p:sp>
      <p:sp>
        <p:nvSpPr>
          <p:cNvPr id="135" name="Text 128"/>
          <p:cNvSpPr txBox="1"/>
          <p:nvPr/>
        </p:nvSpPr>
        <p:spPr>
          <a:xfrm>
            <a:off x="9692640" y="2468880"/>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Generación de Reportes</a:t>
            </a:r>
            <a:endParaRPr lang="en-US" sz="1050" dirty="0"/>
          </a:p>
        </p:txBody>
      </p:sp>
      <p:sp>
        <p:nvSpPr>
          <p:cNvPr id="136" name="Shape 129"/>
          <p:cNvSpPr/>
          <p:nvPr/>
        </p:nvSpPr>
        <p:spPr>
          <a:xfrm>
            <a:off x="9546336" y="299923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37" name="Text 130"/>
          <p:cNvSpPr txBox="1"/>
          <p:nvPr/>
        </p:nvSpPr>
        <p:spPr>
          <a:xfrm>
            <a:off x="9674352" y="3054096"/>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ODS14-16</a:t>
            </a:r>
            <a:endParaRPr lang="en-US" sz="850" dirty="0"/>
          </a:p>
        </p:txBody>
      </p:sp>
      <p:sp>
        <p:nvSpPr>
          <p:cNvPr id="138" name="Shape 131"/>
          <p:cNvSpPr/>
          <p:nvPr/>
        </p:nvSpPr>
        <p:spPr>
          <a:xfrm>
            <a:off x="10780776" y="3072384"/>
            <a:ext cx="365760" cy="201168"/>
          </a:xfrm>
          <a:prstGeom prst="roundRect">
            <a:avLst>
              <a:gd name="adj" fmla="val 50000"/>
            </a:avLst>
          </a:prstGeom>
          <a:solidFill>
            <a:srgbClr val="FF8A00"/>
          </a:solidFill>
          <a:ln/>
        </p:spPr>
      </p:sp>
      <p:sp>
        <p:nvSpPr>
          <p:cNvPr id="139" name="Text 132"/>
          <p:cNvSpPr txBox="1"/>
          <p:nvPr/>
        </p:nvSpPr>
        <p:spPr>
          <a:xfrm>
            <a:off x="10780776" y="307238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40" name="Shape 133"/>
          <p:cNvSpPr/>
          <p:nvPr/>
        </p:nvSpPr>
        <p:spPr>
          <a:xfrm>
            <a:off x="11210544" y="3054096"/>
            <a:ext cx="256032" cy="256032"/>
          </a:xfrm>
          <a:prstGeom prst="ellipse">
            <a:avLst/>
          </a:prstGeom>
          <a:solidFill>
            <a:srgbClr val="FFF1DE"/>
          </a:solidFill>
          <a:ln/>
        </p:spPr>
      </p:sp>
      <p:sp>
        <p:nvSpPr>
          <p:cNvPr id="141" name="Text 134"/>
          <p:cNvSpPr txBox="1"/>
          <p:nvPr/>
        </p:nvSpPr>
        <p:spPr>
          <a:xfrm>
            <a:off x="11210544" y="3054096"/>
            <a:ext cx="256032" cy="256032"/>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5</a:t>
            </a:r>
            <a:endParaRPr lang="en-US" sz="900" dirty="0"/>
          </a:p>
        </p:txBody>
      </p:sp>
      <p:sp>
        <p:nvSpPr>
          <p:cNvPr id="142" name="Text 135"/>
          <p:cNvSpPr txBox="1"/>
          <p:nvPr/>
        </p:nvSpPr>
        <p:spPr>
          <a:xfrm>
            <a:off x="9674352" y="329184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Generar reporte de especies más capturadas</a:t>
            </a:r>
            <a:endParaRPr lang="en-US" sz="900" dirty="0"/>
          </a:p>
        </p:txBody>
      </p:sp>
      <p:sp>
        <p:nvSpPr>
          <p:cNvPr id="143" name="Shape 136"/>
          <p:cNvSpPr/>
          <p:nvPr/>
        </p:nvSpPr>
        <p:spPr>
          <a:xfrm>
            <a:off x="9546336" y="382219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44" name="Text 137"/>
          <p:cNvSpPr txBox="1"/>
          <p:nvPr/>
        </p:nvSpPr>
        <p:spPr>
          <a:xfrm>
            <a:off x="9674352" y="3877056"/>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ODS14-17</a:t>
            </a:r>
            <a:endParaRPr lang="en-US" sz="850" dirty="0"/>
          </a:p>
        </p:txBody>
      </p:sp>
      <p:sp>
        <p:nvSpPr>
          <p:cNvPr id="145" name="Shape 138"/>
          <p:cNvSpPr/>
          <p:nvPr/>
        </p:nvSpPr>
        <p:spPr>
          <a:xfrm>
            <a:off x="10780776" y="3895344"/>
            <a:ext cx="365760" cy="201168"/>
          </a:xfrm>
          <a:prstGeom prst="roundRect">
            <a:avLst>
              <a:gd name="adj" fmla="val 50000"/>
            </a:avLst>
          </a:prstGeom>
          <a:solidFill>
            <a:srgbClr val="FF8A00"/>
          </a:solidFill>
          <a:ln/>
        </p:spPr>
      </p:sp>
      <p:sp>
        <p:nvSpPr>
          <p:cNvPr id="146" name="Text 139"/>
          <p:cNvSpPr txBox="1"/>
          <p:nvPr/>
        </p:nvSpPr>
        <p:spPr>
          <a:xfrm>
            <a:off x="10780776" y="389534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47" name="Shape 140"/>
          <p:cNvSpPr/>
          <p:nvPr/>
        </p:nvSpPr>
        <p:spPr>
          <a:xfrm>
            <a:off x="11210544" y="3877056"/>
            <a:ext cx="256032" cy="256032"/>
          </a:xfrm>
          <a:prstGeom prst="ellipse">
            <a:avLst/>
          </a:prstGeom>
          <a:solidFill>
            <a:srgbClr val="FFF1DE"/>
          </a:solidFill>
          <a:ln/>
        </p:spPr>
      </p:sp>
      <p:sp>
        <p:nvSpPr>
          <p:cNvPr id="148" name="Text 141"/>
          <p:cNvSpPr txBox="1"/>
          <p:nvPr/>
        </p:nvSpPr>
        <p:spPr>
          <a:xfrm>
            <a:off x="11210544" y="3877056"/>
            <a:ext cx="256032" cy="256032"/>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4</a:t>
            </a:r>
            <a:endParaRPr lang="en-US" sz="900" dirty="0"/>
          </a:p>
        </p:txBody>
      </p:sp>
      <p:sp>
        <p:nvSpPr>
          <p:cNvPr id="149" name="Text 142"/>
          <p:cNvSpPr txBox="1"/>
          <p:nvPr/>
        </p:nvSpPr>
        <p:spPr>
          <a:xfrm>
            <a:off x="9674352" y="411480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Generar reporte de embarcaciones con irregularidades</a:t>
            </a:r>
            <a:endParaRPr lang="en-US" sz="900" dirty="0"/>
          </a:p>
        </p:txBody>
      </p:sp>
      <p:sp>
        <p:nvSpPr>
          <p:cNvPr id="150" name="Shape 143"/>
          <p:cNvSpPr/>
          <p:nvPr/>
        </p:nvSpPr>
        <p:spPr>
          <a:xfrm>
            <a:off x="9546336" y="4645152"/>
            <a:ext cx="2103120" cy="731520"/>
          </a:xfrm>
          <a:prstGeom prst="roundRect">
            <a:avLst>
              <a:gd name="adj" fmla="val 1250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1" name="Text 144"/>
          <p:cNvSpPr txBox="1"/>
          <p:nvPr/>
        </p:nvSpPr>
        <p:spPr>
          <a:xfrm>
            <a:off x="9674352" y="4700016"/>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ODS14-18</a:t>
            </a:r>
            <a:endParaRPr lang="en-US" sz="850" dirty="0"/>
          </a:p>
        </p:txBody>
      </p:sp>
      <p:sp>
        <p:nvSpPr>
          <p:cNvPr id="152" name="Shape 145"/>
          <p:cNvSpPr/>
          <p:nvPr/>
        </p:nvSpPr>
        <p:spPr>
          <a:xfrm>
            <a:off x="10780776" y="4718304"/>
            <a:ext cx="365760" cy="201168"/>
          </a:xfrm>
          <a:prstGeom prst="roundRect">
            <a:avLst>
              <a:gd name="adj" fmla="val 50000"/>
            </a:avLst>
          </a:prstGeom>
          <a:solidFill>
            <a:srgbClr val="FF8A00"/>
          </a:solidFill>
          <a:ln/>
        </p:spPr>
      </p:sp>
      <p:sp>
        <p:nvSpPr>
          <p:cNvPr id="153" name="Text 146"/>
          <p:cNvSpPr txBox="1"/>
          <p:nvPr/>
        </p:nvSpPr>
        <p:spPr>
          <a:xfrm>
            <a:off x="10780776" y="4718304"/>
            <a:ext cx="3657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54" name="Shape 147"/>
          <p:cNvSpPr/>
          <p:nvPr/>
        </p:nvSpPr>
        <p:spPr>
          <a:xfrm>
            <a:off x="11210544" y="4700016"/>
            <a:ext cx="256032" cy="256032"/>
          </a:xfrm>
          <a:prstGeom prst="ellipse">
            <a:avLst/>
          </a:prstGeom>
          <a:solidFill>
            <a:srgbClr val="FFF1DE"/>
          </a:solidFill>
          <a:ln/>
        </p:spPr>
      </p:sp>
      <p:sp>
        <p:nvSpPr>
          <p:cNvPr id="155" name="Text 148"/>
          <p:cNvSpPr txBox="1"/>
          <p:nvPr/>
        </p:nvSpPr>
        <p:spPr>
          <a:xfrm>
            <a:off x="11210544" y="4700016"/>
            <a:ext cx="256032" cy="256032"/>
          </a:xfrm>
          <a:prstGeom prst="rect">
            <a:avLst/>
          </a:prstGeom>
          <a:noFill/>
          <a:ln/>
        </p:spPr>
        <p:txBody>
          <a:bodyPr wrap="square" lIns="0" tIns="0" rIns="0" bIns="0" rtlCol="0" anchor="ctr"/>
          <a:lstStyle/>
          <a:p>
            <a:pPr algn="ctr" indent="0" marL="0">
              <a:buNone/>
            </a:pPr>
            <a:r>
              <a:rPr lang="en-US" sz="900" b="1" dirty="0">
                <a:solidFill>
                  <a:srgbClr val="E06F00"/>
                </a:solidFill>
                <a:latin typeface="Montserrat" pitchFamily="34" charset="0"/>
                <a:ea typeface="Montserrat" pitchFamily="34" charset="-122"/>
                <a:cs typeface="Montserrat" pitchFamily="34" charset="-120"/>
              </a:rPr>
              <a:t>4</a:t>
            </a:r>
            <a:endParaRPr lang="en-US" sz="900" dirty="0"/>
          </a:p>
        </p:txBody>
      </p:sp>
      <p:sp>
        <p:nvSpPr>
          <p:cNvPr id="156" name="Text 149"/>
          <p:cNvSpPr txBox="1"/>
          <p:nvPr/>
        </p:nvSpPr>
        <p:spPr>
          <a:xfrm>
            <a:off x="9674352" y="4937760"/>
            <a:ext cx="1874520" cy="402336"/>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Generar reporte de cuotas de extracción por especie</a:t>
            </a:r>
            <a:endParaRPr lang="en-US" sz="900" dirty="0"/>
          </a:p>
        </p:txBody>
      </p:sp>
      <p:sp>
        <p:nvSpPr>
          <p:cNvPr id="157" name="Text 150"/>
          <p:cNvSpPr txBox="1"/>
          <p:nvPr/>
        </p:nvSpPr>
        <p:spPr>
          <a:xfrm>
            <a:off x="4846320" y="6144768"/>
            <a:ext cx="6766560" cy="237744"/>
          </a:xfrm>
          <a:prstGeom prst="rect">
            <a:avLst/>
          </a:prstGeom>
          <a:noFill/>
          <a:ln/>
        </p:spPr>
        <p:txBody>
          <a:bodyPr wrap="square" lIns="0" tIns="0" rIns="0" bIns="0" rtlCol="0" anchor="ctr"/>
          <a:lstStyle/>
          <a:p>
            <a:pPr algn="r" indent="0" marL="0">
              <a:buNone/>
            </a:pPr>
            <a:r>
              <a:rPr lang="en-US" sz="900" b="1" dirty="0">
                <a:solidFill>
                  <a:srgbClr val="0B5FFF"/>
                </a:solidFill>
                <a:latin typeface="Open Sans" pitchFamily="34" charset="0"/>
                <a:ea typeface="Open Sans" pitchFamily="34" charset="-122"/>
                <a:cs typeface="Open Sans" pitchFamily="34" charset="-120"/>
              </a:rPr>
              <a:t>S1 </a:t>
            </a:r>
            <a:pPr algn="r" indent="0" marL="0">
              <a:buNone/>
            </a:pPr>
            <a:r>
              <a:rPr lang="en-US" sz="900" dirty="0">
                <a:solidFill>
                  <a:srgbClr val="4A5878"/>
                </a:solidFill>
                <a:latin typeface="Open Sans" pitchFamily="34" charset="0"/>
                <a:ea typeface="Open Sans" pitchFamily="34" charset="-122"/>
                <a:cs typeface="Open Sans" pitchFamily="34" charset="-120"/>
              </a:rPr>
              <a:t>Sprint 1   </a:t>
            </a:r>
            <a:pPr algn="r" indent="0" marL="0">
              <a:buNone/>
            </a:pPr>
            <a:r>
              <a:rPr lang="en-US" sz="900" b="1" dirty="0">
                <a:solidFill>
                  <a:srgbClr val="7B5CFF"/>
                </a:solidFill>
                <a:latin typeface="Open Sans" pitchFamily="34" charset="0"/>
                <a:ea typeface="Open Sans" pitchFamily="34" charset="-122"/>
                <a:cs typeface="Open Sans" pitchFamily="34" charset="-120"/>
              </a:rPr>
              <a:t>S2 </a:t>
            </a:r>
            <a:pPr algn="r" indent="0" marL="0">
              <a:buNone/>
            </a:pPr>
            <a:r>
              <a:rPr lang="en-US" sz="900" dirty="0">
                <a:solidFill>
                  <a:srgbClr val="4A5878"/>
                </a:solidFill>
                <a:latin typeface="Open Sans" pitchFamily="34" charset="0"/>
                <a:ea typeface="Open Sans" pitchFamily="34" charset="-122"/>
                <a:cs typeface="Open Sans" pitchFamily="34" charset="-120"/>
              </a:rPr>
              <a:t>Sprint 2   </a:t>
            </a:r>
            <a:pPr algn="r" indent="0" marL="0">
              <a:buNone/>
            </a:pPr>
            <a:r>
              <a:rPr lang="en-US" sz="900" b="1" dirty="0">
                <a:solidFill>
                  <a:srgbClr val="E06F00"/>
                </a:solidFill>
                <a:latin typeface="Open Sans" pitchFamily="34" charset="0"/>
                <a:ea typeface="Open Sans" pitchFamily="34" charset="-122"/>
                <a:cs typeface="Open Sans" pitchFamily="34" charset="-120"/>
              </a:rPr>
              <a:t>S3 </a:t>
            </a:r>
            <a:pPr algn="r" indent="0" marL="0">
              <a:buNone/>
            </a:pPr>
            <a:r>
              <a:rPr lang="en-US" sz="900" dirty="0">
                <a:solidFill>
                  <a:srgbClr val="4A5878"/>
                </a:solidFill>
                <a:latin typeface="Open Sans" pitchFamily="34" charset="0"/>
                <a:ea typeface="Open Sans" pitchFamily="34" charset="-122"/>
                <a:cs typeface="Open Sans" pitchFamily="34" charset="-120"/>
              </a:rPr>
              <a:t>Sprint 3   </a:t>
            </a:r>
            <a:pPr algn="r" indent="0" marL="0">
              <a:buNone/>
            </a:pPr>
            <a:r>
              <a:rPr lang="en-US" sz="900" dirty="0">
                <a:solidFill>
                  <a:srgbClr val="FF8A00"/>
                </a:solidFill>
                <a:latin typeface="Open Sans" pitchFamily="34" charset="0"/>
                <a:ea typeface="Open Sans" pitchFamily="34" charset="-122"/>
                <a:cs typeface="Open Sans" pitchFamily="34" charset="-120"/>
              </a:rPr>
              <a:t>● </a:t>
            </a:r>
            <a:pPr algn="r" indent="0" marL="0">
              <a:buNone/>
            </a:pPr>
            <a:r>
              <a:rPr lang="en-US" sz="900" dirty="0">
                <a:solidFill>
                  <a:srgbClr val="4A5878"/>
                </a:solidFill>
                <a:latin typeface="Open Sans" pitchFamily="34" charset="0"/>
                <a:ea typeface="Open Sans" pitchFamily="34" charset="-122"/>
                <a:cs typeface="Open Sans" pitchFamily="34" charset="-120"/>
              </a:rPr>
              <a:t>puntos de historia</a:t>
            </a:r>
            <a:endParaRPr lang="en-US" sz="900" dirty="0"/>
          </a:p>
        </p:txBody>
      </p:sp>
      <p:sp>
        <p:nvSpPr>
          <p:cNvPr id="158" name="Text 151"/>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59" name="Text 152"/>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815791" cy="274320"/>
          </a:xfrm>
          <a:prstGeom prst="roundRect">
            <a:avLst>
              <a:gd name="adj" fmla="val 50000"/>
            </a:avLst>
          </a:prstGeom>
          <a:solidFill>
            <a:srgbClr val="FF8A00"/>
          </a:solidFill>
          <a:ln/>
        </p:spPr>
      </p:sp>
      <p:sp>
        <p:nvSpPr>
          <p:cNvPr id="3" name="Text 1"/>
          <p:cNvSpPr txBox="1"/>
          <p:nvPr/>
        </p:nvSpPr>
        <p:spPr>
          <a:xfrm>
            <a:off x="548640" y="411480"/>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5.3 PLANIFICACIÓN DE SPRINTS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600" b="1" dirty="0">
                <a:solidFill>
                  <a:srgbClr val="0E1B3D"/>
                </a:solidFill>
                <a:latin typeface="Montserrat" pitchFamily="34" charset="0"/>
                <a:ea typeface="Montserrat" pitchFamily="34" charset="-122"/>
                <a:cs typeface="Montserrat" pitchFamily="34" charset="-120"/>
              </a:rPr>
              <a:t>Tres sprints de dos semanas: 66 puntos en seis semanas</a:t>
            </a:r>
            <a:endParaRPr lang="en-US" sz="26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14 del informe: del 25 de septiembre al 06 de noviembre.</a:t>
            </a:r>
            <a:endParaRPr lang="en-US" sz="1300" dirty="0"/>
          </a:p>
        </p:txBody>
      </p:sp>
      <p:sp>
        <p:nvSpPr>
          <p:cNvPr id="6" name="Shape 4"/>
          <p:cNvSpPr/>
          <p:nvPr/>
        </p:nvSpPr>
        <p:spPr>
          <a:xfrm>
            <a:off x="822960" y="2240280"/>
            <a:ext cx="10515600" cy="914"/>
          </a:xfrm>
          <a:prstGeom prst="line">
            <a:avLst/>
          </a:prstGeom>
          <a:noFill/>
          <a:ln w="38100">
            <a:solidFill>
              <a:srgbClr val="DCE5F3"/>
            </a:solidFill>
            <a:prstDash val="solid"/>
          </a:ln>
        </p:spPr>
      </p:sp>
      <p:sp>
        <p:nvSpPr>
          <p:cNvPr id="7" name="Shape 5"/>
          <p:cNvSpPr/>
          <p:nvPr/>
        </p:nvSpPr>
        <p:spPr>
          <a:xfrm>
            <a:off x="640080" y="2075688"/>
            <a:ext cx="329184" cy="329184"/>
          </a:xfrm>
          <a:prstGeom prst="ellipse">
            <a:avLst/>
          </a:prstGeom>
          <a:solidFill>
            <a:srgbClr val="0B5FFF"/>
          </a:solidFill>
          <a:ln/>
          <a:effectLst>
            <a:outerShdw sx="100000" sy="100000" kx="0" ky="0" algn="bl" rotWithShape="0" blurRad="177800" dist="38100" dir="5400000">
              <a:srgbClr val="0B1E4F">
                <a:alpha val="20000"/>
              </a:srgbClr>
            </a:outerShdw>
          </a:effectLst>
        </p:spPr>
      </p:sp>
      <p:sp>
        <p:nvSpPr>
          <p:cNvPr id="8" name="Shape 6"/>
          <p:cNvSpPr/>
          <p:nvPr/>
        </p:nvSpPr>
        <p:spPr>
          <a:xfrm>
            <a:off x="1024128" y="2103120"/>
            <a:ext cx="1485900" cy="274320"/>
          </a:xfrm>
          <a:prstGeom prst="roundRect">
            <a:avLst>
              <a:gd name="adj" fmla="val 50000"/>
            </a:avLst>
          </a:prstGeom>
          <a:solidFill>
            <a:srgbClr val="FFFFFF"/>
          </a:solidFill>
          <a:ln/>
        </p:spPr>
      </p:sp>
      <p:sp>
        <p:nvSpPr>
          <p:cNvPr id="9" name="Text 7"/>
          <p:cNvSpPr txBox="1"/>
          <p:nvPr/>
        </p:nvSpPr>
        <p:spPr>
          <a:xfrm>
            <a:off x="1115568" y="2103120"/>
            <a:ext cx="1348740" cy="274320"/>
          </a:xfrm>
          <a:prstGeom prst="rect">
            <a:avLst/>
          </a:prstGeom>
          <a:noFill/>
          <a:ln/>
        </p:spPr>
        <p:txBody>
          <a:bodyPr wrap="square" lIns="0" tIns="0" rIns="0" bIns="0" rtlCol="0" anchor="ctr"/>
          <a:lstStyle/>
          <a:p>
            <a:pPr indent="0" marL="0">
              <a:buNone/>
            </a:pPr>
            <a:r>
              <a:rPr lang="en-US" sz="1100" b="1" dirty="0">
                <a:solidFill>
                  <a:srgbClr val="0B5FFF"/>
                </a:solidFill>
                <a:latin typeface="Montserrat" pitchFamily="34" charset="0"/>
                <a:ea typeface="Montserrat" pitchFamily="34" charset="-122"/>
                <a:cs typeface="Montserrat" pitchFamily="34" charset="-120"/>
              </a:rPr>
              <a:t>25 sep – 09 oct</a:t>
            </a:r>
            <a:endParaRPr lang="en-US" sz="1100" dirty="0"/>
          </a:p>
        </p:txBody>
      </p:sp>
      <p:sp>
        <p:nvSpPr>
          <p:cNvPr id="10" name="Shape 8"/>
          <p:cNvSpPr/>
          <p:nvPr/>
        </p:nvSpPr>
        <p:spPr>
          <a:xfrm>
            <a:off x="548640" y="2651760"/>
            <a:ext cx="3584448" cy="3566160"/>
          </a:xfrm>
          <a:prstGeom prst="roundRect">
            <a:avLst>
              <a:gd name="adj" fmla="val 359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1" name="Text 9"/>
          <p:cNvSpPr txBox="1"/>
          <p:nvPr/>
        </p:nvSpPr>
        <p:spPr>
          <a:xfrm>
            <a:off x="777240" y="2816352"/>
            <a:ext cx="2011680" cy="365760"/>
          </a:xfrm>
          <a:prstGeom prst="rect">
            <a:avLst/>
          </a:prstGeom>
          <a:noFill/>
          <a:ln/>
        </p:spPr>
        <p:txBody>
          <a:bodyPr wrap="square" lIns="0" tIns="0" rIns="0" bIns="0" rtlCol="0" anchor="ctr"/>
          <a:lstStyle/>
          <a:p>
            <a:pPr indent="0" marL="0">
              <a:buNone/>
            </a:pPr>
            <a:r>
              <a:rPr lang="en-US" sz="1800" b="1" dirty="0">
                <a:solidFill>
                  <a:srgbClr val="0E1B3D"/>
                </a:solidFill>
                <a:latin typeface="Montserrat" pitchFamily="34" charset="0"/>
                <a:ea typeface="Montserrat" pitchFamily="34" charset="-122"/>
                <a:cs typeface="Montserrat" pitchFamily="34" charset="-120"/>
              </a:rPr>
              <a:t>Sprint 1</a:t>
            </a:r>
            <a:endParaRPr lang="en-US" sz="1800" dirty="0"/>
          </a:p>
        </p:txBody>
      </p:sp>
      <p:sp>
        <p:nvSpPr>
          <p:cNvPr id="12" name="Text 10"/>
          <p:cNvSpPr txBox="1"/>
          <p:nvPr/>
        </p:nvSpPr>
        <p:spPr>
          <a:xfrm>
            <a:off x="777240" y="3163824"/>
            <a:ext cx="2194560" cy="256032"/>
          </a:xfrm>
          <a:prstGeom prst="rect">
            <a:avLst/>
          </a:prstGeom>
          <a:noFill/>
          <a:ln/>
        </p:spPr>
        <p:txBody>
          <a:bodyPr wrap="square" lIns="0" tIns="0" rIns="0" bIns="0" rtlCol="0" anchor="ctr"/>
          <a:lstStyle/>
          <a:p>
            <a:pPr indent="0" marL="0">
              <a:buNone/>
            </a:pPr>
            <a:r>
              <a:rPr lang="en-US" sz="1050" b="1" dirty="0">
                <a:solidFill>
                  <a:srgbClr val="0B5FFF"/>
                </a:solidFill>
                <a:latin typeface="Open Sans" pitchFamily="34" charset="0"/>
                <a:ea typeface="Open Sans" pitchFamily="34" charset="-122"/>
                <a:cs typeface="Open Sans" pitchFamily="34" charset="-120"/>
              </a:rPr>
              <a:t>Núcleo del sistema</a:t>
            </a:r>
            <a:endParaRPr lang="en-US" sz="1050" dirty="0"/>
          </a:p>
        </p:txBody>
      </p:sp>
      <p:sp>
        <p:nvSpPr>
          <p:cNvPr id="13" name="Shape 11"/>
          <p:cNvSpPr/>
          <p:nvPr/>
        </p:nvSpPr>
        <p:spPr>
          <a:xfrm>
            <a:off x="2990088" y="2834640"/>
            <a:ext cx="960120" cy="566928"/>
          </a:xfrm>
          <a:prstGeom prst="roundRect">
            <a:avLst>
              <a:gd name="adj" fmla="val 19355"/>
            </a:avLst>
          </a:prstGeom>
          <a:solidFill>
            <a:srgbClr val="0B5FFF"/>
          </a:solidFill>
          <a:ln/>
        </p:spPr>
      </p:sp>
      <p:sp>
        <p:nvSpPr>
          <p:cNvPr id="14" name="Text 12"/>
          <p:cNvSpPr txBox="1"/>
          <p:nvPr/>
        </p:nvSpPr>
        <p:spPr>
          <a:xfrm>
            <a:off x="2990088" y="2834640"/>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23</a:t>
            </a:r>
            <a:pPr algn="ctr" indent="0" marL="0">
              <a:buNone/>
            </a:pPr>
            <a:r>
              <a:rPr lang="en-US" sz="9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15" name="Shape 13"/>
          <p:cNvSpPr/>
          <p:nvPr/>
        </p:nvSpPr>
        <p:spPr>
          <a:xfrm>
            <a:off x="777240" y="3547872"/>
            <a:ext cx="3127248" cy="109728"/>
          </a:xfrm>
          <a:prstGeom prst="roundRect">
            <a:avLst>
              <a:gd name="adj" fmla="val 50000"/>
            </a:avLst>
          </a:prstGeom>
          <a:solidFill>
            <a:srgbClr val="EAF1FF"/>
          </a:solidFill>
          <a:ln/>
        </p:spPr>
      </p:sp>
      <p:sp>
        <p:nvSpPr>
          <p:cNvPr id="16" name="Shape 14"/>
          <p:cNvSpPr/>
          <p:nvPr/>
        </p:nvSpPr>
        <p:spPr>
          <a:xfrm>
            <a:off x="777240" y="3547872"/>
            <a:ext cx="2397557" cy="109728"/>
          </a:xfrm>
          <a:prstGeom prst="roundRect">
            <a:avLst>
              <a:gd name="adj" fmla="val 50000"/>
            </a:avLst>
          </a:prstGeom>
          <a:solidFill>
            <a:srgbClr val="0B5FFF"/>
          </a:solidFill>
          <a:ln/>
        </p:spPr>
      </p:sp>
      <p:sp>
        <p:nvSpPr>
          <p:cNvPr id="17" name="Text 15"/>
          <p:cNvSpPr txBox="1"/>
          <p:nvPr/>
        </p:nvSpPr>
        <p:spPr>
          <a:xfrm>
            <a:off x="777240" y="3767328"/>
            <a:ext cx="1828800" cy="201168"/>
          </a:xfrm>
          <a:prstGeom prst="rect">
            <a:avLst/>
          </a:prstGeom>
          <a:noFill/>
          <a:ln/>
        </p:spPr>
        <p:txBody>
          <a:bodyPr wrap="square" lIns="0" tIns="0" rIns="0" bIns="0" rtlCol="0" anchor="t"/>
          <a:lstStyle/>
          <a:p>
            <a:pPr indent="0" marL="0">
              <a:buNone/>
            </a:pPr>
            <a:r>
              <a:rPr lang="en-US" sz="750" b="1" spc="150" kern="0" dirty="0">
                <a:solidFill>
                  <a:srgbClr val="8A96AE"/>
                </a:solidFill>
                <a:latin typeface="Montserrat" pitchFamily="34" charset="0"/>
                <a:ea typeface="Montserrat" pitchFamily="34" charset="-122"/>
                <a:cs typeface="Montserrat" pitchFamily="34" charset="-120"/>
              </a:rPr>
              <a:t>OBJETIVO</a:t>
            </a:r>
            <a:endParaRPr lang="en-US" sz="750" dirty="0"/>
          </a:p>
        </p:txBody>
      </p:sp>
      <p:sp>
        <p:nvSpPr>
          <p:cNvPr id="18" name="Text 16"/>
          <p:cNvSpPr txBox="1"/>
          <p:nvPr/>
        </p:nvSpPr>
        <p:spPr>
          <a:xfrm>
            <a:off x="777240" y="3968496"/>
            <a:ext cx="3172968" cy="89611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Implementar las funciones básicas: inicio de sesión, registro de usuarios y embarcaciones, búsqueda de flota y registro de capturas en la bitácora digital con QR.</a:t>
            </a:r>
            <a:endParaRPr lang="en-US" sz="950" dirty="0"/>
          </a:p>
        </p:txBody>
      </p:sp>
      <p:sp>
        <p:nvSpPr>
          <p:cNvPr id="19" name="Text 17"/>
          <p:cNvSpPr txBox="1"/>
          <p:nvPr/>
        </p:nvSpPr>
        <p:spPr>
          <a:xfrm>
            <a:off x="777240" y="4892040"/>
            <a:ext cx="3172968" cy="274320"/>
          </a:xfrm>
          <a:prstGeom prst="rect">
            <a:avLst/>
          </a:prstGeom>
          <a:noFill/>
          <a:ln/>
        </p:spPr>
        <p:txBody>
          <a:bodyPr wrap="square" lIns="0" tIns="0" rIns="0" bIns="0" rtlCol="0" anchor="ctr"/>
          <a:lstStyle/>
          <a:p>
            <a:pPr indent="0" marL="0">
              <a:buNone/>
            </a:pPr>
            <a:r>
              <a:rPr lang="en-US" sz="900" b="1" dirty="0">
                <a:solidFill>
                  <a:srgbClr val="0B5FFF"/>
                </a:solidFill>
                <a:latin typeface="Open Sans" pitchFamily="34" charset="0"/>
                <a:ea typeface="Open Sans" pitchFamily="34" charset="-122"/>
                <a:cs typeface="Open Sans" pitchFamily="34" charset="-120"/>
              </a:rPr>
              <a:t>Historias: </a:t>
            </a:r>
            <a:pPr indent="0" marL="0">
              <a:buNone/>
            </a:pPr>
            <a:r>
              <a:rPr lang="en-US" sz="900" dirty="0">
                <a:solidFill>
                  <a:srgbClr val="0E1B3D"/>
                </a:solidFill>
                <a:latin typeface="Open Sans" pitchFamily="34" charset="0"/>
                <a:ea typeface="Open Sans" pitchFamily="34" charset="-122"/>
                <a:cs typeface="Open Sans" pitchFamily="34" charset="-120"/>
              </a:rPr>
              <a:t>ODS14-6, 7, 10, 13, 19</a:t>
            </a:r>
            <a:endParaRPr lang="en-US" sz="900" dirty="0"/>
          </a:p>
        </p:txBody>
      </p:sp>
      <p:sp>
        <p:nvSpPr>
          <p:cNvPr id="20" name="Shape 18"/>
          <p:cNvSpPr/>
          <p:nvPr/>
        </p:nvSpPr>
        <p:spPr>
          <a:xfrm>
            <a:off x="694944" y="5230368"/>
            <a:ext cx="3291840" cy="868680"/>
          </a:xfrm>
          <a:prstGeom prst="roundRect">
            <a:avLst>
              <a:gd name="adj" fmla="val 10526"/>
            </a:avLst>
          </a:prstGeom>
          <a:solidFill>
            <a:srgbClr val="EAF1FF"/>
          </a:solidFill>
          <a:ln/>
        </p:spPr>
      </p:sp>
      <p:sp>
        <p:nvSpPr>
          <p:cNvPr id="21" name="Text 19"/>
          <p:cNvSpPr txBox="1"/>
          <p:nvPr/>
        </p:nvSpPr>
        <p:spPr>
          <a:xfrm>
            <a:off x="822960" y="5266944"/>
            <a:ext cx="3081528" cy="804672"/>
          </a:xfrm>
          <a:prstGeom prst="rect">
            <a:avLst/>
          </a:prstGeom>
          <a:noFill/>
          <a:ln/>
        </p:spPr>
        <p:txBody>
          <a:bodyPr wrap="square" lIns="0" tIns="0" rIns="0" bIns="0" rtlCol="0" anchor="ctr"/>
          <a:lstStyle/>
          <a:p>
            <a:pPr indent="0" marL="0">
              <a:buNone/>
            </a:pPr>
            <a:r>
              <a:rPr lang="en-US" sz="750" b="1" spc="100" kern="0" dirty="0">
                <a:solidFill>
                  <a:srgbClr val="0B5FFF"/>
                </a:solidFill>
                <a:latin typeface="Montserrat" pitchFamily="34" charset="0"/>
                <a:ea typeface="Montserrat" pitchFamily="34" charset="-122"/>
                <a:cs typeface="Montserrat" pitchFamily="34" charset="-120"/>
              </a:rPr>
              <a:t>INCREMENTO ESPERADO</a:t>
            </a:r>
            <a:endParaRPr lang="en-US" sz="1200" dirty="0"/>
          </a:p>
          <a:p>
            <a:pPr indent="0" marL="0">
              <a:buNone/>
            </a:pPr>
            <a:r>
              <a:rPr lang="en-US" sz="900" dirty="0">
                <a:solidFill>
                  <a:srgbClr val="0E1B3D"/>
                </a:solidFill>
                <a:latin typeface="Open Sans" pitchFamily="34" charset="0"/>
                <a:ea typeface="Open Sans" pitchFamily="34" charset="-122"/>
                <a:cs typeface="Open Sans" pitchFamily="34" charset="-120"/>
              </a:rPr>
              <a:t>Módulo funcional de autenticación, administración y búsqueda de flota, y registro básico de desembarque.</a:t>
            </a:r>
            <a:endParaRPr lang="en-US" sz="1200" dirty="0"/>
          </a:p>
        </p:txBody>
      </p:sp>
      <p:sp>
        <p:nvSpPr>
          <p:cNvPr id="22" name="Shape 20"/>
          <p:cNvSpPr/>
          <p:nvPr/>
        </p:nvSpPr>
        <p:spPr>
          <a:xfrm>
            <a:off x="4361688" y="2075688"/>
            <a:ext cx="329184" cy="329184"/>
          </a:xfrm>
          <a:prstGeom prst="ellipse">
            <a:avLst/>
          </a:prstGeom>
          <a:solidFill>
            <a:srgbClr val="7B5CFF"/>
          </a:solidFill>
          <a:ln/>
          <a:effectLst>
            <a:outerShdw sx="100000" sy="100000" kx="0" ky="0" algn="bl" rotWithShape="0" blurRad="177800" dist="38100" dir="5400000">
              <a:srgbClr val="0B1E4F">
                <a:alpha val="20000"/>
              </a:srgbClr>
            </a:outerShdw>
          </a:effectLst>
        </p:spPr>
      </p:sp>
      <p:sp>
        <p:nvSpPr>
          <p:cNvPr id="23" name="Shape 21"/>
          <p:cNvSpPr/>
          <p:nvPr/>
        </p:nvSpPr>
        <p:spPr>
          <a:xfrm>
            <a:off x="4745736" y="2103120"/>
            <a:ext cx="1485900" cy="274320"/>
          </a:xfrm>
          <a:prstGeom prst="roundRect">
            <a:avLst>
              <a:gd name="adj" fmla="val 50000"/>
            </a:avLst>
          </a:prstGeom>
          <a:solidFill>
            <a:srgbClr val="FFFFFF"/>
          </a:solidFill>
          <a:ln/>
        </p:spPr>
      </p:sp>
      <p:sp>
        <p:nvSpPr>
          <p:cNvPr id="24" name="Text 22"/>
          <p:cNvSpPr txBox="1"/>
          <p:nvPr/>
        </p:nvSpPr>
        <p:spPr>
          <a:xfrm>
            <a:off x="4837176" y="2103120"/>
            <a:ext cx="1348740" cy="274320"/>
          </a:xfrm>
          <a:prstGeom prst="rect">
            <a:avLst/>
          </a:prstGeom>
          <a:noFill/>
          <a:ln/>
        </p:spPr>
        <p:txBody>
          <a:bodyPr wrap="square" lIns="0" tIns="0" rIns="0" bIns="0" rtlCol="0" anchor="ctr"/>
          <a:lstStyle/>
          <a:p>
            <a:pPr indent="0" marL="0">
              <a:buNone/>
            </a:pPr>
            <a:r>
              <a:rPr lang="en-US" sz="1100" b="1" dirty="0">
                <a:solidFill>
                  <a:srgbClr val="7B5CFF"/>
                </a:solidFill>
                <a:latin typeface="Montserrat" pitchFamily="34" charset="0"/>
                <a:ea typeface="Montserrat" pitchFamily="34" charset="-122"/>
                <a:cs typeface="Montserrat" pitchFamily="34" charset="-120"/>
              </a:rPr>
              <a:t>09 oct – 23 oct</a:t>
            </a:r>
            <a:endParaRPr lang="en-US" sz="1100" dirty="0"/>
          </a:p>
        </p:txBody>
      </p:sp>
      <p:sp>
        <p:nvSpPr>
          <p:cNvPr id="25" name="Shape 23"/>
          <p:cNvSpPr/>
          <p:nvPr/>
        </p:nvSpPr>
        <p:spPr>
          <a:xfrm>
            <a:off x="4270248" y="2651760"/>
            <a:ext cx="3584448" cy="3566160"/>
          </a:xfrm>
          <a:prstGeom prst="roundRect">
            <a:avLst>
              <a:gd name="adj" fmla="val 359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6" name="Text 24"/>
          <p:cNvSpPr txBox="1"/>
          <p:nvPr/>
        </p:nvSpPr>
        <p:spPr>
          <a:xfrm>
            <a:off x="4498848" y="2816352"/>
            <a:ext cx="2011680" cy="365760"/>
          </a:xfrm>
          <a:prstGeom prst="rect">
            <a:avLst/>
          </a:prstGeom>
          <a:noFill/>
          <a:ln/>
        </p:spPr>
        <p:txBody>
          <a:bodyPr wrap="square" lIns="0" tIns="0" rIns="0" bIns="0" rtlCol="0" anchor="ctr"/>
          <a:lstStyle/>
          <a:p>
            <a:pPr indent="0" marL="0">
              <a:buNone/>
            </a:pPr>
            <a:r>
              <a:rPr lang="en-US" sz="1800" b="1" dirty="0">
                <a:solidFill>
                  <a:srgbClr val="0E1B3D"/>
                </a:solidFill>
                <a:latin typeface="Montserrat" pitchFamily="34" charset="0"/>
                <a:ea typeface="Montserrat" pitchFamily="34" charset="-122"/>
                <a:cs typeface="Montserrat" pitchFamily="34" charset="-120"/>
              </a:rPr>
              <a:t>Sprint 2</a:t>
            </a:r>
            <a:endParaRPr lang="en-US" sz="1800" dirty="0"/>
          </a:p>
        </p:txBody>
      </p:sp>
      <p:sp>
        <p:nvSpPr>
          <p:cNvPr id="27" name="Text 25"/>
          <p:cNvSpPr txBox="1"/>
          <p:nvPr/>
        </p:nvSpPr>
        <p:spPr>
          <a:xfrm>
            <a:off x="4498848" y="3163824"/>
            <a:ext cx="2194560" cy="256032"/>
          </a:xfrm>
          <a:prstGeom prst="rect">
            <a:avLst/>
          </a:prstGeom>
          <a:noFill/>
          <a:ln/>
        </p:spPr>
        <p:txBody>
          <a:bodyPr wrap="square" lIns="0" tIns="0" rIns="0" bIns="0" rtlCol="0" anchor="ctr"/>
          <a:lstStyle/>
          <a:p>
            <a:pPr indent="0" marL="0">
              <a:buNone/>
            </a:pPr>
            <a:r>
              <a:rPr lang="en-US" sz="1050" b="1" dirty="0">
                <a:solidFill>
                  <a:srgbClr val="7B5CFF"/>
                </a:solidFill>
                <a:latin typeface="Open Sans" pitchFamily="34" charset="0"/>
                <a:ea typeface="Open Sans" pitchFamily="34" charset="-122"/>
                <a:cs typeface="Open Sans" pitchFamily="34" charset="-120"/>
              </a:rPr>
              <a:t>Gestión y control</a:t>
            </a:r>
            <a:endParaRPr lang="en-US" sz="1050" dirty="0"/>
          </a:p>
        </p:txBody>
      </p:sp>
      <p:sp>
        <p:nvSpPr>
          <p:cNvPr id="28" name="Shape 26"/>
          <p:cNvSpPr/>
          <p:nvPr/>
        </p:nvSpPr>
        <p:spPr>
          <a:xfrm>
            <a:off x="6711696" y="2834640"/>
            <a:ext cx="960120" cy="566928"/>
          </a:xfrm>
          <a:prstGeom prst="roundRect">
            <a:avLst>
              <a:gd name="adj" fmla="val 19355"/>
            </a:avLst>
          </a:prstGeom>
          <a:solidFill>
            <a:srgbClr val="7B5CFF"/>
          </a:solidFill>
          <a:ln/>
        </p:spPr>
      </p:sp>
      <p:sp>
        <p:nvSpPr>
          <p:cNvPr id="29" name="Text 27"/>
          <p:cNvSpPr txBox="1"/>
          <p:nvPr/>
        </p:nvSpPr>
        <p:spPr>
          <a:xfrm>
            <a:off x="6711696" y="2834640"/>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30</a:t>
            </a:r>
            <a:pPr algn="ctr" indent="0" marL="0">
              <a:buNone/>
            </a:pPr>
            <a:r>
              <a:rPr lang="en-US" sz="9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30" name="Shape 28"/>
          <p:cNvSpPr/>
          <p:nvPr/>
        </p:nvSpPr>
        <p:spPr>
          <a:xfrm>
            <a:off x="4498848" y="3547872"/>
            <a:ext cx="3127248" cy="109728"/>
          </a:xfrm>
          <a:prstGeom prst="roundRect">
            <a:avLst>
              <a:gd name="adj" fmla="val 50000"/>
            </a:avLst>
          </a:prstGeom>
          <a:solidFill>
            <a:srgbClr val="EFEBFF"/>
          </a:solidFill>
          <a:ln/>
        </p:spPr>
      </p:sp>
      <p:sp>
        <p:nvSpPr>
          <p:cNvPr id="31" name="Shape 29"/>
          <p:cNvSpPr/>
          <p:nvPr/>
        </p:nvSpPr>
        <p:spPr>
          <a:xfrm>
            <a:off x="4498848" y="3547872"/>
            <a:ext cx="3127248" cy="109728"/>
          </a:xfrm>
          <a:prstGeom prst="roundRect">
            <a:avLst>
              <a:gd name="adj" fmla="val 50000"/>
            </a:avLst>
          </a:prstGeom>
          <a:solidFill>
            <a:srgbClr val="7B5CFF"/>
          </a:solidFill>
          <a:ln/>
        </p:spPr>
      </p:sp>
      <p:sp>
        <p:nvSpPr>
          <p:cNvPr id="32" name="Text 30"/>
          <p:cNvSpPr txBox="1"/>
          <p:nvPr/>
        </p:nvSpPr>
        <p:spPr>
          <a:xfrm>
            <a:off x="4498848" y="3767328"/>
            <a:ext cx="1828800" cy="201168"/>
          </a:xfrm>
          <a:prstGeom prst="rect">
            <a:avLst/>
          </a:prstGeom>
          <a:noFill/>
          <a:ln/>
        </p:spPr>
        <p:txBody>
          <a:bodyPr wrap="square" lIns="0" tIns="0" rIns="0" bIns="0" rtlCol="0" anchor="t"/>
          <a:lstStyle/>
          <a:p>
            <a:pPr indent="0" marL="0">
              <a:buNone/>
            </a:pPr>
            <a:r>
              <a:rPr lang="en-US" sz="750" b="1" spc="150" kern="0" dirty="0">
                <a:solidFill>
                  <a:srgbClr val="8A96AE"/>
                </a:solidFill>
                <a:latin typeface="Montserrat" pitchFamily="34" charset="0"/>
                <a:ea typeface="Montserrat" pitchFamily="34" charset="-122"/>
                <a:cs typeface="Montserrat" pitchFamily="34" charset="-120"/>
              </a:rPr>
              <a:t>OBJETIVO</a:t>
            </a:r>
            <a:endParaRPr lang="en-US" sz="750" dirty="0"/>
          </a:p>
        </p:txBody>
      </p:sp>
      <p:sp>
        <p:nvSpPr>
          <p:cNvPr id="33" name="Text 31"/>
          <p:cNvSpPr txBox="1"/>
          <p:nvPr/>
        </p:nvSpPr>
        <p:spPr>
          <a:xfrm>
            <a:off x="4498848" y="3968496"/>
            <a:ext cx="3172968" cy="89611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Monitoreo GPS con alertas de zonas restringidas, edición y baja de embarcaciones, perfiles, roles y verificación en dos pasos.</a:t>
            </a:r>
            <a:endParaRPr lang="en-US" sz="950" dirty="0"/>
          </a:p>
        </p:txBody>
      </p:sp>
      <p:sp>
        <p:nvSpPr>
          <p:cNvPr id="34" name="Text 32"/>
          <p:cNvSpPr txBox="1"/>
          <p:nvPr/>
        </p:nvSpPr>
        <p:spPr>
          <a:xfrm>
            <a:off x="4498848" y="4892040"/>
            <a:ext cx="3172968" cy="274320"/>
          </a:xfrm>
          <a:prstGeom prst="rect">
            <a:avLst/>
          </a:prstGeom>
          <a:noFill/>
          <a:ln/>
        </p:spPr>
        <p:txBody>
          <a:bodyPr wrap="square" lIns="0" tIns="0" rIns="0" bIns="0" rtlCol="0" anchor="ctr"/>
          <a:lstStyle/>
          <a:p>
            <a:pPr indent="0" marL="0">
              <a:buNone/>
            </a:pPr>
            <a:r>
              <a:rPr lang="en-US" sz="900" b="1" dirty="0">
                <a:solidFill>
                  <a:srgbClr val="7B5CFF"/>
                </a:solidFill>
                <a:latin typeface="Open Sans" pitchFamily="34" charset="0"/>
                <a:ea typeface="Open Sans" pitchFamily="34" charset="-122"/>
                <a:cs typeface="Open Sans" pitchFamily="34" charset="-120"/>
              </a:rPr>
              <a:t>Historias: </a:t>
            </a:r>
            <a:pPr indent="0" marL="0">
              <a:buNone/>
            </a:pPr>
            <a:r>
              <a:rPr lang="en-US" sz="900" dirty="0">
                <a:solidFill>
                  <a:srgbClr val="0E1B3D"/>
                </a:solidFill>
                <a:latin typeface="Open Sans" pitchFamily="34" charset="0"/>
                <a:ea typeface="Open Sans" pitchFamily="34" charset="-122"/>
                <a:cs typeface="Open Sans" pitchFamily="34" charset="-120"/>
              </a:rPr>
              <a:t>ODS14-8, 9, 11, 12, 14, 15, 20, 21</a:t>
            </a:r>
            <a:endParaRPr lang="en-US" sz="900" dirty="0"/>
          </a:p>
        </p:txBody>
      </p:sp>
      <p:sp>
        <p:nvSpPr>
          <p:cNvPr id="35" name="Shape 33"/>
          <p:cNvSpPr/>
          <p:nvPr/>
        </p:nvSpPr>
        <p:spPr>
          <a:xfrm>
            <a:off x="4416552" y="5230368"/>
            <a:ext cx="3291840" cy="868680"/>
          </a:xfrm>
          <a:prstGeom prst="roundRect">
            <a:avLst>
              <a:gd name="adj" fmla="val 10526"/>
            </a:avLst>
          </a:prstGeom>
          <a:solidFill>
            <a:srgbClr val="EFEBFF"/>
          </a:solidFill>
          <a:ln/>
        </p:spPr>
      </p:sp>
      <p:sp>
        <p:nvSpPr>
          <p:cNvPr id="36" name="Text 34"/>
          <p:cNvSpPr txBox="1"/>
          <p:nvPr/>
        </p:nvSpPr>
        <p:spPr>
          <a:xfrm>
            <a:off x="4544568" y="5266944"/>
            <a:ext cx="3081528" cy="804672"/>
          </a:xfrm>
          <a:prstGeom prst="rect">
            <a:avLst/>
          </a:prstGeom>
          <a:noFill/>
          <a:ln/>
        </p:spPr>
        <p:txBody>
          <a:bodyPr wrap="square" lIns="0" tIns="0" rIns="0" bIns="0" rtlCol="0" anchor="ctr"/>
          <a:lstStyle/>
          <a:p>
            <a:pPr indent="0" marL="0">
              <a:buNone/>
            </a:pPr>
            <a:r>
              <a:rPr lang="en-US" sz="750" b="1" spc="100" kern="0" dirty="0">
                <a:solidFill>
                  <a:srgbClr val="7B5CFF"/>
                </a:solidFill>
                <a:latin typeface="Montserrat" pitchFamily="34" charset="0"/>
                <a:ea typeface="Montserrat" pitchFamily="34" charset="-122"/>
                <a:cs typeface="Montserrat" pitchFamily="34" charset="-120"/>
              </a:rPr>
              <a:t>INCREMENTO ESPERADO</a:t>
            </a:r>
            <a:endParaRPr lang="en-US" sz="1200" dirty="0"/>
          </a:p>
          <a:p>
            <a:pPr indent="0" marL="0">
              <a:buNone/>
            </a:pPr>
            <a:r>
              <a:rPr lang="en-US" sz="900" dirty="0">
                <a:solidFill>
                  <a:srgbClr val="0E1B3D"/>
                </a:solidFill>
                <a:latin typeface="Open Sans" pitchFamily="34" charset="0"/>
                <a:ea typeface="Open Sans" pitchFamily="34" charset="-122"/>
                <a:cs typeface="Open Sans" pitchFamily="34" charset="-120"/>
              </a:rPr>
              <a:t>Edición/baja de embarcaciones, seguridad avanzada (2FA y roles), rastreo GPS en mapa y panel de faenas en tiempo real.</a:t>
            </a:r>
            <a:endParaRPr lang="en-US" sz="1200" dirty="0"/>
          </a:p>
        </p:txBody>
      </p:sp>
      <p:sp>
        <p:nvSpPr>
          <p:cNvPr id="37" name="Shape 35"/>
          <p:cNvSpPr/>
          <p:nvPr/>
        </p:nvSpPr>
        <p:spPr>
          <a:xfrm>
            <a:off x="8083296" y="2075688"/>
            <a:ext cx="329184" cy="329184"/>
          </a:xfrm>
          <a:prstGeom prst="ellipse">
            <a:avLst/>
          </a:prstGeom>
          <a:solidFill>
            <a:srgbClr val="FF8A00"/>
          </a:solidFill>
          <a:ln/>
          <a:effectLst>
            <a:outerShdw sx="100000" sy="100000" kx="0" ky="0" algn="bl" rotWithShape="0" blurRad="177800" dist="38100" dir="5400000">
              <a:srgbClr val="0B1E4F">
                <a:alpha val="20000"/>
              </a:srgbClr>
            </a:outerShdw>
          </a:effectLst>
        </p:spPr>
      </p:sp>
      <p:sp>
        <p:nvSpPr>
          <p:cNvPr id="38" name="Shape 36"/>
          <p:cNvSpPr/>
          <p:nvPr/>
        </p:nvSpPr>
        <p:spPr>
          <a:xfrm>
            <a:off x="8467344" y="2103120"/>
            <a:ext cx="1485900" cy="274320"/>
          </a:xfrm>
          <a:prstGeom prst="roundRect">
            <a:avLst>
              <a:gd name="adj" fmla="val 50000"/>
            </a:avLst>
          </a:prstGeom>
          <a:solidFill>
            <a:srgbClr val="FFFFFF"/>
          </a:solidFill>
          <a:ln/>
        </p:spPr>
      </p:sp>
      <p:sp>
        <p:nvSpPr>
          <p:cNvPr id="39" name="Text 37"/>
          <p:cNvSpPr txBox="1"/>
          <p:nvPr/>
        </p:nvSpPr>
        <p:spPr>
          <a:xfrm>
            <a:off x="8558784" y="2103120"/>
            <a:ext cx="1348740" cy="274320"/>
          </a:xfrm>
          <a:prstGeom prst="rect">
            <a:avLst/>
          </a:prstGeom>
          <a:noFill/>
          <a:ln/>
        </p:spPr>
        <p:txBody>
          <a:bodyPr wrap="square" lIns="0" tIns="0" rIns="0" bIns="0" rtlCol="0" anchor="ctr"/>
          <a:lstStyle/>
          <a:p>
            <a:pPr indent="0" marL="0">
              <a:buNone/>
            </a:pPr>
            <a:r>
              <a:rPr lang="en-US" sz="1100" b="1" dirty="0">
                <a:solidFill>
                  <a:srgbClr val="FF8A00"/>
                </a:solidFill>
                <a:latin typeface="Montserrat" pitchFamily="34" charset="0"/>
                <a:ea typeface="Montserrat" pitchFamily="34" charset="-122"/>
                <a:cs typeface="Montserrat" pitchFamily="34" charset="-120"/>
              </a:rPr>
              <a:t>23 oct – 06 nov</a:t>
            </a:r>
            <a:endParaRPr lang="en-US" sz="1100" dirty="0"/>
          </a:p>
        </p:txBody>
      </p:sp>
      <p:sp>
        <p:nvSpPr>
          <p:cNvPr id="40" name="Shape 38"/>
          <p:cNvSpPr/>
          <p:nvPr/>
        </p:nvSpPr>
        <p:spPr>
          <a:xfrm>
            <a:off x="7991856" y="2651760"/>
            <a:ext cx="3584448" cy="3566160"/>
          </a:xfrm>
          <a:prstGeom prst="roundRect">
            <a:avLst>
              <a:gd name="adj" fmla="val 3590"/>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1" name="Text 39"/>
          <p:cNvSpPr txBox="1"/>
          <p:nvPr/>
        </p:nvSpPr>
        <p:spPr>
          <a:xfrm>
            <a:off x="8220456" y="2816352"/>
            <a:ext cx="2011680" cy="365760"/>
          </a:xfrm>
          <a:prstGeom prst="rect">
            <a:avLst/>
          </a:prstGeom>
          <a:noFill/>
          <a:ln/>
        </p:spPr>
        <p:txBody>
          <a:bodyPr wrap="square" lIns="0" tIns="0" rIns="0" bIns="0" rtlCol="0" anchor="ctr"/>
          <a:lstStyle/>
          <a:p>
            <a:pPr indent="0" marL="0">
              <a:buNone/>
            </a:pPr>
            <a:r>
              <a:rPr lang="en-US" sz="1800" b="1" dirty="0">
                <a:solidFill>
                  <a:srgbClr val="0E1B3D"/>
                </a:solidFill>
                <a:latin typeface="Montserrat" pitchFamily="34" charset="0"/>
                <a:ea typeface="Montserrat" pitchFamily="34" charset="-122"/>
                <a:cs typeface="Montserrat" pitchFamily="34" charset="-120"/>
              </a:rPr>
              <a:t>Sprint 3</a:t>
            </a:r>
            <a:endParaRPr lang="en-US" sz="1800" dirty="0"/>
          </a:p>
        </p:txBody>
      </p:sp>
      <p:sp>
        <p:nvSpPr>
          <p:cNvPr id="42" name="Text 40"/>
          <p:cNvSpPr txBox="1"/>
          <p:nvPr/>
        </p:nvSpPr>
        <p:spPr>
          <a:xfrm>
            <a:off x="8220456" y="3163824"/>
            <a:ext cx="2194560" cy="256032"/>
          </a:xfrm>
          <a:prstGeom prst="rect">
            <a:avLst/>
          </a:prstGeom>
          <a:noFill/>
          <a:ln/>
        </p:spPr>
        <p:txBody>
          <a:bodyPr wrap="square" lIns="0" tIns="0" rIns="0" bIns="0" rtlCol="0" anchor="ctr"/>
          <a:lstStyle/>
          <a:p>
            <a:pPr indent="0" marL="0">
              <a:buNone/>
            </a:pPr>
            <a:r>
              <a:rPr lang="en-US" sz="1050" b="1" dirty="0">
                <a:solidFill>
                  <a:srgbClr val="FF8A00"/>
                </a:solidFill>
                <a:latin typeface="Open Sans" pitchFamily="34" charset="0"/>
                <a:ea typeface="Open Sans" pitchFamily="34" charset="-122"/>
                <a:cs typeface="Open Sans" pitchFamily="34" charset="-120"/>
              </a:rPr>
              <a:t>Reportes y cuotas</a:t>
            </a:r>
            <a:endParaRPr lang="en-US" sz="1050" dirty="0"/>
          </a:p>
        </p:txBody>
      </p:sp>
      <p:sp>
        <p:nvSpPr>
          <p:cNvPr id="43" name="Shape 41"/>
          <p:cNvSpPr/>
          <p:nvPr/>
        </p:nvSpPr>
        <p:spPr>
          <a:xfrm>
            <a:off x="10433304" y="2834640"/>
            <a:ext cx="960120" cy="566928"/>
          </a:xfrm>
          <a:prstGeom prst="roundRect">
            <a:avLst>
              <a:gd name="adj" fmla="val 19355"/>
            </a:avLst>
          </a:prstGeom>
          <a:solidFill>
            <a:srgbClr val="FF8A00"/>
          </a:solidFill>
          <a:ln/>
        </p:spPr>
      </p:sp>
      <p:sp>
        <p:nvSpPr>
          <p:cNvPr id="44" name="Text 42"/>
          <p:cNvSpPr txBox="1"/>
          <p:nvPr/>
        </p:nvSpPr>
        <p:spPr>
          <a:xfrm>
            <a:off x="10433304" y="2834640"/>
            <a:ext cx="960120"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13</a:t>
            </a:r>
            <a:pPr algn="ctr" indent="0" marL="0">
              <a:buNone/>
            </a:pPr>
            <a:r>
              <a:rPr lang="en-US" sz="9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45" name="Shape 43"/>
          <p:cNvSpPr/>
          <p:nvPr/>
        </p:nvSpPr>
        <p:spPr>
          <a:xfrm>
            <a:off x="8220456" y="3547872"/>
            <a:ext cx="3127248" cy="109728"/>
          </a:xfrm>
          <a:prstGeom prst="roundRect">
            <a:avLst>
              <a:gd name="adj" fmla="val 50000"/>
            </a:avLst>
          </a:prstGeom>
          <a:solidFill>
            <a:srgbClr val="FFF1DE"/>
          </a:solidFill>
          <a:ln/>
        </p:spPr>
      </p:sp>
      <p:sp>
        <p:nvSpPr>
          <p:cNvPr id="46" name="Shape 44"/>
          <p:cNvSpPr/>
          <p:nvPr/>
        </p:nvSpPr>
        <p:spPr>
          <a:xfrm>
            <a:off x="8220456" y="3547872"/>
            <a:ext cx="1355141" cy="109728"/>
          </a:xfrm>
          <a:prstGeom prst="roundRect">
            <a:avLst>
              <a:gd name="adj" fmla="val 50000"/>
            </a:avLst>
          </a:prstGeom>
          <a:solidFill>
            <a:srgbClr val="FF8A00"/>
          </a:solidFill>
          <a:ln/>
        </p:spPr>
      </p:sp>
      <p:sp>
        <p:nvSpPr>
          <p:cNvPr id="47" name="Text 45"/>
          <p:cNvSpPr txBox="1"/>
          <p:nvPr/>
        </p:nvSpPr>
        <p:spPr>
          <a:xfrm>
            <a:off x="8220456" y="3767328"/>
            <a:ext cx="1828800" cy="201168"/>
          </a:xfrm>
          <a:prstGeom prst="rect">
            <a:avLst/>
          </a:prstGeom>
          <a:noFill/>
          <a:ln/>
        </p:spPr>
        <p:txBody>
          <a:bodyPr wrap="square" lIns="0" tIns="0" rIns="0" bIns="0" rtlCol="0" anchor="t"/>
          <a:lstStyle/>
          <a:p>
            <a:pPr indent="0" marL="0">
              <a:buNone/>
            </a:pPr>
            <a:r>
              <a:rPr lang="en-US" sz="750" b="1" spc="150" kern="0" dirty="0">
                <a:solidFill>
                  <a:srgbClr val="8A96AE"/>
                </a:solidFill>
                <a:latin typeface="Montserrat" pitchFamily="34" charset="0"/>
                <a:ea typeface="Montserrat" pitchFamily="34" charset="-122"/>
                <a:cs typeface="Montserrat" pitchFamily="34" charset="-120"/>
              </a:rPr>
              <a:t>OBJETIVO</a:t>
            </a:r>
            <a:endParaRPr lang="en-US" sz="750" dirty="0"/>
          </a:p>
        </p:txBody>
      </p:sp>
      <p:sp>
        <p:nvSpPr>
          <p:cNvPr id="48" name="Text 46"/>
          <p:cNvSpPr txBox="1"/>
          <p:nvPr/>
        </p:nvSpPr>
        <p:spPr>
          <a:xfrm>
            <a:off x="8220456" y="3968496"/>
            <a:ext cx="3172968" cy="896112"/>
          </a:xfrm>
          <a:prstGeom prst="rect">
            <a:avLst/>
          </a:prstGeom>
          <a:noFill/>
          <a:ln/>
        </p:spPr>
        <p:txBody>
          <a:bodyPr wrap="square" lIns="0" tIns="0" rIns="0" bIns="0" rtlCol="0" anchor="t"/>
          <a:lstStyle/>
          <a:p>
            <a:pPr indent="0" marL="0">
              <a:buNone/>
            </a:pPr>
            <a:r>
              <a:rPr lang="en-US" sz="950" dirty="0">
                <a:solidFill>
                  <a:srgbClr val="0E1B3D"/>
                </a:solidFill>
                <a:latin typeface="Open Sans" pitchFamily="34" charset="0"/>
                <a:ea typeface="Open Sans" pitchFamily="34" charset="-122"/>
                <a:cs typeface="Open Sans" pitchFamily="34" charset="-120"/>
              </a:rPr>
              <a:t>Inteligencia pesquera y medioambiental: reportes de especies capturadas, irregularidades y avance de cuotas para IMARPE y PRODUCE.</a:t>
            </a:r>
            <a:endParaRPr lang="en-US" sz="950" dirty="0"/>
          </a:p>
        </p:txBody>
      </p:sp>
      <p:sp>
        <p:nvSpPr>
          <p:cNvPr id="49" name="Text 47"/>
          <p:cNvSpPr txBox="1"/>
          <p:nvPr/>
        </p:nvSpPr>
        <p:spPr>
          <a:xfrm>
            <a:off x="8220456" y="4892040"/>
            <a:ext cx="3172968" cy="274320"/>
          </a:xfrm>
          <a:prstGeom prst="rect">
            <a:avLst/>
          </a:prstGeom>
          <a:noFill/>
          <a:ln/>
        </p:spPr>
        <p:txBody>
          <a:bodyPr wrap="square" lIns="0" tIns="0" rIns="0" bIns="0" rtlCol="0" anchor="ctr"/>
          <a:lstStyle/>
          <a:p>
            <a:pPr indent="0" marL="0">
              <a:buNone/>
            </a:pPr>
            <a:r>
              <a:rPr lang="en-US" sz="900" b="1" dirty="0">
                <a:solidFill>
                  <a:srgbClr val="FF8A00"/>
                </a:solidFill>
                <a:latin typeface="Open Sans" pitchFamily="34" charset="0"/>
                <a:ea typeface="Open Sans" pitchFamily="34" charset="-122"/>
                <a:cs typeface="Open Sans" pitchFamily="34" charset="-120"/>
              </a:rPr>
              <a:t>Historias: </a:t>
            </a:r>
            <a:pPr indent="0" marL="0">
              <a:buNone/>
            </a:pPr>
            <a:r>
              <a:rPr lang="en-US" sz="900" dirty="0">
                <a:solidFill>
                  <a:srgbClr val="0E1B3D"/>
                </a:solidFill>
                <a:latin typeface="Open Sans" pitchFamily="34" charset="0"/>
                <a:ea typeface="Open Sans" pitchFamily="34" charset="-122"/>
                <a:cs typeface="Open Sans" pitchFamily="34" charset="-120"/>
              </a:rPr>
              <a:t>ODS14-16, 17, 18</a:t>
            </a:r>
            <a:endParaRPr lang="en-US" sz="900" dirty="0"/>
          </a:p>
        </p:txBody>
      </p:sp>
      <p:sp>
        <p:nvSpPr>
          <p:cNvPr id="50" name="Shape 48"/>
          <p:cNvSpPr/>
          <p:nvPr/>
        </p:nvSpPr>
        <p:spPr>
          <a:xfrm>
            <a:off x="8138160" y="5230368"/>
            <a:ext cx="3291840" cy="868680"/>
          </a:xfrm>
          <a:prstGeom prst="roundRect">
            <a:avLst>
              <a:gd name="adj" fmla="val 10526"/>
            </a:avLst>
          </a:prstGeom>
          <a:solidFill>
            <a:srgbClr val="FFF1DE"/>
          </a:solidFill>
          <a:ln/>
        </p:spPr>
      </p:sp>
      <p:sp>
        <p:nvSpPr>
          <p:cNvPr id="51" name="Text 49"/>
          <p:cNvSpPr txBox="1"/>
          <p:nvPr/>
        </p:nvSpPr>
        <p:spPr>
          <a:xfrm>
            <a:off x="8266176" y="5266944"/>
            <a:ext cx="3081528" cy="804672"/>
          </a:xfrm>
          <a:prstGeom prst="rect">
            <a:avLst/>
          </a:prstGeom>
          <a:noFill/>
          <a:ln/>
        </p:spPr>
        <p:txBody>
          <a:bodyPr wrap="square" lIns="0" tIns="0" rIns="0" bIns="0" rtlCol="0" anchor="ctr"/>
          <a:lstStyle/>
          <a:p>
            <a:pPr indent="0" marL="0">
              <a:buNone/>
            </a:pPr>
            <a:r>
              <a:rPr lang="en-US" sz="750" b="1" spc="100" kern="0" dirty="0">
                <a:solidFill>
                  <a:srgbClr val="FF8A00"/>
                </a:solidFill>
                <a:latin typeface="Montserrat" pitchFamily="34" charset="0"/>
                <a:ea typeface="Montserrat" pitchFamily="34" charset="-122"/>
                <a:cs typeface="Montserrat" pitchFamily="34" charset="-120"/>
              </a:rPr>
              <a:t>INCREMENTO ESPERADO</a:t>
            </a:r>
            <a:endParaRPr lang="en-US" sz="1200" dirty="0"/>
          </a:p>
          <a:p>
            <a:pPr indent="0" marL="0">
              <a:buNone/>
            </a:pPr>
            <a:r>
              <a:rPr lang="en-US" sz="900" dirty="0">
                <a:solidFill>
                  <a:srgbClr val="0E1B3D"/>
                </a:solidFill>
                <a:latin typeface="Open Sans" pitchFamily="34" charset="0"/>
                <a:ea typeface="Open Sans" pitchFamily="34" charset="-122"/>
                <a:cs typeface="Open Sans" pitchFamily="34" charset="-120"/>
              </a:rPr>
              <a:t>Módulo analítico de reportes, exportación de datos pesqueros y panel de control de cuotas de extracción.</a:t>
            </a:r>
            <a:endParaRPr lang="en-US" sz="1200" dirty="0"/>
          </a:p>
        </p:txBody>
      </p:sp>
      <p:sp>
        <p:nvSpPr>
          <p:cNvPr id="52" name="Text 5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3" name="Text 5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985870" cy="274320"/>
          </a:xfrm>
          <a:prstGeom prst="roundRect">
            <a:avLst>
              <a:gd name="adj" fmla="val 50000"/>
            </a:avLst>
          </a:prstGeom>
          <a:solidFill>
            <a:srgbClr val="FF8A00"/>
          </a:solidFill>
          <a:ln/>
        </p:spPr>
      </p:sp>
      <p:sp>
        <p:nvSpPr>
          <p:cNvPr id="3" name="Text 1"/>
          <p:cNvSpPr txBox="1"/>
          <p:nvPr/>
        </p:nvSpPr>
        <p:spPr>
          <a:xfrm>
            <a:off x="548640" y="411480"/>
            <a:ext cx="398587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5.3 ASIGNACIÓN POR RESPONSABLE</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2500" b="1" dirty="0">
                <a:solidFill>
                  <a:srgbClr val="0E1B3D"/>
                </a:solidFill>
                <a:latin typeface="Montserrat" pitchFamily="34" charset="0"/>
                <a:ea typeface="Montserrat" pitchFamily="34" charset="-122"/>
                <a:cs typeface="Montserrat" pitchFamily="34" charset="-120"/>
              </a:rPr>
              <a:t>Carga de trabajo equilibrada entre los cuatro integrantes</a:t>
            </a:r>
            <a:endParaRPr lang="en-US" sz="25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15 del informe, a partir de la asignación en Jira Software.</a:t>
            </a:r>
            <a:endParaRPr lang="en-US" sz="1300" dirty="0"/>
          </a:p>
        </p:txBody>
      </p:sp>
      <p:sp>
        <p:nvSpPr>
          <p:cNvPr id="6" name="Shape 4"/>
          <p:cNvSpPr/>
          <p:nvPr/>
        </p:nvSpPr>
        <p:spPr>
          <a:xfrm>
            <a:off x="548640" y="2011680"/>
            <a:ext cx="2651760" cy="1051560"/>
          </a:xfrm>
          <a:prstGeom prst="roundRect">
            <a:avLst>
              <a:gd name="adj" fmla="val 13913"/>
            </a:avLst>
          </a:prstGeom>
          <a:solidFill>
            <a:srgbClr val="0B5FFF"/>
          </a:solidFill>
          <a:ln/>
        </p:spPr>
      </p:sp>
      <p:sp>
        <p:nvSpPr>
          <p:cNvPr id="7" name="Shape 5"/>
          <p:cNvSpPr/>
          <p:nvPr/>
        </p:nvSpPr>
        <p:spPr>
          <a:xfrm>
            <a:off x="749808" y="2212848"/>
            <a:ext cx="658368" cy="658368"/>
          </a:xfrm>
          <a:prstGeom prst="ellipse">
            <a:avLst/>
          </a:prstGeom>
          <a:solidFill>
            <a:srgbClr val="FFFFFF"/>
          </a:solidFill>
          <a:ln/>
        </p:spPr>
      </p:sp>
      <p:sp>
        <p:nvSpPr>
          <p:cNvPr id="8" name="Text 6"/>
          <p:cNvSpPr txBox="1"/>
          <p:nvPr/>
        </p:nvSpPr>
        <p:spPr>
          <a:xfrm>
            <a:off x="749808" y="2212848"/>
            <a:ext cx="658368" cy="658368"/>
          </a:xfrm>
          <a:prstGeom prst="rect">
            <a:avLst/>
          </a:prstGeom>
          <a:noFill/>
          <a:ln/>
        </p:spPr>
        <p:txBody>
          <a:bodyPr wrap="square" lIns="0" tIns="0" rIns="0" bIns="0" rtlCol="0" anchor="ctr"/>
          <a:lstStyle/>
          <a:p>
            <a:pPr algn="ctr" indent="0" marL="0">
              <a:buNone/>
            </a:pPr>
            <a:r>
              <a:rPr lang="en-US" sz="1600" b="1" dirty="0">
                <a:solidFill>
                  <a:srgbClr val="0B5FFF"/>
                </a:solidFill>
                <a:latin typeface="Montserrat" pitchFamily="34" charset="0"/>
                <a:ea typeface="Montserrat" pitchFamily="34" charset="-122"/>
                <a:cs typeface="Montserrat" pitchFamily="34" charset="-120"/>
              </a:rPr>
              <a:t>KF</a:t>
            </a:r>
            <a:endParaRPr lang="en-US" sz="1600" dirty="0"/>
          </a:p>
        </p:txBody>
      </p:sp>
      <p:sp>
        <p:nvSpPr>
          <p:cNvPr id="9" name="Text 7"/>
          <p:cNvSpPr txBox="1"/>
          <p:nvPr/>
        </p:nvSpPr>
        <p:spPr>
          <a:xfrm>
            <a:off x="1554480" y="2194560"/>
            <a:ext cx="1554480" cy="292608"/>
          </a:xfrm>
          <a:prstGeom prst="rect">
            <a:avLst/>
          </a:prstGeom>
          <a:noFill/>
          <a:ln/>
        </p:spPr>
        <p:txBody>
          <a:bodyPr wrap="square" lIns="0" tIns="0" rIns="0" bIns="0" rtlCol="0" anchor="ctr"/>
          <a:lstStyle/>
          <a:p>
            <a:pPr indent="0" marL="0">
              <a:buNone/>
            </a:pPr>
            <a:r>
              <a:rPr lang="en-US" sz="1000" dirty="0">
                <a:solidFill>
                  <a:srgbClr val="FFFFFF"/>
                </a:solidFill>
                <a:latin typeface="Open Sans" pitchFamily="34" charset="0"/>
                <a:ea typeface="Open Sans" pitchFamily="34" charset="-122"/>
                <a:cs typeface="Open Sans" pitchFamily="34" charset="-120"/>
              </a:rPr>
              <a:t>Integrante 1</a:t>
            </a:r>
            <a:endParaRPr lang="en-US" sz="1000" dirty="0"/>
          </a:p>
        </p:txBody>
      </p:sp>
      <p:sp>
        <p:nvSpPr>
          <p:cNvPr id="10" name="Text 8"/>
          <p:cNvSpPr txBox="1"/>
          <p:nvPr/>
        </p:nvSpPr>
        <p:spPr>
          <a:xfrm>
            <a:off x="1554480" y="2468880"/>
            <a:ext cx="1554480" cy="47548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19</a:t>
            </a:r>
            <a:pPr indent="0" marL="0">
              <a:buNone/>
            </a:pPr>
            <a:r>
              <a:rPr lang="en-US" sz="10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11" name="Shape 9"/>
          <p:cNvSpPr/>
          <p:nvPr/>
        </p:nvSpPr>
        <p:spPr>
          <a:xfrm>
            <a:off x="548640" y="3200400"/>
            <a:ext cx="2651760" cy="676656"/>
          </a:xfrm>
          <a:prstGeom prst="roundRect">
            <a:avLst>
              <a:gd name="adj" fmla="val 13514"/>
            </a:avLst>
          </a:prstGeom>
          <a:solidFill>
            <a:srgbClr val="EAF1FF"/>
          </a:solidFill>
          <a:ln/>
        </p:spPr>
      </p:sp>
      <p:sp>
        <p:nvSpPr>
          <p:cNvPr id="12" name="Text 10"/>
          <p:cNvSpPr txBox="1"/>
          <p:nvPr/>
        </p:nvSpPr>
        <p:spPr>
          <a:xfrm>
            <a:off x="676656" y="3246120"/>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ODS14-19</a:t>
            </a:r>
            <a:endParaRPr lang="en-US" sz="850" dirty="0"/>
          </a:p>
        </p:txBody>
      </p:sp>
      <p:sp>
        <p:nvSpPr>
          <p:cNvPr id="13" name="Shape 11"/>
          <p:cNvSpPr/>
          <p:nvPr/>
        </p:nvSpPr>
        <p:spPr>
          <a:xfrm>
            <a:off x="2331720" y="3264408"/>
            <a:ext cx="365760" cy="192024"/>
          </a:xfrm>
          <a:prstGeom prst="roundRect">
            <a:avLst>
              <a:gd name="adj" fmla="val 50000"/>
            </a:avLst>
          </a:prstGeom>
          <a:solidFill>
            <a:srgbClr val="0B5FFF"/>
          </a:solidFill>
          <a:ln/>
        </p:spPr>
      </p:sp>
      <p:sp>
        <p:nvSpPr>
          <p:cNvPr id="14" name="Text 12"/>
          <p:cNvSpPr txBox="1"/>
          <p:nvPr/>
        </p:nvSpPr>
        <p:spPr>
          <a:xfrm>
            <a:off x="2331720" y="3264408"/>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15" name="Text 13"/>
          <p:cNvSpPr txBox="1"/>
          <p:nvPr/>
        </p:nvSpPr>
        <p:spPr>
          <a:xfrm>
            <a:off x="2724912" y="3246120"/>
            <a:ext cx="384048" cy="219456"/>
          </a:xfrm>
          <a:prstGeom prst="rect">
            <a:avLst/>
          </a:prstGeom>
          <a:noFill/>
          <a:ln/>
        </p:spPr>
        <p:txBody>
          <a:bodyPr wrap="square" lIns="0" tIns="0" rIns="0" bIns="0" rtlCol="0" anchor="ctr"/>
          <a:lstStyle/>
          <a:p>
            <a:pPr algn="r" indent="0" marL="0">
              <a:buNone/>
            </a:pPr>
            <a:r>
              <a:rPr lang="en-US" sz="800" b="1" dirty="0">
                <a:solidFill>
                  <a:srgbClr val="0B5FFF"/>
                </a:solidFill>
                <a:latin typeface="Open Sans" pitchFamily="34" charset="0"/>
                <a:ea typeface="Open Sans" pitchFamily="34" charset="-122"/>
                <a:cs typeface="Open Sans" pitchFamily="34" charset="-120"/>
              </a:rPr>
              <a:t>5 pts</a:t>
            </a:r>
            <a:endParaRPr lang="en-US" sz="800" dirty="0"/>
          </a:p>
        </p:txBody>
      </p:sp>
      <p:sp>
        <p:nvSpPr>
          <p:cNvPr id="16" name="Text 14"/>
          <p:cNvSpPr txBox="1"/>
          <p:nvPr/>
        </p:nvSpPr>
        <p:spPr>
          <a:xfrm>
            <a:off x="676656" y="3474720"/>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Inicio de sesión y autenticación segura</a:t>
            </a:r>
            <a:endParaRPr lang="en-US" sz="900" dirty="0"/>
          </a:p>
        </p:txBody>
      </p:sp>
      <p:sp>
        <p:nvSpPr>
          <p:cNvPr id="17" name="Shape 15"/>
          <p:cNvSpPr/>
          <p:nvPr/>
        </p:nvSpPr>
        <p:spPr>
          <a:xfrm>
            <a:off x="548640" y="3968496"/>
            <a:ext cx="2651760" cy="676656"/>
          </a:xfrm>
          <a:prstGeom prst="roundRect">
            <a:avLst>
              <a:gd name="adj" fmla="val 13514"/>
            </a:avLst>
          </a:prstGeom>
          <a:solidFill>
            <a:srgbClr val="EAF1FF"/>
          </a:solidFill>
          <a:ln/>
        </p:spPr>
      </p:sp>
      <p:sp>
        <p:nvSpPr>
          <p:cNvPr id="18" name="Text 16"/>
          <p:cNvSpPr txBox="1"/>
          <p:nvPr/>
        </p:nvSpPr>
        <p:spPr>
          <a:xfrm>
            <a:off x="676656" y="4014216"/>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ODS14-13</a:t>
            </a:r>
            <a:endParaRPr lang="en-US" sz="850" dirty="0"/>
          </a:p>
        </p:txBody>
      </p:sp>
      <p:sp>
        <p:nvSpPr>
          <p:cNvPr id="19" name="Shape 17"/>
          <p:cNvSpPr/>
          <p:nvPr/>
        </p:nvSpPr>
        <p:spPr>
          <a:xfrm>
            <a:off x="2331720" y="4032504"/>
            <a:ext cx="365760" cy="192024"/>
          </a:xfrm>
          <a:prstGeom prst="roundRect">
            <a:avLst>
              <a:gd name="adj" fmla="val 50000"/>
            </a:avLst>
          </a:prstGeom>
          <a:solidFill>
            <a:srgbClr val="0B5FFF"/>
          </a:solidFill>
          <a:ln/>
        </p:spPr>
      </p:sp>
      <p:sp>
        <p:nvSpPr>
          <p:cNvPr id="20" name="Text 18"/>
          <p:cNvSpPr txBox="1"/>
          <p:nvPr/>
        </p:nvSpPr>
        <p:spPr>
          <a:xfrm>
            <a:off x="2331720" y="4032504"/>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21" name="Text 19"/>
          <p:cNvSpPr txBox="1"/>
          <p:nvPr/>
        </p:nvSpPr>
        <p:spPr>
          <a:xfrm>
            <a:off x="2724912" y="4014216"/>
            <a:ext cx="384048" cy="219456"/>
          </a:xfrm>
          <a:prstGeom prst="rect">
            <a:avLst/>
          </a:prstGeom>
          <a:noFill/>
          <a:ln/>
        </p:spPr>
        <p:txBody>
          <a:bodyPr wrap="square" lIns="0" tIns="0" rIns="0" bIns="0" rtlCol="0" anchor="ctr"/>
          <a:lstStyle/>
          <a:p>
            <a:pPr algn="r" indent="0" marL="0">
              <a:buNone/>
            </a:pPr>
            <a:r>
              <a:rPr lang="en-US" sz="800" b="1" dirty="0">
                <a:solidFill>
                  <a:srgbClr val="0B5FFF"/>
                </a:solidFill>
                <a:latin typeface="Open Sans" pitchFamily="34" charset="0"/>
                <a:ea typeface="Open Sans" pitchFamily="34" charset="-122"/>
                <a:cs typeface="Open Sans" pitchFamily="34" charset="-120"/>
              </a:rPr>
              <a:t>5 pts</a:t>
            </a:r>
            <a:endParaRPr lang="en-US" sz="800" dirty="0"/>
          </a:p>
        </p:txBody>
      </p:sp>
      <p:sp>
        <p:nvSpPr>
          <p:cNvPr id="22" name="Text 20"/>
          <p:cNvSpPr txBox="1"/>
          <p:nvPr/>
        </p:nvSpPr>
        <p:spPr>
          <a:xfrm>
            <a:off x="676656" y="4242816"/>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Registro de capturas en bitácora digital con QR</a:t>
            </a:r>
            <a:endParaRPr lang="en-US" sz="900" dirty="0"/>
          </a:p>
        </p:txBody>
      </p:sp>
      <p:sp>
        <p:nvSpPr>
          <p:cNvPr id="23" name="Shape 21"/>
          <p:cNvSpPr/>
          <p:nvPr/>
        </p:nvSpPr>
        <p:spPr>
          <a:xfrm>
            <a:off x="548640" y="4736592"/>
            <a:ext cx="2651760" cy="676656"/>
          </a:xfrm>
          <a:prstGeom prst="roundRect">
            <a:avLst>
              <a:gd name="adj" fmla="val 13514"/>
            </a:avLst>
          </a:prstGeom>
          <a:solidFill>
            <a:srgbClr val="EAF1FF"/>
          </a:solidFill>
          <a:ln/>
        </p:spPr>
      </p:sp>
      <p:sp>
        <p:nvSpPr>
          <p:cNvPr id="24" name="Text 22"/>
          <p:cNvSpPr txBox="1"/>
          <p:nvPr/>
        </p:nvSpPr>
        <p:spPr>
          <a:xfrm>
            <a:off x="676656" y="4782312"/>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ODS14-14</a:t>
            </a:r>
            <a:endParaRPr lang="en-US" sz="850" dirty="0"/>
          </a:p>
        </p:txBody>
      </p:sp>
      <p:sp>
        <p:nvSpPr>
          <p:cNvPr id="25" name="Shape 23"/>
          <p:cNvSpPr/>
          <p:nvPr/>
        </p:nvSpPr>
        <p:spPr>
          <a:xfrm>
            <a:off x="2331720" y="4800600"/>
            <a:ext cx="365760" cy="192024"/>
          </a:xfrm>
          <a:prstGeom prst="roundRect">
            <a:avLst>
              <a:gd name="adj" fmla="val 50000"/>
            </a:avLst>
          </a:prstGeom>
          <a:solidFill>
            <a:srgbClr val="7B5CFF"/>
          </a:solidFill>
          <a:ln/>
        </p:spPr>
      </p:sp>
      <p:sp>
        <p:nvSpPr>
          <p:cNvPr id="26" name="Text 24"/>
          <p:cNvSpPr txBox="1"/>
          <p:nvPr/>
        </p:nvSpPr>
        <p:spPr>
          <a:xfrm>
            <a:off x="2331720" y="4800600"/>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27" name="Text 25"/>
          <p:cNvSpPr txBox="1"/>
          <p:nvPr/>
        </p:nvSpPr>
        <p:spPr>
          <a:xfrm>
            <a:off x="2724912" y="4782312"/>
            <a:ext cx="384048" cy="219456"/>
          </a:xfrm>
          <a:prstGeom prst="rect">
            <a:avLst/>
          </a:prstGeom>
          <a:noFill/>
          <a:ln/>
        </p:spPr>
        <p:txBody>
          <a:bodyPr wrap="square" lIns="0" tIns="0" rIns="0" bIns="0" rtlCol="0" anchor="ctr"/>
          <a:lstStyle/>
          <a:p>
            <a:pPr algn="r" indent="0" marL="0">
              <a:buNone/>
            </a:pPr>
            <a:r>
              <a:rPr lang="en-US" sz="800" b="1" dirty="0">
                <a:solidFill>
                  <a:srgbClr val="0B5FFF"/>
                </a:solidFill>
                <a:latin typeface="Open Sans" pitchFamily="34" charset="0"/>
                <a:ea typeface="Open Sans" pitchFamily="34" charset="-122"/>
                <a:cs typeface="Open Sans" pitchFamily="34" charset="-120"/>
              </a:rPr>
              <a:t>5 pts</a:t>
            </a:r>
            <a:endParaRPr lang="en-US" sz="800" dirty="0"/>
          </a:p>
        </p:txBody>
      </p:sp>
      <p:sp>
        <p:nvSpPr>
          <p:cNvPr id="28" name="Text 26"/>
          <p:cNvSpPr txBox="1"/>
          <p:nvPr/>
        </p:nvSpPr>
        <p:spPr>
          <a:xfrm>
            <a:off x="676656" y="5010912"/>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Posición GPS y geolocalización</a:t>
            </a:r>
            <a:endParaRPr lang="en-US" sz="900" dirty="0"/>
          </a:p>
        </p:txBody>
      </p:sp>
      <p:sp>
        <p:nvSpPr>
          <p:cNvPr id="29" name="Shape 27"/>
          <p:cNvSpPr/>
          <p:nvPr/>
        </p:nvSpPr>
        <p:spPr>
          <a:xfrm>
            <a:off x="548640" y="5504688"/>
            <a:ext cx="2651760" cy="676656"/>
          </a:xfrm>
          <a:prstGeom prst="roundRect">
            <a:avLst>
              <a:gd name="adj" fmla="val 13514"/>
            </a:avLst>
          </a:prstGeom>
          <a:solidFill>
            <a:srgbClr val="EAF1FF"/>
          </a:solidFill>
          <a:ln/>
        </p:spPr>
      </p:sp>
      <p:sp>
        <p:nvSpPr>
          <p:cNvPr id="30" name="Text 28"/>
          <p:cNvSpPr txBox="1"/>
          <p:nvPr/>
        </p:nvSpPr>
        <p:spPr>
          <a:xfrm>
            <a:off x="676656" y="5550408"/>
            <a:ext cx="1005840" cy="219456"/>
          </a:xfrm>
          <a:prstGeom prst="rect">
            <a:avLst/>
          </a:prstGeom>
          <a:noFill/>
          <a:ln/>
        </p:spPr>
        <p:txBody>
          <a:bodyPr wrap="square" lIns="0" tIns="0" rIns="0" bIns="0" rtlCol="0" anchor="ctr"/>
          <a:lstStyle/>
          <a:p>
            <a:pPr indent="0" marL="0">
              <a:buNone/>
            </a:pPr>
            <a:r>
              <a:rPr lang="en-US" sz="850" b="1" dirty="0">
                <a:solidFill>
                  <a:srgbClr val="0B5FFF"/>
                </a:solidFill>
                <a:latin typeface="Montserrat" pitchFamily="34" charset="0"/>
                <a:ea typeface="Montserrat" pitchFamily="34" charset="-122"/>
                <a:cs typeface="Montserrat" pitchFamily="34" charset="-120"/>
              </a:rPr>
              <a:t>ODS14-15</a:t>
            </a:r>
            <a:endParaRPr lang="en-US" sz="850" dirty="0"/>
          </a:p>
        </p:txBody>
      </p:sp>
      <p:sp>
        <p:nvSpPr>
          <p:cNvPr id="31" name="Shape 29"/>
          <p:cNvSpPr/>
          <p:nvPr/>
        </p:nvSpPr>
        <p:spPr>
          <a:xfrm>
            <a:off x="2331720" y="5568696"/>
            <a:ext cx="365760" cy="192024"/>
          </a:xfrm>
          <a:prstGeom prst="roundRect">
            <a:avLst>
              <a:gd name="adj" fmla="val 50000"/>
            </a:avLst>
          </a:prstGeom>
          <a:solidFill>
            <a:srgbClr val="7B5CFF"/>
          </a:solidFill>
          <a:ln/>
        </p:spPr>
      </p:sp>
      <p:sp>
        <p:nvSpPr>
          <p:cNvPr id="32" name="Text 30"/>
          <p:cNvSpPr txBox="1"/>
          <p:nvPr/>
        </p:nvSpPr>
        <p:spPr>
          <a:xfrm>
            <a:off x="2331720" y="5568696"/>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33" name="Text 31"/>
          <p:cNvSpPr txBox="1"/>
          <p:nvPr/>
        </p:nvSpPr>
        <p:spPr>
          <a:xfrm>
            <a:off x="2724912" y="5550408"/>
            <a:ext cx="384048" cy="219456"/>
          </a:xfrm>
          <a:prstGeom prst="rect">
            <a:avLst/>
          </a:prstGeom>
          <a:noFill/>
          <a:ln/>
        </p:spPr>
        <p:txBody>
          <a:bodyPr wrap="square" lIns="0" tIns="0" rIns="0" bIns="0" rtlCol="0" anchor="ctr"/>
          <a:lstStyle/>
          <a:p>
            <a:pPr algn="r" indent="0" marL="0">
              <a:buNone/>
            </a:pPr>
            <a:r>
              <a:rPr lang="en-US" sz="800" b="1" dirty="0">
                <a:solidFill>
                  <a:srgbClr val="0B5FFF"/>
                </a:solidFill>
                <a:latin typeface="Open Sans" pitchFamily="34" charset="0"/>
                <a:ea typeface="Open Sans" pitchFamily="34" charset="-122"/>
                <a:cs typeface="Open Sans" pitchFamily="34" charset="-120"/>
              </a:rPr>
              <a:t>4 pts</a:t>
            </a:r>
            <a:endParaRPr lang="en-US" sz="800" dirty="0"/>
          </a:p>
        </p:txBody>
      </p:sp>
      <p:sp>
        <p:nvSpPr>
          <p:cNvPr id="34" name="Text 32"/>
          <p:cNvSpPr txBox="1"/>
          <p:nvPr/>
        </p:nvSpPr>
        <p:spPr>
          <a:xfrm>
            <a:off x="676656" y="5779008"/>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Monitoreo en mapa de embarcaciones en faena</a:t>
            </a:r>
            <a:endParaRPr lang="en-US" sz="900" dirty="0"/>
          </a:p>
        </p:txBody>
      </p:sp>
      <p:sp>
        <p:nvSpPr>
          <p:cNvPr id="35" name="Shape 33"/>
          <p:cNvSpPr/>
          <p:nvPr/>
        </p:nvSpPr>
        <p:spPr>
          <a:xfrm>
            <a:off x="3355848" y="2011680"/>
            <a:ext cx="2651760" cy="1051560"/>
          </a:xfrm>
          <a:prstGeom prst="roundRect">
            <a:avLst>
              <a:gd name="adj" fmla="val 13913"/>
            </a:avLst>
          </a:prstGeom>
          <a:solidFill>
            <a:srgbClr val="7B5CFF"/>
          </a:solidFill>
          <a:ln/>
        </p:spPr>
      </p:sp>
      <p:sp>
        <p:nvSpPr>
          <p:cNvPr id="36" name="Shape 34"/>
          <p:cNvSpPr/>
          <p:nvPr/>
        </p:nvSpPr>
        <p:spPr>
          <a:xfrm>
            <a:off x="3557016" y="2212848"/>
            <a:ext cx="658368" cy="658368"/>
          </a:xfrm>
          <a:prstGeom prst="ellipse">
            <a:avLst/>
          </a:prstGeom>
          <a:solidFill>
            <a:srgbClr val="FFFFFF"/>
          </a:solidFill>
          <a:ln/>
        </p:spPr>
      </p:sp>
      <p:sp>
        <p:nvSpPr>
          <p:cNvPr id="37" name="Text 35"/>
          <p:cNvSpPr txBox="1"/>
          <p:nvPr/>
        </p:nvSpPr>
        <p:spPr>
          <a:xfrm>
            <a:off x="3557016" y="2212848"/>
            <a:ext cx="658368" cy="658368"/>
          </a:xfrm>
          <a:prstGeom prst="rect">
            <a:avLst/>
          </a:prstGeom>
          <a:noFill/>
          <a:ln/>
        </p:spPr>
        <p:txBody>
          <a:bodyPr wrap="square" lIns="0" tIns="0" rIns="0" bIns="0" rtlCol="0" anchor="ctr"/>
          <a:lstStyle/>
          <a:p>
            <a:pPr algn="ctr" indent="0" marL="0">
              <a:buNone/>
            </a:pPr>
            <a:r>
              <a:rPr lang="en-US" sz="1600" b="1" dirty="0">
                <a:solidFill>
                  <a:srgbClr val="7B5CFF"/>
                </a:solidFill>
                <a:latin typeface="Montserrat" pitchFamily="34" charset="0"/>
                <a:ea typeface="Montserrat" pitchFamily="34" charset="-122"/>
                <a:cs typeface="Montserrat" pitchFamily="34" charset="-120"/>
              </a:rPr>
              <a:t>EC</a:t>
            </a:r>
            <a:endParaRPr lang="en-US" sz="1600" dirty="0"/>
          </a:p>
        </p:txBody>
      </p:sp>
      <p:sp>
        <p:nvSpPr>
          <p:cNvPr id="38" name="Text 36"/>
          <p:cNvSpPr txBox="1"/>
          <p:nvPr/>
        </p:nvSpPr>
        <p:spPr>
          <a:xfrm>
            <a:off x="4361688" y="2194560"/>
            <a:ext cx="1554480" cy="292608"/>
          </a:xfrm>
          <a:prstGeom prst="rect">
            <a:avLst/>
          </a:prstGeom>
          <a:noFill/>
          <a:ln/>
        </p:spPr>
        <p:txBody>
          <a:bodyPr wrap="square" lIns="0" tIns="0" rIns="0" bIns="0" rtlCol="0" anchor="ctr"/>
          <a:lstStyle/>
          <a:p>
            <a:pPr indent="0" marL="0">
              <a:buNone/>
            </a:pPr>
            <a:r>
              <a:rPr lang="en-US" sz="1000" dirty="0">
                <a:solidFill>
                  <a:srgbClr val="FFFFFF"/>
                </a:solidFill>
                <a:latin typeface="Open Sans" pitchFamily="34" charset="0"/>
                <a:ea typeface="Open Sans" pitchFamily="34" charset="-122"/>
                <a:cs typeface="Open Sans" pitchFamily="34" charset="-120"/>
              </a:rPr>
              <a:t>Integrante 2</a:t>
            </a:r>
            <a:endParaRPr lang="en-US" sz="1000" dirty="0"/>
          </a:p>
        </p:txBody>
      </p:sp>
      <p:sp>
        <p:nvSpPr>
          <p:cNvPr id="39" name="Text 37"/>
          <p:cNvSpPr txBox="1"/>
          <p:nvPr/>
        </p:nvSpPr>
        <p:spPr>
          <a:xfrm>
            <a:off x="4361688" y="2468880"/>
            <a:ext cx="1554480" cy="47548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15</a:t>
            </a:r>
            <a:pPr indent="0" marL="0">
              <a:buNone/>
            </a:pPr>
            <a:r>
              <a:rPr lang="en-US" sz="10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40" name="Shape 38"/>
          <p:cNvSpPr/>
          <p:nvPr/>
        </p:nvSpPr>
        <p:spPr>
          <a:xfrm>
            <a:off x="3355848" y="3200400"/>
            <a:ext cx="2651760" cy="676656"/>
          </a:xfrm>
          <a:prstGeom prst="roundRect">
            <a:avLst>
              <a:gd name="adj" fmla="val 13514"/>
            </a:avLst>
          </a:prstGeom>
          <a:solidFill>
            <a:srgbClr val="EFEBFF"/>
          </a:solidFill>
          <a:ln/>
        </p:spPr>
      </p:sp>
      <p:sp>
        <p:nvSpPr>
          <p:cNvPr id="41" name="Text 39"/>
          <p:cNvSpPr txBox="1"/>
          <p:nvPr/>
        </p:nvSpPr>
        <p:spPr>
          <a:xfrm>
            <a:off x="3483864" y="3246120"/>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ODS14-10</a:t>
            </a:r>
            <a:endParaRPr lang="en-US" sz="850" dirty="0"/>
          </a:p>
        </p:txBody>
      </p:sp>
      <p:sp>
        <p:nvSpPr>
          <p:cNvPr id="42" name="Shape 40"/>
          <p:cNvSpPr/>
          <p:nvPr/>
        </p:nvSpPr>
        <p:spPr>
          <a:xfrm>
            <a:off x="5138928" y="3264408"/>
            <a:ext cx="365760" cy="192024"/>
          </a:xfrm>
          <a:prstGeom prst="roundRect">
            <a:avLst>
              <a:gd name="adj" fmla="val 50000"/>
            </a:avLst>
          </a:prstGeom>
          <a:solidFill>
            <a:srgbClr val="0B5FFF"/>
          </a:solidFill>
          <a:ln/>
        </p:spPr>
      </p:sp>
      <p:sp>
        <p:nvSpPr>
          <p:cNvPr id="43" name="Text 41"/>
          <p:cNvSpPr txBox="1"/>
          <p:nvPr/>
        </p:nvSpPr>
        <p:spPr>
          <a:xfrm>
            <a:off x="5138928" y="3264408"/>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44" name="Text 42"/>
          <p:cNvSpPr txBox="1"/>
          <p:nvPr/>
        </p:nvSpPr>
        <p:spPr>
          <a:xfrm>
            <a:off x="5532120" y="3246120"/>
            <a:ext cx="384048" cy="219456"/>
          </a:xfrm>
          <a:prstGeom prst="rect">
            <a:avLst/>
          </a:prstGeom>
          <a:noFill/>
          <a:ln/>
        </p:spPr>
        <p:txBody>
          <a:bodyPr wrap="square" lIns="0" tIns="0" rIns="0" bIns="0" rtlCol="0" anchor="ctr"/>
          <a:lstStyle/>
          <a:p>
            <a:pPr algn="r" indent="0" marL="0">
              <a:buNone/>
            </a:pPr>
            <a:r>
              <a:rPr lang="en-US" sz="800" b="1" dirty="0">
                <a:solidFill>
                  <a:srgbClr val="7B5CFF"/>
                </a:solidFill>
                <a:latin typeface="Open Sans" pitchFamily="34" charset="0"/>
                <a:ea typeface="Open Sans" pitchFamily="34" charset="-122"/>
                <a:cs typeface="Open Sans" pitchFamily="34" charset="-120"/>
              </a:rPr>
              <a:t>5 pts</a:t>
            </a:r>
            <a:endParaRPr lang="en-US" sz="800" dirty="0"/>
          </a:p>
        </p:txBody>
      </p:sp>
      <p:sp>
        <p:nvSpPr>
          <p:cNvPr id="45" name="Text 43"/>
          <p:cNvSpPr txBox="1"/>
          <p:nvPr/>
        </p:nvSpPr>
        <p:spPr>
          <a:xfrm>
            <a:off x="3483864" y="3474720"/>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Registro y administración de nuevos usuarios</a:t>
            </a:r>
            <a:endParaRPr lang="en-US" sz="900" dirty="0"/>
          </a:p>
        </p:txBody>
      </p:sp>
      <p:sp>
        <p:nvSpPr>
          <p:cNvPr id="46" name="Shape 44"/>
          <p:cNvSpPr/>
          <p:nvPr/>
        </p:nvSpPr>
        <p:spPr>
          <a:xfrm>
            <a:off x="3355848" y="3968496"/>
            <a:ext cx="2651760" cy="676656"/>
          </a:xfrm>
          <a:prstGeom prst="roundRect">
            <a:avLst>
              <a:gd name="adj" fmla="val 13514"/>
            </a:avLst>
          </a:prstGeom>
          <a:solidFill>
            <a:srgbClr val="EFEBFF"/>
          </a:solidFill>
          <a:ln/>
        </p:spPr>
      </p:sp>
      <p:sp>
        <p:nvSpPr>
          <p:cNvPr id="47" name="Text 45"/>
          <p:cNvSpPr txBox="1"/>
          <p:nvPr/>
        </p:nvSpPr>
        <p:spPr>
          <a:xfrm>
            <a:off x="3483864" y="4014216"/>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ODS14-11</a:t>
            </a:r>
            <a:endParaRPr lang="en-US" sz="850" dirty="0"/>
          </a:p>
        </p:txBody>
      </p:sp>
      <p:sp>
        <p:nvSpPr>
          <p:cNvPr id="48" name="Shape 46"/>
          <p:cNvSpPr/>
          <p:nvPr/>
        </p:nvSpPr>
        <p:spPr>
          <a:xfrm>
            <a:off x="5138928" y="4032504"/>
            <a:ext cx="365760" cy="192024"/>
          </a:xfrm>
          <a:prstGeom prst="roundRect">
            <a:avLst>
              <a:gd name="adj" fmla="val 50000"/>
            </a:avLst>
          </a:prstGeom>
          <a:solidFill>
            <a:srgbClr val="7B5CFF"/>
          </a:solidFill>
          <a:ln/>
        </p:spPr>
      </p:sp>
      <p:sp>
        <p:nvSpPr>
          <p:cNvPr id="49" name="Text 47"/>
          <p:cNvSpPr txBox="1"/>
          <p:nvPr/>
        </p:nvSpPr>
        <p:spPr>
          <a:xfrm>
            <a:off x="5138928" y="4032504"/>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50" name="Text 48"/>
          <p:cNvSpPr txBox="1"/>
          <p:nvPr/>
        </p:nvSpPr>
        <p:spPr>
          <a:xfrm>
            <a:off x="5532120" y="4014216"/>
            <a:ext cx="384048" cy="219456"/>
          </a:xfrm>
          <a:prstGeom prst="rect">
            <a:avLst/>
          </a:prstGeom>
          <a:noFill/>
          <a:ln/>
        </p:spPr>
        <p:txBody>
          <a:bodyPr wrap="square" lIns="0" tIns="0" rIns="0" bIns="0" rtlCol="0" anchor="ctr"/>
          <a:lstStyle/>
          <a:p>
            <a:pPr algn="r" indent="0" marL="0">
              <a:buNone/>
            </a:pPr>
            <a:r>
              <a:rPr lang="en-US" sz="800" b="1" dirty="0">
                <a:solidFill>
                  <a:srgbClr val="7B5CFF"/>
                </a:solidFill>
                <a:latin typeface="Open Sans" pitchFamily="34" charset="0"/>
                <a:ea typeface="Open Sans" pitchFamily="34" charset="-122"/>
                <a:cs typeface="Open Sans" pitchFamily="34" charset="-120"/>
              </a:rPr>
              <a:t>3 pts</a:t>
            </a:r>
            <a:endParaRPr lang="en-US" sz="800" dirty="0"/>
          </a:p>
        </p:txBody>
      </p:sp>
      <p:sp>
        <p:nvSpPr>
          <p:cNvPr id="51" name="Text 49"/>
          <p:cNvSpPr txBox="1"/>
          <p:nvPr/>
        </p:nvSpPr>
        <p:spPr>
          <a:xfrm>
            <a:off x="3483864" y="4242816"/>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Visualización de perfil de usuario</a:t>
            </a:r>
            <a:endParaRPr lang="en-US" sz="900" dirty="0"/>
          </a:p>
        </p:txBody>
      </p:sp>
      <p:sp>
        <p:nvSpPr>
          <p:cNvPr id="52" name="Shape 50"/>
          <p:cNvSpPr/>
          <p:nvPr/>
        </p:nvSpPr>
        <p:spPr>
          <a:xfrm>
            <a:off x="3355848" y="4736592"/>
            <a:ext cx="2651760" cy="676656"/>
          </a:xfrm>
          <a:prstGeom prst="roundRect">
            <a:avLst>
              <a:gd name="adj" fmla="val 13514"/>
            </a:avLst>
          </a:prstGeom>
          <a:solidFill>
            <a:srgbClr val="EFEBFF"/>
          </a:solidFill>
          <a:ln/>
        </p:spPr>
      </p:sp>
      <p:sp>
        <p:nvSpPr>
          <p:cNvPr id="53" name="Text 51"/>
          <p:cNvSpPr txBox="1"/>
          <p:nvPr/>
        </p:nvSpPr>
        <p:spPr>
          <a:xfrm>
            <a:off x="3483864" y="4782312"/>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ODS14-12</a:t>
            </a:r>
            <a:endParaRPr lang="en-US" sz="850" dirty="0"/>
          </a:p>
        </p:txBody>
      </p:sp>
      <p:sp>
        <p:nvSpPr>
          <p:cNvPr id="54" name="Shape 52"/>
          <p:cNvSpPr/>
          <p:nvPr/>
        </p:nvSpPr>
        <p:spPr>
          <a:xfrm>
            <a:off x="5138928" y="4800600"/>
            <a:ext cx="365760" cy="192024"/>
          </a:xfrm>
          <a:prstGeom prst="roundRect">
            <a:avLst>
              <a:gd name="adj" fmla="val 50000"/>
            </a:avLst>
          </a:prstGeom>
          <a:solidFill>
            <a:srgbClr val="7B5CFF"/>
          </a:solidFill>
          <a:ln/>
        </p:spPr>
      </p:sp>
      <p:sp>
        <p:nvSpPr>
          <p:cNvPr id="55" name="Text 53"/>
          <p:cNvSpPr txBox="1"/>
          <p:nvPr/>
        </p:nvSpPr>
        <p:spPr>
          <a:xfrm>
            <a:off x="5138928" y="4800600"/>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56" name="Text 54"/>
          <p:cNvSpPr txBox="1"/>
          <p:nvPr/>
        </p:nvSpPr>
        <p:spPr>
          <a:xfrm>
            <a:off x="5532120" y="4782312"/>
            <a:ext cx="384048" cy="219456"/>
          </a:xfrm>
          <a:prstGeom prst="rect">
            <a:avLst/>
          </a:prstGeom>
          <a:noFill/>
          <a:ln/>
        </p:spPr>
        <p:txBody>
          <a:bodyPr wrap="square" lIns="0" tIns="0" rIns="0" bIns="0" rtlCol="0" anchor="ctr"/>
          <a:lstStyle/>
          <a:p>
            <a:pPr algn="r" indent="0" marL="0">
              <a:buNone/>
            </a:pPr>
            <a:r>
              <a:rPr lang="en-US" sz="800" b="1" dirty="0">
                <a:solidFill>
                  <a:srgbClr val="7B5CFF"/>
                </a:solidFill>
                <a:latin typeface="Open Sans" pitchFamily="34" charset="0"/>
                <a:ea typeface="Open Sans" pitchFamily="34" charset="-122"/>
                <a:cs typeface="Open Sans" pitchFamily="34" charset="-120"/>
              </a:rPr>
              <a:t>4 pts</a:t>
            </a:r>
            <a:endParaRPr lang="en-US" sz="800" dirty="0"/>
          </a:p>
        </p:txBody>
      </p:sp>
      <p:sp>
        <p:nvSpPr>
          <p:cNvPr id="57" name="Text 55"/>
          <p:cNvSpPr txBox="1"/>
          <p:nvPr/>
        </p:nvSpPr>
        <p:spPr>
          <a:xfrm>
            <a:off x="3483864" y="5010912"/>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Edición de perfiles y actualización de datos</a:t>
            </a:r>
            <a:endParaRPr lang="en-US" sz="900" dirty="0"/>
          </a:p>
        </p:txBody>
      </p:sp>
      <p:sp>
        <p:nvSpPr>
          <p:cNvPr id="58" name="Shape 56"/>
          <p:cNvSpPr/>
          <p:nvPr/>
        </p:nvSpPr>
        <p:spPr>
          <a:xfrm>
            <a:off x="3355848" y="5504688"/>
            <a:ext cx="2651760" cy="676656"/>
          </a:xfrm>
          <a:prstGeom prst="roundRect">
            <a:avLst>
              <a:gd name="adj" fmla="val 13514"/>
            </a:avLst>
          </a:prstGeom>
          <a:solidFill>
            <a:srgbClr val="EFEBFF"/>
          </a:solidFill>
          <a:ln/>
        </p:spPr>
      </p:sp>
      <p:sp>
        <p:nvSpPr>
          <p:cNvPr id="59" name="Text 57"/>
          <p:cNvSpPr txBox="1"/>
          <p:nvPr/>
        </p:nvSpPr>
        <p:spPr>
          <a:xfrm>
            <a:off x="3483864" y="5550408"/>
            <a:ext cx="1005840" cy="219456"/>
          </a:xfrm>
          <a:prstGeom prst="rect">
            <a:avLst/>
          </a:prstGeom>
          <a:noFill/>
          <a:ln/>
        </p:spPr>
        <p:txBody>
          <a:bodyPr wrap="square" lIns="0" tIns="0" rIns="0" bIns="0" rtlCol="0" anchor="ctr"/>
          <a:lstStyle/>
          <a:p>
            <a:pPr indent="0" marL="0">
              <a:buNone/>
            </a:pPr>
            <a:r>
              <a:rPr lang="en-US" sz="850" b="1" dirty="0">
                <a:solidFill>
                  <a:srgbClr val="7B5CFF"/>
                </a:solidFill>
                <a:latin typeface="Montserrat" pitchFamily="34" charset="0"/>
                <a:ea typeface="Montserrat" pitchFamily="34" charset="-122"/>
                <a:cs typeface="Montserrat" pitchFamily="34" charset="-120"/>
              </a:rPr>
              <a:t>ODS14-21</a:t>
            </a:r>
            <a:endParaRPr lang="en-US" sz="850" dirty="0"/>
          </a:p>
        </p:txBody>
      </p:sp>
      <p:sp>
        <p:nvSpPr>
          <p:cNvPr id="60" name="Shape 58"/>
          <p:cNvSpPr/>
          <p:nvPr/>
        </p:nvSpPr>
        <p:spPr>
          <a:xfrm>
            <a:off x="5138928" y="5568696"/>
            <a:ext cx="365760" cy="192024"/>
          </a:xfrm>
          <a:prstGeom prst="roundRect">
            <a:avLst>
              <a:gd name="adj" fmla="val 50000"/>
            </a:avLst>
          </a:prstGeom>
          <a:solidFill>
            <a:srgbClr val="7B5CFF"/>
          </a:solidFill>
          <a:ln/>
        </p:spPr>
      </p:sp>
      <p:sp>
        <p:nvSpPr>
          <p:cNvPr id="61" name="Text 59"/>
          <p:cNvSpPr txBox="1"/>
          <p:nvPr/>
        </p:nvSpPr>
        <p:spPr>
          <a:xfrm>
            <a:off x="5138928" y="5568696"/>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62" name="Text 60"/>
          <p:cNvSpPr txBox="1"/>
          <p:nvPr/>
        </p:nvSpPr>
        <p:spPr>
          <a:xfrm>
            <a:off x="5532120" y="5550408"/>
            <a:ext cx="384048" cy="219456"/>
          </a:xfrm>
          <a:prstGeom prst="rect">
            <a:avLst/>
          </a:prstGeom>
          <a:noFill/>
          <a:ln/>
        </p:spPr>
        <p:txBody>
          <a:bodyPr wrap="square" lIns="0" tIns="0" rIns="0" bIns="0" rtlCol="0" anchor="ctr"/>
          <a:lstStyle/>
          <a:p>
            <a:pPr algn="r" indent="0" marL="0">
              <a:buNone/>
            </a:pPr>
            <a:r>
              <a:rPr lang="en-US" sz="800" b="1" dirty="0">
                <a:solidFill>
                  <a:srgbClr val="7B5CFF"/>
                </a:solidFill>
                <a:latin typeface="Open Sans" pitchFamily="34" charset="0"/>
                <a:ea typeface="Open Sans" pitchFamily="34" charset="-122"/>
                <a:cs typeface="Open Sans" pitchFamily="34" charset="-120"/>
              </a:rPr>
              <a:t>3 pts</a:t>
            </a:r>
            <a:endParaRPr lang="en-US" sz="800" dirty="0"/>
          </a:p>
        </p:txBody>
      </p:sp>
      <p:sp>
        <p:nvSpPr>
          <p:cNvPr id="63" name="Text 61"/>
          <p:cNvSpPr txBox="1"/>
          <p:nvPr/>
        </p:nvSpPr>
        <p:spPr>
          <a:xfrm>
            <a:off x="3483864" y="5779008"/>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Cambio de contraseña y verificación 2FA</a:t>
            </a:r>
            <a:endParaRPr lang="en-US" sz="900" dirty="0"/>
          </a:p>
        </p:txBody>
      </p:sp>
      <p:sp>
        <p:nvSpPr>
          <p:cNvPr id="64" name="Shape 62"/>
          <p:cNvSpPr/>
          <p:nvPr/>
        </p:nvSpPr>
        <p:spPr>
          <a:xfrm>
            <a:off x="6163056" y="2011680"/>
            <a:ext cx="2651760" cy="1051560"/>
          </a:xfrm>
          <a:prstGeom prst="roundRect">
            <a:avLst>
              <a:gd name="adj" fmla="val 13913"/>
            </a:avLst>
          </a:prstGeom>
          <a:solidFill>
            <a:srgbClr val="008FB0"/>
          </a:solidFill>
          <a:ln/>
        </p:spPr>
      </p:sp>
      <p:sp>
        <p:nvSpPr>
          <p:cNvPr id="65" name="Shape 63"/>
          <p:cNvSpPr/>
          <p:nvPr/>
        </p:nvSpPr>
        <p:spPr>
          <a:xfrm>
            <a:off x="6364224" y="2212848"/>
            <a:ext cx="658368" cy="658368"/>
          </a:xfrm>
          <a:prstGeom prst="ellipse">
            <a:avLst/>
          </a:prstGeom>
          <a:solidFill>
            <a:srgbClr val="FFFFFF"/>
          </a:solidFill>
          <a:ln/>
        </p:spPr>
      </p:sp>
      <p:sp>
        <p:nvSpPr>
          <p:cNvPr id="66" name="Text 64"/>
          <p:cNvSpPr txBox="1"/>
          <p:nvPr/>
        </p:nvSpPr>
        <p:spPr>
          <a:xfrm>
            <a:off x="6364224" y="2212848"/>
            <a:ext cx="658368" cy="658368"/>
          </a:xfrm>
          <a:prstGeom prst="rect">
            <a:avLst/>
          </a:prstGeom>
          <a:noFill/>
          <a:ln/>
        </p:spPr>
        <p:txBody>
          <a:bodyPr wrap="square" lIns="0" tIns="0" rIns="0" bIns="0" rtlCol="0" anchor="ctr"/>
          <a:lstStyle/>
          <a:p>
            <a:pPr algn="ctr" indent="0" marL="0">
              <a:buNone/>
            </a:pPr>
            <a:r>
              <a:rPr lang="en-US" sz="1600" b="1" dirty="0">
                <a:solidFill>
                  <a:srgbClr val="008FB0"/>
                </a:solidFill>
                <a:latin typeface="Montserrat" pitchFamily="34" charset="0"/>
                <a:ea typeface="Montserrat" pitchFamily="34" charset="-122"/>
                <a:cs typeface="Montserrat" pitchFamily="34" charset="-120"/>
              </a:rPr>
              <a:t>AM</a:t>
            </a:r>
            <a:endParaRPr lang="en-US" sz="1600" dirty="0"/>
          </a:p>
        </p:txBody>
      </p:sp>
      <p:sp>
        <p:nvSpPr>
          <p:cNvPr id="67" name="Text 65"/>
          <p:cNvSpPr txBox="1"/>
          <p:nvPr/>
        </p:nvSpPr>
        <p:spPr>
          <a:xfrm>
            <a:off x="7168896" y="2194560"/>
            <a:ext cx="1554480" cy="292608"/>
          </a:xfrm>
          <a:prstGeom prst="rect">
            <a:avLst/>
          </a:prstGeom>
          <a:noFill/>
          <a:ln/>
        </p:spPr>
        <p:txBody>
          <a:bodyPr wrap="square" lIns="0" tIns="0" rIns="0" bIns="0" rtlCol="0" anchor="ctr"/>
          <a:lstStyle/>
          <a:p>
            <a:pPr indent="0" marL="0">
              <a:buNone/>
            </a:pPr>
            <a:r>
              <a:rPr lang="en-US" sz="1000" dirty="0">
                <a:solidFill>
                  <a:srgbClr val="FFFFFF"/>
                </a:solidFill>
                <a:latin typeface="Open Sans" pitchFamily="34" charset="0"/>
                <a:ea typeface="Open Sans" pitchFamily="34" charset="-122"/>
                <a:cs typeface="Open Sans" pitchFamily="34" charset="-120"/>
              </a:rPr>
              <a:t>Integrante 3</a:t>
            </a:r>
            <a:endParaRPr lang="en-US" sz="1000" dirty="0"/>
          </a:p>
        </p:txBody>
      </p:sp>
      <p:sp>
        <p:nvSpPr>
          <p:cNvPr id="68" name="Text 66"/>
          <p:cNvSpPr txBox="1"/>
          <p:nvPr/>
        </p:nvSpPr>
        <p:spPr>
          <a:xfrm>
            <a:off x="7168896" y="2468880"/>
            <a:ext cx="1554480" cy="47548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15</a:t>
            </a:r>
            <a:pPr indent="0" marL="0">
              <a:buNone/>
            </a:pPr>
            <a:r>
              <a:rPr lang="en-US" sz="10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69" name="Shape 67"/>
          <p:cNvSpPr/>
          <p:nvPr/>
        </p:nvSpPr>
        <p:spPr>
          <a:xfrm>
            <a:off x="6163056" y="3200400"/>
            <a:ext cx="2651760" cy="676656"/>
          </a:xfrm>
          <a:prstGeom prst="roundRect">
            <a:avLst>
              <a:gd name="adj" fmla="val 13514"/>
            </a:avLst>
          </a:prstGeom>
          <a:solidFill>
            <a:srgbClr val="E0F8FB"/>
          </a:solidFill>
          <a:ln/>
        </p:spPr>
      </p:sp>
      <p:sp>
        <p:nvSpPr>
          <p:cNvPr id="70" name="Text 68"/>
          <p:cNvSpPr txBox="1"/>
          <p:nvPr/>
        </p:nvSpPr>
        <p:spPr>
          <a:xfrm>
            <a:off x="6291072" y="3246120"/>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ODS14-6</a:t>
            </a:r>
            <a:endParaRPr lang="en-US" sz="850" dirty="0"/>
          </a:p>
        </p:txBody>
      </p:sp>
      <p:sp>
        <p:nvSpPr>
          <p:cNvPr id="71" name="Shape 69"/>
          <p:cNvSpPr/>
          <p:nvPr/>
        </p:nvSpPr>
        <p:spPr>
          <a:xfrm>
            <a:off x="7946136" y="3264408"/>
            <a:ext cx="365760" cy="192024"/>
          </a:xfrm>
          <a:prstGeom prst="roundRect">
            <a:avLst>
              <a:gd name="adj" fmla="val 50000"/>
            </a:avLst>
          </a:prstGeom>
          <a:solidFill>
            <a:srgbClr val="0B5FFF"/>
          </a:solidFill>
          <a:ln/>
        </p:spPr>
      </p:sp>
      <p:sp>
        <p:nvSpPr>
          <p:cNvPr id="72" name="Text 70"/>
          <p:cNvSpPr txBox="1"/>
          <p:nvPr/>
        </p:nvSpPr>
        <p:spPr>
          <a:xfrm>
            <a:off x="7946136" y="3264408"/>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73" name="Text 71"/>
          <p:cNvSpPr txBox="1"/>
          <p:nvPr/>
        </p:nvSpPr>
        <p:spPr>
          <a:xfrm>
            <a:off x="8339328" y="3246120"/>
            <a:ext cx="384048" cy="219456"/>
          </a:xfrm>
          <a:prstGeom prst="rect">
            <a:avLst/>
          </a:prstGeom>
          <a:noFill/>
          <a:ln/>
        </p:spPr>
        <p:txBody>
          <a:bodyPr wrap="square" lIns="0" tIns="0" rIns="0" bIns="0" rtlCol="0" anchor="ctr"/>
          <a:lstStyle/>
          <a:p>
            <a:pPr algn="r" indent="0" marL="0">
              <a:buNone/>
            </a:pPr>
            <a:r>
              <a:rPr lang="en-US" sz="800" b="1" dirty="0">
                <a:solidFill>
                  <a:srgbClr val="008FB0"/>
                </a:solidFill>
                <a:latin typeface="Open Sans" pitchFamily="34" charset="0"/>
                <a:ea typeface="Open Sans" pitchFamily="34" charset="-122"/>
                <a:cs typeface="Open Sans" pitchFamily="34" charset="-120"/>
              </a:rPr>
              <a:t>5 pts</a:t>
            </a:r>
            <a:endParaRPr lang="en-US" sz="800" dirty="0"/>
          </a:p>
        </p:txBody>
      </p:sp>
      <p:sp>
        <p:nvSpPr>
          <p:cNvPr id="74" name="Text 72"/>
          <p:cNvSpPr txBox="1"/>
          <p:nvPr/>
        </p:nvSpPr>
        <p:spPr>
          <a:xfrm>
            <a:off x="6291072" y="3474720"/>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Registro de embarcaciones y validación de datos</a:t>
            </a:r>
            <a:endParaRPr lang="en-US" sz="900" dirty="0"/>
          </a:p>
        </p:txBody>
      </p:sp>
      <p:sp>
        <p:nvSpPr>
          <p:cNvPr id="75" name="Shape 73"/>
          <p:cNvSpPr/>
          <p:nvPr/>
        </p:nvSpPr>
        <p:spPr>
          <a:xfrm>
            <a:off x="6163056" y="3968496"/>
            <a:ext cx="2651760" cy="676656"/>
          </a:xfrm>
          <a:prstGeom prst="roundRect">
            <a:avLst>
              <a:gd name="adj" fmla="val 13514"/>
            </a:avLst>
          </a:prstGeom>
          <a:solidFill>
            <a:srgbClr val="E0F8FB"/>
          </a:solidFill>
          <a:ln/>
        </p:spPr>
      </p:sp>
      <p:sp>
        <p:nvSpPr>
          <p:cNvPr id="76" name="Text 74"/>
          <p:cNvSpPr txBox="1"/>
          <p:nvPr/>
        </p:nvSpPr>
        <p:spPr>
          <a:xfrm>
            <a:off x="6291072" y="4014216"/>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ODS14-7</a:t>
            </a:r>
            <a:endParaRPr lang="en-US" sz="850" dirty="0"/>
          </a:p>
        </p:txBody>
      </p:sp>
      <p:sp>
        <p:nvSpPr>
          <p:cNvPr id="77" name="Shape 75"/>
          <p:cNvSpPr/>
          <p:nvPr/>
        </p:nvSpPr>
        <p:spPr>
          <a:xfrm>
            <a:off x="7946136" y="4032504"/>
            <a:ext cx="365760" cy="192024"/>
          </a:xfrm>
          <a:prstGeom prst="roundRect">
            <a:avLst>
              <a:gd name="adj" fmla="val 50000"/>
            </a:avLst>
          </a:prstGeom>
          <a:solidFill>
            <a:srgbClr val="0B5FFF"/>
          </a:solidFill>
          <a:ln/>
        </p:spPr>
      </p:sp>
      <p:sp>
        <p:nvSpPr>
          <p:cNvPr id="78" name="Text 76"/>
          <p:cNvSpPr txBox="1"/>
          <p:nvPr/>
        </p:nvSpPr>
        <p:spPr>
          <a:xfrm>
            <a:off x="7946136" y="4032504"/>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S1</a:t>
            </a:r>
            <a:endParaRPr lang="en-US" sz="750" dirty="0"/>
          </a:p>
        </p:txBody>
      </p:sp>
      <p:sp>
        <p:nvSpPr>
          <p:cNvPr id="79" name="Text 77"/>
          <p:cNvSpPr txBox="1"/>
          <p:nvPr/>
        </p:nvSpPr>
        <p:spPr>
          <a:xfrm>
            <a:off x="8339328" y="4014216"/>
            <a:ext cx="384048" cy="219456"/>
          </a:xfrm>
          <a:prstGeom prst="rect">
            <a:avLst/>
          </a:prstGeom>
          <a:noFill/>
          <a:ln/>
        </p:spPr>
        <p:txBody>
          <a:bodyPr wrap="square" lIns="0" tIns="0" rIns="0" bIns="0" rtlCol="0" anchor="ctr"/>
          <a:lstStyle/>
          <a:p>
            <a:pPr algn="r" indent="0" marL="0">
              <a:buNone/>
            </a:pPr>
            <a:r>
              <a:rPr lang="en-US" sz="800" b="1" dirty="0">
                <a:solidFill>
                  <a:srgbClr val="008FB0"/>
                </a:solidFill>
                <a:latin typeface="Open Sans" pitchFamily="34" charset="0"/>
                <a:ea typeface="Open Sans" pitchFamily="34" charset="-122"/>
                <a:cs typeface="Open Sans" pitchFamily="34" charset="-120"/>
              </a:rPr>
              <a:t>3 pts</a:t>
            </a:r>
            <a:endParaRPr lang="en-US" sz="800" dirty="0"/>
          </a:p>
        </p:txBody>
      </p:sp>
      <p:sp>
        <p:nvSpPr>
          <p:cNvPr id="80" name="Text 78"/>
          <p:cNvSpPr txBox="1"/>
          <p:nvPr/>
        </p:nvSpPr>
        <p:spPr>
          <a:xfrm>
            <a:off x="6291072" y="4242816"/>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Búsqueda y filtrado de flota pesquera</a:t>
            </a:r>
            <a:endParaRPr lang="en-US" sz="900" dirty="0"/>
          </a:p>
        </p:txBody>
      </p:sp>
      <p:sp>
        <p:nvSpPr>
          <p:cNvPr id="81" name="Shape 79"/>
          <p:cNvSpPr/>
          <p:nvPr/>
        </p:nvSpPr>
        <p:spPr>
          <a:xfrm>
            <a:off x="6163056" y="4736592"/>
            <a:ext cx="2651760" cy="676656"/>
          </a:xfrm>
          <a:prstGeom prst="roundRect">
            <a:avLst>
              <a:gd name="adj" fmla="val 13514"/>
            </a:avLst>
          </a:prstGeom>
          <a:solidFill>
            <a:srgbClr val="E0F8FB"/>
          </a:solidFill>
          <a:ln/>
        </p:spPr>
      </p:sp>
      <p:sp>
        <p:nvSpPr>
          <p:cNvPr id="82" name="Text 80"/>
          <p:cNvSpPr txBox="1"/>
          <p:nvPr/>
        </p:nvSpPr>
        <p:spPr>
          <a:xfrm>
            <a:off x="6291072" y="4782312"/>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ODS14-8</a:t>
            </a:r>
            <a:endParaRPr lang="en-US" sz="850" dirty="0"/>
          </a:p>
        </p:txBody>
      </p:sp>
      <p:sp>
        <p:nvSpPr>
          <p:cNvPr id="83" name="Shape 81"/>
          <p:cNvSpPr/>
          <p:nvPr/>
        </p:nvSpPr>
        <p:spPr>
          <a:xfrm>
            <a:off x="7946136" y="4800600"/>
            <a:ext cx="365760" cy="192024"/>
          </a:xfrm>
          <a:prstGeom prst="roundRect">
            <a:avLst>
              <a:gd name="adj" fmla="val 50000"/>
            </a:avLst>
          </a:prstGeom>
          <a:solidFill>
            <a:srgbClr val="7B5CFF"/>
          </a:solidFill>
          <a:ln/>
        </p:spPr>
      </p:sp>
      <p:sp>
        <p:nvSpPr>
          <p:cNvPr id="84" name="Text 82"/>
          <p:cNvSpPr txBox="1"/>
          <p:nvPr/>
        </p:nvSpPr>
        <p:spPr>
          <a:xfrm>
            <a:off x="7946136" y="4800600"/>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85" name="Text 83"/>
          <p:cNvSpPr txBox="1"/>
          <p:nvPr/>
        </p:nvSpPr>
        <p:spPr>
          <a:xfrm>
            <a:off x="8339328" y="4782312"/>
            <a:ext cx="384048" cy="219456"/>
          </a:xfrm>
          <a:prstGeom prst="rect">
            <a:avLst/>
          </a:prstGeom>
          <a:noFill/>
          <a:ln/>
        </p:spPr>
        <p:txBody>
          <a:bodyPr wrap="square" lIns="0" tIns="0" rIns="0" bIns="0" rtlCol="0" anchor="ctr"/>
          <a:lstStyle/>
          <a:p>
            <a:pPr algn="r" indent="0" marL="0">
              <a:buNone/>
            </a:pPr>
            <a:r>
              <a:rPr lang="en-US" sz="800" b="1" dirty="0">
                <a:solidFill>
                  <a:srgbClr val="008FB0"/>
                </a:solidFill>
                <a:latin typeface="Open Sans" pitchFamily="34" charset="0"/>
                <a:ea typeface="Open Sans" pitchFamily="34" charset="-122"/>
                <a:cs typeface="Open Sans" pitchFamily="34" charset="-120"/>
              </a:rPr>
              <a:t>4 pts</a:t>
            </a:r>
            <a:endParaRPr lang="en-US" sz="800" dirty="0"/>
          </a:p>
        </p:txBody>
      </p:sp>
      <p:sp>
        <p:nvSpPr>
          <p:cNvPr id="86" name="Text 84"/>
          <p:cNvSpPr txBox="1"/>
          <p:nvPr/>
        </p:nvSpPr>
        <p:spPr>
          <a:xfrm>
            <a:off x="6291072" y="5010912"/>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Edición y actualización de embarcaciones</a:t>
            </a:r>
            <a:endParaRPr lang="en-US" sz="900" dirty="0"/>
          </a:p>
        </p:txBody>
      </p:sp>
      <p:sp>
        <p:nvSpPr>
          <p:cNvPr id="87" name="Shape 85"/>
          <p:cNvSpPr/>
          <p:nvPr/>
        </p:nvSpPr>
        <p:spPr>
          <a:xfrm>
            <a:off x="6163056" y="5504688"/>
            <a:ext cx="2651760" cy="676656"/>
          </a:xfrm>
          <a:prstGeom prst="roundRect">
            <a:avLst>
              <a:gd name="adj" fmla="val 13514"/>
            </a:avLst>
          </a:prstGeom>
          <a:solidFill>
            <a:srgbClr val="E0F8FB"/>
          </a:solidFill>
          <a:ln/>
        </p:spPr>
      </p:sp>
      <p:sp>
        <p:nvSpPr>
          <p:cNvPr id="88" name="Text 86"/>
          <p:cNvSpPr txBox="1"/>
          <p:nvPr/>
        </p:nvSpPr>
        <p:spPr>
          <a:xfrm>
            <a:off x="6291072" y="5550408"/>
            <a:ext cx="1005840" cy="219456"/>
          </a:xfrm>
          <a:prstGeom prst="rect">
            <a:avLst/>
          </a:prstGeom>
          <a:noFill/>
          <a:ln/>
        </p:spPr>
        <p:txBody>
          <a:bodyPr wrap="square" lIns="0" tIns="0" rIns="0" bIns="0" rtlCol="0" anchor="ctr"/>
          <a:lstStyle/>
          <a:p>
            <a:pPr indent="0" marL="0">
              <a:buNone/>
            </a:pPr>
            <a:r>
              <a:rPr lang="en-US" sz="850" b="1" dirty="0">
                <a:solidFill>
                  <a:srgbClr val="008FB0"/>
                </a:solidFill>
                <a:latin typeface="Montserrat" pitchFamily="34" charset="0"/>
                <a:ea typeface="Montserrat" pitchFamily="34" charset="-122"/>
                <a:cs typeface="Montserrat" pitchFamily="34" charset="-120"/>
              </a:rPr>
              <a:t>ODS14-9</a:t>
            </a:r>
            <a:endParaRPr lang="en-US" sz="850" dirty="0"/>
          </a:p>
        </p:txBody>
      </p:sp>
      <p:sp>
        <p:nvSpPr>
          <p:cNvPr id="89" name="Shape 87"/>
          <p:cNvSpPr/>
          <p:nvPr/>
        </p:nvSpPr>
        <p:spPr>
          <a:xfrm>
            <a:off x="7946136" y="5568696"/>
            <a:ext cx="365760" cy="192024"/>
          </a:xfrm>
          <a:prstGeom prst="roundRect">
            <a:avLst>
              <a:gd name="adj" fmla="val 50000"/>
            </a:avLst>
          </a:prstGeom>
          <a:solidFill>
            <a:srgbClr val="7B5CFF"/>
          </a:solidFill>
          <a:ln/>
        </p:spPr>
      </p:sp>
      <p:sp>
        <p:nvSpPr>
          <p:cNvPr id="90" name="Text 88"/>
          <p:cNvSpPr txBox="1"/>
          <p:nvPr/>
        </p:nvSpPr>
        <p:spPr>
          <a:xfrm>
            <a:off x="7946136" y="5568696"/>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91" name="Text 89"/>
          <p:cNvSpPr txBox="1"/>
          <p:nvPr/>
        </p:nvSpPr>
        <p:spPr>
          <a:xfrm>
            <a:off x="8339328" y="5550408"/>
            <a:ext cx="384048" cy="219456"/>
          </a:xfrm>
          <a:prstGeom prst="rect">
            <a:avLst/>
          </a:prstGeom>
          <a:noFill/>
          <a:ln/>
        </p:spPr>
        <p:txBody>
          <a:bodyPr wrap="square" lIns="0" tIns="0" rIns="0" bIns="0" rtlCol="0" anchor="ctr"/>
          <a:lstStyle/>
          <a:p>
            <a:pPr algn="r" indent="0" marL="0">
              <a:buNone/>
            </a:pPr>
            <a:r>
              <a:rPr lang="en-US" sz="800" b="1" dirty="0">
                <a:solidFill>
                  <a:srgbClr val="008FB0"/>
                </a:solidFill>
                <a:latin typeface="Open Sans" pitchFamily="34" charset="0"/>
                <a:ea typeface="Open Sans" pitchFamily="34" charset="-122"/>
                <a:cs typeface="Open Sans" pitchFamily="34" charset="-120"/>
              </a:rPr>
              <a:t>3 pts</a:t>
            </a:r>
            <a:endParaRPr lang="en-US" sz="800" dirty="0"/>
          </a:p>
        </p:txBody>
      </p:sp>
      <p:sp>
        <p:nvSpPr>
          <p:cNvPr id="92" name="Text 90"/>
          <p:cNvSpPr txBox="1"/>
          <p:nvPr/>
        </p:nvSpPr>
        <p:spPr>
          <a:xfrm>
            <a:off x="6291072" y="5779008"/>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Módulo para dar de baja embarcaciones</a:t>
            </a:r>
            <a:endParaRPr lang="en-US" sz="900" dirty="0"/>
          </a:p>
        </p:txBody>
      </p:sp>
      <p:sp>
        <p:nvSpPr>
          <p:cNvPr id="93" name="Shape 91"/>
          <p:cNvSpPr/>
          <p:nvPr/>
        </p:nvSpPr>
        <p:spPr>
          <a:xfrm>
            <a:off x="8970264" y="2011680"/>
            <a:ext cx="2651760" cy="1051560"/>
          </a:xfrm>
          <a:prstGeom prst="roundRect">
            <a:avLst>
              <a:gd name="adj" fmla="val 13913"/>
            </a:avLst>
          </a:prstGeom>
          <a:solidFill>
            <a:srgbClr val="E06F00"/>
          </a:solidFill>
          <a:ln/>
        </p:spPr>
      </p:sp>
      <p:sp>
        <p:nvSpPr>
          <p:cNvPr id="94" name="Shape 92"/>
          <p:cNvSpPr/>
          <p:nvPr/>
        </p:nvSpPr>
        <p:spPr>
          <a:xfrm>
            <a:off x="9171432" y="2212848"/>
            <a:ext cx="658368" cy="658368"/>
          </a:xfrm>
          <a:prstGeom prst="ellipse">
            <a:avLst/>
          </a:prstGeom>
          <a:solidFill>
            <a:srgbClr val="FFFFFF"/>
          </a:solidFill>
          <a:ln/>
        </p:spPr>
      </p:sp>
      <p:sp>
        <p:nvSpPr>
          <p:cNvPr id="95" name="Text 93"/>
          <p:cNvSpPr txBox="1"/>
          <p:nvPr/>
        </p:nvSpPr>
        <p:spPr>
          <a:xfrm>
            <a:off x="9171432" y="2212848"/>
            <a:ext cx="658368" cy="658368"/>
          </a:xfrm>
          <a:prstGeom prst="rect">
            <a:avLst/>
          </a:prstGeom>
          <a:noFill/>
          <a:ln/>
        </p:spPr>
        <p:txBody>
          <a:bodyPr wrap="square" lIns="0" tIns="0" rIns="0" bIns="0" rtlCol="0" anchor="ctr"/>
          <a:lstStyle/>
          <a:p>
            <a:pPr algn="ctr" indent="0" marL="0">
              <a:buNone/>
            </a:pPr>
            <a:r>
              <a:rPr lang="en-US" sz="1600" b="1" dirty="0">
                <a:solidFill>
                  <a:srgbClr val="E06F00"/>
                </a:solidFill>
                <a:latin typeface="Montserrat" pitchFamily="34" charset="0"/>
                <a:ea typeface="Montserrat" pitchFamily="34" charset="-122"/>
                <a:cs typeface="Montserrat" pitchFamily="34" charset="-120"/>
              </a:rPr>
              <a:t>DH</a:t>
            </a:r>
            <a:endParaRPr lang="en-US" sz="1600" dirty="0"/>
          </a:p>
        </p:txBody>
      </p:sp>
      <p:sp>
        <p:nvSpPr>
          <p:cNvPr id="96" name="Text 94"/>
          <p:cNvSpPr txBox="1"/>
          <p:nvPr/>
        </p:nvSpPr>
        <p:spPr>
          <a:xfrm>
            <a:off x="9976104" y="2194560"/>
            <a:ext cx="1554480" cy="292608"/>
          </a:xfrm>
          <a:prstGeom prst="rect">
            <a:avLst/>
          </a:prstGeom>
          <a:noFill/>
          <a:ln/>
        </p:spPr>
        <p:txBody>
          <a:bodyPr wrap="square" lIns="0" tIns="0" rIns="0" bIns="0" rtlCol="0" anchor="ctr"/>
          <a:lstStyle/>
          <a:p>
            <a:pPr indent="0" marL="0">
              <a:buNone/>
            </a:pPr>
            <a:r>
              <a:rPr lang="en-US" sz="1000" dirty="0">
                <a:solidFill>
                  <a:srgbClr val="FFFFFF"/>
                </a:solidFill>
                <a:latin typeface="Open Sans" pitchFamily="34" charset="0"/>
                <a:ea typeface="Open Sans" pitchFamily="34" charset="-122"/>
                <a:cs typeface="Open Sans" pitchFamily="34" charset="-120"/>
              </a:rPr>
              <a:t>Integrante 4</a:t>
            </a:r>
            <a:endParaRPr lang="en-US" sz="1000" dirty="0"/>
          </a:p>
        </p:txBody>
      </p:sp>
      <p:sp>
        <p:nvSpPr>
          <p:cNvPr id="97" name="Text 95"/>
          <p:cNvSpPr txBox="1"/>
          <p:nvPr/>
        </p:nvSpPr>
        <p:spPr>
          <a:xfrm>
            <a:off x="9976104" y="2468880"/>
            <a:ext cx="1554480" cy="475488"/>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17</a:t>
            </a:r>
            <a:pPr indent="0" marL="0">
              <a:buNone/>
            </a:pPr>
            <a:r>
              <a:rPr lang="en-US" sz="1000" b="1" dirty="0">
                <a:solidFill>
                  <a:srgbClr val="FFFFFF"/>
                </a:solidFill>
                <a:latin typeface="Open Sans" pitchFamily="34" charset="0"/>
                <a:ea typeface="Open Sans" pitchFamily="34" charset="-122"/>
                <a:cs typeface="Open Sans" pitchFamily="34" charset="-120"/>
              </a:rPr>
              <a:t> pts</a:t>
            </a:r>
            <a:endParaRPr lang="en-US" sz="1200" dirty="0"/>
          </a:p>
        </p:txBody>
      </p:sp>
      <p:sp>
        <p:nvSpPr>
          <p:cNvPr id="98" name="Shape 96"/>
          <p:cNvSpPr/>
          <p:nvPr/>
        </p:nvSpPr>
        <p:spPr>
          <a:xfrm>
            <a:off x="8970264" y="3200400"/>
            <a:ext cx="2651760" cy="676656"/>
          </a:xfrm>
          <a:prstGeom prst="roundRect">
            <a:avLst>
              <a:gd name="adj" fmla="val 13514"/>
            </a:avLst>
          </a:prstGeom>
          <a:solidFill>
            <a:srgbClr val="FFF1DE"/>
          </a:solidFill>
          <a:ln/>
        </p:spPr>
      </p:sp>
      <p:sp>
        <p:nvSpPr>
          <p:cNvPr id="99" name="Text 97"/>
          <p:cNvSpPr txBox="1"/>
          <p:nvPr/>
        </p:nvSpPr>
        <p:spPr>
          <a:xfrm>
            <a:off x="9098280" y="3246120"/>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ODS14-20</a:t>
            </a:r>
            <a:endParaRPr lang="en-US" sz="850" dirty="0"/>
          </a:p>
        </p:txBody>
      </p:sp>
      <p:sp>
        <p:nvSpPr>
          <p:cNvPr id="100" name="Shape 98"/>
          <p:cNvSpPr/>
          <p:nvPr/>
        </p:nvSpPr>
        <p:spPr>
          <a:xfrm>
            <a:off x="10753344" y="3264408"/>
            <a:ext cx="365760" cy="192024"/>
          </a:xfrm>
          <a:prstGeom prst="roundRect">
            <a:avLst>
              <a:gd name="adj" fmla="val 50000"/>
            </a:avLst>
          </a:prstGeom>
          <a:solidFill>
            <a:srgbClr val="7B5CFF"/>
          </a:solidFill>
          <a:ln/>
        </p:spPr>
      </p:sp>
      <p:sp>
        <p:nvSpPr>
          <p:cNvPr id="101" name="Text 99"/>
          <p:cNvSpPr txBox="1"/>
          <p:nvPr/>
        </p:nvSpPr>
        <p:spPr>
          <a:xfrm>
            <a:off x="10753344" y="3264408"/>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S2</a:t>
            </a:r>
            <a:endParaRPr lang="en-US" sz="750" dirty="0"/>
          </a:p>
        </p:txBody>
      </p:sp>
      <p:sp>
        <p:nvSpPr>
          <p:cNvPr id="102" name="Text 100"/>
          <p:cNvSpPr txBox="1"/>
          <p:nvPr/>
        </p:nvSpPr>
        <p:spPr>
          <a:xfrm>
            <a:off x="11146536" y="3246120"/>
            <a:ext cx="384048" cy="219456"/>
          </a:xfrm>
          <a:prstGeom prst="rect">
            <a:avLst/>
          </a:prstGeom>
          <a:noFill/>
          <a:ln/>
        </p:spPr>
        <p:txBody>
          <a:bodyPr wrap="square" lIns="0" tIns="0" rIns="0" bIns="0" rtlCol="0" anchor="ctr"/>
          <a:lstStyle/>
          <a:p>
            <a:pPr algn="r" indent="0" marL="0">
              <a:buNone/>
            </a:pPr>
            <a:r>
              <a:rPr lang="en-US" sz="800" b="1" dirty="0">
                <a:solidFill>
                  <a:srgbClr val="E06F00"/>
                </a:solidFill>
                <a:latin typeface="Open Sans" pitchFamily="34" charset="0"/>
                <a:ea typeface="Open Sans" pitchFamily="34" charset="-122"/>
                <a:cs typeface="Open Sans" pitchFamily="34" charset="-120"/>
              </a:rPr>
              <a:t>4 pts</a:t>
            </a:r>
            <a:endParaRPr lang="en-US" sz="800" dirty="0"/>
          </a:p>
        </p:txBody>
      </p:sp>
      <p:sp>
        <p:nvSpPr>
          <p:cNvPr id="103" name="Text 101"/>
          <p:cNvSpPr txBox="1"/>
          <p:nvPr/>
        </p:nvSpPr>
        <p:spPr>
          <a:xfrm>
            <a:off x="9098280" y="3474720"/>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Gestión de roles y permisos del sistema</a:t>
            </a:r>
            <a:endParaRPr lang="en-US" sz="900" dirty="0"/>
          </a:p>
        </p:txBody>
      </p:sp>
      <p:sp>
        <p:nvSpPr>
          <p:cNvPr id="104" name="Shape 102"/>
          <p:cNvSpPr/>
          <p:nvPr/>
        </p:nvSpPr>
        <p:spPr>
          <a:xfrm>
            <a:off x="8970264" y="3968496"/>
            <a:ext cx="2651760" cy="676656"/>
          </a:xfrm>
          <a:prstGeom prst="roundRect">
            <a:avLst>
              <a:gd name="adj" fmla="val 13514"/>
            </a:avLst>
          </a:prstGeom>
          <a:solidFill>
            <a:srgbClr val="FFF1DE"/>
          </a:solidFill>
          <a:ln/>
        </p:spPr>
      </p:sp>
      <p:sp>
        <p:nvSpPr>
          <p:cNvPr id="105" name="Text 103"/>
          <p:cNvSpPr txBox="1"/>
          <p:nvPr/>
        </p:nvSpPr>
        <p:spPr>
          <a:xfrm>
            <a:off x="9098280" y="4014216"/>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ODS14-16</a:t>
            </a:r>
            <a:endParaRPr lang="en-US" sz="850" dirty="0"/>
          </a:p>
        </p:txBody>
      </p:sp>
      <p:sp>
        <p:nvSpPr>
          <p:cNvPr id="106" name="Shape 104"/>
          <p:cNvSpPr/>
          <p:nvPr/>
        </p:nvSpPr>
        <p:spPr>
          <a:xfrm>
            <a:off x="10753344" y="4032504"/>
            <a:ext cx="365760" cy="192024"/>
          </a:xfrm>
          <a:prstGeom prst="roundRect">
            <a:avLst>
              <a:gd name="adj" fmla="val 50000"/>
            </a:avLst>
          </a:prstGeom>
          <a:solidFill>
            <a:srgbClr val="FF8A00"/>
          </a:solidFill>
          <a:ln/>
        </p:spPr>
      </p:sp>
      <p:sp>
        <p:nvSpPr>
          <p:cNvPr id="107" name="Text 105"/>
          <p:cNvSpPr txBox="1"/>
          <p:nvPr/>
        </p:nvSpPr>
        <p:spPr>
          <a:xfrm>
            <a:off x="10753344" y="4032504"/>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08" name="Text 106"/>
          <p:cNvSpPr txBox="1"/>
          <p:nvPr/>
        </p:nvSpPr>
        <p:spPr>
          <a:xfrm>
            <a:off x="11146536" y="4014216"/>
            <a:ext cx="384048" cy="219456"/>
          </a:xfrm>
          <a:prstGeom prst="rect">
            <a:avLst/>
          </a:prstGeom>
          <a:noFill/>
          <a:ln/>
        </p:spPr>
        <p:txBody>
          <a:bodyPr wrap="square" lIns="0" tIns="0" rIns="0" bIns="0" rtlCol="0" anchor="ctr"/>
          <a:lstStyle/>
          <a:p>
            <a:pPr algn="r" indent="0" marL="0">
              <a:buNone/>
            </a:pPr>
            <a:r>
              <a:rPr lang="en-US" sz="800" b="1" dirty="0">
                <a:solidFill>
                  <a:srgbClr val="E06F00"/>
                </a:solidFill>
                <a:latin typeface="Open Sans" pitchFamily="34" charset="0"/>
                <a:ea typeface="Open Sans" pitchFamily="34" charset="-122"/>
                <a:cs typeface="Open Sans" pitchFamily="34" charset="-120"/>
              </a:rPr>
              <a:t>5 pts</a:t>
            </a:r>
            <a:endParaRPr lang="en-US" sz="800" dirty="0"/>
          </a:p>
        </p:txBody>
      </p:sp>
      <p:sp>
        <p:nvSpPr>
          <p:cNvPr id="109" name="Text 107"/>
          <p:cNvSpPr txBox="1"/>
          <p:nvPr/>
        </p:nvSpPr>
        <p:spPr>
          <a:xfrm>
            <a:off x="9098280" y="4242816"/>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Reporte de especies más capturadas</a:t>
            </a:r>
            <a:endParaRPr lang="en-US" sz="900" dirty="0"/>
          </a:p>
        </p:txBody>
      </p:sp>
      <p:sp>
        <p:nvSpPr>
          <p:cNvPr id="110" name="Shape 108"/>
          <p:cNvSpPr/>
          <p:nvPr/>
        </p:nvSpPr>
        <p:spPr>
          <a:xfrm>
            <a:off x="8970264" y="4736592"/>
            <a:ext cx="2651760" cy="676656"/>
          </a:xfrm>
          <a:prstGeom prst="roundRect">
            <a:avLst>
              <a:gd name="adj" fmla="val 13514"/>
            </a:avLst>
          </a:prstGeom>
          <a:solidFill>
            <a:srgbClr val="FFF1DE"/>
          </a:solidFill>
          <a:ln/>
        </p:spPr>
      </p:sp>
      <p:sp>
        <p:nvSpPr>
          <p:cNvPr id="111" name="Text 109"/>
          <p:cNvSpPr txBox="1"/>
          <p:nvPr/>
        </p:nvSpPr>
        <p:spPr>
          <a:xfrm>
            <a:off x="9098280" y="4782312"/>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ODS14-17</a:t>
            </a:r>
            <a:endParaRPr lang="en-US" sz="850" dirty="0"/>
          </a:p>
        </p:txBody>
      </p:sp>
      <p:sp>
        <p:nvSpPr>
          <p:cNvPr id="112" name="Shape 110"/>
          <p:cNvSpPr/>
          <p:nvPr/>
        </p:nvSpPr>
        <p:spPr>
          <a:xfrm>
            <a:off x="10753344" y="4800600"/>
            <a:ext cx="365760" cy="192024"/>
          </a:xfrm>
          <a:prstGeom prst="roundRect">
            <a:avLst>
              <a:gd name="adj" fmla="val 50000"/>
            </a:avLst>
          </a:prstGeom>
          <a:solidFill>
            <a:srgbClr val="FF8A00"/>
          </a:solidFill>
          <a:ln/>
        </p:spPr>
      </p:sp>
      <p:sp>
        <p:nvSpPr>
          <p:cNvPr id="113" name="Text 111"/>
          <p:cNvSpPr txBox="1"/>
          <p:nvPr/>
        </p:nvSpPr>
        <p:spPr>
          <a:xfrm>
            <a:off x="10753344" y="4800600"/>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14" name="Text 112"/>
          <p:cNvSpPr txBox="1"/>
          <p:nvPr/>
        </p:nvSpPr>
        <p:spPr>
          <a:xfrm>
            <a:off x="11146536" y="4782312"/>
            <a:ext cx="384048" cy="219456"/>
          </a:xfrm>
          <a:prstGeom prst="rect">
            <a:avLst/>
          </a:prstGeom>
          <a:noFill/>
          <a:ln/>
        </p:spPr>
        <p:txBody>
          <a:bodyPr wrap="square" lIns="0" tIns="0" rIns="0" bIns="0" rtlCol="0" anchor="ctr"/>
          <a:lstStyle/>
          <a:p>
            <a:pPr algn="r" indent="0" marL="0">
              <a:buNone/>
            </a:pPr>
            <a:r>
              <a:rPr lang="en-US" sz="800" b="1" dirty="0">
                <a:solidFill>
                  <a:srgbClr val="E06F00"/>
                </a:solidFill>
                <a:latin typeface="Open Sans" pitchFamily="34" charset="0"/>
                <a:ea typeface="Open Sans" pitchFamily="34" charset="-122"/>
                <a:cs typeface="Open Sans" pitchFamily="34" charset="-120"/>
              </a:rPr>
              <a:t>4 pts</a:t>
            </a:r>
            <a:endParaRPr lang="en-US" sz="800" dirty="0"/>
          </a:p>
        </p:txBody>
      </p:sp>
      <p:sp>
        <p:nvSpPr>
          <p:cNvPr id="115" name="Text 113"/>
          <p:cNvSpPr txBox="1"/>
          <p:nvPr/>
        </p:nvSpPr>
        <p:spPr>
          <a:xfrm>
            <a:off x="9098280" y="5010912"/>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Reporte de embarcaciones con irregularidades</a:t>
            </a:r>
            <a:endParaRPr lang="en-US" sz="900" dirty="0"/>
          </a:p>
        </p:txBody>
      </p:sp>
      <p:sp>
        <p:nvSpPr>
          <p:cNvPr id="116" name="Shape 114"/>
          <p:cNvSpPr/>
          <p:nvPr/>
        </p:nvSpPr>
        <p:spPr>
          <a:xfrm>
            <a:off x="8970264" y="5504688"/>
            <a:ext cx="2651760" cy="676656"/>
          </a:xfrm>
          <a:prstGeom prst="roundRect">
            <a:avLst>
              <a:gd name="adj" fmla="val 13514"/>
            </a:avLst>
          </a:prstGeom>
          <a:solidFill>
            <a:srgbClr val="FFF1DE"/>
          </a:solidFill>
          <a:ln/>
        </p:spPr>
      </p:sp>
      <p:sp>
        <p:nvSpPr>
          <p:cNvPr id="117" name="Text 115"/>
          <p:cNvSpPr txBox="1"/>
          <p:nvPr/>
        </p:nvSpPr>
        <p:spPr>
          <a:xfrm>
            <a:off x="9098280" y="5550408"/>
            <a:ext cx="1005840" cy="219456"/>
          </a:xfrm>
          <a:prstGeom prst="rect">
            <a:avLst/>
          </a:prstGeom>
          <a:noFill/>
          <a:ln/>
        </p:spPr>
        <p:txBody>
          <a:bodyPr wrap="square" lIns="0" tIns="0" rIns="0" bIns="0" rtlCol="0" anchor="ctr"/>
          <a:lstStyle/>
          <a:p>
            <a:pPr indent="0" marL="0">
              <a:buNone/>
            </a:pPr>
            <a:r>
              <a:rPr lang="en-US" sz="850" b="1" dirty="0">
                <a:solidFill>
                  <a:srgbClr val="E06F00"/>
                </a:solidFill>
                <a:latin typeface="Montserrat" pitchFamily="34" charset="0"/>
                <a:ea typeface="Montserrat" pitchFamily="34" charset="-122"/>
                <a:cs typeface="Montserrat" pitchFamily="34" charset="-120"/>
              </a:rPr>
              <a:t>ODS14-18</a:t>
            </a:r>
            <a:endParaRPr lang="en-US" sz="850" dirty="0"/>
          </a:p>
        </p:txBody>
      </p:sp>
      <p:sp>
        <p:nvSpPr>
          <p:cNvPr id="118" name="Shape 116"/>
          <p:cNvSpPr/>
          <p:nvPr/>
        </p:nvSpPr>
        <p:spPr>
          <a:xfrm>
            <a:off x="10753344" y="5568696"/>
            <a:ext cx="365760" cy="192024"/>
          </a:xfrm>
          <a:prstGeom prst="roundRect">
            <a:avLst>
              <a:gd name="adj" fmla="val 50000"/>
            </a:avLst>
          </a:prstGeom>
          <a:solidFill>
            <a:srgbClr val="FF8A00"/>
          </a:solidFill>
          <a:ln/>
        </p:spPr>
      </p:sp>
      <p:sp>
        <p:nvSpPr>
          <p:cNvPr id="119" name="Text 117"/>
          <p:cNvSpPr txBox="1"/>
          <p:nvPr/>
        </p:nvSpPr>
        <p:spPr>
          <a:xfrm>
            <a:off x="10753344" y="5568696"/>
            <a:ext cx="365760" cy="192024"/>
          </a:xfrm>
          <a:prstGeom prst="rect">
            <a:avLst/>
          </a:prstGeom>
          <a:noFill/>
          <a:ln/>
        </p:spPr>
        <p:txBody>
          <a:bodyPr wrap="square" lIns="0" tIns="0" rIns="0" bIns="0" rtlCol="0" anchor="ctr"/>
          <a:lstStyle/>
          <a:p>
            <a:pPr algn="ctr" indent="0" marL="0">
              <a:buNone/>
            </a:pPr>
            <a:r>
              <a:rPr lang="en-US" sz="750" b="1" dirty="0">
                <a:solidFill>
                  <a:srgbClr val="FFFFFF"/>
                </a:solidFill>
                <a:latin typeface="Montserrat" pitchFamily="34" charset="0"/>
                <a:ea typeface="Montserrat" pitchFamily="34" charset="-122"/>
                <a:cs typeface="Montserrat" pitchFamily="34" charset="-120"/>
              </a:rPr>
              <a:t>S3</a:t>
            </a:r>
            <a:endParaRPr lang="en-US" sz="750" dirty="0"/>
          </a:p>
        </p:txBody>
      </p:sp>
      <p:sp>
        <p:nvSpPr>
          <p:cNvPr id="120" name="Text 118"/>
          <p:cNvSpPr txBox="1"/>
          <p:nvPr/>
        </p:nvSpPr>
        <p:spPr>
          <a:xfrm>
            <a:off x="11146536" y="5550408"/>
            <a:ext cx="384048" cy="219456"/>
          </a:xfrm>
          <a:prstGeom prst="rect">
            <a:avLst/>
          </a:prstGeom>
          <a:noFill/>
          <a:ln/>
        </p:spPr>
        <p:txBody>
          <a:bodyPr wrap="square" lIns="0" tIns="0" rIns="0" bIns="0" rtlCol="0" anchor="ctr"/>
          <a:lstStyle/>
          <a:p>
            <a:pPr algn="r" indent="0" marL="0">
              <a:buNone/>
            </a:pPr>
            <a:r>
              <a:rPr lang="en-US" sz="800" b="1" dirty="0">
                <a:solidFill>
                  <a:srgbClr val="E06F00"/>
                </a:solidFill>
                <a:latin typeface="Open Sans" pitchFamily="34" charset="0"/>
                <a:ea typeface="Open Sans" pitchFamily="34" charset="-122"/>
                <a:cs typeface="Open Sans" pitchFamily="34" charset="-120"/>
              </a:rPr>
              <a:t>4 pts</a:t>
            </a:r>
            <a:endParaRPr lang="en-US" sz="800" dirty="0"/>
          </a:p>
        </p:txBody>
      </p:sp>
      <p:sp>
        <p:nvSpPr>
          <p:cNvPr id="121" name="Text 119"/>
          <p:cNvSpPr txBox="1"/>
          <p:nvPr/>
        </p:nvSpPr>
        <p:spPr>
          <a:xfrm>
            <a:off x="9098280" y="5779008"/>
            <a:ext cx="2423160" cy="38404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Reporte y control de avance de cuotas</a:t>
            </a:r>
            <a:endParaRPr lang="en-US" sz="900" dirty="0"/>
          </a:p>
        </p:txBody>
      </p:sp>
      <p:sp>
        <p:nvSpPr>
          <p:cNvPr id="122" name="Text 12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123" name="Text 12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3730752" cy="274320"/>
          </a:xfrm>
          <a:prstGeom prst="roundRect">
            <a:avLst>
              <a:gd name="adj" fmla="val 50000"/>
            </a:avLst>
          </a:prstGeom>
          <a:solidFill>
            <a:srgbClr val="FF8A00"/>
          </a:solidFill>
          <a:ln/>
        </p:spPr>
      </p:sp>
      <p:sp>
        <p:nvSpPr>
          <p:cNvPr id="3" name="Text 1"/>
          <p:cNvSpPr txBox="1"/>
          <p:nvPr/>
        </p:nvSpPr>
        <p:spPr>
          <a:xfrm>
            <a:off x="548640" y="411480"/>
            <a:ext cx="3730752"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CAPÍTULO 5 · 5.4 HERRAMIENTAS UTILIZADAS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Las herramientas de nuestro flujo de trabajo</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16 del informe: uso en el proyecto y evidencia que deja cada una.</a:t>
            </a:r>
            <a:endParaRPr lang="en-US" sz="1300" dirty="0"/>
          </a:p>
        </p:txBody>
      </p:sp>
      <p:sp>
        <p:nvSpPr>
          <p:cNvPr id="6" name="Shape 4"/>
          <p:cNvSpPr/>
          <p:nvPr/>
        </p:nvSpPr>
        <p:spPr>
          <a:xfrm>
            <a:off x="548640" y="2011680"/>
            <a:ext cx="2651760" cy="2029968"/>
          </a:xfrm>
          <a:prstGeom prst="roundRect">
            <a:avLst>
              <a:gd name="adj" fmla="val 6306"/>
            </a:avLst>
          </a:prstGeom>
          <a:solidFill>
            <a:srgbClr val="FFFFFF"/>
          </a:solidFill>
          <a:ln w="19050">
            <a:solidFill>
              <a:srgbClr val="0B5FFF"/>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731520" y="2194560"/>
            <a:ext cx="548640" cy="548640"/>
          </a:xfrm>
          <a:prstGeom prst="roundRect">
            <a:avLst>
              <a:gd name="adj" fmla="val 28000"/>
            </a:avLst>
          </a:prstGeom>
          <a:solidFill>
            <a:srgbClr val="0B5FFF"/>
          </a:solidFill>
          <a:ln/>
        </p:spPr>
      </p:sp>
      <p:pic>
        <p:nvPicPr>
          <p:cNvPr id="8" name="Image 0" descr="preencoded.png">    </p:cNvPr>
          <p:cNvPicPr>
            <a:picLocks noChangeAspect="1"/>
          </p:cNvPicPr>
          <p:nvPr/>
        </p:nvPicPr>
        <p:blipFill>
          <a:blip r:embed="rId2"/>
          <a:stretch>
            <a:fillRect/>
          </a:stretch>
        </p:blipFill>
        <p:spPr>
          <a:xfrm>
            <a:off x="863194" y="2326234"/>
            <a:ext cx="285293" cy="285293"/>
          </a:xfrm>
          <a:prstGeom prst="rect">
            <a:avLst/>
          </a:prstGeom>
        </p:spPr>
      </p:pic>
      <p:sp>
        <p:nvSpPr>
          <p:cNvPr id="9" name="Text 6"/>
          <p:cNvSpPr txBox="1"/>
          <p:nvPr/>
        </p:nvSpPr>
        <p:spPr>
          <a:xfrm>
            <a:off x="1417320" y="217627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Jira Software</a:t>
            </a:r>
            <a:endParaRPr lang="en-US" sz="1250" dirty="0"/>
          </a:p>
        </p:txBody>
      </p:sp>
      <p:sp>
        <p:nvSpPr>
          <p:cNvPr id="10" name="Text 7"/>
          <p:cNvSpPr txBox="1"/>
          <p:nvPr/>
        </p:nvSpPr>
        <p:spPr>
          <a:xfrm>
            <a:off x="1417320" y="2505456"/>
            <a:ext cx="1691640" cy="219456"/>
          </a:xfrm>
          <a:prstGeom prst="rect">
            <a:avLst/>
          </a:prstGeom>
          <a:noFill/>
          <a:ln/>
        </p:spPr>
        <p:txBody>
          <a:bodyPr wrap="square" lIns="0" tIns="0" rIns="0" bIns="0" rtlCol="0" anchor="ctr"/>
          <a:lstStyle/>
          <a:p>
            <a:pPr indent="0" marL="0">
              <a:buNone/>
            </a:pPr>
            <a:r>
              <a:rPr lang="en-US" sz="750" b="1" spc="100" kern="0" dirty="0">
                <a:solidFill>
                  <a:srgbClr val="0B5FFF"/>
                </a:solidFill>
                <a:latin typeface="Montserrat" pitchFamily="34" charset="0"/>
                <a:ea typeface="Montserrat" pitchFamily="34" charset="-122"/>
                <a:cs typeface="Montserrat" pitchFamily="34" charset="-120"/>
              </a:rPr>
              <a:t>GESTIÓN ÁGIL</a:t>
            </a:r>
            <a:endParaRPr lang="en-US" sz="750" dirty="0"/>
          </a:p>
        </p:txBody>
      </p:sp>
      <p:sp>
        <p:nvSpPr>
          <p:cNvPr id="11" name="Text 8"/>
          <p:cNvSpPr txBox="1"/>
          <p:nvPr/>
        </p:nvSpPr>
        <p:spPr>
          <a:xfrm>
            <a:off x="731520" y="287121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Product Backlog, planificación de Sprints, asignación de tareas, tablero Scrum/Kanban y estimación en puntos.</a:t>
            </a:r>
            <a:endParaRPr lang="en-US" sz="950" dirty="0"/>
          </a:p>
        </p:txBody>
      </p:sp>
      <p:sp>
        <p:nvSpPr>
          <p:cNvPr id="12" name="Shape 9"/>
          <p:cNvSpPr/>
          <p:nvPr/>
        </p:nvSpPr>
        <p:spPr>
          <a:xfrm>
            <a:off x="676656" y="3584448"/>
            <a:ext cx="2395728" cy="347472"/>
          </a:xfrm>
          <a:prstGeom prst="roundRect">
            <a:avLst>
              <a:gd name="adj" fmla="val 21053"/>
            </a:avLst>
          </a:prstGeom>
          <a:solidFill>
            <a:srgbClr val="F4F8FF"/>
          </a:solidFill>
          <a:ln/>
        </p:spPr>
      </p:sp>
      <p:sp>
        <p:nvSpPr>
          <p:cNvPr id="13" name="Text 10"/>
          <p:cNvSpPr txBox="1"/>
          <p:nvPr/>
        </p:nvSpPr>
        <p:spPr>
          <a:xfrm>
            <a:off x="768096" y="3584448"/>
            <a:ext cx="2240280" cy="347472"/>
          </a:xfrm>
          <a:prstGeom prst="rect">
            <a:avLst/>
          </a:prstGeom>
          <a:noFill/>
          <a:ln/>
        </p:spPr>
        <p:txBody>
          <a:bodyPr wrap="square" lIns="0" tIns="0" rIns="0" bIns="0" rtlCol="0" anchor="ctr"/>
          <a:lstStyle/>
          <a:p>
            <a:pPr indent="0" marL="0">
              <a:buNone/>
            </a:pPr>
            <a:r>
              <a:rPr lang="en-US" sz="800" b="1" dirty="0">
                <a:solidFill>
                  <a:srgbClr val="0B5FFF"/>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Proyecto «SIRDEPA – Vida Submarina - ODS 14»</a:t>
            </a:r>
            <a:endParaRPr lang="en-US" sz="800" dirty="0"/>
          </a:p>
        </p:txBody>
      </p:sp>
      <p:sp>
        <p:nvSpPr>
          <p:cNvPr id="14" name="Shape 11"/>
          <p:cNvSpPr/>
          <p:nvPr/>
        </p:nvSpPr>
        <p:spPr>
          <a:xfrm>
            <a:off x="3355848" y="201168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 name="Shape 12"/>
          <p:cNvSpPr/>
          <p:nvPr/>
        </p:nvSpPr>
        <p:spPr>
          <a:xfrm>
            <a:off x="3538728" y="2194560"/>
            <a:ext cx="548640" cy="548640"/>
          </a:xfrm>
          <a:prstGeom prst="roundRect">
            <a:avLst>
              <a:gd name="adj" fmla="val 28000"/>
            </a:avLst>
          </a:prstGeom>
          <a:solidFill>
            <a:srgbClr val="0B1E4F"/>
          </a:solidFill>
          <a:ln/>
        </p:spPr>
      </p:sp>
      <p:pic>
        <p:nvPicPr>
          <p:cNvPr id="16" name="Image 1" descr="preencoded.png">    </p:cNvPr>
          <p:cNvPicPr>
            <a:picLocks noChangeAspect="1"/>
          </p:cNvPicPr>
          <p:nvPr/>
        </p:nvPicPr>
        <p:blipFill>
          <a:blip r:embed="rId3"/>
          <a:stretch>
            <a:fillRect/>
          </a:stretch>
        </p:blipFill>
        <p:spPr>
          <a:xfrm>
            <a:off x="3670402" y="2326234"/>
            <a:ext cx="285293" cy="285293"/>
          </a:xfrm>
          <a:prstGeom prst="rect">
            <a:avLst/>
          </a:prstGeom>
        </p:spPr>
      </p:pic>
      <p:sp>
        <p:nvSpPr>
          <p:cNvPr id="17" name="Text 13"/>
          <p:cNvSpPr txBox="1"/>
          <p:nvPr/>
        </p:nvSpPr>
        <p:spPr>
          <a:xfrm>
            <a:off x="4224528" y="217627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GitHub</a:t>
            </a:r>
            <a:endParaRPr lang="en-US" sz="1250" dirty="0"/>
          </a:p>
        </p:txBody>
      </p:sp>
      <p:sp>
        <p:nvSpPr>
          <p:cNvPr id="18" name="Text 14"/>
          <p:cNvSpPr txBox="1"/>
          <p:nvPr/>
        </p:nvSpPr>
        <p:spPr>
          <a:xfrm>
            <a:off x="4224528" y="2505456"/>
            <a:ext cx="1691640" cy="219456"/>
          </a:xfrm>
          <a:prstGeom prst="rect">
            <a:avLst/>
          </a:prstGeom>
          <a:noFill/>
          <a:ln/>
        </p:spPr>
        <p:txBody>
          <a:bodyPr wrap="square" lIns="0" tIns="0" rIns="0" bIns="0" rtlCol="0" anchor="ctr"/>
          <a:lstStyle/>
          <a:p>
            <a:pPr indent="0" marL="0">
              <a:buNone/>
            </a:pPr>
            <a:r>
              <a:rPr lang="en-US" sz="750" b="1" spc="100" kern="0" dirty="0">
                <a:solidFill>
                  <a:srgbClr val="0B1E4F"/>
                </a:solidFill>
                <a:latin typeface="Montserrat" pitchFamily="34" charset="0"/>
                <a:ea typeface="Montserrat" pitchFamily="34" charset="-122"/>
                <a:cs typeface="Montserrat" pitchFamily="34" charset="-120"/>
              </a:rPr>
              <a:t>CONTROL DE VERSIONES</a:t>
            </a:r>
            <a:endParaRPr lang="en-US" sz="750" dirty="0"/>
          </a:p>
        </p:txBody>
      </p:sp>
      <p:sp>
        <p:nvSpPr>
          <p:cNvPr id="19" name="Text 15"/>
          <p:cNvSpPr txBox="1"/>
          <p:nvPr/>
        </p:nvSpPr>
        <p:spPr>
          <a:xfrm>
            <a:off x="3538728" y="287121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Repositorio y control de versiones del código fuente y la documentación.</a:t>
            </a:r>
            <a:endParaRPr lang="en-US" sz="950" dirty="0"/>
          </a:p>
        </p:txBody>
      </p:sp>
      <p:sp>
        <p:nvSpPr>
          <p:cNvPr id="20" name="Shape 16"/>
          <p:cNvSpPr/>
          <p:nvPr/>
        </p:nvSpPr>
        <p:spPr>
          <a:xfrm>
            <a:off x="3483864" y="3584448"/>
            <a:ext cx="2395728" cy="347472"/>
          </a:xfrm>
          <a:prstGeom prst="roundRect">
            <a:avLst>
              <a:gd name="adj" fmla="val 21053"/>
            </a:avLst>
          </a:prstGeom>
          <a:solidFill>
            <a:srgbClr val="F4F8FF"/>
          </a:solidFill>
          <a:ln/>
        </p:spPr>
      </p:sp>
      <p:sp>
        <p:nvSpPr>
          <p:cNvPr id="21" name="Text 17"/>
          <p:cNvSpPr txBox="1"/>
          <p:nvPr/>
        </p:nvSpPr>
        <p:spPr>
          <a:xfrm>
            <a:off x="3575304" y="3584448"/>
            <a:ext cx="2240280" cy="347472"/>
          </a:xfrm>
          <a:prstGeom prst="rect">
            <a:avLst/>
          </a:prstGeom>
          <a:noFill/>
          <a:ln/>
        </p:spPr>
        <p:txBody>
          <a:bodyPr wrap="square" lIns="0" tIns="0" rIns="0" bIns="0" rtlCol="0" anchor="ctr"/>
          <a:lstStyle/>
          <a:p>
            <a:pPr indent="0" marL="0">
              <a:buNone/>
            </a:pPr>
            <a:r>
              <a:rPr lang="en-US" sz="800" b="1" dirty="0">
                <a:solidFill>
                  <a:srgbClr val="0B1E4F"/>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Repositorio ODS-14-Vida-submarina</a:t>
            </a:r>
            <a:endParaRPr lang="en-US" sz="800" dirty="0"/>
          </a:p>
        </p:txBody>
      </p:sp>
      <p:sp>
        <p:nvSpPr>
          <p:cNvPr id="22" name="Shape 18"/>
          <p:cNvSpPr/>
          <p:nvPr/>
        </p:nvSpPr>
        <p:spPr>
          <a:xfrm>
            <a:off x="6163056" y="201168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3" name="Shape 19"/>
          <p:cNvSpPr/>
          <p:nvPr/>
        </p:nvSpPr>
        <p:spPr>
          <a:xfrm>
            <a:off x="6345936" y="2194560"/>
            <a:ext cx="548640" cy="548640"/>
          </a:xfrm>
          <a:prstGeom prst="roundRect">
            <a:avLst>
              <a:gd name="adj" fmla="val 28000"/>
            </a:avLst>
          </a:prstGeom>
          <a:solidFill>
            <a:srgbClr val="E06F00"/>
          </a:solidFill>
          <a:ln/>
        </p:spPr>
      </p:sp>
      <p:pic>
        <p:nvPicPr>
          <p:cNvPr id="24" name="Image 2" descr="preencoded.png">    </p:cNvPr>
          <p:cNvPicPr>
            <a:picLocks noChangeAspect="1"/>
          </p:cNvPicPr>
          <p:nvPr/>
        </p:nvPicPr>
        <p:blipFill>
          <a:blip r:embed="rId4"/>
          <a:stretch>
            <a:fillRect/>
          </a:stretch>
        </p:blipFill>
        <p:spPr>
          <a:xfrm>
            <a:off x="6477610" y="2326234"/>
            <a:ext cx="285293" cy="285293"/>
          </a:xfrm>
          <a:prstGeom prst="rect">
            <a:avLst/>
          </a:prstGeom>
        </p:spPr>
      </p:pic>
      <p:sp>
        <p:nvSpPr>
          <p:cNvPr id="25" name="Text 20"/>
          <p:cNvSpPr txBox="1"/>
          <p:nvPr/>
        </p:nvSpPr>
        <p:spPr>
          <a:xfrm>
            <a:off x="7031736" y="217627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Draw.io / Visio</a:t>
            </a:r>
            <a:endParaRPr lang="en-US" sz="1250" dirty="0"/>
          </a:p>
        </p:txBody>
      </p:sp>
      <p:sp>
        <p:nvSpPr>
          <p:cNvPr id="26" name="Text 21"/>
          <p:cNvSpPr txBox="1"/>
          <p:nvPr/>
        </p:nvSpPr>
        <p:spPr>
          <a:xfrm>
            <a:off x="7031736" y="2505456"/>
            <a:ext cx="1691640" cy="219456"/>
          </a:xfrm>
          <a:prstGeom prst="rect">
            <a:avLst/>
          </a:prstGeom>
          <a:noFill/>
          <a:ln/>
        </p:spPr>
        <p:txBody>
          <a:bodyPr wrap="square" lIns="0" tIns="0" rIns="0" bIns="0" rtlCol="0" anchor="ctr"/>
          <a:lstStyle/>
          <a:p>
            <a:pPr indent="0" marL="0">
              <a:buNone/>
            </a:pPr>
            <a:r>
              <a:rPr lang="en-US" sz="750" b="1" spc="100" kern="0" dirty="0">
                <a:solidFill>
                  <a:srgbClr val="E06F00"/>
                </a:solidFill>
                <a:latin typeface="Montserrat" pitchFamily="34" charset="0"/>
                <a:ea typeface="Montserrat" pitchFamily="34" charset="-122"/>
                <a:cs typeface="Montserrat" pitchFamily="34" charset="-120"/>
              </a:rPr>
              <a:t>MODELADO UML</a:t>
            </a:r>
            <a:endParaRPr lang="en-US" sz="750" dirty="0"/>
          </a:p>
        </p:txBody>
      </p:sp>
      <p:sp>
        <p:nvSpPr>
          <p:cNvPr id="27" name="Text 22"/>
          <p:cNvSpPr txBox="1"/>
          <p:nvPr/>
        </p:nvSpPr>
        <p:spPr>
          <a:xfrm>
            <a:off x="6345936" y="287121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Casos de uso, secuencia, clases y arquitectura del sistema.</a:t>
            </a:r>
            <a:endParaRPr lang="en-US" sz="950" dirty="0"/>
          </a:p>
        </p:txBody>
      </p:sp>
      <p:sp>
        <p:nvSpPr>
          <p:cNvPr id="28" name="Shape 23"/>
          <p:cNvSpPr/>
          <p:nvPr/>
        </p:nvSpPr>
        <p:spPr>
          <a:xfrm>
            <a:off x="6291072" y="3584448"/>
            <a:ext cx="2395728" cy="347472"/>
          </a:xfrm>
          <a:prstGeom prst="roundRect">
            <a:avLst>
              <a:gd name="adj" fmla="val 21053"/>
            </a:avLst>
          </a:prstGeom>
          <a:solidFill>
            <a:srgbClr val="F4F8FF"/>
          </a:solidFill>
          <a:ln/>
        </p:spPr>
      </p:sp>
      <p:sp>
        <p:nvSpPr>
          <p:cNvPr id="29" name="Text 24"/>
          <p:cNvSpPr txBox="1"/>
          <p:nvPr/>
        </p:nvSpPr>
        <p:spPr>
          <a:xfrm>
            <a:off x="6382512" y="3584448"/>
            <a:ext cx="2240280" cy="347472"/>
          </a:xfrm>
          <a:prstGeom prst="rect">
            <a:avLst/>
          </a:prstGeom>
          <a:noFill/>
          <a:ln/>
        </p:spPr>
        <p:txBody>
          <a:bodyPr wrap="square" lIns="0" tIns="0" rIns="0" bIns="0" rtlCol="0" anchor="ctr"/>
          <a:lstStyle/>
          <a:p>
            <a:pPr indent="0" marL="0">
              <a:buNone/>
            </a:pPr>
            <a:r>
              <a:rPr lang="en-US" sz="800" b="1" dirty="0">
                <a:solidFill>
                  <a:srgbClr val="E06F00"/>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Diagramas en la documentación técnica</a:t>
            </a:r>
            <a:endParaRPr lang="en-US" sz="800" dirty="0"/>
          </a:p>
        </p:txBody>
      </p:sp>
      <p:sp>
        <p:nvSpPr>
          <p:cNvPr id="30" name="Shape 25"/>
          <p:cNvSpPr/>
          <p:nvPr/>
        </p:nvSpPr>
        <p:spPr>
          <a:xfrm>
            <a:off x="8970264" y="201168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1" name="Shape 26"/>
          <p:cNvSpPr/>
          <p:nvPr/>
        </p:nvSpPr>
        <p:spPr>
          <a:xfrm>
            <a:off x="9153144" y="2194560"/>
            <a:ext cx="548640" cy="548640"/>
          </a:xfrm>
          <a:prstGeom prst="roundRect">
            <a:avLst>
              <a:gd name="adj" fmla="val 28000"/>
            </a:avLst>
          </a:prstGeom>
          <a:solidFill>
            <a:srgbClr val="7B5CFF"/>
          </a:solidFill>
          <a:ln/>
        </p:spPr>
      </p:sp>
      <p:pic>
        <p:nvPicPr>
          <p:cNvPr id="32" name="Image 3" descr="preencoded.png">    </p:cNvPr>
          <p:cNvPicPr>
            <a:picLocks noChangeAspect="1"/>
          </p:cNvPicPr>
          <p:nvPr/>
        </p:nvPicPr>
        <p:blipFill>
          <a:blip r:embed="rId5"/>
          <a:stretch>
            <a:fillRect/>
          </a:stretch>
        </p:blipFill>
        <p:spPr>
          <a:xfrm>
            <a:off x="9284818" y="2326234"/>
            <a:ext cx="285293" cy="285293"/>
          </a:xfrm>
          <a:prstGeom prst="rect">
            <a:avLst/>
          </a:prstGeom>
        </p:spPr>
      </p:pic>
      <p:sp>
        <p:nvSpPr>
          <p:cNvPr id="33" name="Text 27"/>
          <p:cNvSpPr txBox="1"/>
          <p:nvPr/>
        </p:nvSpPr>
        <p:spPr>
          <a:xfrm>
            <a:off x="9838944" y="217627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Visual Paradigm</a:t>
            </a:r>
            <a:endParaRPr lang="en-US" sz="1250" dirty="0"/>
          </a:p>
        </p:txBody>
      </p:sp>
      <p:sp>
        <p:nvSpPr>
          <p:cNvPr id="34" name="Text 28"/>
          <p:cNvSpPr txBox="1"/>
          <p:nvPr/>
        </p:nvSpPr>
        <p:spPr>
          <a:xfrm>
            <a:off x="9838944" y="2505456"/>
            <a:ext cx="1691640" cy="219456"/>
          </a:xfrm>
          <a:prstGeom prst="rect">
            <a:avLst/>
          </a:prstGeom>
          <a:noFill/>
          <a:ln/>
        </p:spPr>
        <p:txBody>
          <a:bodyPr wrap="square" lIns="0" tIns="0" rIns="0" bIns="0" rtlCol="0" anchor="ctr"/>
          <a:lstStyle/>
          <a:p>
            <a:pPr indent="0" marL="0">
              <a:buNone/>
            </a:pPr>
            <a:r>
              <a:rPr lang="en-US" sz="750" b="1" spc="100" kern="0" dirty="0">
                <a:solidFill>
                  <a:srgbClr val="7B5CFF"/>
                </a:solidFill>
                <a:latin typeface="Montserrat" pitchFamily="34" charset="0"/>
                <a:ea typeface="Montserrat" pitchFamily="34" charset="-122"/>
                <a:cs typeface="Montserrat" pitchFamily="34" charset="-120"/>
              </a:rPr>
              <a:t>DIAGRAMACIÓN</a:t>
            </a:r>
            <a:endParaRPr lang="en-US" sz="750" dirty="0"/>
          </a:p>
        </p:txBody>
      </p:sp>
      <p:sp>
        <p:nvSpPr>
          <p:cNvPr id="35" name="Text 29"/>
          <p:cNvSpPr txBox="1"/>
          <p:nvPr/>
        </p:nvSpPr>
        <p:spPr>
          <a:xfrm>
            <a:off x="9153144" y="287121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Diagrama de contexto, árbol de problemas y modelos entidad-relación.</a:t>
            </a:r>
            <a:endParaRPr lang="en-US" sz="950" dirty="0"/>
          </a:p>
        </p:txBody>
      </p:sp>
      <p:sp>
        <p:nvSpPr>
          <p:cNvPr id="36" name="Shape 30"/>
          <p:cNvSpPr/>
          <p:nvPr/>
        </p:nvSpPr>
        <p:spPr>
          <a:xfrm>
            <a:off x="9098280" y="3584448"/>
            <a:ext cx="2395728" cy="347472"/>
          </a:xfrm>
          <a:prstGeom prst="roundRect">
            <a:avLst>
              <a:gd name="adj" fmla="val 21053"/>
            </a:avLst>
          </a:prstGeom>
          <a:solidFill>
            <a:srgbClr val="F4F8FF"/>
          </a:solidFill>
          <a:ln/>
        </p:spPr>
      </p:sp>
      <p:sp>
        <p:nvSpPr>
          <p:cNvPr id="37" name="Text 31"/>
          <p:cNvSpPr txBox="1"/>
          <p:nvPr/>
        </p:nvSpPr>
        <p:spPr>
          <a:xfrm>
            <a:off x="9189720" y="3584448"/>
            <a:ext cx="2240280" cy="347472"/>
          </a:xfrm>
          <a:prstGeom prst="rect">
            <a:avLst/>
          </a:prstGeom>
          <a:noFill/>
          <a:ln/>
        </p:spPr>
        <p:txBody>
          <a:bodyPr wrap="square" lIns="0" tIns="0" rIns="0" bIns="0" rtlCol="0" anchor="ctr"/>
          <a:lstStyle/>
          <a:p>
            <a:pPr indent="0" marL="0">
              <a:buNone/>
            </a:pPr>
            <a:r>
              <a:rPr lang="en-US" sz="800" b="1" dirty="0">
                <a:solidFill>
                  <a:srgbClr val="7B5CFF"/>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Carpeta diagramas/fuentes</a:t>
            </a:r>
            <a:endParaRPr lang="en-US" sz="800" dirty="0"/>
          </a:p>
        </p:txBody>
      </p:sp>
      <p:sp>
        <p:nvSpPr>
          <p:cNvPr id="38" name="Shape 32"/>
          <p:cNvSpPr/>
          <p:nvPr/>
        </p:nvSpPr>
        <p:spPr>
          <a:xfrm>
            <a:off x="548640" y="420624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9" name="Shape 33"/>
          <p:cNvSpPr/>
          <p:nvPr/>
        </p:nvSpPr>
        <p:spPr>
          <a:xfrm>
            <a:off x="731520" y="4389120"/>
            <a:ext cx="548640" cy="548640"/>
          </a:xfrm>
          <a:prstGeom prst="roundRect">
            <a:avLst>
              <a:gd name="adj" fmla="val 28000"/>
            </a:avLst>
          </a:prstGeom>
          <a:solidFill>
            <a:srgbClr val="008FB0"/>
          </a:solidFill>
          <a:ln/>
        </p:spPr>
      </p:sp>
      <p:pic>
        <p:nvPicPr>
          <p:cNvPr id="40" name="Image 4" descr="preencoded.png">    </p:cNvPr>
          <p:cNvPicPr>
            <a:picLocks noChangeAspect="1"/>
          </p:cNvPicPr>
          <p:nvPr/>
        </p:nvPicPr>
        <p:blipFill>
          <a:blip r:embed="rId6"/>
          <a:stretch>
            <a:fillRect/>
          </a:stretch>
        </p:blipFill>
        <p:spPr>
          <a:xfrm>
            <a:off x="863194" y="4520794"/>
            <a:ext cx="285293" cy="285293"/>
          </a:xfrm>
          <a:prstGeom prst="rect">
            <a:avLst/>
          </a:prstGeom>
        </p:spPr>
      </p:pic>
      <p:sp>
        <p:nvSpPr>
          <p:cNvPr id="41" name="Text 34"/>
          <p:cNvSpPr txBox="1"/>
          <p:nvPr/>
        </p:nvSpPr>
        <p:spPr>
          <a:xfrm>
            <a:off x="1417320" y="437083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dbdiagram.io</a:t>
            </a:r>
            <a:endParaRPr lang="en-US" sz="1250" dirty="0"/>
          </a:p>
        </p:txBody>
      </p:sp>
      <p:sp>
        <p:nvSpPr>
          <p:cNvPr id="42" name="Text 35"/>
          <p:cNvSpPr txBox="1"/>
          <p:nvPr/>
        </p:nvSpPr>
        <p:spPr>
          <a:xfrm>
            <a:off x="1417320" y="4700016"/>
            <a:ext cx="1691640" cy="219456"/>
          </a:xfrm>
          <a:prstGeom prst="rect">
            <a:avLst/>
          </a:prstGeom>
          <a:noFill/>
          <a:ln/>
        </p:spPr>
        <p:txBody>
          <a:bodyPr wrap="square" lIns="0" tIns="0" rIns="0" bIns="0" rtlCol="0" anchor="ctr"/>
          <a:lstStyle/>
          <a:p>
            <a:pPr indent="0" marL="0">
              <a:buNone/>
            </a:pPr>
            <a:r>
              <a:rPr lang="en-US" sz="750" b="1" spc="100" kern="0" dirty="0">
                <a:solidFill>
                  <a:srgbClr val="008FB0"/>
                </a:solidFill>
                <a:latin typeface="Montserrat" pitchFamily="34" charset="0"/>
                <a:ea typeface="Montserrat" pitchFamily="34" charset="-122"/>
                <a:cs typeface="Montserrat" pitchFamily="34" charset="-120"/>
              </a:rPr>
              <a:t>MODELO DE DATOS</a:t>
            </a:r>
            <a:endParaRPr lang="en-US" sz="750" dirty="0"/>
          </a:p>
        </p:txBody>
      </p:sp>
      <p:sp>
        <p:nvSpPr>
          <p:cNvPr id="43" name="Text 36"/>
          <p:cNvSpPr txBox="1"/>
          <p:nvPr/>
        </p:nvSpPr>
        <p:spPr>
          <a:xfrm>
            <a:off x="731520" y="506577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Diseño y visualización del modelo entidad-relación de la base de datos.</a:t>
            </a:r>
            <a:endParaRPr lang="en-US" sz="950" dirty="0"/>
          </a:p>
        </p:txBody>
      </p:sp>
      <p:sp>
        <p:nvSpPr>
          <p:cNvPr id="44" name="Shape 37"/>
          <p:cNvSpPr/>
          <p:nvPr/>
        </p:nvSpPr>
        <p:spPr>
          <a:xfrm>
            <a:off x="676656" y="5779008"/>
            <a:ext cx="2395728" cy="347472"/>
          </a:xfrm>
          <a:prstGeom prst="roundRect">
            <a:avLst>
              <a:gd name="adj" fmla="val 21053"/>
            </a:avLst>
          </a:prstGeom>
          <a:solidFill>
            <a:srgbClr val="F4F8FF"/>
          </a:solidFill>
          <a:ln/>
        </p:spPr>
      </p:sp>
      <p:sp>
        <p:nvSpPr>
          <p:cNvPr id="45" name="Text 38"/>
          <p:cNvSpPr txBox="1"/>
          <p:nvPr/>
        </p:nvSpPr>
        <p:spPr>
          <a:xfrm>
            <a:off x="768096" y="5779008"/>
            <a:ext cx="2240280" cy="347472"/>
          </a:xfrm>
          <a:prstGeom prst="rect">
            <a:avLst/>
          </a:prstGeom>
          <a:noFill/>
          <a:ln/>
        </p:spPr>
        <p:txBody>
          <a:bodyPr wrap="square" lIns="0" tIns="0" rIns="0" bIns="0" rtlCol="0" anchor="ctr"/>
          <a:lstStyle/>
          <a:p>
            <a:pPr indent="0" marL="0">
              <a:buNone/>
            </a:pPr>
            <a:r>
              <a:rPr lang="en-US" sz="800" b="1" dirty="0">
                <a:solidFill>
                  <a:srgbClr val="008FB0"/>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Esquema relacional (.dbml)</a:t>
            </a:r>
            <a:endParaRPr lang="en-US" sz="800" dirty="0"/>
          </a:p>
        </p:txBody>
      </p:sp>
      <p:sp>
        <p:nvSpPr>
          <p:cNvPr id="46" name="Shape 39"/>
          <p:cNvSpPr/>
          <p:nvPr/>
        </p:nvSpPr>
        <p:spPr>
          <a:xfrm>
            <a:off x="3355848" y="420624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7" name="Shape 40"/>
          <p:cNvSpPr/>
          <p:nvPr/>
        </p:nvSpPr>
        <p:spPr>
          <a:xfrm>
            <a:off x="3538728" y="4389120"/>
            <a:ext cx="548640" cy="548640"/>
          </a:xfrm>
          <a:prstGeom prst="roundRect">
            <a:avLst>
              <a:gd name="adj" fmla="val 28000"/>
            </a:avLst>
          </a:prstGeom>
          <a:solidFill>
            <a:srgbClr val="0839C4"/>
          </a:solidFill>
          <a:ln/>
        </p:spPr>
      </p:sp>
      <p:pic>
        <p:nvPicPr>
          <p:cNvPr id="48" name="Image 5" descr="preencoded.png">    </p:cNvPr>
          <p:cNvPicPr>
            <a:picLocks noChangeAspect="1"/>
          </p:cNvPicPr>
          <p:nvPr/>
        </p:nvPicPr>
        <p:blipFill>
          <a:blip r:embed="rId7"/>
          <a:stretch>
            <a:fillRect/>
          </a:stretch>
        </p:blipFill>
        <p:spPr>
          <a:xfrm>
            <a:off x="3670402" y="4520794"/>
            <a:ext cx="285293" cy="285293"/>
          </a:xfrm>
          <a:prstGeom prst="rect">
            <a:avLst/>
          </a:prstGeom>
        </p:spPr>
      </p:pic>
      <p:sp>
        <p:nvSpPr>
          <p:cNvPr id="49" name="Text 41"/>
          <p:cNvSpPr txBox="1"/>
          <p:nvPr/>
        </p:nvSpPr>
        <p:spPr>
          <a:xfrm>
            <a:off x="4224528" y="4370832"/>
            <a:ext cx="1691640" cy="347472"/>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Microsoft Word</a:t>
            </a:r>
            <a:endParaRPr lang="en-US" sz="1250" dirty="0"/>
          </a:p>
        </p:txBody>
      </p:sp>
      <p:sp>
        <p:nvSpPr>
          <p:cNvPr id="50" name="Text 42"/>
          <p:cNvSpPr txBox="1"/>
          <p:nvPr/>
        </p:nvSpPr>
        <p:spPr>
          <a:xfrm>
            <a:off x="4224528" y="4700016"/>
            <a:ext cx="1691640" cy="219456"/>
          </a:xfrm>
          <a:prstGeom prst="rect">
            <a:avLst/>
          </a:prstGeom>
          <a:noFill/>
          <a:ln/>
        </p:spPr>
        <p:txBody>
          <a:bodyPr wrap="square" lIns="0" tIns="0" rIns="0" bIns="0" rtlCol="0" anchor="ctr"/>
          <a:lstStyle/>
          <a:p>
            <a:pPr indent="0" marL="0">
              <a:buNone/>
            </a:pPr>
            <a:r>
              <a:rPr lang="en-US" sz="750" b="1" spc="100" kern="0" dirty="0">
                <a:solidFill>
                  <a:srgbClr val="0839C4"/>
                </a:solidFill>
                <a:latin typeface="Montserrat" pitchFamily="34" charset="0"/>
                <a:ea typeface="Montserrat" pitchFamily="34" charset="-122"/>
                <a:cs typeface="Montserrat" pitchFamily="34" charset="-120"/>
              </a:rPr>
              <a:t>DOCUMENTACIÓN</a:t>
            </a:r>
            <a:endParaRPr lang="en-US" sz="750" dirty="0"/>
          </a:p>
        </p:txBody>
      </p:sp>
      <p:sp>
        <p:nvSpPr>
          <p:cNvPr id="51" name="Text 43"/>
          <p:cNvSpPr txBox="1"/>
          <p:nvPr/>
        </p:nvSpPr>
        <p:spPr>
          <a:xfrm>
            <a:off x="3538728" y="506577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Redacción y estructuración del informe técnico del proyecto.</a:t>
            </a:r>
            <a:endParaRPr lang="en-US" sz="950" dirty="0"/>
          </a:p>
        </p:txBody>
      </p:sp>
      <p:sp>
        <p:nvSpPr>
          <p:cNvPr id="52" name="Shape 44"/>
          <p:cNvSpPr/>
          <p:nvPr/>
        </p:nvSpPr>
        <p:spPr>
          <a:xfrm>
            <a:off x="3483864" y="5779008"/>
            <a:ext cx="2395728" cy="347472"/>
          </a:xfrm>
          <a:prstGeom prst="roundRect">
            <a:avLst>
              <a:gd name="adj" fmla="val 21053"/>
            </a:avLst>
          </a:prstGeom>
          <a:solidFill>
            <a:srgbClr val="F4F8FF"/>
          </a:solidFill>
          <a:ln/>
        </p:spPr>
      </p:sp>
      <p:sp>
        <p:nvSpPr>
          <p:cNvPr id="53" name="Text 45"/>
          <p:cNvSpPr txBox="1"/>
          <p:nvPr/>
        </p:nvSpPr>
        <p:spPr>
          <a:xfrm>
            <a:off x="3575304" y="5779008"/>
            <a:ext cx="2240280" cy="347472"/>
          </a:xfrm>
          <a:prstGeom prst="rect">
            <a:avLst/>
          </a:prstGeom>
          <a:noFill/>
          <a:ln/>
        </p:spPr>
        <p:txBody>
          <a:bodyPr wrap="square" lIns="0" tIns="0" rIns="0" bIns="0" rtlCol="0" anchor="ctr"/>
          <a:lstStyle/>
          <a:p>
            <a:pPr indent="0" marL="0">
              <a:buNone/>
            </a:pPr>
            <a:r>
              <a:rPr lang="en-US" sz="800" b="1" dirty="0">
                <a:solidFill>
                  <a:srgbClr val="0839C4"/>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Informe final</a:t>
            </a:r>
            <a:endParaRPr lang="en-US" sz="800" dirty="0"/>
          </a:p>
        </p:txBody>
      </p:sp>
      <p:sp>
        <p:nvSpPr>
          <p:cNvPr id="54" name="Shape 46"/>
          <p:cNvSpPr/>
          <p:nvPr/>
        </p:nvSpPr>
        <p:spPr>
          <a:xfrm>
            <a:off x="6163056" y="4206240"/>
            <a:ext cx="2651760" cy="2029968"/>
          </a:xfrm>
          <a:prstGeom prst="roundRect">
            <a:avLst>
              <a:gd name="adj" fmla="val 6306"/>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55" name="Shape 47"/>
          <p:cNvSpPr/>
          <p:nvPr/>
        </p:nvSpPr>
        <p:spPr>
          <a:xfrm>
            <a:off x="6345936" y="4389120"/>
            <a:ext cx="548640" cy="548640"/>
          </a:xfrm>
          <a:prstGeom prst="roundRect">
            <a:avLst>
              <a:gd name="adj" fmla="val 28000"/>
            </a:avLst>
          </a:prstGeom>
          <a:solidFill>
            <a:srgbClr val="0B9468"/>
          </a:solidFill>
          <a:ln/>
        </p:spPr>
      </p:sp>
      <p:pic>
        <p:nvPicPr>
          <p:cNvPr id="56" name="Image 6" descr="preencoded.png">    </p:cNvPr>
          <p:cNvPicPr>
            <a:picLocks noChangeAspect="1"/>
          </p:cNvPicPr>
          <p:nvPr/>
        </p:nvPicPr>
        <p:blipFill>
          <a:blip r:embed="rId8"/>
          <a:stretch>
            <a:fillRect/>
          </a:stretch>
        </p:blipFill>
        <p:spPr>
          <a:xfrm>
            <a:off x="6477610" y="4520794"/>
            <a:ext cx="285293" cy="285293"/>
          </a:xfrm>
          <a:prstGeom prst="rect">
            <a:avLst/>
          </a:prstGeom>
        </p:spPr>
      </p:pic>
      <p:sp>
        <p:nvSpPr>
          <p:cNvPr id="57" name="Text 48"/>
          <p:cNvSpPr txBox="1"/>
          <p:nvPr/>
        </p:nvSpPr>
        <p:spPr>
          <a:xfrm>
            <a:off x="7031736" y="4297680"/>
            <a:ext cx="1691640" cy="475488"/>
          </a:xfrm>
          <a:prstGeom prst="rect">
            <a:avLst/>
          </a:prstGeom>
          <a:noFill/>
          <a:ln/>
        </p:spPr>
        <p:txBody>
          <a:bodyPr wrap="square" lIns="0" tIns="0" rIns="0" bIns="0" rtlCol="0" anchor="ctr"/>
          <a:lstStyle/>
          <a:p>
            <a:pPr indent="0" marL="0">
              <a:buNone/>
            </a:pPr>
            <a:r>
              <a:rPr lang="en-US" sz="1100" b="1" dirty="0">
                <a:solidFill>
                  <a:srgbClr val="0E1B3D"/>
                </a:solidFill>
                <a:latin typeface="Montserrat" pitchFamily="34" charset="0"/>
                <a:ea typeface="Montserrat" pitchFamily="34" charset="-122"/>
                <a:cs typeface="Montserrat" pitchFamily="34" charset="-120"/>
              </a:rPr>
              <a:t>Google Meet y WhatsApp</a:t>
            </a:r>
            <a:endParaRPr lang="en-US" sz="1100" dirty="0"/>
          </a:p>
        </p:txBody>
      </p:sp>
      <p:sp>
        <p:nvSpPr>
          <p:cNvPr id="58" name="Text 49"/>
          <p:cNvSpPr txBox="1"/>
          <p:nvPr/>
        </p:nvSpPr>
        <p:spPr>
          <a:xfrm>
            <a:off x="7031736" y="4773168"/>
            <a:ext cx="1691640" cy="219456"/>
          </a:xfrm>
          <a:prstGeom prst="rect">
            <a:avLst/>
          </a:prstGeom>
          <a:noFill/>
          <a:ln/>
        </p:spPr>
        <p:txBody>
          <a:bodyPr wrap="square" lIns="0" tIns="0" rIns="0" bIns="0" rtlCol="0" anchor="ctr"/>
          <a:lstStyle/>
          <a:p>
            <a:pPr indent="0" marL="0">
              <a:buNone/>
            </a:pPr>
            <a:r>
              <a:rPr lang="en-US" sz="750" b="1" spc="100" kern="0" dirty="0">
                <a:solidFill>
                  <a:srgbClr val="0B9468"/>
                </a:solidFill>
                <a:latin typeface="Montserrat" pitchFamily="34" charset="0"/>
                <a:ea typeface="Montserrat" pitchFamily="34" charset="-122"/>
                <a:cs typeface="Montserrat" pitchFamily="34" charset="-120"/>
              </a:rPr>
              <a:t>COMUNICACIÓN</a:t>
            </a:r>
            <a:endParaRPr lang="en-US" sz="750" dirty="0"/>
          </a:p>
        </p:txBody>
      </p:sp>
      <p:sp>
        <p:nvSpPr>
          <p:cNvPr id="59" name="Text 50"/>
          <p:cNvSpPr txBox="1"/>
          <p:nvPr/>
        </p:nvSpPr>
        <p:spPr>
          <a:xfrm>
            <a:off x="6345936" y="5065776"/>
            <a:ext cx="2331720" cy="694944"/>
          </a:xfrm>
          <a:prstGeom prst="rect">
            <a:avLst/>
          </a:prstGeom>
          <a:noFill/>
          <a:ln/>
        </p:spPr>
        <p:txBody>
          <a:bodyPr wrap="square" lIns="0" tIns="0" rIns="0" bIns="0" rtlCol="0" anchor="t"/>
          <a:lstStyle/>
          <a:p>
            <a:pPr indent="0" marL="0">
              <a:buNone/>
            </a:pPr>
            <a:r>
              <a:rPr lang="en-US" sz="950" dirty="0">
                <a:solidFill>
                  <a:srgbClr val="4A5878"/>
                </a:solidFill>
                <a:latin typeface="Open Sans" pitchFamily="34" charset="0"/>
                <a:ea typeface="Open Sans" pitchFamily="34" charset="-122"/>
                <a:cs typeface="Open Sans" pitchFamily="34" charset="-120"/>
              </a:rPr>
              <a:t>Reuniones del equipo (Daily Scrum, Sprint Planning) y coordinación directa.</a:t>
            </a:r>
            <a:endParaRPr lang="en-US" sz="950" dirty="0"/>
          </a:p>
        </p:txBody>
      </p:sp>
      <p:sp>
        <p:nvSpPr>
          <p:cNvPr id="60" name="Shape 51"/>
          <p:cNvSpPr/>
          <p:nvPr/>
        </p:nvSpPr>
        <p:spPr>
          <a:xfrm>
            <a:off x="6291072" y="5779008"/>
            <a:ext cx="2395728" cy="347472"/>
          </a:xfrm>
          <a:prstGeom prst="roundRect">
            <a:avLst>
              <a:gd name="adj" fmla="val 21053"/>
            </a:avLst>
          </a:prstGeom>
          <a:solidFill>
            <a:srgbClr val="F4F8FF"/>
          </a:solidFill>
          <a:ln/>
        </p:spPr>
      </p:sp>
      <p:sp>
        <p:nvSpPr>
          <p:cNvPr id="61" name="Text 52"/>
          <p:cNvSpPr txBox="1"/>
          <p:nvPr/>
        </p:nvSpPr>
        <p:spPr>
          <a:xfrm>
            <a:off x="6382512" y="5779008"/>
            <a:ext cx="2240280" cy="347472"/>
          </a:xfrm>
          <a:prstGeom prst="rect">
            <a:avLst/>
          </a:prstGeom>
          <a:noFill/>
          <a:ln/>
        </p:spPr>
        <p:txBody>
          <a:bodyPr wrap="square" lIns="0" tIns="0" rIns="0" bIns="0" rtlCol="0" anchor="ctr"/>
          <a:lstStyle/>
          <a:p>
            <a:pPr indent="0" marL="0">
              <a:buNone/>
            </a:pPr>
            <a:r>
              <a:rPr lang="en-US" sz="800" b="1" dirty="0">
                <a:solidFill>
                  <a:srgbClr val="0B9468"/>
                </a:solidFill>
                <a:latin typeface="Open Sans" pitchFamily="34" charset="0"/>
                <a:ea typeface="Open Sans" pitchFamily="34" charset="-122"/>
                <a:cs typeface="Open Sans" pitchFamily="34" charset="-120"/>
              </a:rPr>
              <a:t>Evidencia: </a:t>
            </a:r>
            <a:pPr indent="0" marL="0">
              <a:buNone/>
            </a:pPr>
            <a:r>
              <a:rPr lang="en-US" sz="800" dirty="0">
                <a:solidFill>
                  <a:srgbClr val="0E1B3D"/>
                </a:solidFill>
                <a:latin typeface="Open Sans" pitchFamily="34" charset="0"/>
                <a:ea typeface="Open Sans" pitchFamily="34" charset="-122"/>
                <a:cs typeface="Open Sans" pitchFamily="34" charset="-120"/>
              </a:rPr>
              <a:t>Actas y registro de coordinaciones</a:t>
            </a:r>
            <a:endParaRPr lang="en-US" sz="800" dirty="0"/>
          </a:p>
        </p:txBody>
      </p:sp>
      <p:sp>
        <p:nvSpPr>
          <p:cNvPr id="62" name="Shape 53"/>
          <p:cNvSpPr/>
          <p:nvPr/>
        </p:nvSpPr>
        <p:spPr>
          <a:xfrm>
            <a:off x="8970264" y="4206240"/>
            <a:ext cx="2651760" cy="2029968"/>
          </a:xfrm>
          <a:prstGeom prst="roundRect">
            <a:avLst>
              <a:gd name="adj" fmla="val 7207"/>
            </a:avLst>
          </a:prstGeom>
          <a:solidFill>
            <a:srgbClr val="FF8A00"/>
          </a:solidFill>
          <a:ln/>
        </p:spPr>
      </p:sp>
      <p:sp>
        <p:nvSpPr>
          <p:cNvPr id="63" name="Text 54"/>
          <p:cNvSpPr txBox="1"/>
          <p:nvPr/>
        </p:nvSpPr>
        <p:spPr>
          <a:xfrm>
            <a:off x="9189720" y="4315968"/>
            <a:ext cx="2286000" cy="1828800"/>
          </a:xfrm>
          <a:prstGeom prst="rect">
            <a:avLst/>
          </a:prstGeom>
          <a:noFill/>
          <a:ln/>
        </p:spPr>
        <p:txBody>
          <a:bodyPr wrap="square" lIns="0" tIns="0" rIns="0" bIns="0"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7</a:t>
            </a:r>
            <a:endParaRPr lang="en-US" sz="1200" dirty="0"/>
          </a:p>
          <a:p>
            <a:pPr indent="0" marL="0">
              <a:buNone/>
            </a:pPr>
            <a:r>
              <a:rPr lang="en-US" sz="1050" b="1" dirty="0">
                <a:solidFill>
                  <a:srgbClr val="FFFFFF"/>
                </a:solidFill>
                <a:latin typeface="Open Sans" pitchFamily="34" charset="0"/>
                <a:ea typeface="Open Sans" pitchFamily="34" charset="-122"/>
                <a:cs typeface="Open Sans" pitchFamily="34" charset="-120"/>
              </a:rPr>
              <a:t>herramientas: de la planificación en Jira al código en GitHub y los diagramas UML.</a:t>
            </a:r>
            <a:endParaRPr lang="en-US" sz="1200" dirty="0"/>
          </a:p>
        </p:txBody>
      </p:sp>
      <p:sp>
        <p:nvSpPr>
          <p:cNvPr id="64" name="Text 5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65" name="Text 5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730752" cy="274320"/>
          </a:xfrm>
          <a:prstGeom prst="roundRect">
            <a:avLst>
              <a:gd name="adj" fmla="val 50000"/>
            </a:avLst>
          </a:prstGeom>
          <a:solidFill>
            <a:srgbClr val="FF8A00"/>
          </a:solidFill>
          <a:ln/>
        </p:spPr>
      </p:sp>
      <p:sp>
        <p:nvSpPr>
          <p:cNvPr id="3" name="Text 1"/>
          <p:cNvSpPr txBox="1"/>
          <p:nvPr/>
        </p:nvSpPr>
        <p:spPr>
          <a:xfrm>
            <a:off x="548640" y="292608"/>
            <a:ext cx="3730752"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ANEXO A.1 · GESTIÓN DEL PROYECTO EN JIRA</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Así se ve nuestro backlog en Jira Software</a:t>
            </a:r>
            <a:endParaRPr lang="en-US" sz="2400" dirty="0"/>
          </a:p>
        </p:txBody>
      </p:sp>
      <p:sp>
        <p:nvSpPr>
          <p:cNvPr id="5" name="Shape 3"/>
          <p:cNvSpPr/>
          <p:nvPr/>
        </p:nvSpPr>
        <p:spPr>
          <a:xfrm>
            <a:off x="502920" y="1188720"/>
            <a:ext cx="5897880" cy="1871400"/>
          </a:xfrm>
          <a:prstGeom prst="roundRect">
            <a:avLst>
              <a:gd name="adj" fmla="val 4886"/>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sp>
        <p:nvSpPr>
          <p:cNvPr id="6" name="Shape 4"/>
          <p:cNvSpPr/>
          <p:nvPr/>
        </p:nvSpPr>
        <p:spPr>
          <a:xfrm>
            <a:off x="621792" y="1271016"/>
            <a:ext cx="91440" cy="91440"/>
          </a:xfrm>
          <a:prstGeom prst="ellipse">
            <a:avLst/>
          </a:prstGeom>
          <a:solidFill>
            <a:srgbClr val="FF5A5F"/>
          </a:solidFill>
          <a:ln/>
        </p:spPr>
      </p:sp>
      <p:sp>
        <p:nvSpPr>
          <p:cNvPr id="7" name="Shape 5"/>
          <p:cNvSpPr/>
          <p:nvPr/>
        </p:nvSpPr>
        <p:spPr>
          <a:xfrm>
            <a:off x="777240" y="1271016"/>
            <a:ext cx="91440" cy="91440"/>
          </a:xfrm>
          <a:prstGeom prst="ellipse">
            <a:avLst/>
          </a:prstGeom>
          <a:solidFill>
            <a:srgbClr val="FFC233"/>
          </a:solidFill>
          <a:ln/>
        </p:spPr>
      </p:sp>
      <p:sp>
        <p:nvSpPr>
          <p:cNvPr id="8" name="Shape 6"/>
          <p:cNvSpPr/>
          <p:nvPr/>
        </p:nvSpPr>
        <p:spPr>
          <a:xfrm>
            <a:off x="932688" y="1271016"/>
            <a:ext cx="91440" cy="91440"/>
          </a:xfrm>
          <a:prstGeom prst="ellipse">
            <a:avLst/>
          </a:prstGeom>
          <a:solidFill>
            <a:srgbClr val="10B981"/>
          </a:solidFill>
          <a:ln/>
        </p:spPr>
      </p:sp>
      <p:sp>
        <p:nvSpPr>
          <p:cNvPr id="9" name="Text 7"/>
          <p:cNvSpPr txBox="1"/>
          <p:nvPr/>
        </p:nvSpPr>
        <p:spPr>
          <a:xfrm>
            <a:off x="1188720" y="1207008"/>
            <a:ext cx="4572000" cy="219456"/>
          </a:xfrm>
          <a:prstGeom prst="rect">
            <a:avLst/>
          </a:prstGeom>
          <a:noFill/>
          <a:ln/>
        </p:spPr>
        <p:txBody>
          <a:bodyPr wrap="square" lIns="0" tIns="0" rIns="0" bIns="0" rtlCol="0" anchor="ctr"/>
          <a:lstStyle/>
          <a:p>
            <a:pPr indent="0" marL="0">
              <a:buNone/>
            </a:pPr>
            <a:r>
              <a:rPr lang="en-US" sz="850" b="1" dirty="0">
                <a:solidFill>
                  <a:srgbClr val="4A5878"/>
                </a:solidFill>
                <a:latin typeface="Open Sans" pitchFamily="34" charset="0"/>
                <a:ea typeface="Open Sans" pitchFamily="34" charset="-122"/>
                <a:cs typeface="Open Sans" pitchFamily="34" charset="-120"/>
              </a:rPr>
              <a:t>Sprint 1 · Núcleo del sistema</a:t>
            </a:r>
            <a:endParaRPr lang="en-US" sz="850" dirty="0"/>
          </a:p>
        </p:txBody>
      </p:sp>
      <p:pic>
        <p:nvPicPr>
          <p:cNvPr id="10" name="Image 0" descr="assets/jira_s1.jpg">    </p:cNvPr>
          <p:cNvPicPr>
            <a:picLocks noChangeAspect="1"/>
          </p:cNvPicPr>
          <p:nvPr/>
        </p:nvPicPr>
        <p:blipFill>
          <a:blip r:embed="rId2"/>
          <a:stretch>
            <a:fillRect/>
          </a:stretch>
        </p:blipFill>
        <p:spPr>
          <a:xfrm>
            <a:off x="548640" y="1453896"/>
            <a:ext cx="5806440" cy="1560504"/>
          </a:xfrm>
          <a:prstGeom prst="rect">
            <a:avLst/>
          </a:prstGeom>
        </p:spPr>
      </p:pic>
      <p:sp>
        <p:nvSpPr>
          <p:cNvPr id="11" name="Shape 8"/>
          <p:cNvSpPr/>
          <p:nvPr/>
        </p:nvSpPr>
        <p:spPr>
          <a:xfrm>
            <a:off x="502920" y="3169848"/>
            <a:ext cx="5897880" cy="1789388"/>
          </a:xfrm>
          <a:prstGeom prst="roundRect">
            <a:avLst>
              <a:gd name="adj" fmla="val 5110"/>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sp>
        <p:nvSpPr>
          <p:cNvPr id="12" name="Shape 9"/>
          <p:cNvSpPr/>
          <p:nvPr/>
        </p:nvSpPr>
        <p:spPr>
          <a:xfrm>
            <a:off x="621792" y="3252144"/>
            <a:ext cx="91440" cy="91440"/>
          </a:xfrm>
          <a:prstGeom prst="ellipse">
            <a:avLst/>
          </a:prstGeom>
          <a:solidFill>
            <a:srgbClr val="FF5A5F"/>
          </a:solidFill>
          <a:ln/>
        </p:spPr>
      </p:sp>
      <p:sp>
        <p:nvSpPr>
          <p:cNvPr id="13" name="Shape 10"/>
          <p:cNvSpPr/>
          <p:nvPr/>
        </p:nvSpPr>
        <p:spPr>
          <a:xfrm>
            <a:off x="777240" y="3252144"/>
            <a:ext cx="91440" cy="91440"/>
          </a:xfrm>
          <a:prstGeom prst="ellipse">
            <a:avLst/>
          </a:prstGeom>
          <a:solidFill>
            <a:srgbClr val="FFC233"/>
          </a:solidFill>
          <a:ln/>
        </p:spPr>
      </p:sp>
      <p:sp>
        <p:nvSpPr>
          <p:cNvPr id="14" name="Shape 11"/>
          <p:cNvSpPr/>
          <p:nvPr/>
        </p:nvSpPr>
        <p:spPr>
          <a:xfrm>
            <a:off x="932688" y="3252144"/>
            <a:ext cx="91440" cy="91440"/>
          </a:xfrm>
          <a:prstGeom prst="ellipse">
            <a:avLst/>
          </a:prstGeom>
          <a:solidFill>
            <a:srgbClr val="10B981"/>
          </a:solidFill>
          <a:ln/>
        </p:spPr>
      </p:sp>
      <p:sp>
        <p:nvSpPr>
          <p:cNvPr id="15" name="Text 12"/>
          <p:cNvSpPr txBox="1"/>
          <p:nvPr/>
        </p:nvSpPr>
        <p:spPr>
          <a:xfrm>
            <a:off x="1188720" y="3188136"/>
            <a:ext cx="4572000" cy="219456"/>
          </a:xfrm>
          <a:prstGeom prst="rect">
            <a:avLst/>
          </a:prstGeom>
          <a:noFill/>
          <a:ln/>
        </p:spPr>
        <p:txBody>
          <a:bodyPr wrap="square" lIns="0" tIns="0" rIns="0" bIns="0" rtlCol="0" anchor="ctr"/>
          <a:lstStyle/>
          <a:p>
            <a:pPr indent="0" marL="0">
              <a:buNone/>
            </a:pPr>
            <a:r>
              <a:rPr lang="en-US" sz="850" b="1" dirty="0">
                <a:solidFill>
                  <a:srgbClr val="4A5878"/>
                </a:solidFill>
                <a:latin typeface="Open Sans" pitchFamily="34" charset="0"/>
                <a:ea typeface="Open Sans" pitchFamily="34" charset="-122"/>
                <a:cs typeface="Open Sans" pitchFamily="34" charset="-120"/>
              </a:rPr>
              <a:t>Sprint 2 · Gestión y control</a:t>
            </a:r>
            <a:endParaRPr lang="en-US" sz="850" dirty="0"/>
          </a:p>
        </p:txBody>
      </p:sp>
      <p:pic>
        <p:nvPicPr>
          <p:cNvPr id="16" name="Image 1" descr="assets/jira_s2.jpg">    </p:cNvPr>
          <p:cNvPicPr>
            <a:picLocks noChangeAspect="1"/>
          </p:cNvPicPr>
          <p:nvPr/>
        </p:nvPicPr>
        <p:blipFill>
          <a:blip r:embed="rId3"/>
          <a:stretch>
            <a:fillRect/>
          </a:stretch>
        </p:blipFill>
        <p:spPr>
          <a:xfrm>
            <a:off x="548640" y="3435024"/>
            <a:ext cx="5806440" cy="1478492"/>
          </a:xfrm>
          <a:prstGeom prst="rect">
            <a:avLst/>
          </a:prstGeom>
        </p:spPr>
      </p:pic>
      <p:sp>
        <p:nvSpPr>
          <p:cNvPr id="17" name="Shape 13"/>
          <p:cNvSpPr/>
          <p:nvPr/>
        </p:nvSpPr>
        <p:spPr>
          <a:xfrm>
            <a:off x="502920" y="5068964"/>
            <a:ext cx="5897880" cy="1084582"/>
          </a:xfrm>
          <a:prstGeom prst="roundRect">
            <a:avLst>
              <a:gd name="adj" fmla="val 8431"/>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sp>
        <p:nvSpPr>
          <p:cNvPr id="18" name="Shape 14"/>
          <p:cNvSpPr/>
          <p:nvPr/>
        </p:nvSpPr>
        <p:spPr>
          <a:xfrm>
            <a:off x="621792" y="5151260"/>
            <a:ext cx="91440" cy="91440"/>
          </a:xfrm>
          <a:prstGeom prst="ellipse">
            <a:avLst/>
          </a:prstGeom>
          <a:solidFill>
            <a:srgbClr val="FF5A5F"/>
          </a:solidFill>
          <a:ln/>
        </p:spPr>
      </p:sp>
      <p:sp>
        <p:nvSpPr>
          <p:cNvPr id="19" name="Shape 15"/>
          <p:cNvSpPr/>
          <p:nvPr/>
        </p:nvSpPr>
        <p:spPr>
          <a:xfrm>
            <a:off x="777240" y="5151260"/>
            <a:ext cx="91440" cy="91440"/>
          </a:xfrm>
          <a:prstGeom prst="ellipse">
            <a:avLst/>
          </a:prstGeom>
          <a:solidFill>
            <a:srgbClr val="FFC233"/>
          </a:solidFill>
          <a:ln/>
        </p:spPr>
      </p:sp>
      <p:sp>
        <p:nvSpPr>
          <p:cNvPr id="20" name="Shape 16"/>
          <p:cNvSpPr/>
          <p:nvPr/>
        </p:nvSpPr>
        <p:spPr>
          <a:xfrm>
            <a:off x="932688" y="5151260"/>
            <a:ext cx="91440" cy="91440"/>
          </a:xfrm>
          <a:prstGeom prst="ellipse">
            <a:avLst/>
          </a:prstGeom>
          <a:solidFill>
            <a:srgbClr val="10B981"/>
          </a:solidFill>
          <a:ln/>
        </p:spPr>
      </p:sp>
      <p:sp>
        <p:nvSpPr>
          <p:cNvPr id="21" name="Text 17"/>
          <p:cNvSpPr txBox="1"/>
          <p:nvPr/>
        </p:nvSpPr>
        <p:spPr>
          <a:xfrm>
            <a:off x="1188720" y="5087252"/>
            <a:ext cx="4572000" cy="219456"/>
          </a:xfrm>
          <a:prstGeom prst="rect">
            <a:avLst/>
          </a:prstGeom>
          <a:noFill/>
          <a:ln/>
        </p:spPr>
        <p:txBody>
          <a:bodyPr wrap="square" lIns="0" tIns="0" rIns="0" bIns="0" rtlCol="0" anchor="ctr"/>
          <a:lstStyle/>
          <a:p>
            <a:pPr indent="0" marL="0">
              <a:buNone/>
            </a:pPr>
            <a:r>
              <a:rPr lang="en-US" sz="850" b="1" dirty="0">
                <a:solidFill>
                  <a:srgbClr val="4A5878"/>
                </a:solidFill>
                <a:latin typeface="Open Sans" pitchFamily="34" charset="0"/>
                <a:ea typeface="Open Sans" pitchFamily="34" charset="-122"/>
                <a:cs typeface="Open Sans" pitchFamily="34" charset="-120"/>
              </a:rPr>
              <a:t>Sprint 3 · Reportes y cuotas</a:t>
            </a:r>
            <a:endParaRPr lang="en-US" sz="850" dirty="0"/>
          </a:p>
        </p:txBody>
      </p:sp>
      <p:pic>
        <p:nvPicPr>
          <p:cNvPr id="22" name="Image 2" descr="assets/jira_s3.jpg">    </p:cNvPr>
          <p:cNvPicPr>
            <a:picLocks noChangeAspect="1"/>
          </p:cNvPicPr>
          <p:nvPr/>
        </p:nvPicPr>
        <p:blipFill>
          <a:blip r:embed="rId4"/>
          <a:stretch>
            <a:fillRect/>
          </a:stretch>
        </p:blipFill>
        <p:spPr>
          <a:xfrm>
            <a:off x="548640" y="5334140"/>
            <a:ext cx="5806440" cy="773686"/>
          </a:xfrm>
          <a:prstGeom prst="rect">
            <a:avLst/>
          </a:prstGeom>
        </p:spPr>
      </p:pic>
      <p:sp>
        <p:nvSpPr>
          <p:cNvPr id="23" name="Shape 18"/>
          <p:cNvSpPr/>
          <p:nvPr/>
        </p:nvSpPr>
        <p:spPr>
          <a:xfrm>
            <a:off x="6675120" y="1188720"/>
            <a:ext cx="4937760" cy="5029200"/>
          </a:xfrm>
          <a:prstGeom prst="roundRect">
            <a:avLst>
              <a:gd name="adj" fmla="val 3333"/>
            </a:avLst>
          </a:prstGeom>
          <a:solidFill>
            <a:srgbClr val="FFF1DE"/>
          </a:solidFill>
          <a:ln/>
        </p:spPr>
      </p:sp>
      <p:sp>
        <p:nvSpPr>
          <p:cNvPr id="24" name="Text 19"/>
          <p:cNvSpPr txBox="1"/>
          <p:nvPr/>
        </p:nvSpPr>
        <p:spPr>
          <a:xfrm>
            <a:off x="6949440" y="1371600"/>
            <a:ext cx="4480560" cy="237744"/>
          </a:xfrm>
          <a:prstGeom prst="rect">
            <a:avLst/>
          </a:prstGeom>
          <a:noFill/>
          <a:ln/>
        </p:spPr>
        <p:txBody>
          <a:bodyPr wrap="square" lIns="0" tIns="0" rIns="0" bIns="0" rtlCol="0" anchor="ctr"/>
          <a:lstStyle/>
          <a:p>
            <a:pPr indent="0" marL="0">
              <a:buNone/>
            </a:pPr>
            <a:r>
              <a:rPr lang="en-US" sz="900" b="1" spc="150" kern="0" dirty="0">
                <a:solidFill>
                  <a:srgbClr val="E06F00"/>
                </a:solidFill>
                <a:latin typeface="Montserrat" pitchFamily="34" charset="0"/>
                <a:ea typeface="Montserrat" pitchFamily="34" charset="-122"/>
                <a:cs typeface="Montserrat" pitchFamily="34" charset="-120"/>
              </a:rPr>
              <a:t>LO QUE HICIMOS EN JIRA</a:t>
            </a:r>
            <a:endParaRPr lang="en-US" sz="900" dirty="0"/>
          </a:p>
        </p:txBody>
      </p:sp>
      <p:sp>
        <p:nvSpPr>
          <p:cNvPr id="25" name="Shape 20"/>
          <p:cNvSpPr/>
          <p:nvPr/>
        </p:nvSpPr>
        <p:spPr>
          <a:xfrm>
            <a:off x="6949440" y="1783080"/>
            <a:ext cx="603504" cy="603504"/>
          </a:xfrm>
          <a:prstGeom prst="ellipse">
            <a:avLst/>
          </a:prstGeom>
          <a:solidFill>
            <a:srgbClr val="FF8A00"/>
          </a:solidFill>
          <a:ln/>
        </p:spPr>
      </p:sp>
      <p:pic>
        <p:nvPicPr>
          <p:cNvPr id="26" name="Image 3" descr="preencoded.png">    </p:cNvPr>
          <p:cNvPicPr>
            <a:picLocks noChangeAspect="1"/>
          </p:cNvPicPr>
          <p:nvPr/>
        </p:nvPicPr>
        <p:blipFill>
          <a:blip r:embed="rId5"/>
          <a:stretch>
            <a:fillRect/>
          </a:stretch>
        </p:blipFill>
        <p:spPr>
          <a:xfrm>
            <a:off x="7094281" y="1927921"/>
            <a:ext cx="313822" cy="313822"/>
          </a:xfrm>
          <a:prstGeom prst="rect">
            <a:avLst/>
          </a:prstGeom>
        </p:spPr>
      </p:pic>
      <p:sp>
        <p:nvSpPr>
          <p:cNvPr id="27" name="Text 21"/>
          <p:cNvSpPr txBox="1"/>
          <p:nvPr/>
        </p:nvSpPr>
        <p:spPr>
          <a:xfrm>
            <a:off x="7726680" y="1709928"/>
            <a:ext cx="3703320" cy="777240"/>
          </a:xfrm>
          <a:prstGeom prst="rect">
            <a:avLst/>
          </a:prstGeom>
          <a:noFill/>
          <a:ln/>
        </p:spPr>
        <p:txBody>
          <a:bodyPr wrap="square" lIns="0" tIns="0" rIns="0" bIns="0" rtlCol="0" anchor="ctr"/>
          <a:lstStyle/>
          <a:p>
            <a:pPr indent="0" marL="0">
              <a:buNone/>
            </a:pPr>
            <a:r>
              <a:rPr lang="en-US" sz="1250" dirty="0">
                <a:solidFill>
                  <a:srgbClr val="0E1B3D"/>
                </a:solidFill>
                <a:latin typeface="Open Sans" pitchFamily="34" charset="0"/>
                <a:ea typeface="Open Sans" pitchFamily="34" charset="-122"/>
                <a:cs typeface="Open Sans" pitchFamily="34" charset="-120"/>
              </a:rPr>
              <a:t>Creamos el proyecto Scrum / Kanban «Vida Submarina - ODS 14».</a:t>
            </a:r>
            <a:endParaRPr lang="en-US" sz="1250" dirty="0"/>
          </a:p>
        </p:txBody>
      </p:sp>
      <p:sp>
        <p:nvSpPr>
          <p:cNvPr id="28" name="Shape 22"/>
          <p:cNvSpPr/>
          <p:nvPr/>
        </p:nvSpPr>
        <p:spPr>
          <a:xfrm>
            <a:off x="6949440" y="2862072"/>
            <a:ext cx="603504" cy="603504"/>
          </a:xfrm>
          <a:prstGeom prst="ellipse">
            <a:avLst/>
          </a:prstGeom>
          <a:solidFill>
            <a:srgbClr val="FF8A00"/>
          </a:solidFill>
          <a:ln/>
        </p:spPr>
      </p:sp>
      <p:pic>
        <p:nvPicPr>
          <p:cNvPr id="29" name="Image 4" descr="preencoded.png">    </p:cNvPr>
          <p:cNvPicPr>
            <a:picLocks noChangeAspect="1"/>
          </p:cNvPicPr>
          <p:nvPr/>
        </p:nvPicPr>
        <p:blipFill>
          <a:blip r:embed="rId6"/>
          <a:stretch>
            <a:fillRect/>
          </a:stretch>
        </p:blipFill>
        <p:spPr>
          <a:xfrm>
            <a:off x="7094281" y="3006913"/>
            <a:ext cx="313822" cy="313822"/>
          </a:xfrm>
          <a:prstGeom prst="rect">
            <a:avLst/>
          </a:prstGeom>
        </p:spPr>
      </p:pic>
      <p:sp>
        <p:nvSpPr>
          <p:cNvPr id="30" name="Text 23"/>
          <p:cNvSpPr txBox="1"/>
          <p:nvPr/>
        </p:nvSpPr>
        <p:spPr>
          <a:xfrm>
            <a:off x="7726680" y="2788920"/>
            <a:ext cx="3703320" cy="777240"/>
          </a:xfrm>
          <a:prstGeom prst="rect">
            <a:avLst/>
          </a:prstGeom>
          <a:noFill/>
          <a:ln/>
        </p:spPr>
        <p:txBody>
          <a:bodyPr wrap="square" lIns="0" tIns="0" rIns="0" bIns="0" rtlCol="0" anchor="ctr"/>
          <a:lstStyle/>
          <a:p>
            <a:pPr indent="0" marL="0">
              <a:buNone/>
            </a:pPr>
            <a:r>
              <a:rPr lang="en-US" sz="1250" dirty="0">
                <a:solidFill>
                  <a:srgbClr val="0E1B3D"/>
                </a:solidFill>
                <a:latin typeface="Open Sans" pitchFamily="34" charset="0"/>
                <a:ea typeface="Open Sans" pitchFamily="34" charset="-122"/>
                <a:cs typeface="Open Sans" pitchFamily="34" charset="-120"/>
              </a:rPr>
              <a:t>Estructuramos el Product Backlog: 16 historias en 5 componentes, 66 puntos.</a:t>
            </a:r>
            <a:endParaRPr lang="en-US" sz="1250" dirty="0"/>
          </a:p>
        </p:txBody>
      </p:sp>
      <p:sp>
        <p:nvSpPr>
          <p:cNvPr id="31" name="Shape 24"/>
          <p:cNvSpPr/>
          <p:nvPr/>
        </p:nvSpPr>
        <p:spPr>
          <a:xfrm>
            <a:off x="6949440" y="3941064"/>
            <a:ext cx="603504" cy="603504"/>
          </a:xfrm>
          <a:prstGeom prst="ellipse">
            <a:avLst/>
          </a:prstGeom>
          <a:solidFill>
            <a:srgbClr val="FF8A00"/>
          </a:solidFill>
          <a:ln/>
        </p:spPr>
      </p:sp>
      <p:pic>
        <p:nvPicPr>
          <p:cNvPr id="32" name="Image 5" descr="preencoded.png">    </p:cNvPr>
          <p:cNvPicPr>
            <a:picLocks noChangeAspect="1"/>
          </p:cNvPicPr>
          <p:nvPr/>
        </p:nvPicPr>
        <p:blipFill>
          <a:blip r:embed="rId7"/>
          <a:stretch>
            <a:fillRect/>
          </a:stretch>
        </p:blipFill>
        <p:spPr>
          <a:xfrm>
            <a:off x="7094281" y="4085905"/>
            <a:ext cx="313822" cy="313822"/>
          </a:xfrm>
          <a:prstGeom prst="rect">
            <a:avLst/>
          </a:prstGeom>
        </p:spPr>
      </p:pic>
      <p:sp>
        <p:nvSpPr>
          <p:cNvPr id="33" name="Text 25"/>
          <p:cNvSpPr txBox="1"/>
          <p:nvPr/>
        </p:nvSpPr>
        <p:spPr>
          <a:xfrm>
            <a:off x="7726680" y="3867912"/>
            <a:ext cx="3703320" cy="777240"/>
          </a:xfrm>
          <a:prstGeom prst="rect">
            <a:avLst/>
          </a:prstGeom>
          <a:noFill/>
          <a:ln/>
        </p:spPr>
        <p:txBody>
          <a:bodyPr wrap="square" lIns="0" tIns="0" rIns="0" bIns="0" rtlCol="0" anchor="ctr"/>
          <a:lstStyle/>
          <a:p>
            <a:pPr indent="0" marL="0">
              <a:buNone/>
            </a:pPr>
            <a:r>
              <a:rPr lang="en-US" sz="1250" dirty="0">
                <a:solidFill>
                  <a:srgbClr val="0E1B3D"/>
                </a:solidFill>
                <a:latin typeface="Open Sans" pitchFamily="34" charset="0"/>
                <a:ea typeface="Open Sans" pitchFamily="34" charset="-122"/>
                <a:cs typeface="Open Sans" pitchFamily="34" charset="-120"/>
              </a:rPr>
              <a:t>Distribuimos las historias en 3 sprints con un responsable por ticket.</a:t>
            </a:r>
            <a:endParaRPr lang="en-US" sz="1250" dirty="0"/>
          </a:p>
        </p:txBody>
      </p:sp>
      <p:sp>
        <p:nvSpPr>
          <p:cNvPr id="34" name="Shape 26"/>
          <p:cNvSpPr/>
          <p:nvPr/>
        </p:nvSpPr>
        <p:spPr>
          <a:xfrm>
            <a:off x="6949440" y="5020056"/>
            <a:ext cx="603504" cy="603504"/>
          </a:xfrm>
          <a:prstGeom prst="ellipse">
            <a:avLst/>
          </a:prstGeom>
          <a:solidFill>
            <a:srgbClr val="FF8A00"/>
          </a:solidFill>
          <a:ln/>
        </p:spPr>
      </p:sp>
      <p:pic>
        <p:nvPicPr>
          <p:cNvPr id="35" name="Image 6" descr="preencoded.png">    </p:cNvPr>
          <p:cNvPicPr>
            <a:picLocks noChangeAspect="1"/>
          </p:cNvPicPr>
          <p:nvPr/>
        </p:nvPicPr>
        <p:blipFill>
          <a:blip r:embed="rId8"/>
          <a:stretch>
            <a:fillRect/>
          </a:stretch>
        </p:blipFill>
        <p:spPr>
          <a:xfrm>
            <a:off x="7094281" y="5164897"/>
            <a:ext cx="313822" cy="313822"/>
          </a:xfrm>
          <a:prstGeom prst="rect">
            <a:avLst/>
          </a:prstGeom>
        </p:spPr>
      </p:pic>
      <p:sp>
        <p:nvSpPr>
          <p:cNvPr id="36" name="Text 27"/>
          <p:cNvSpPr txBox="1"/>
          <p:nvPr/>
        </p:nvSpPr>
        <p:spPr>
          <a:xfrm>
            <a:off x="7726680" y="4946904"/>
            <a:ext cx="3703320" cy="777240"/>
          </a:xfrm>
          <a:prstGeom prst="rect">
            <a:avLst/>
          </a:prstGeom>
          <a:noFill/>
          <a:ln/>
        </p:spPr>
        <p:txBody>
          <a:bodyPr wrap="square" lIns="0" tIns="0" rIns="0" bIns="0" rtlCol="0" anchor="ctr"/>
          <a:lstStyle/>
          <a:p>
            <a:pPr indent="0" marL="0">
              <a:buNone/>
            </a:pPr>
            <a:r>
              <a:rPr lang="en-US" sz="1250" dirty="0">
                <a:solidFill>
                  <a:srgbClr val="0E1B3D"/>
                </a:solidFill>
                <a:latin typeface="Open Sans" pitchFamily="34" charset="0"/>
                <a:ea typeface="Open Sans" pitchFamily="34" charset="-122"/>
                <a:cs typeface="Open Sans" pitchFamily="34" charset="-120"/>
              </a:rPr>
              <a:t>Registramos avances, estados en el tablero e historial de incidencias.</a:t>
            </a:r>
            <a:endParaRPr lang="en-US" sz="1250" dirty="0"/>
          </a:p>
        </p:txBody>
      </p:sp>
      <p:sp>
        <p:nvSpPr>
          <p:cNvPr id="37" name="Text 28"/>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38" name="Text 29"/>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135478" cy="274320"/>
          </a:xfrm>
          <a:prstGeom prst="roundRect">
            <a:avLst>
              <a:gd name="adj" fmla="val 50000"/>
            </a:avLst>
          </a:prstGeom>
          <a:solidFill>
            <a:srgbClr val="FF8A00"/>
          </a:solidFill>
          <a:ln/>
        </p:spPr>
      </p:sp>
      <p:sp>
        <p:nvSpPr>
          <p:cNvPr id="3" name="Text 1"/>
          <p:cNvSpPr txBox="1"/>
          <p:nvPr/>
        </p:nvSpPr>
        <p:spPr>
          <a:xfrm>
            <a:off x="548640" y="292608"/>
            <a:ext cx="3135478"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ANEXO A.2 · REPOSITORIO EN GITHUB</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Todo el proyecto versionado en GitHub</a:t>
            </a:r>
            <a:endParaRPr lang="en-US" sz="2400" dirty="0"/>
          </a:p>
        </p:txBody>
      </p:sp>
      <p:sp>
        <p:nvSpPr>
          <p:cNvPr id="5" name="Shape 3"/>
          <p:cNvSpPr/>
          <p:nvPr/>
        </p:nvSpPr>
        <p:spPr>
          <a:xfrm>
            <a:off x="502920" y="1188720"/>
            <a:ext cx="5323280" cy="5074920"/>
          </a:xfrm>
          <a:prstGeom prst="roundRect">
            <a:avLst>
              <a:gd name="adj" fmla="val 1802"/>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pic>
        <p:nvPicPr>
          <p:cNvPr id="6" name="Image 0" descr="assets/git_tree.jpg">    </p:cNvPr>
          <p:cNvPicPr>
            <a:picLocks noChangeAspect="1"/>
          </p:cNvPicPr>
          <p:nvPr/>
        </p:nvPicPr>
        <p:blipFill>
          <a:blip r:embed="rId2"/>
          <a:stretch>
            <a:fillRect/>
          </a:stretch>
        </p:blipFill>
        <p:spPr>
          <a:xfrm>
            <a:off x="548640" y="1234440"/>
            <a:ext cx="5231840" cy="4983480"/>
          </a:xfrm>
          <a:prstGeom prst="rect">
            <a:avLst/>
          </a:prstGeom>
        </p:spPr>
      </p:pic>
      <p:sp>
        <p:nvSpPr>
          <p:cNvPr id="7" name="Shape 4"/>
          <p:cNvSpPr/>
          <p:nvPr/>
        </p:nvSpPr>
        <p:spPr>
          <a:xfrm>
            <a:off x="6007608" y="1188720"/>
            <a:ext cx="5650992" cy="2755516"/>
          </a:xfrm>
          <a:prstGeom prst="roundRect">
            <a:avLst>
              <a:gd name="adj" fmla="val 3318"/>
            </a:avLst>
          </a:prstGeom>
          <a:solidFill>
            <a:srgbClr val="0D1117"/>
          </a:solidFill>
          <a:ln/>
          <a:effectLst>
            <a:outerShdw sx="100000" sy="100000" kx="0" ky="0" algn="bl" rotWithShape="0" blurRad="177800" dist="38100" dir="5400000">
              <a:srgbClr val="0B1E4F">
                <a:alpha val="10000"/>
              </a:srgbClr>
            </a:outerShdw>
          </a:effectLst>
        </p:spPr>
      </p:sp>
      <p:pic>
        <p:nvPicPr>
          <p:cNvPr id="8" name="Image 1" descr="assets/git_repo.jpg">    </p:cNvPr>
          <p:cNvPicPr>
            <a:picLocks noChangeAspect="1"/>
          </p:cNvPicPr>
          <p:nvPr/>
        </p:nvPicPr>
        <p:blipFill>
          <a:blip r:embed="rId3"/>
          <a:stretch>
            <a:fillRect/>
          </a:stretch>
        </p:blipFill>
        <p:spPr>
          <a:xfrm>
            <a:off x="6053328" y="1234440"/>
            <a:ext cx="5559552" cy="2664076"/>
          </a:xfrm>
          <a:prstGeom prst="rect">
            <a:avLst/>
          </a:prstGeom>
        </p:spPr>
      </p:pic>
      <p:sp>
        <p:nvSpPr>
          <p:cNvPr id="9" name="Shape 5"/>
          <p:cNvSpPr/>
          <p:nvPr/>
        </p:nvSpPr>
        <p:spPr>
          <a:xfrm>
            <a:off x="6007608" y="4145404"/>
            <a:ext cx="3611880" cy="1683199"/>
          </a:xfrm>
          <a:prstGeom prst="roundRect">
            <a:avLst>
              <a:gd name="adj" fmla="val 5433"/>
            </a:avLst>
          </a:prstGeom>
          <a:solidFill>
            <a:srgbClr val="0D1117"/>
          </a:solidFill>
          <a:ln/>
          <a:effectLst>
            <a:outerShdw sx="100000" sy="100000" kx="0" ky="0" algn="bl" rotWithShape="0" blurRad="177800" dist="38100" dir="5400000">
              <a:srgbClr val="0B1E4F">
                <a:alpha val="10000"/>
              </a:srgbClr>
            </a:outerShdw>
          </a:effectLst>
        </p:spPr>
      </p:sp>
      <p:pic>
        <p:nvPicPr>
          <p:cNvPr id="10" name="Image 2" descr="assets/git_commits.jpg">    </p:cNvPr>
          <p:cNvPicPr>
            <a:picLocks noChangeAspect="1"/>
          </p:cNvPicPr>
          <p:nvPr/>
        </p:nvPicPr>
        <p:blipFill>
          <a:blip r:embed="rId4"/>
          <a:stretch>
            <a:fillRect/>
          </a:stretch>
        </p:blipFill>
        <p:spPr>
          <a:xfrm>
            <a:off x="6053328" y="4191124"/>
            <a:ext cx="3520440" cy="1591759"/>
          </a:xfrm>
          <a:prstGeom prst="rect">
            <a:avLst/>
          </a:prstGeom>
        </p:spPr>
      </p:pic>
      <p:sp>
        <p:nvSpPr>
          <p:cNvPr id="11" name="Text 6"/>
          <p:cNvSpPr txBox="1"/>
          <p:nvPr/>
        </p:nvSpPr>
        <p:spPr>
          <a:xfrm>
            <a:off x="6053328" y="5865178"/>
            <a:ext cx="3520440" cy="201168"/>
          </a:xfrm>
          <a:prstGeom prst="rect">
            <a:avLst/>
          </a:prstGeom>
          <a:noFill/>
          <a:ln/>
        </p:spPr>
        <p:txBody>
          <a:bodyPr wrap="square" lIns="0" tIns="0" rIns="0" bIns="0" rtlCol="0" anchor="ctr"/>
          <a:lstStyle/>
          <a:p>
            <a:pPr algn="l" indent="0" marL="0">
              <a:buNone/>
            </a:pPr>
            <a:r>
              <a:rPr lang="en-US" sz="850" i="1" dirty="0">
                <a:solidFill>
                  <a:srgbClr val="8A96AE"/>
                </a:solidFill>
                <a:latin typeface="Open Sans" pitchFamily="34" charset="0"/>
                <a:ea typeface="Open Sans" pitchFamily="34" charset="-122"/>
                <a:cs typeface="Open Sans" pitchFamily="34" charset="-120"/>
              </a:rPr>
              <a:t>Historial de commits del equipo</a:t>
            </a:r>
            <a:endParaRPr lang="en-US" sz="850" dirty="0"/>
          </a:p>
        </p:txBody>
      </p:sp>
      <p:sp>
        <p:nvSpPr>
          <p:cNvPr id="12" name="Shape 7"/>
          <p:cNvSpPr/>
          <p:nvPr/>
        </p:nvSpPr>
        <p:spPr>
          <a:xfrm>
            <a:off x="9774936" y="4145404"/>
            <a:ext cx="420624" cy="420624"/>
          </a:xfrm>
          <a:prstGeom prst="ellipse">
            <a:avLst/>
          </a:prstGeom>
          <a:solidFill>
            <a:srgbClr val="0B1E4F"/>
          </a:solidFill>
          <a:ln/>
        </p:spPr>
      </p:sp>
      <p:pic>
        <p:nvPicPr>
          <p:cNvPr id="13" name="Image 3" descr="preencoded.png">    </p:cNvPr>
          <p:cNvPicPr>
            <a:picLocks noChangeAspect="1"/>
          </p:cNvPicPr>
          <p:nvPr/>
        </p:nvPicPr>
        <p:blipFill>
          <a:blip r:embed="rId5"/>
          <a:stretch>
            <a:fillRect/>
          </a:stretch>
        </p:blipFill>
        <p:spPr>
          <a:xfrm>
            <a:off x="9875886" y="4246353"/>
            <a:ext cx="218724" cy="218724"/>
          </a:xfrm>
          <a:prstGeom prst="rect">
            <a:avLst/>
          </a:prstGeom>
        </p:spPr>
      </p:pic>
      <p:sp>
        <p:nvSpPr>
          <p:cNvPr id="14" name="Text 8"/>
          <p:cNvSpPr txBox="1"/>
          <p:nvPr/>
        </p:nvSpPr>
        <p:spPr>
          <a:xfrm>
            <a:off x="10277856" y="4145404"/>
            <a:ext cx="1335024" cy="420624"/>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Estructura por carpetas</a:t>
            </a:r>
            <a:endParaRPr lang="en-US" sz="1000" dirty="0"/>
          </a:p>
        </p:txBody>
      </p:sp>
      <p:sp>
        <p:nvSpPr>
          <p:cNvPr id="15" name="Shape 9"/>
          <p:cNvSpPr/>
          <p:nvPr/>
        </p:nvSpPr>
        <p:spPr>
          <a:xfrm>
            <a:off x="9774936" y="4694044"/>
            <a:ext cx="420624" cy="420624"/>
          </a:xfrm>
          <a:prstGeom prst="ellipse">
            <a:avLst/>
          </a:prstGeom>
          <a:solidFill>
            <a:srgbClr val="0B1E4F"/>
          </a:solidFill>
          <a:ln/>
        </p:spPr>
      </p:sp>
      <p:pic>
        <p:nvPicPr>
          <p:cNvPr id="16" name="Image 4" descr="preencoded.png">    </p:cNvPr>
          <p:cNvPicPr>
            <a:picLocks noChangeAspect="1"/>
          </p:cNvPicPr>
          <p:nvPr/>
        </p:nvPicPr>
        <p:blipFill>
          <a:blip r:embed="rId6"/>
          <a:stretch>
            <a:fillRect/>
          </a:stretch>
        </p:blipFill>
        <p:spPr>
          <a:xfrm>
            <a:off x="9875886" y="4794993"/>
            <a:ext cx="218724" cy="218724"/>
          </a:xfrm>
          <a:prstGeom prst="rect">
            <a:avLst/>
          </a:prstGeom>
        </p:spPr>
      </p:pic>
      <p:sp>
        <p:nvSpPr>
          <p:cNvPr id="17" name="Text 10"/>
          <p:cNvSpPr txBox="1"/>
          <p:nvPr/>
        </p:nvSpPr>
        <p:spPr>
          <a:xfrm>
            <a:off x="10277856" y="4694044"/>
            <a:ext cx="1335024" cy="420624"/>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Commits del equipo</a:t>
            </a:r>
            <a:endParaRPr lang="en-US" sz="1000" dirty="0"/>
          </a:p>
        </p:txBody>
      </p:sp>
      <p:sp>
        <p:nvSpPr>
          <p:cNvPr id="18" name="Shape 11"/>
          <p:cNvSpPr/>
          <p:nvPr/>
        </p:nvSpPr>
        <p:spPr>
          <a:xfrm>
            <a:off x="9774936" y="5242684"/>
            <a:ext cx="420624" cy="420624"/>
          </a:xfrm>
          <a:prstGeom prst="ellipse">
            <a:avLst/>
          </a:prstGeom>
          <a:solidFill>
            <a:srgbClr val="0B1E4F"/>
          </a:solidFill>
          <a:ln/>
        </p:spPr>
      </p:sp>
      <p:pic>
        <p:nvPicPr>
          <p:cNvPr id="19" name="Image 5" descr="preencoded.png">    </p:cNvPr>
          <p:cNvPicPr>
            <a:picLocks noChangeAspect="1"/>
          </p:cNvPicPr>
          <p:nvPr/>
        </p:nvPicPr>
        <p:blipFill>
          <a:blip r:embed="rId7"/>
          <a:stretch>
            <a:fillRect/>
          </a:stretch>
        </p:blipFill>
        <p:spPr>
          <a:xfrm>
            <a:off x="9875886" y="5343633"/>
            <a:ext cx="218724" cy="218724"/>
          </a:xfrm>
          <a:prstGeom prst="rect">
            <a:avLst/>
          </a:prstGeom>
        </p:spPr>
      </p:pic>
      <p:sp>
        <p:nvSpPr>
          <p:cNvPr id="20" name="Text 12"/>
          <p:cNvSpPr txBox="1"/>
          <p:nvPr/>
        </p:nvSpPr>
        <p:spPr>
          <a:xfrm>
            <a:off x="10277856" y="5242684"/>
            <a:ext cx="1335024" cy="420624"/>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Una rama por integrante</a:t>
            </a:r>
            <a:endParaRPr lang="en-US" sz="1000" dirty="0"/>
          </a:p>
        </p:txBody>
      </p:sp>
      <p:sp>
        <p:nvSpPr>
          <p:cNvPr id="21" name="Shape 13"/>
          <p:cNvSpPr/>
          <p:nvPr/>
        </p:nvSpPr>
        <p:spPr>
          <a:xfrm>
            <a:off x="9774936" y="5791324"/>
            <a:ext cx="420624" cy="420624"/>
          </a:xfrm>
          <a:prstGeom prst="ellipse">
            <a:avLst/>
          </a:prstGeom>
          <a:solidFill>
            <a:srgbClr val="0B1E4F"/>
          </a:solidFill>
          <a:ln/>
        </p:spPr>
      </p:sp>
      <p:pic>
        <p:nvPicPr>
          <p:cNvPr id="22" name="Image 6" descr="preencoded.png">    </p:cNvPr>
          <p:cNvPicPr>
            <a:picLocks noChangeAspect="1"/>
          </p:cNvPicPr>
          <p:nvPr/>
        </p:nvPicPr>
        <p:blipFill>
          <a:blip r:embed="rId8"/>
          <a:stretch>
            <a:fillRect/>
          </a:stretch>
        </p:blipFill>
        <p:spPr>
          <a:xfrm>
            <a:off x="9875886" y="5892273"/>
            <a:ext cx="218724" cy="218724"/>
          </a:xfrm>
          <a:prstGeom prst="rect">
            <a:avLst/>
          </a:prstGeom>
        </p:spPr>
      </p:pic>
      <p:sp>
        <p:nvSpPr>
          <p:cNvPr id="23" name="Text 14"/>
          <p:cNvSpPr txBox="1"/>
          <p:nvPr/>
        </p:nvSpPr>
        <p:spPr>
          <a:xfrm>
            <a:off x="10277856" y="5791324"/>
            <a:ext cx="1335024" cy="420624"/>
          </a:xfrm>
          <a:prstGeom prst="rect">
            <a:avLst/>
          </a:prstGeom>
          <a:noFill/>
          <a:ln/>
        </p:spPr>
        <p:txBody>
          <a:bodyPr wrap="square" lIns="0" tIns="0" rIns="0" bIns="0" rtlCol="0" anchor="ctr"/>
          <a:lstStyle/>
          <a:p>
            <a:pPr indent="0" marL="0">
              <a:buNone/>
            </a:pPr>
            <a:r>
              <a:rPr lang="en-US" sz="1000" b="1" dirty="0">
                <a:solidFill>
                  <a:srgbClr val="0E1B3D"/>
                </a:solidFill>
                <a:latin typeface="Open Sans" pitchFamily="34" charset="0"/>
                <a:ea typeface="Open Sans" pitchFamily="34" charset="-122"/>
                <a:cs typeface="Open Sans" pitchFamily="34" charset="-120"/>
              </a:rPr>
              <a:t>README.md</a:t>
            </a:r>
            <a:endParaRPr lang="en-US" sz="1000" dirty="0"/>
          </a:p>
        </p:txBody>
      </p:sp>
      <p:sp>
        <p:nvSpPr>
          <p:cNvPr id="24" name="Text 1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25" name="Text 1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625242" cy="274320"/>
          </a:xfrm>
          <a:prstGeom prst="roundRect">
            <a:avLst>
              <a:gd name="adj" fmla="val 50000"/>
            </a:avLst>
          </a:prstGeom>
          <a:solidFill>
            <a:srgbClr val="FF8A00"/>
          </a:solidFill>
          <a:ln/>
        </p:spPr>
      </p:sp>
      <p:sp>
        <p:nvSpPr>
          <p:cNvPr id="3" name="Text 1"/>
          <p:cNvSpPr txBox="1"/>
          <p:nvPr/>
        </p:nvSpPr>
        <p:spPr>
          <a:xfrm>
            <a:off x="548640" y="411480"/>
            <a:ext cx="2625242"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ANEXO A.2 · PLAN DE TRABAJO</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Ramas y contribuciones por integrante</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20 del informe: plan de trabajo y asignación de roles en el proyecto.</a:t>
            </a:r>
            <a:endParaRPr lang="en-US" sz="1300" dirty="0"/>
          </a:p>
        </p:txBody>
      </p:sp>
      <p:sp>
        <p:nvSpPr>
          <p:cNvPr id="6" name="Shape 4"/>
          <p:cNvSpPr/>
          <p:nvPr/>
        </p:nvSpPr>
        <p:spPr>
          <a:xfrm>
            <a:off x="914400" y="2148840"/>
            <a:ext cx="914" cy="3840480"/>
          </a:xfrm>
          <a:prstGeom prst="line">
            <a:avLst/>
          </a:prstGeom>
          <a:noFill/>
          <a:ln w="38100">
            <a:solidFill>
              <a:srgbClr val="0B1E4F"/>
            </a:solidFill>
            <a:prstDash val="solid"/>
          </a:ln>
        </p:spPr>
      </p:sp>
      <p:sp>
        <p:nvSpPr>
          <p:cNvPr id="7" name="Shape 5"/>
          <p:cNvSpPr/>
          <p:nvPr/>
        </p:nvSpPr>
        <p:spPr>
          <a:xfrm>
            <a:off x="786384" y="2313432"/>
            <a:ext cx="256032" cy="256032"/>
          </a:xfrm>
          <a:prstGeom prst="ellipse">
            <a:avLst/>
          </a:prstGeom>
          <a:solidFill>
            <a:srgbClr val="0B5FFF"/>
          </a:solidFill>
          <a:ln w="25400">
            <a:solidFill>
              <a:srgbClr val="FFFFFF"/>
            </a:solidFill>
            <a:prstDash val="solid"/>
          </a:ln>
        </p:spPr>
      </p:sp>
      <p:sp>
        <p:nvSpPr>
          <p:cNvPr id="8" name="Shape 6"/>
          <p:cNvSpPr/>
          <p:nvPr/>
        </p:nvSpPr>
        <p:spPr>
          <a:xfrm>
            <a:off x="914400" y="2441448"/>
            <a:ext cx="274320" cy="914"/>
          </a:xfrm>
          <a:prstGeom prst="line">
            <a:avLst/>
          </a:prstGeom>
          <a:noFill/>
          <a:ln w="25400">
            <a:solidFill>
              <a:srgbClr val="0B5FFF"/>
            </a:solidFill>
            <a:prstDash val="solid"/>
          </a:ln>
        </p:spPr>
      </p:sp>
      <p:sp>
        <p:nvSpPr>
          <p:cNvPr id="9" name="Shape 7"/>
          <p:cNvSpPr/>
          <p:nvPr/>
        </p:nvSpPr>
        <p:spPr>
          <a:xfrm>
            <a:off x="1188720" y="2441448"/>
            <a:ext cx="274320" cy="914"/>
          </a:xfrm>
          <a:prstGeom prst="line">
            <a:avLst/>
          </a:prstGeom>
          <a:noFill/>
          <a:ln w="25400">
            <a:solidFill>
              <a:srgbClr val="0B5FFF"/>
            </a:solidFill>
            <a:prstDash val="solid"/>
          </a:ln>
        </p:spPr>
      </p:sp>
      <p:sp>
        <p:nvSpPr>
          <p:cNvPr id="10" name="Shape 8"/>
          <p:cNvSpPr/>
          <p:nvPr/>
        </p:nvSpPr>
        <p:spPr>
          <a:xfrm>
            <a:off x="1463040" y="2011680"/>
            <a:ext cx="10149840" cy="868680"/>
          </a:xfrm>
          <a:prstGeom prst="roundRect">
            <a:avLst>
              <a:gd name="adj" fmla="val 1263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1" name="Shape 9"/>
          <p:cNvSpPr/>
          <p:nvPr/>
        </p:nvSpPr>
        <p:spPr>
          <a:xfrm>
            <a:off x="1627632" y="2139696"/>
            <a:ext cx="603504" cy="603504"/>
          </a:xfrm>
          <a:prstGeom prst="ellipse">
            <a:avLst/>
          </a:prstGeom>
          <a:solidFill>
            <a:srgbClr val="EAF1FF"/>
          </a:solidFill>
          <a:ln/>
        </p:spPr>
      </p:sp>
      <p:sp>
        <p:nvSpPr>
          <p:cNvPr id="12" name="Text 10"/>
          <p:cNvSpPr txBox="1"/>
          <p:nvPr/>
        </p:nvSpPr>
        <p:spPr>
          <a:xfrm>
            <a:off x="1627632" y="2139696"/>
            <a:ext cx="603504" cy="603504"/>
          </a:xfrm>
          <a:prstGeom prst="rect">
            <a:avLst/>
          </a:prstGeom>
          <a:noFill/>
          <a:ln/>
        </p:spPr>
        <p:txBody>
          <a:bodyPr wrap="square" lIns="0" tIns="0" rIns="0" bIns="0" rtlCol="0" anchor="ctr"/>
          <a:lstStyle/>
          <a:p>
            <a:pPr algn="ctr" indent="0" marL="0">
              <a:buNone/>
            </a:pPr>
            <a:r>
              <a:rPr lang="en-US" sz="1300" b="1" dirty="0">
                <a:solidFill>
                  <a:srgbClr val="0B5FFF"/>
                </a:solidFill>
                <a:latin typeface="Montserrat" pitchFamily="34" charset="0"/>
                <a:ea typeface="Montserrat" pitchFamily="34" charset="-122"/>
                <a:cs typeface="Montserrat" pitchFamily="34" charset="-120"/>
              </a:rPr>
              <a:t>AO</a:t>
            </a:r>
            <a:endParaRPr lang="en-US" sz="1300" dirty="0"/>
          </a:p>
        </p:txBody>
      </p:sp>
      <p:sp>
        <p:nvSpPr>
          <p:cNvPr id="13" name="Text 11"/>
          <p:cNvSpPr txBox="1"/>
          <p:nvPr/>
        </p:nvSpPr>
        <p:spPr>
          <a:xfrm>
            <a:off x="2377440" y="2103120"/>
            <a:ext cx="2926080" cy="329184"/>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Ortega Matos Andy</a:t>
            </a:r>
            <a:endParaRPr lang="en-US" sz="1250" dirty="0"/>
          </a:p>
        </p:txBody>
      </p:sp>
      <p:pic>
        <p:nvPicPr>
          <p:cNvPr id="14" name="Image 0" descr="preencoded.png">    </p:cNvPr>
          <p:cNvPicPr>
            <a:picLocks noChangeAspect="1"/>
          </p:cNvPicPr>
          <p:nvPr/>
        </p:nvPicPr>
        <p:blipFill>
          <a:blip r:embed="rId2"/>
          <a:stretch>
            <a:fillRect/>
          </a:stretch>
        </p:blipFill>
        <p:spPr>
          <a:xfrm>
            <a:off x="2377440" y="2514600"/>
            <a:ext cx="201168" cy="201168"/>
          </a:xfrm>
          <a:prstGeom prst="rect">
            <a:avLst/>
          </a:prstGeom>
        </p:spPr>
      </p:pic>
      <p:sp>
        <p:nvSpPr>
          <p:cNvPr id="15" name="Text 12"/>
          <p:cNvSpPr txBox="1"/>
          <p:nvPr/>
        </p:nvSpPr>
        <p:spPr>
          <a:xfrm>
            <a:off x="2633472" y="2468880"/>
            <a:ext cx="2743200" cy="292608"/>
          </a:xfrm>
          <a:prstGeom prst="rect">
            <a:avLst/>
          </a:prstGeom>
          <a:noFill/>
          <a:ln/>
        </p:spPr>
        <p:txBody>
          <a:bodyPr wrap="square" lIns="0" tIns="0" rIns="0" bIns="0" rtlCol="0" anchor="ctr"/>
          <a:lstStyle/>
          <a:p>
            <a:pPr indent="0" marL="0">
              <a:buNone/>
            </a:pPr>
            <a:r>
              <a:rPr lang="en-US" sz="950" b="1" dirty="0">
                <a:solidFill>
                  <a:srgbClr val="0B5FFF"/>
                </a:solidFill>
                <a:latin typeface="Open Sans" pitchFamily="34" charset="0"/>
                <a:ea typeface="Open Sans" pitchFamily="34" charset="-122"/>
                <a:cs typeface="Open Sans" pitchFamily="34" charset="-120"/>
              </a:rPr>
              <a:t>main / feature/informe-general</a:t>
            </a:r>
            <a:endParaRPr lang="en-US" sz="950" dirty="0"/>
          </a:p>
        </p:txBody>
      </p:sp>
      <p:sp>
        <p:nvSpPr>
          <p:cNvPr id="16" name="Text 13"/>
          <p:cNvSpPr txBox="1"/>
          <p:nvPr/>
        </p:nvSpPr>
        <p:spPr>
          <a:xfrm>
            <a:off x="5486400" y="2084832"/>
            <a:ext cx="5943600" cy="731520"/>
          </a:xfrm>
          <a:prstGeom prst="rect">
            <a:avLst/>
          </a:prstGeom>
          <a:noFill/>
          <a:ln/>
        </p:spPr>
        <p:txBody>
          <a:bodyPr wrap="square" lIns="0" tIns="0" rIns="0" bIns="0" rtlCol="0" anchor="ctr"/>
          <a:lstStyle/>
          <a:p>
            <a:pPr indent="0" marL="0">
              <a:buNone/>
            </a:pPr>
            <a:r>
              <a:rPr lang="en-US" sz="1050" dirty="0">
                <a:solidFill>
                  <a:srgbClr val="4A5878"/>
                </a:solidFill>
                <a:latin typeface="Open Sans" pitchFamily="34" charset="0"/>
                <a:ea typeface="Open Sans" pitchFamily="34" charset="-122"/>
                <a:cs typeface="Open Sans" pitchFamily="34" charset="-120"/>
              </a:rPr>
              <a:t>Integración y redacción general del informe técnico, estructuración del Product Backlog y planificación de Sprints.</a:t>
            </a:r>
            <a:endParaRPr lang="en-US" sz="1050" dirty="0"/>
          </a:p>
        </p:txBody>
      </p:sp>
      <p:sp>
        <p:nvSpPr>
          <p:cNvPr id="17" name="Shape 14"/>
          <p:cNvSpPr/>
          <p:nvPr/>
        </p:nvSpPr>
        <p:spPr>
          <a:xfrm>
            <a:off x="786384" y="3337560"/>
            <a:ext cx="256032" cy="256032"/>
          </a:xfrm>
          <a:prstGeom prst="ellipse">
            <a:avLst/>
          </a:prstGeom>
          <a:solidFill>
            <a:srgbClr val="7B5CFF"/>
          </a:solidFill>
          <a:ln w="25400">
            <a:solidFill>
              <a:srgbClr val="FFFFFF"/>
            </a:solidFill>
            <a:prstDash val="solid"/>
          </a:ln>
        </p:spPr>
      </p:sp>
      <p:sp>
        <p:nvSpPr>
          <p:cNvPr id="18" name="Shape 15"/>
          <p:cNvSpPr/>
          <p:nvPr/>
        </p:nvSpPr>
        <p:spPr>
          <a:xfrm>
            <a:off x="914400" y="3465576"/>
            <a:ext cx="274320" cy="914"/>
          </a:xfrm>
          <a:prstGeom prst="line">
            <a:avLst/>
          </a:prstGeom>
          <a:noFill/>
          <a:ln w="25400">
            <a:solidFill>
              <a:srgbClr val="7B5CFF"/>
            </a:solidFill>
            <a:prstDash val="solid"/>
          </a:ln>
        </p:spPr>
      </p:sp>
      <p:sp>
        <p:nvSpPr>
          <p:cNvPr id="19" name="Shape 16"/>
          <p:cNvSpPr/>
          <p:nvPr/>
        </p:nvSpPr>
        <p:spPr>
          <a:xfrm>
            <a:off x="1188720" y="3465576"/>
            <a:ext cx="274320" cy="914"/>
          </a:xfrm>
          <a:prstGeom prst="line">
            <a:avLst/>
          </a:prstGeom>
          <a:noFill/>
          <a:ln w="25400">
            <a:solidFill>
              <a:srgbClr val="7B5CFF"/>
            </a:solidFill>
            <a:prstDash val="solid"/>
          </a:ln>
        </p:spPr>
      </p:sp>
      <p:sp>
        <p:nvSpPr>
          <p:cNvPr id="20" name="Shape 17"/>
          <p:cNvSpPr/>
          <p:nvPr/>
        </p:nvSpPr>
        <p:spPr>
          <a:xfrm>
            <a:off x="1463040" y="3035808"/>
            <a:ext cx="10149840" cy="868680"/>
          </a:xfrm>
          <a:prstGeom prst="roundRect">
            <a:avLst>
              <a:gd name="adj" fmla="val 1263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1" name="Shape 18"/>
          <p:cNvSpPr/>
          <p:nvPr/>
        </p:nvSpPr>
        <p:spPr>
          <a:xfrm>
            <a:off x="1627632" y="3163824"/>
            <a:ext cx="603504" cy="603504"/>
          </a:xfrm>
          <a:prstGeom prst="ellipse">
            <a:avLst/>
          </a:prstGeom>
          <a:solidFill>
            <a:srgbClr val="EFEBFF"/>
          </a:solidFill>
          <a:ln/>
        </p:spPr>
      </p:sp>
      <p:sp>
        <p:nvSpPr>
          <p:cNvPr id="22" name="Text 19"/>
          <p:cNvSpPr txBox="1"/>
          <p:nvPr/>
        </p:nvSpPr>
        <p:spPr>
          <a:xfrm>
            <a:off x="1627632" y="3163824"/>
            <a:ext cx="603504" cy="603504"/>
          </a:xfrm>
          <a:prstGeom prst="rect">
            <a:avLst/>
          </a:prstGeom>
          <a:noFill/>
          <a:ln/>
        </p:spPr>
        <p:txBody>
          <a:bodyPr wrap="square" lIns="0" tIns="0" rIns="0" bIns="0" rtlCol="0" anchor="ctr"/>
          <a:lstStyle/>
          <a:p>
            <a:pPr algn="ctr" indent="0" marL="0">
              <a:buNone/>
            </a:pPr>
            <a:r>
              <a:rPr lang="en-US" sz="1300" b="1" dirty="0">
                <a:solidFill>
                  <a:srgbClr val="7B5CFF"/>
                </a:solidFill>
                <a:latin typeface="Montserrat" pitchFamily="34" charset="0"/>
                <a:ea typeface="Montserrat" pitchFamily="34" charset="-122"/>
                <a:cs typeface="Montserrat" pitchFamily="34" charset="-120"/>
              </a:rPr>
              <a:t>KT</a:t>
            </a:r>
            <a:endParaRPr lang="en-US" sz="1300" dirty="0"/>
          </a:p>
        </p:txBody>
      </p:sp>
      <p:sp>
        <p:nvSpPr>
          <p:cNvPr id="23" name="Text 20"/>
          <p:cNvSpPr txBox="1"/>
          <p:nvPr/>
        </p:nvSpPr>
        <p:spPr>
          <a:xfrm>
            <a:off x="2377440" y="3127248"/>
            <a:ext cx="2926080" cy="329184"/>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Torres Flores Kenyi</a:t>
            </a:r>
            <a:endParaRPr lang="en-US" sz="1250" dirty="0"/>
          </a:p>
        </p:txBody>
      </p:sp>
      <p:pic>
        <p:nvPicPr>
          <p:cNvPr id="24" name="Image 1" descr="preencoded.png">    </p:cNvPr>
          <p:cNvPicPr>
            <a:picLocks noChangeAspect="1"/>
          </p:cNvPicPr>
          <p:nvPr/>
        </p:nvPicPr>
        <p:blipFill>
          <a:blip r:embed="rId3"/>
          <a:stretch>
            <a:fillRect/>
          </a:stretch>
        </p:blipFill>
        <p:spPr>
          <a:xfrm>
            <a:off x="2377440" y="3538728"/>
            <a:ext cx="201168" cy="201168"/>
          </a:xfrm>
          <a:prstGeom prst="rect">
            <a:avLst/>
          </a:prstGeom>
        </p:spPr>
      </p:pic>
      <p:sp>
        <p:nvSpPr>
          <p:cNvPr id="25" name="Text 21"/>
          <p:cNvSpPr txBox="1"/>
          <p:nvPr/>
        </p:nvSpPr>
        <p:spPr>
          <a:xfrm>
            <a:off x="2633472" y="3493008"/>
            <a:ext cx="2743200" cy="292608"/>
          </a:xfrm>
          <a:prstGeom prst="rect">
            <a:avLst/>
          </a:prstGeom>
          <a:noFill/>
          <a:ln/>
        </p:spPr>
        <p:txBody>
          <a:bodyPr wrap="square" lIns="0" tIns="0" rIns="0" bIns="0" rtlCol="0" anchor="ctr"/>
          <a:lstStyle/>
          <a:p>
            <a:pPr indent="0" marL="0">
              <a:buNone/>
            </a:pPr>
            <a:r>
              <a:rPr lang="en-US" sz="950" b="1" dirty="0">
                <a:solidFill>
                  <a:srgbClr val="7B5CFF"/>
                </a:solidFill>
                <a:latin typeface="Open Sans" pitchFamily="34" charset="0"/>
                <a:ea typeface="Open Sans" pitchFamily="34" charset="-122"/>
                <a:cs typeface="Open Sans" pitchFamily="34" charset="-120"/>
              </a:rPr>
              <a:t>main / feature/repositorio-backlog</a:t>
            </a:r>
            <a:endParaRPr lang="en-US" sz="950" dirty="0"/>
          </a:p>
        </p:txBody>
      </p:sp>
      <p:sp>
        <p:nvSpPr>
          <p:cNvPr id="26" name="Text 22"/>
          <p:cNvSpPr txBox="1"/>
          <p:nvPr/>
        </p:nvSpPr>
        <p:spPr>
          <a:xfrm>
            <a:off x="5486400" y="3108960"/>
            <a:ext cx="5943600" cy="731520"/>
          </a:xfrm>
          <a:prstGeom prst="rect">
            <a:avLst/>
          </a:prstGeom>
          <a:noFill/>
          <a:ln/>
        </p:spPr>
        <p:txBody>
          <a:bodyPr wrap="square" lIns="0" tIns="0" rIns="0" bIns="0" rtlCol="0" anchor="ctr"/>
          <a:lstStyle/>
          <a:p>
            <a:pPr indent="0" marL="0">
              <a:buNone/>
            </a:pPr>
            <a:r>
              <a:rPr lang="en-US" sz="1050" dirty="0">
                <a:solidFill>
                  <a:srgbClr val="4A5878"/>
                </a:solidFill>
                <a:latin typeface="Open Sans" pitchFamily="34" charset="0"/>
                <a:ea typeface="Open Sans" pitchFamily="34" charset="-122"/>
                <a:cs typeface="Open Sans" pitchFamily="34" charset="-120"/>
              </a:rPr>
              <a:t>Creación y administración del repositorio en GitHub, archivo README.md y soporte en la gestión del proyecto en Jira.</a:t>
            </a:r>
            <a:endParaRPr lang="en-US" sz="1050" dirty="0"/>
          </a:p>
        </p:txBody>
      </p:sp>
      <p:sp>
        <p:nvSpPr>
          <p:cNvPr id="27" name="Shape 23"/>
          <p:cNvSpPr/>
          <p:nvPr/>
        </p:nvSpPr>
        <p:spPr>
          <a:xfrm>
            <a:off x="786384" y="4361688"/>
            <a:ext cx="256032" cy="256032"/>
          </a:xfrm>
          <a:prstGeom prst="ellipse">
            <a:avLst/>
          </a:prstGeom>
          <a:solidFill>
            <a:srgbClr val="008FB0"/>
          </a:solidFill>
          <a:ln w="25400">
            <a:solidFill>
              <a:srgbClr val="FFFFFF"/>
            </a:solidFill>
            <a:prstDash val="solid"/>
          </a:ln>
        </p:spPr>
      </p:sp>
      <p:sp>
        <p:nvSpPr>
          <p:cNvPr id="28" name="Shape 24"/>
          <p:cNvSpPr/>
          <p:nvPr/>
        </p:nvSpPr>
        <p:spPr>
          <a:xfrm>
            <a:off x="914400" y="4489704"/>
            <a:ext cx="274320" cy="914"/>
          </a:xfrm>
          <a:prstGeom prst="line">
            <a:avLst/>
          </a:prstGeom>
          <a:noFill/>
          <a:ln w="25400">
            <a:solidFill>
              <a:srgbClr val="008FB0"/>
            </a:solidFill>
            <a:prstDash val="solid"/>
          </a:ln>
        </p:spPr>
      </p:sp>
      <p:sp>
        <p:nvSpPr>
          <p:cNvPr id="29" name="Shape 25"/>
          <p:cNvSpPr/>
          <p:nvPr/>
        </p:nvSpPr>
        <p:spPr>
          <a:xfrm>
            <a:off x="1188720" y="4489704"/>
            <a:ext cx="274320" cy="914"/>
          </a:xfrm>
          <a:prstGeom prst="line">
            <a:avLst/>
          </a:prstGeom>
          <a:noFill/>
          <a:ln w="25400">
            <a:solidFill>
              <a:srgbClr val="008FB0"/>
            </a:solidFill>
            <a:prstDash val="solid"/>
          </a:ln>
        </p:spPr>
      </p:sp>
      <p:sp>
        <p:nvSpPr>
          <p:cNvPr id="30" name="Shape 26"/>
          <p:cNvSpPr/>
          <p:nvPr/>
        </p:nvSpPr>
        <p:spPr>
          <a:xfrm>
            <a:off x="1463040" y="4059936"/>
            <a:ext cx="10149840" cy="868680"/>
          </a:xfrm>
          <a:prstGeom prst="roundRect">
            <a:avLst>
              <a:gd name="adj" fmla="val 1263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1" name="Shape 27"/>
          <p:cNvSpPr/>
          <p:nvPr/>
        </p:nvSpPr>
        <p:spPr>
          <a:xfrm>
            <a:off x="1627632" y="4187952"/>
            <a:ext cx="603504" cy="603504"/>
          </a:xfrm>
          <a:prstGeom prst="ellipse">
            <a:avLst/>
          </a:prstGeom>
          <a:solidFill>
            <a:srgbClr val="E0F8FB"/>
          </a:solidFill>
          <a:ln/>
        </p:spPr>
      </p:sp>
      <p:sp>
        <p:nvSpPr>
          <p:cNvPr id="32" name="Text 28"/>
          <p:cNvSpPr txBox="1"/>
          <p:nvPr/>
        </p:nvSpPr>
        <p:spPr>
          <a:xfrm>
            <a:off x="1627632" y="4187952"/>
            <a:ext cx="603504" cy="603504"/>
          </a:xfrm>
          <a:prstGeom prst="rect">
            <a:avLst/>
          </a:prstGeom>
          <a:noFill/>
          <a:ln/>
        </p:spPr>
        <p:txBody>
          <a:bodyPr wrap="square" lIns="0" tIns="0" rIns="0" bIns="0" rtlCol="0" anchor="ctr"/>
          <a:lstStyle/>
          <a:p>
            <a:pPr algn="ctr" indent="0" marL="0">
              <a:buNone/>
            </a:pPr>
            <a:r>
              <a:rPr lang="en-US" sz="1300" b="1" dirty="0">
                <a:solidFill>
                  <a:srgbClr val="008FB0"/>
                </a:solidFill>
                <a:latin typeface="Montserrat" pitchFamily="34" charset="0"/>
                <a:ea typeface="Montserrat" pitchFamily="34" charset="-122"/>
                <a:cs typeface="Montserrat" pitchFamily="34" charset="-120"/>
              </a:rPr>
              <a:t>EL</a:t>
            </a:r>
            <a:endParaRPr lang="en-US" sz="1300" dirty="0"/>
          </a:p>
        </p:txBody>
      </p:sp>
      <p:sp>
        <p:nvSpPr>
          <p:cNvPr id="33" name="Text 29"/>
          <p:cNvSpPr txBox="1"/>
          <p:nvPr/>
        </p:nvSpPr>
        <p:spPr>
          <a:xfrm>
            <a:off x="2377440" y="4151376"/>
            <a:ext cx="2926080" cy="329184"/>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Lozano de la Cruz Edgard</a:t>
            </a:r>
            <a:endParaRPr lang="en-US" sz="1250" dirty="0"/>
          </a:p>
        </p:txBody>
      </p:sp>
      <p:pic>
        <p:nvPicPr>
          <p:cNvPr id="34" name="Image 2" descr="preencoded.png">    </p:cNvPr>
          <p:cNvPicPr>
            <a:picLocks noChangeAspect="1"/>
          </p:cNvPicPr>
          <p:nvPr/>
        </p:nvPicPr>
        <p:blipFill>
          <a:blip r:embed="rId4"/>
          <a:stretch>
            <a:fillRect/>
          </a:stretch>
        </p:blipFill>
        <p:spPr>
          <a:xfrm>
            <a:off x="2377440" y="4562856"/>
            <a:ext cx="201168" cy="201168"/>
          </a:xfrm>
          <a:prstGeom prst="rect">
            <a:avLst/>
          </a:prstGeom>
        </p:spPr>
      </p:pic>
      <p:sp>
        <p:nvSpPr>
          <p:cNvPr id="35" name="Text 30"/>
          <p:cNvSpPr txBox="1"/>
          <p:nvPr/>
        </p:nvSpPr>
        <p:spPr>
          <a:xfrm>
            <a:off x="2633472" y="4517136"/>
            <a:ext cx="2743200" cy="292608"/>
          </a:xfrm>
          <a:prstGeom prst="rect">
            <a:avLst/>
          </a:prstGeom>
          <a:noFill/>
          <a:ln/>
        </p:spPr>
        <p:txBody>
          <a:bodyPr wrap="square" lIns="0" tIns="0" rIns="0" bIns="0" rtlCol="0" anchor="ctr"/>
          <a:lstStyle/>
          <a:p>
            <a:pPr indent="0" marL="0">
              <a:buNone/>
            </a:pPr>
            <a:r>
              <a:rPr lang="en-US" sz="950" b="1" dirty="0">
                <a:solidFill>
                  <a:srgbClr val="008FB0"/>
                </a:solidFill>
                <a:latin typeface="Open Sans" pitchFamily="34" charset="0"/>
                <a:ea typeface="Open Sans" pitchFamily="34" charset="-122"/>
                <a:cs typeface="Open Sans" pitchFamily="34" charset="-120"/>
              </a:rPr>
              <a:t>feature/diagramas-uml</a:t>
            </a:r>
            <a:endParaRPr lang="en-US" sz="950" dirty="0"/>
          </a:p>
        </p:txBody>
      </p:sp>
      <p:sp>
        <p:nvSpPr>
          <p:cNvPr id="36" name="Text 31"/>
          <p:cNvSpPr txBox="1"/>
          <p:nvPr/>
        </p:nvSpPr>
        <p:spPr>
          <a:xfrm>
            <a:off x="5486400" y="4133088"/>
            <a:ext cx="5943600" cy="731520"/>
          </a:xfrm>
          <a:prstGeom prst="rect">
            <a:avLst/>
          </a:prstGeom>
          <a:noFill/>
          <a:ln/>
        </p:spPr>
        <p:txBody>
          <a:bodyPr wrap="square" lIns="0" tIns="0" rIns="0" bIns="0" rtlCol="0" anchor="ctr"/>
          <a:lstStyle/>
          <a:p>
            <a:pPr indent="0" marL="0">
              <a:buNone/>
            </a:pPr>
            <a:r>
              <a:rPr lang="en-US" sz="1050" dirty="0">
                <a:solidFill>
                  <a:srgbClr val="4A5878"/>
                </a:solidFill>
                <a:latin typeface="Open Sans" pitchFamily="34" charset="0"/>
                <a:ea typeface="Open Sans" pitchFamily="34" charset="-122"/>
                <a:cs typeface="Open Sans" pitchFamily="34" charset="-120"/>
              </a:rPr>
              <a:t>Elaboración de la modelería del sistema: diagramas de casos de uso, procesos y flujos principales.</a:t>
            </a:r>
            <a:endParaRPr lang="en-US" sz="1050" dirty="0"/>
          </a:p>
        </p:txBody>
      </p:sp>
      <p:sp>
        <p:nvSpPr>
          <p:cNvPr id="37" name="Shape 32"/>
          <p:cNvSpPr/>
          <p:nvPr/>
        </p:nvSpPr>
        <p:spPr>
          <a:xfrm>
            <a:off x="786384" y="5385816"/>
            <a:ext cx="256032" cy="256032"/>
          </a:xfrm>
          <a:prstGeom prst="ellipse">
            <a:avLst/>
          </a:prstGeom>
          <a:solidFill>
            <a:srgbClr val="E06F00"/>
          </a:solidFill>
          <a:ln w="25400">
            <a:solidFill>
              <a:srgbClr val="FFFFFF"/>
            </a:solidFill>
            <a:prstDash val="solid"/>
          </a:ln>
        </p:spPr>
      </p:sp>
      <p:sp>
        <p:nvSpPr>
          <p:cNvPr id="38" name="Shape 33"/>
          <p:cNvSpPr/>
          <p:nvPr/>
        </p:nvSpPr>
        <p:spPr>
          <a:xfrm>
            <a:off x="914400" y="5513832"/>
            <a:ext cx="274320" cy="914"/>
          </a:xfrm>
          <a:prstGeom prst="line">
            <a:avLst/>
          </a:prstGeom>
          <a:noFill/>
          <a:ln w="25400">
            <a:solidFill>
              <a:srgbClr val="E06F00"/>
            </a:solidFill>
            <a:prstDash val="solid"/>
          </a:ln>
        </p:spPr>
      </p:sp>
      <p:sp>
        <p:nvSpPr>
          <p:cNvPr id="39" name="Shape 34"/>
          <p:cNvSpPr/>
          <p:nvPr/>
        </p:nvSpPr>
        <p:spPr>
          <a:xfrm>
            <a:off x="1188720" y="5513832"/>
            <a:ext cx="274320" cy="914"/>
          </a:xfrm>
          <a:prstGeom prst="line">
            <a:avLst/>
          </a:prstGeom>
          <a:noFill/>
          <a:ln w="25400">
            <a:solidFill>
              <a:srgbClr val="E06F00"/>
            </a:solidFill>
            <a:prstDash val="solid"/>
          </a:ln>
        </p:spPr>
      </p:sp>
      <p:sp>
        <p:nvSpPr>
          <p:cNvPr id="40" name="Shape 35"/>
          <p:cNvSpPr/>
          <p:nvPr/>
        </p:nvSpPr>
        <p:spPr>
          <a:xfrm>
            <a:off x="1463040" y="5084064"/>
            <a:ext cx="10149840" cy="868680"/>
          </a:xfrm>
          <a:prstGeom prst="roundRect">
            <a:avLst>
              <a:gd name="adj" fmla="val 12632"/>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41" name="Shape 36"/>
          <p:cNvSpPr/>
          <p:nvPr/>
        </p:nvSpPr>
        <p:spPr>
          <a:xfrm>
            <a:off x="1627632" y="5212080"/>
            <a:ext cx="603504" cy="603504"/>
          </a:xfrm>
          <a:prstGeom prst="ellipse">
            <a:avLst/>
          </a:prstGeom>
          <a:solidFill>
            <a:srgbClr val="FFF1DE"/>
          </a:solidFill>
          <a:ln/>
        </p:spPr>
      </p:sp>
      <p:sp>
        <p:nvSpPr>
          <p:cNvPr id="42" name="Text 37"/>
          <p:cNvSpPr txBox="1"/>
          <p:nvPr/>
        </p:nvSpPr>
        <p:spPr>
          <a:xfrm>
            <a:off x="1627632" y="5212080"/>
            <a:ext cx="603504" cy="603504"/>
          </a:xfrm>
          <a:prstGeom prst="rect">
            <a:avLst/>
          </a:prstGeom>
          <a:noFill/>
          <a:ln/>
        </p:spPr>
        <p:txBody>
          <a:bodyPr wrap="square" lIns="0" tIns="0" rIns="0" bIns="0" rtlCol="0" anchor="ctr"/>
          <a:lstStyle/>
          <a:p>
            <a:pPr algn="ctr" indent="0" marL="0">
              <a:buNone/>
            </a:pPr>
            <a:r>
              <a:rPr lang="en-US" sz="1300" b="1" dirty="0">
                <a:solidFill>
                  <a:srgbClr val="E06F00"/>
                </a:solidFill>
                <a:latin typeface="Montserrat" pitchFamily="34" charset="0"/>
                <a:ea typeface="Montserrat" pitchFamily="34" charset="-122"/>
                <a:cs typeface="Montserrat" pitchFamily="34" charset="-120"/>
              </a:rPr>
              <a:t>DP</a:t>
            </a:r>
            <a:endParaRPr lang="en-US" sz="1300" dirty="0"/>
          </a:p>
        </p:txBody>
      </p:sp>
      <p:sp>
        <p:nvSpPr>
          <p:cNvPr id="43" name="Text 38"/>
          <p:cNvSpPr txBox="1"/>
          <p:nvPr/>
        </p:nvSpPr>
        <p:spPr>
          <a:xfrm>
            <a:off x="2377440" y="5175504"/>
            <a:ext cx="2926080" cy="329184"/>
          </a:xfrm>
          <a:prstGeom prst="rect">
            <a:avLst/>
          </a:prstGeom>
          <a:noFill/>
          <a:ln/>
        </p:spPr>
        <p:txBody>
          <a:bodyPr wrap="square" lIns="0" tIns="0" rIns="0" bIns="0" rtlCol="0" anchor="ctr"/>
          <a:lstStyle/>
          <a:p>
            <a:pPr indent="0" marL="0">
              <a:buNone/>
            </a:pPr>
            <a:r>
              <a:rPr lang="en-US" sz="1250" b="1" dirty="0">
                <a:solidFill>
                  <a:srgbClr val="0E1B3D"/>
                </a:solidFill>
                <a:latin typeface="Montserrat" pitchFamily="34" charset="0"/>
                <a:ea typeface="Montserrat" pitchFamily="34" charset="-122"/>
                <a:cs typeface="Montserrat" pitchFamily="34" charset="-120"/>
              </a:rPr>
              <a:t>Palomino Huamán Damián</a:t>
            </a:r>
            <a:endParaRPr lang="en-US" sz="1250" dirty="0"/>
          </a:p>
        </p:txBody>
      </p:sp>
      <p:pic>
        <p:nvPicPr>
          <p:cNvPr id="44" name="Image 3" descr="preencoded.png">    </p:cNvPr>
          <p:cNvPicPr>
            <a:picLocks noChangeAspect="1"/>
          </p:cNvPicPr>
          <p:nvPr/>
        </p:nvPicPr>
        <p:blipFill>
          <a:blip r:embed="rId5"/>
          <a:stretch>
            <a:fillRect/>
          </a:stretch>
        </p:blipFill>
        <p:spPr>
          <a:xfrm>
            <a:off x="2377440" y="5586984"/>
            <a:ext cx="201168" cy="201168"/>
          </a:xfrm>
          <a:prstGeom prst="rect">
            <a:avLst/>
          </a:prstGeom>
        </p:spPr>
      </p:pic>
      <p:sp>
        <p:nvSpPr>
          <p:cNvPr id="45" name="Text 39"/>
          <p:cNvSpPr txBox="1"/>
          <p:nvPr/>
        </p:nvSpPr>
        <p:spPr>
          <a:xfrm>
            <a:off x="2633472" y="5541264"/>
            <a:ext cx="2743200" cy="292608"/>
          </a:xfrm>
          <a:prstGeom prst="rect">
            <a:avLst/>
          </a:prstGeom>
          <a:noFill/>
          <a:ln/>
        </p:spPr>
        <p:txBody>
          <a:bodyPr wrap="square" lIns="0" tIns="0" rIns="0" bIns="0" rtlCol="0" anchor="ctr"/>
          <a:lstStyle/>
          <a:p>
            <a:pPr indent="0" marL="0">
              <a:buNone/>
            </a:pPr>
            <a:r>
              <a:rPr lang="en-US" sz="950" b="1" dirty="0">
                <a:solidFill>
                  <a:srgbClr val="E06F00"/>
                </a:solidFill>
                <a:latin typeface="Open Sans" pitchFamily="34" charset="0"/>
                <a:ea typeface="Open Sans" pitchFamily="34" charset="-122"/>
                <a:cs typeface="Open Sans" pitchFamily="34" charset="-120"/>
              </a:rPr>
              <a:t>feature/prototipos-presentacion</a:t>
            </a:r>
            <a:endParaRPr lang="en-US" sz="950" dirty="0"/>
          </a:p>
        </p:txBody>
      </p:sp>
      <p:sp>
        <p:nvSpPr>
          <p:cNvPr id="46" name="Text 40"/>
          <p:cNvSpPr txBox="1"/>
          <p:nvPr/>
        </p:nvSpPr>
        <p:spPr>
          <a:xfrm>
            <a:off x="5486400" y="5157216"/>
            <a:ext cx="5943600" cy="731520"/>
          </a:xfrm>
          <a:prstGeom prst="rect">
            <a:avLst/>
          </a:prstGeom>
          <a:noFill/>
          <a:ln/>
        </p:spPr>
        <p:txBody>
          <a:bodyPr wrap="square" lIns="0" tIns="0" rIns="0" bIns="0" rtlCol="0" anchor="ctr"/>
          <a:lstStyle/>
          <a:p>
            <a:pPr indent="0" marL="0">
              <a:buNone/>
            </a:pPr>
            <a:r>
              <a:rPr lang="en-US" sz="1050" dirty="0">
                <a:solidFill>
                  <a:srgbClr val="4A5878"/>
                </a:solidFill>
                <a:latin typeface="Open Sans" pitchFamily="34" charset="0"/>
                <a:ea typeface="Open Sans" pitchFamily="34" charset="-122"/>
                <a:cs typeface="Open Sans" pitchFamily="34" charset="-120"/>
              </a:rPr>
              <a:t>Levantamiento de requerimientos, diseño de interfaces y prototipos, y preparación del material para la presentación final.</a:t>
            </a:r>
            <a:endParaRPr lang="en-US" sz="1050" dirty="0"/>
          </a:p>
        </p:txBody>
      </p:sp>
      <p:sp>
        <p:nvSpPr>
          <p:cNvPr id="47" name="Text 41"/>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8" name="Text 42"/>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8A00"/>
                </a:solidFill>
                <a:latin typeface="Montserrat" pitchFamily="34" charset="0"/>
                <a:ea typeface="Montserrat" pitchFamily="34" charset="-122"/>
                <a:cs typeface="Montserrat"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FF5A5F"/>
          </a:solidFill>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CONCLUSIONES Y RECOMENDACIONES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Conclusiones individuales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17 del informe: cada integrante presenta su conclusión.</a:t>
            </a:r>
            <a:endParaRPr lang="en-US" sz="1300" dirty="0"/>
          </a:p>
        </p:txBody>
      </p:sp>
      <p:sp>
        <p:nvSpPr>
          <p:cNvPr id="6" name="Shape 4"/>
          <p:cNvSpPr/>
          <p:nvPr/>
        </p:nvSpPr>
        <p:spPr>
          <a:xfrm>
            <a:off x="548640"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548640" y="2011680"/>
            <a:ext cx="2651760" cy="1143000"/>
          </a:xfrm>
          <a:prstGeom prst="roundRect">
            <a:avLst>
              <a:gd name="adj" fmla="val 14400"/>
            </a:avLst>
          </a:prstGeom>
          <a:solidFill>
            <a:srgbClr val="0B5FFF"/>
          </a:solidFill>
          <a:ln/>
        </p:spPr>
      </p:sp>
      <p:sp>
        <p:nvSpPr>
          <p:cNvPr id="8" name="Shape 6"/>
          <p:cNvSpPr/>
          <p:nvPr/>
        </p:nvSpPr>
        <p:spPr>
          <a:xfrm>
            <a:off x="548640" y="2834640"/>
            <a:ext cx="2651760" cy="320040"/>
          </a:xfrm>
          <a:prstGeom prst="rect">
            <a:avLst/>
          </a:prstGeom>
          <a:solidFill>
            <a:srgbClr val="0B5FFF"/>
          </a:solidFill>
          <a:ln/>
        </p:spPr>
      </p:sp>
      <p:sp>
        <p:nvSpPr>
          <p:cNvPr id="9" name="Shape 7"/>
          <p:cNvSpPr/>
          <p:nvPr/>
        </p:nvSpPr>
        <p:spPr>
          <a:xfrm>
            <a:off x="749808" y="2240280"/>
            <a:ext cx="685800" cy="685800"/>
          </a:xfrm>
          <a:prstGeom prst="ellipse">
            <a:avLst/>
          </a:prstGeom>
          <a:solidFill>
            <a:srgbClr val="FFFFFF"/>
          </a:solidFill>
          <a:ln/>
        </p:spPr>
      </p:sp>
      <p:sp>
        <p:nvSpPr>
          <p:cNvPr id="10" name="Text 8"/>
          <p:cNvSpPr txBox="1"/>
          <p:nvPr/>
        </p:nvSpPr>
        <p:spPr>
          <a:xfrm>
            <a:off x="749808" y="2240280"/>
            <a:ext cx="685800" cy="685800"/>
          </a:xfrm>
          <a:prstGeom prst="rect">
            <a:avLst/>
          </a:prstGeom>
          <a:noFill/>
          <a:ln/>
        </p:spPr>
        <p:txBody>
          <a:bodyPr wrap="square" lIns="0" tIns="0" rIns="0" bIns="0" rtlCol="0" anchor="ctr"/>
          <a:lstStyle/>
          <a:p>
            <a:pPr algn="ctr" indent="0" marL="0">
              <a:buNone/>
            </a:pPr>
            <a:r>
              <a:rPr lang="en-US" sz="1600" b="1" dirty="0">
                <a:solidFill>
                  <a:srgbClr val="0B5FFF"/>
                </a:solidFill>
                <a:latin typeface="Montserrat" pitchFamily="34" charset="0"/>
                <a:ea typeface="Montserrat" pitchFamily="34" charset="-122"/>
                <a:cs typeface="Montserrat" pitchFamily="34" charset="-120"/>
              </a:rPr>
              <a:t>AO</a:t>
            </a:r>
            <a:endParaRPr lang="en-US" sz="1600" dirty="0"/>
          </a:p>
        </p:txBody>
      </p:sp>
      <p:sp>
        <p:nvSpPr>
          <p:cNvPr id="11" name="Text 9"/>
          <p:cNvSpPr txBox="1"/>
          <p:nvPr/>
        </p:nvSpPr>
        <p:spPr>
          <a:xfrm>
            <a:off x="1554480"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Ortega Matos Andy</a:t>
            </a:r>
            <a:endParaRPr lang="en-US" sz="1150" dirty="0"/>
          </a:p>
        </p:txBody>
      </p:sp>
      <p:sp>
        <p:nvSpPr>
          <p:cNvPr id="12" name="Text 10"/>
          <p:cNvSpPr txBox="1"/>
          <p:nvPr/>
        </p:nvSpPr>
        <p:spPr>
          <a:xfrm>
            <a:off x="1554480"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Análisis del problema y ODS</a:t>
            </a:r>
            <a:endParaRPr lang="en-US" sz="950" dirty="0"/>
          </a:p>
        </p:txBody>
      </p:sp>
      <p:pic>
        <p:nvPicPr>
          <p:cNvPr id="13" name="Image 0" descr="preencoded.png">    </p:cNvPr>
          <p:cNvPicPr>
            <a:picLocks noChangeAspect="1"/>
          </p:cNvPicPr>
          <p:nvPr/>
        </p:nvPicPr>
        <p:blipFill>
          <a:blip r:embed="rId2"/>
          <a:stretch>
            <a:fillRect/>
          </a:stretch>
        </p:blipFill>
        <p:spPr>
          <a:xfrm>
            <a:off x="777240" y="3337560"/>
            <a:ext cx="365760" cy="365760"/>
          </a:xfrm>
          <a:prstGeom prst="rect">
            <a:avLst/>
          </a:prstGeom>
        </p:spPr>
      </p:pic>
      <p:sp>
        <p:nvSpPr>
          <p:cNvPr id="14" name="Text 11"/>
          <p:cNvSpPr txBox="1"/>
          <p:nvPr/>
        </p:nvSpPr>
        <p:spPr>
          <a:xfrm>
            <a:off x="777240"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El registro del desembarque es la «puerta de entrada» de la información pesquera. Digitalizar ese momento, y no solo los reportes finales, permite contribuir de forma verificable a las metas 14.4 y 14.b.</a:t>
            </a:r>
            <a:endParaRPr lang="en-US" sz="1250" dirty="0"/>
          </a:p>
        </p:txBody>
      </p:sp>
      <p:sp>
        <p:nvSpPr>
          <p:cNvPr id="15" name="Shape 12"/>
          <p:cNvSpPr/>
          <p:nvPr/>
        </p:nvSpPr>
        <p:spPr>
          <a:xfrm>
            <a:off x="3355848"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6" name="Shape 13"/>
          <p:cNvSpPr/>
          <p:nvPr/>
        </p:nvSpPr>
        <p:spPr>
          <a:xfrm>
            <a:off x="3355848" y="2011680"/>
            <a:ext cx="2651760" cy="1143000"/>
          </a:xfrm>
          <a:prstGeom prst="roundRect">
            <a:avLst>
              <a:gd name="adj" fmla="val 14400"/>
            </a:avLst>
          </a:prstGeom>
          <a:solidFill>
            <a:srgbClr val="7B5CFF"/>
          </a:solidFill>
          <a:ln/>
        </p:spPr>
      </p:sp>
      <p:sp>
        <p:nvSpPr>
          <p:cNvPr id="17" name="Shape 14"/>
          <p:cNvSpPr/>
          <p:nvPr/>
        </p:nvSpPr>
        <p:spPr>
          <a:xfrm>
            <a:off x="3355848" y="2834640"/>
            <a:ext cx="2651760" cy="320040"/>
          </a:xfrm>
          <a:prstGeom prst="rect">
            <a:avLst/>
          </a:prstGeom>
          <a:solidFill>
            <a:srgbClr val="7B5CFF"/>
          </a:solidFill>
          <a:ln/>
        </p:spPr>
      </p:sp>
      <p:sp>
        <p:nvSpPr>
          <p:cNvPr id="18" name="Shape 15"/>
          <p:cNvSpPr/>
          <p:nvPr/>
        </p:nvSpPr>
        <p:spPr>
          <a:xfrm>
            <a:off x="3557016" y="2240280"/>
            <a:ext cx="685800" cy="685800"/>
          </a:xfrm>
          <a:prstGeom prst="ellipse">
            <a:avLst/>
          </a:prstGeom>
          <a:solidFill>
            <a:srgbClr val="FFFFFF"/>
          </a:solidFill>
          <a:ln/>
        </p:spPr>
      </p:sp>
      <p:sp>
        <p:nvSpPr>
          <p:cNvPr id="19" name="Text 16"/>
          <p:cNvSpPr txBox="1"/>
          <p:nvPr/>
        </p:nvSpPr>
        <p:spPr>
          <a:xfrm>
            <a:off x="3557016" y="2240280"/>
            <a:ext cx="685800" cy="685800"/>
          </a:xfrm>
          <a:prstGeom prst="rect">
            <a:avLst/>
          </a:prstGeom>
          <a:noFill/>
          <a:ln/>
        </p:spPr>
        <p:txBody>
          <a:bodyPr wrap="square" lIns="0" tIns="0" rIns="0" bIns="0" rtlCol="0" anchor="ctr"/>
          <a:lstStyle/>
          <a:p>
            <a:pPr algn="ctr" indent="0" marL="0">
              <a:buNone/>
            </a:pPr>
            <a:r>
              <a:rPr lang="en-US" sz="1600" b="1" dirty="0">
                <a:solidFill>
                  <a:srgbClr val="7B5CFF"/>
                </a:solidFill>
                <a:latin typeface="Montserrat" pitchFamily="34" charset="0"/>
                <a:ea typeface="Montserrat" pitchFamily="34" charset="-122"/>
                <a:cs typeface="Montserrat" pitchFamily="34" charset="-120"/>
              </a:rPr>
              <a:t>KT</a:t>
            </a:r>
            <a:endParaRPr lang="en-US" sz="1600" dirty="0"/>
          </a:p>
        </p:txBody>
      </p:sp>
      <p:sp>
        <p:nvSpPr>
          <p:cNvPr id="20" name="Text 17"/>
          <p:cNvSpPr txBox="1"/>
          <p:nvPr/>
        </p:nvSpPr>
        <p:spPr>
          <a:xfrm>
            <a:off x="4361688"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Torres Flores Kenyi</a:t>
            </a:r>
            <a:endParaRPr lang="en-US" sz="1150" dirty="0"/>
          </a:p>
        </p:txBody>
      </p:sp>
      <p:sp>
        <p:nvSpPr>
          <p:cNvPr id="21" name="Text 18"/>
          <p:cNvSpPr txBox="1"/>
          <p:nvPr/>
        </p:nvSpPr>
        <p:spPr>
          <a:xfrm>
            <a:off x="4361688"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Requerimientos</a:t>
            </a:r>
            <a:endParaRPr lang="en-US" sz="950" dirty="0"/>
          </a:p>
        </p:txBody>
      </p:sp>
      <p:pic>
        <p:nvPicPr>
          <p:cNvPr id="22" name="Image 1" descr="preencoded.png">    </p:cNvPr>
          <p:cNvPicPr>
            <a:picLocks noChangeAspect="1"/>
          </p:cNvPicPr>
          <p:nvPr/>
        </p:nvPicPr>
        <p:blipFill>
          <a:blip r:embed="rId3"/>
          <a:stretch>
            <a:fillRect/>
          </a:stretch>
        </p:blipFill>
        <p:spPr>
          <a:xfrm>
            <a:off x="3584448" y="3337560"/>
            <a:ext cx="365760" cy="365760"/>
          </a:xfrm>
          <a:prstGeom prst="rect">
            <a:avLst/>
          </a:prstGeom>
        </p:spPr>
      </p:pic>
      <p:sp>
        <p:nvSpPr>
          <p:cNvPr id="23" name="Text 19"/>
          <p:cNvSpPr txBox="1"/>
          <p:nvPr/>
        </p:nvSpPr>
        <p:spPr>
          <a:xfrm>
            <a:off x="3584448"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Los requerimientos no funcionales —funcionar sin señal, ingresar sin correo y proteger los caladeros— fueron tan determinantes como los funcionales: de ellos depende que el sistema se use en el muelle.</a:t>
            </a:r>
            <a:endParaRPr lang="en-US" sz="1250" dirty="0"/>
          </a:p>
        </p:txBody>
      </p:sp>
      <p:sp>
        <p:nvSpPr>
          <p:cNvPr id="24" name="Shape 20"/>
          <p:cNvSpPr/>
          <p:nvPr/>
        </p:nvSpPr>
        <p:spPr>
          <a:xfrm>
            <a:off x="6163056"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5" name="Shape 21"/>
          <p:cNvSpPr/>
          <p:nvPr/>
        </p:nvSpPr>
        <p:spPr>
          <a:xfrm>
            <a:off x="6163056" y="2011680"/>
            <a:ext cx="2651760" cy="1143000"/>
          </a:xfrm>
          <a:prstGeom prst="roundRect">
            <a:avLst>
              <a:gd name="adj" fmla="val 14400"/>
            </a:avLst>
          </a:prstGeom>
          <a:solidFill>
            <a:srgbClr val="008FB0"/>
          </a:solidFill>
          <a:ln/>
        </p:spPr>
      </p:sp>
      <p:sp>
        <p:nvSpPr>
          <p:cNvPr id="26" name="Shape 22"/>
          <p:cNvSpPr/>
          <p:nvPr/>
        </p:nvSpPr>
        <p:spPr>
          <a:xfrm>
            <a:off x="6163056" y="2834640"/>
            <a:ext cx="2651760" cy="320040"/>
          </a:xfrm>
          <a:prstGeom prst="rect">
            <a:avLst/>
          </a:prstGeom>
          <a:solidFill>
            <a:srgbClr val="008FB0"/>
          </a:solidFill>
          <a:ln/>
        </p:spPr>
      </p:sp>
      <p:sp>
        <p:nvSpPr>
          <p:cNvPr id="27" name="Shape 23"/>
          <p:cNvSpPr/>
          <p:nvPr/>
        </p:nvSpPr>
        <p:spPr>
          <a:xfrm>
            <a:off x="6364224" y="2240280"/>
            <a:ext cx="685800" cy="685800"/>
          </a:xfrm>
          <a:prstGeom prst="ellipse">
            <a:avLst/>
          </a:prstGeom>
          <a:solidFill>
            <a:srgbClr val="FFFFFF"/>
          </a:solidFill>
          <a:ln/>
        </p:spPr>
      </p:sp>
      <p:sp>
        <p:nvSpPr>
          <p:cNvPr id="28" name="Text 24"/>
          <p:cNvSpPr txBox="1"/>
          <p:nvPr/>
        </p:nvSpPr>
        <p:spPr>
          <a:xfrm>
            <a:off x="6364224" y="2240280"/>
            <a:ext cx="685800" cy="685800"/>
          </a:xfrm>
          <a:prstGeom prst="rect">
            <a:avLst/>
          </a:prstGeom>
          <a:noFill/>
          <a:ln/>
        </p:spPr>
        <p:txBody>
          <a:bodyPr wrap="square" lIns="0" tIns="0" rIns="0" bIns="0" rtlCol="0" anchor="ctr"/>
          <a:lstStyle/>
          <a:p>
            <a:pPr algn="ctr" indent="0" marL="0">
              <a:buNone/>
            </a:pPr>
            <a:r>
              <a:rPr lang="en-US" sz="1600" b="1" dirty="0">
                <a:solidFill>
                  <a:srgbClr val="008FB0"/>
                </a:solidFill>
                <a:latin typeface="Montserrat" pitchFamily="34" charset="0"/>
                <a:ea typeface="Montserrat" pitchFamily="34" charset="-122"/>
                <a:cs typeface="Montserrat" pitchFamily="34" charset="-120"/>
              </a:rPr>
              <a:t>EL</a:t>
            </a:r>
            <a:endParaRPr lang="en-US" sz="1600" dirty="0"/>
          </a:p>
        </p:txBody>
      </p:sp>
      <p:sp>
        <p:nvSpPr>
          <p:cNvPr id="29" name="Text 25"/>
          <p:cNvSpPr txBox="1"/>
          <p:nvPr/>
        </p:nvSpPr>
        <p:spPr>
          <a:xfrm>
            <a:off x="7168896"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Lozano de la Cruz Edgard</a:t>
            </a:r>
            <a:endParaRPr lang="en-US" sz="1150" dirty="0"/>
          </a:p>
        </p:txBody>
      </p:sp>
      <p:sp>
        <p:nvSpPr>
          <p:cNvPr id="30" name="Text 26"/>
          <p:cNvSpPr txBox="1"/>
          <p:nvPr/>
        </p:nvSpPr>
        <p:spPr>
          <a:xfrm>
            <a:off x="7168896"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 de datos</a:t>
            </a:r>
            <a:endParaRPr lang="en-US" sz="950" dirty="0"/>
          </a:p>
        </p:txBody>
      </p:sp>
      <p:pic>
        <p:nvPicPr>
          <p:cNvPr id="31" name="Image 2" descr="preencoded.png">    </p:cNvPr>
          <p:cNvPicPr>
            <a:picLocks noChangeAspect="1"/>
          </p:cNvPicPr>
          <p:nvPr/>
        </p:nvPicPr>
        <p:blipFill>
          <a:blip r:embed="rId4"/>
          <a:stretch>
            <a:fillRect/>
          </a:stretch>
        </p:blipFill>
        <p:spPr>
          <a:xfrm>
            <a:off x="6391656" y="3337560"/>
            <a:ext cx="365760" cy="365760"/>
          </a:xfrm>
          <a:prstGeom prst="rect">
            <a:avLst/>
          </a:prstGeom>
        </p:spPr>
      </p:pic>
      <p:sp>
        <p:nvSpPr>
          <p:cNvPr id="32" name="Text 27"/>
          <p:cNvSpPr txBox="1"/>
          <p:nvPr/>
        </p:nvSpPr>
        <p:spPr>
          <a:xfrm>
            <a:off x="6391656"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Separar Desembarque, DetalleDesembarque y LoteDestino fue la decisión clave del modelo: permite saber qué especie y cuántos kilos llegaron y a quién se vendió cada parte.</a:t>
            </a:r>
            <a:endParaRPr lang="en-US" sz="1250" dirty="0"/>
          </a:p>
        </p:txBody>
      </p:sp>
      <p:sp>
        <p:nvSpPr>
          <p:cNvPr id="33" name="Shape 28"/>
          <p:cNvSpPr/>
          <p:nvPr/>
        </p:nvSpPr>
        <p:spPr>
          <a:xfrm>
            <a:off x="8970264"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4" name="Shape 29"/>
          <p:cNvSpPr/>
          <p:nvPr/>
        </p:nvSpPr>
        <p:spPr>
          <a:xfrm>
            <a:off x="8970264" y="2011680"/>
            <a:ext cx="2651760" cy="1143000"/>
          </a:xfrm>
          <a:prstGeom prst="roundRect">
            <a:avLst>
              <a:gd name="adj" fmla="val 14400"/>
            </a:avLst>
          </a:prstGeom>
          <a:solidFill>
            <a:srgbClr val="E06F00"/>
          </a:solidFill>
          <a:ln/>
        </p:spPr>
      </p:sp>
      <p:sp>
        <p:nvSpPr>
          <p:cNvPr id="35" name="Shape 30"/>
          <p:cNvSpPr/>
          <p:nvPr/>
        </p:nvSpPr>
        <p:spPr>
          <a:xfrm>
            <a:off x="8970264" y="2834640"/>
            <a:ext cx="2651760" cy="320040"/>
          </a:xfrm>
          <a:prstGeom prst="rect">
            <a:avLst/>
          </a:prstGeom>
          <a:solidFill>
            <a:srgbClr val="E06F00"/>
          </a:solidFill>
          <a:ln/>
        </p:spPr>
      </p:sp>
      <p:sp>
        <p:nvSpPr>
          <p:cNvPr id="36" name="Shape 31"/>
          <p:cNvSpPr/>
          <p:nvPr/>
        </p:nvSpPr>
        <p:spPr>
          <a:xfrm>
            <a:off x="9171432" y="2240280"/>
            <a:ext cx="685800" cy="685800"/>
          </a:xfrm>
          <a:prstGeom prst="ellipse">
            <a:avLst/>
          </a:prstGeom>
          <a:solidFill>
            <a:srgbClr val="FFFFFF"/>
          </a:solidFill>
          <a:ln/>
        </p:spPr>
      </p:sp>
      <p:sp>
        <p:nvSpPr>
          <p:cNvPr id="37" name="Text 32"/>
          <p:cNvSpPr txBox="1"/>
          <p:nvPr/>
        </p:nvSpPr>
        <p:spPr>
          <a:xfrm>
            <a:off x="9171432" y="2240280"/>
            <a:ext cx="685800" cy="685800"/>
          </a:xfrm>
          <a:prstGeom prst="rect">
            <a:avLst/>
          </a:prstGeom>
          <a:noFill/>
          <a:ln/>
        </p:spPr>
        <p:txBody>
          <a:bodyPr wrap="square" lIns="0" tIns="0" rIns="0" bIns="0" rtlCol="0" anchor="ctr"/>
          <a:lstStyle/>
          <a:p>
            <a:pPr algn="ctr" indent="0" marL="0">
              <a:buNone/>
            </a:pPr>
            <a:r>
              <a:rPr lang="en-US" sz="1600" b="1" dirty="0">
                <a:solidFill>
                  <a:srgbClr val="E06F00"/>
                </a:solidFill>
                <a:latin typeface="Montserrat" pitchFamily="34" charset="0"/>
                <a:ea typeface="Montserrat" pitchFamily="34" charset="-122"/>
                <a:cs typeface="Montserrat" pitchFamily="34" charset="-120"/>
              </a:rPr>
              <a:t>DP</a:t>
            </a:r>
            <a:endParaRPr lang="en-US" sz="1600" dirty="0"/>
          </a:p>
        </p:txBody>
      </p:sp>
      <p:sp>
        <p:nvSpPr>
          <p:cNvPr id="38" name="Text 33"/>
          <p:cNvSpPr txBox="1"/>
          <p:nvPr/>
        </p:nvSpPr>
        <p:spPr>
          <a:xfrm>
            <a:off x="9976104"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Palomino Huamán Damián</a:t>
            </a:r>
            <a:endParaRPr lang="en-US" sz="1150" dirty="0"/>
          </a:p>
        </p:txBody>
      </p:sp>
      <p:sp>
        <p:nvSpPr>
          <p:cNvPr id="39" name="Text 34"/>
          <p:cNvSpPr txBox="1"/>
          <p:nvPr/>
        </p:nvSpPr>
        <p:spPr>
          <a:xfrm>
            <a:off x="9976104"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Modelos de diseño</a:t>
            </a:r>
            <a:endParaRPr lang="en-US" sz="950" dirty="0"/>
          </a:p>
        </p:txBody>
      </p:sp>
      <p:pic>
        <p:nvPicPr>
          <p:cNvPr id="40" name="Image 3" descr="preencoded.png">    </p:cNvPr>
          <p:cNvPicPr>
            <a:picLocks noChangeAspect="1"/>
          </p:cNvPicPr>
          <p:nvPr/>
        </p:nvPicPr>
        <p:blipFill>
          <a:blip r:embed="rId5"/>
          <a:stretch>
            <a:fillRect/>
          </a:stretch>
        </p:blipFill>
        <p:spPr>
          <a:xfrm>
            <a:off x="9198864" y="3337560"/>
            <a:ext cx="365760" cy="365760"/>
          </a:xfrm>
          <a:prstGeom prst="rect">
            <a:avLst/>
          </a:prstGeom>
        </p:spPr>
      </p:pic>
      <p:sp>
        <p:nvSpPr>
          <p:cNvPr id="41" name="Text 35"/>
          <p:cNvSpPr txBox="1"/>
          <p:nvPr/>
        </p:nvSpPr>
        <p:spPr>
          <a:xfrm>
            <a:off x="9198864"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Aplicar el patrón Strategy al motor de validación permite que el sistema acompañe los cambios normativos frecuentes del sector sin reescribir código.</a:t>
            </a:r>
            <a:endParaRPr lang="en-US" sz="1250" dirty="0"/>
          </a:p>
        </p:txBody>
      </p:sp>
      <p:sp>
        <p:nvSpPr>
          <p:cNvPr id="42" name="Text 3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3" name="Text 3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5A5F"/>
                </a:solidFill>
                <a:latin typeface="Montserrat" pitchFamily="34" charset="0"/>
                <a:ea typeface="Montserrat" pitchFamily="34" charset="-122"/>
                <a:cs typeface="Montserrat"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FF5A5F"/>
          </a:solidFill>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CONCLUSIONES Y RECOMENDACIONES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0E1B3D"/>
                </a:solidFill>
                <a:latin typeface="Montserrat" pitchFamily="34" charset="0"/>
                <a:ea typeface="Montserrat" pitchFamily="34" charset="-122"/>
                <a:cs typeface="Montserrat" pitchFamily="34" charset="-120"/>
              </a:rPr>
              <a:t>Lecciones aprendidas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4A5878"/>
                </a:solidFill>
                <a:latin typeface="Open Sans" pitchFamily="34" charset="0"/>
                <a:ea typeface="Open Sans" pitchFamily="34" charset="-122"/>
                <a:cs typeface="Open Sans" pitchFamily="34" charset="-120"/>
              </a:rPr>
              <a:t>Tabla 18 del informe: lo que aprendimos al desarrollar el proyecto.</a:t>
            </a:r>
            <a:endParaRPr lang="en-US" sz="1300" dirty="0"/>
          </a:p>
        </p:txBody>
      </p:sp>
      <p:sp>
        <p:nvSpPr>
          <p:cNvPr id="6" name="Shape 4"/>
          <p:cNvSpPr/>
          <p:nvPr/>
        </p:nvSpPr>
        <p:spPr>
          <a:xfrm>
            <a:off x="548640"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7" name="Shape 5"/>
          <p:cNvSpPr/>
          <p:nvPr/>
        </p:nvSpPr>
        <p:spPr>
          <a:xfrm>
            <a:off x="548640" y="2011680"/>
            <a:ext cx="2651760" cy="1143000"/>
          </a:xfrm>
          <a:prstGeom prst="roundRect">
            <a:avLst>
              <a:gd name="adj" fmla="val 14400"/>
            </a:avLst>
          </a:prstGeom>
          <a:solidFill>
            <a:srgbClr val="0B5FFF"/>
          </a:solidFill>
          <a:ln/>
        </p:spPr>
      </p:sp>
      <p:sp>
        <p:nvSpPr>
          <p:cNvPr id="8" name="Shape 6"/>
          <p:cNvSpPr/>
          <p:nvPr/>
        </p:nvSpPr>
        <p:spPr>
          <a:xfrm>
            <a:off x="548640" y="2834640"/>
            <a:ext cx="2651760" cy="320040"/>
          </a:xfrm>
          <a:prstGeom prst="rect">
            <a:avLst/>
          </a:prstGeom>
          <a:solidFill>
            <a:srgbClr val="0B5FFF"/>
          </a:solidFill>
          <a:ln/>
        </p:spPr>
      </p:sp>
      <p:sp>
        <p:nvSpPr>
          <p:cNvPr id="9" name="Shape 7"/>
          <p:cNvSpPr/>
          <p:nvPr/>
        </p:nvSpPr>
        <p:spPr>
          <a:xfrm>
            <a:off x="749808" y="2240280"/>
            <a:ext cx="685800" cy="685800"/>
          </a:xfrm>
          <a:prstGeom prst="ellipse">
            <a:avLst/>
          </a:prstGeom>
          <a:solidFill>
            <a:srgbClr val="FFFFFF"/>
          </a:solidFill>
          <a:ln/>
        </p:spPr>
      </p:sp>
      <p:sp>
        <p:nvSpPr>
          <p:cNvPr id="10" name="Text 8"/>
          <p:cNvSpPr txBox="1"/>
          <p:nvPr/>
        </p:nvSpPr>
        <p:spPr>
          <a:xfrm>
            <a:off x="749808" y="2240280"/>
            <a:ext cx="685800" cy="685800"/>
          </a:xfrm>
          <a:prstGeom prst="rect">
            <a:avLst/>
          </a:prstGeom>
          <a:noFill/>
          <a:ln/>
        </p:spPr>
        <p:txBody>
          <a:bodyPr wrap="square" lIns="0" tIns="0" rIns="0" bIns="0" rtlCol="0" anchor="ctr"/>
          <a:lstStyle/>
          <a:p>
            <a:pPr algn="ctr" indent="0" marL="0">
              <a:buNone/>
            </a:pPr>
            <a:r>
              <a:rPr lang="en-US" sz="1600" b="1" dirty="0">
                <a:solidFill>
                  <a:srgbClr val="0B5FFF"/>
                </a:solidFill>
                <a:latin typeface="Montserrat" pitchFamily="34" charset="0"/>
                <a:ea typeface="Montserrat" pitchFamily="34" charset="-122"/>
                <a:cs typeface="Montserrat" pitchFamily="34" charset="-120"/>
              </a:rPr>
              <a:t>AO</a:t>
            </a:r>
            <a:endParaRPr lang="en-US" sz="1600" dirty="0"/>
          </a:p>
        </p:txBody>
      </p:sp>
      <p:sp>
        <p:nvSpPr>
          <p:cNvPr id="11" name="Text 9"/>
          <p:cNvSpPr txBox="1"/>
          <p:nvPr/>
        </p:nvSpPr>
        <p:spPr>
          <a:xfrm>
            <a:off x="1554480"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Ortega Matos Andy</a:t>
            </a:r>
            <a:endParaRPr lang="en-US" sz="1150" dirty="0"/>
          </a:p>
        </p:txBody>
      </p:sp>
      <p:sp>
        <p:nvSpPr>
          <p:cNvPr id="12" name="Text 10"/>
          <p:cNvSpPr txBox="1"/>
          <p:nvPr/>
        </p:nvSpPr>
        <p:spPr>
          <a:xfrm>
            <a:off x="1554480"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Análisis del problema y ODS</a:t>
            </a:r>
            <a:endParaRPr lang="en-US" sz="950" dirty="0"/>
          </a:p>
        </p:txBody>
      </p:sp>
      <p:pic>
        <p:nvPicPr>
          <p:cNvPr id="13" name="Image 0" descr="preencoded.png">    </p:cNvPr>
          <p:cNvPicPr>
            <a:picLocks noChangeAspect="1"/>
          </p:cNvPicPr>
          <p:nvPr/>
        </p:nvPicPr>
        <p:blipFill>
          <a:blip r:embed="rId2"/>
          <a:stretch>
            <a:fillRect/>
          </a:stretch>
        </p:blipFill>
        <p:spPr>
          <a:xfrm>
            <a:off x="777240" y="3337560"/>
            <a:ext cx="365760" cy="365760"/>
          </a:xfrm>
          <a:prstGeom prst="rect">
            <a:avLst/>
          </a:prstGeom>
        </p:spPr>
      </p:pic>
      <p:sp>
        <p:nvSpPr>
          <p:cNvPr id="14" name="Text 11"/>
          <p:cNvSpPr txBox="1"/>
          <p:nvPr/>
        </p:nvSpPr>
        <p:spPr>
          <a:xfrm>
            <a:off x="777240"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Cuantificar el problema con fuentes oficiales (ENEPA IV, FONDEPES, PRODUCE) nos llevó de un «sistema de monitoreo» genérico a un problema acotado, medible y con un beneficiario concreto.</a:t>
            </a:r>
            <a:endParaRPr lang="en-US" sz="1250" dirty="0"/>
          </a:p>
        </p:txBody>
      </p:sp>
      <p:sp>
        <p:nvSpPr>
          <p:cNvPr id="15" name="Shape 12"/>
          <p:cNvSpPr/>
          <p:nvPr/>
        </p:nvSpPr>
        <p:spPr>
          <a:xfrm>
            <a:off x="3355848"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6" name="Shape 13"/>
          <p:cNvSpPr/>
          <p:nvPr/>
        </p:nvSpPr>
        <p:spPr>
          <a:xfrm>
            <a:off x="3355848" y="2011680"/>
            <a:ext cx="2651760" cy="1143000"/>
          </a:xfrm>
          <a:prstGeom prst="roundRect">
            <a:avLst>
              <a:gd name="adj" fmla="val 14400"/>
            </a:avLst>
          </a:prstGeom>
          <a:solidFill>
            <a:srgbClr val="7B5CFF"/>
          </a:solidFill>
          <a:ln/>
        </p:spPr>
      </p:sp>
      <p:sp>
        <p:nvSpPr>
          <p:cNvPr id="17" name="Shape 14"/>
          <p:cNvSpPr/>
          <p:nvPr/>
        </p:nvSpPr>
        <p:spPr>
          <a:xfrm>
            <a:off x="3355848" y="2834640"/>
            <a:ext cx="2651760" cy="320040"/>
          </a:xfrm>
          <a:prstGeom prst="rect">
            <a:avLst/>
          </a:prstGeom>
          <a:solidFill>
            <a:srgbClr val="7B5CFF"/>
          </a:solidFill>
          <a:ln/>
        </p:spPr>
      </p:sp>
      <p:sp>
        <p:nvSpPr>
          <p:cNvPr id="18" name="Shape 15"/>
          <p:cNvSpPr/>
          <p:nvPr/>
        </p:nvSpPr>
        <p:spPr>
          <a:xfrm>
            <a:off x="3557016" y="2240280"/>
            <a:ext cx="685800" cy="685800"/>
          </a:xfrm>
          <a:prstGeom prst="ellipse">
            <a:avLst/>
          </a:prstGeom>
          <a:solidFill>
            <a:srgbClr val="FFFFFF"/>
          </a:solidFill>
          <a:ln/>
        </p:spPr>
      </p:sp>
      <p:sp>
        <p:nvSpPr>
          <p:cNvPr id="19" name="Text 16"/>
          <p:cNvSpPr txBox="1"/>
          <p:nvPr/>
        </p:nvSpPr>
        <p:spPr>
          <a:xfrm>
            <a:off x="3557016" y="2240280"/>
            <a:ext cx="685800" cy="685800"/>
          </a:xfrm>
          <a:prstGeom prst="rect">
            <a:avLst/>
          </a:prstGeom>
          <a:noFill/>
          <a:ln/>
        </p:spPr>
        <p:txBody>
          <a:bodyPr wrap="square" lIns="0" tIns="0" rIns="0" bIns="0" rtlCol="0" anchor="ctr"/>
          <a:lstStyle/>
          <a:p>
            <a:pPr algn="ctr" indent="0" marL="0">
              <a:buNone/>
            </a:pPr>
            <a:r>
              <a:rPr lang="en-US" sz="1600" b="1" dirty="0">
                <a:solidFill>
                  <a:srgbClr val="7B5CFF"/>
                </a:solidFill>
                <a:latin typeface="Montserrat" pitchFamily="34" charset="0"/>
                <a:ea typeface="Montserrat" pitchFamily="34" charset="-122"/>
                <a:cs typeface="Montserrat" pitchFamily="34" charset="-120"/>
              </a:rPr>
              <a:t>KT</a:t>
            </a:r>
            <a:endParaRPr lang="en-US" sz="1600" dirty="0"/>
          </a:p>
        </p:txBody>
      </p:sp>
      <p:sp>
        <p:nvSpPr>
          <p:cNvPr id="20" name="Text 17"/>
          <p:cNvSpPr txBox="1"/>
          <p:nvPr/>
        </p:nvSpPr>
        <p:spPr>
          <a:xfrm>
            <a:off x="4361688"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Torres Flores Kenyi</a:t>
            </a:r>
            <a:endParaRPr lang="en-US" sz="1150" dirty="0"/>
          </a:p>
        </p:txBody>
      </p:sp>
      <p:sp>
        <p:nvSpPr>
          <p:cNvPr id="21" name="Text 18"/>
          <p:cNvSpPr txBox="1"/>
          <p:nvPr/>
        </p:nvSpPr>
        <p:spPr>
          <a:xfrm>
            <a:off x="4361688"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Requerimientos</a:t>
            </a:r>
            <a:endParaRPr lang="en-US" sz="950" dirty="0"/>
          </a:p>
        </p:txBody>
      </p:sp>
      <p:pic>
        <p:nvPicPr>
          <p:cNvPr id="22" name="Image 1" descr="preencoded.png">    </p:cNvPr>
          <p:cNvPicPr>
            <a:picLocks noChangeAspect="1"/>
          </p:cNvPicPr>
          <p:nvPr/>
        </p:nvPicPr>
        <p:blipFill>
          <a:blip r:embed="rId3"/>
          <a:stretch>
            <a:fillRect/>
          </a:stretch>
        </p:blipFill>
        <p:spPr>
          <a:xfrm>
            <a:off x="3584448" y="3337560"/>
            <a:ext cx="365760" cy="365760"/>
          </a:xfrm>
          <a:prstGeom prst="rect">
            <a:avLst/>
          </a:prstGeom>
        </p:spPr>
      </p:pic>
      <p:sp>
        <p:nvSpPr>
          <p:cNvPr id="23" name="Text 19"/>
          <p:cNvSpPr txBox="1"/>
          <p:nvPr/>
        </p:nvSpPr>
        <p:spPr>
          <a:xfrm>
            <a:off x="3584448"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Apoyar cada requerimiento en evidencia de usuarios reales, como las 85 entrevistas de Oceana [12], evita diseñar para un usuario imaginario; la matriz de trazabilidad confirmó que nada quedara sin cubrir.</a:t>
            </a:r>
            <a:endParaRPr lang="en-US" sz="1250" dirty="0"/>
          </a:p>
        </p:txBody>
      </p:sp>
      <p:sp>
        <p:nvSpPr>
          <p:cNvPr id="24" name="Shape 20"/>
          <p:cNvSpPr/>
          <p:nvPr/>
        </p:nvSpPr>
        <p:spPr>
          <a:xfrm>
            <a:off x="6163056"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5" name="Shape 21"/>
          <p:cNvSpPr/>
          <p:nvPr/>
        </p:nvSpPr>
        <p:spPr>
          <a:xfrm>
            <a:off x="6163056" y="2011680"/>
            <a:ext cx="2651760" cy="1143000"/>
          </a:xfrm>
          <a:prstGeom prst="roundRect">
            <a:avLst>
              <a:gd name="adj" fmla="val 14400"/>
            </a:avLst>
          </a:prstGeom>
          <a:solidFill>
            <a:srgbClr val="008FB0"/>
          </a:solidFill>
          <a:ln/>
        </p:spPr>
      </p:sp>
      <p:sp>
        <p:nvSpPr>
          <p:cNvPr id="26" name="Shape 22"/>
          <p:cNvSpPr/>
          <p:nvPr/>
        </p:nvSpPr>
        <p:spPr>
          <a:xfrm>
            <a:off x="6163056" y="2834640"/>
            <a:ext cx="2651760" cy="320040"/>
          </a:xfrm>
          <a:prstGeom prst="rect">
            <a:avLst/>
          </a:prstGeom>
          <a:solidFill>
            <a:srgbClr val="008FB0"/>
          </a:solidFill>
          <a:ln/>
        </p:spPr>
      </p:sp>
      <p:sp>
        <p:nvSpPr>
          <p:cNvPr id="27" name="Shape 23"/>
          <p:cNvSpPr/>
          <p:nvPr/>
        </p:nvSpPr>
        <p:spPr>
          <a:xfrm>
            <a:off x="6364224" y="2240280"/>
            <a:ext cx="685800" cy="685800"/>
          </a:xfrm>
          <a:prstGeom prst="ellipse">
            <a:avLst/>
          </a:prstGeom>
          <a:solidFill>
            <a:srgbClr val="FFFFFF"/>
          </a:solidFill>
          <a:ln/>
        </p:spPr>
      </p:sp>
      <p:sp>
        <p:nvSpPr>
          <p:cNvPr id="28" name="Text 24"/>
          <p:cNvSpPr txBox="1"/>
          <p:nvPr/>
        </p:nvSpPr>
        <p:spPr>
          <a:xfrm>
            <a:off x="6364224" y="2240280"/>
            <a:ext cx="685800" cy="685800"/>
          </a:xfrm>
          <a:prstGeom prst="rect">
            <a:avLst/>
          </a:prstGeom>
          <a:noFill/>
          <a:ln/>
        </p:spPr>
        <p:txBody>
          <a:bodyPr wrap="square" lIns="0" tIns="0" rIns="0" bIns="0" rtlCol="0" anchor="ctr"/>
          <a:lstStyle/>
          <a:p>
            <a:pPr algn="ctr" indent="0" marL="0">
              <a:buNone/>
            </a:pPr>
            <a:r>
              <a:rPr lang="en-US" sz="1600" b="1" dirty="0">
                <a:solidFill>
                  <a:srgbClr val="008FB0"/>
                </a:solidFill>
                <a:latin typeface="Montserrat" pitchFamily="34" charset="0"/>
                <a:ea typeface="Montserrat" pitchFamily="34" charset="-122"/>
                <a:cs typeface="Montserrat" pitchFamily="34" charset="-120"/>
              </a:rPr>
              <a:t>EL</a:t>
            </a:r>
            <a:endParaRPr lang="en-US" sz="1600" dirty="0"/>
          </a:p>
        </p:txBody>
      </p:sp>
      <p:sp>
        <p:nvSpPr>
          <p:cNvPr id="29" name="Text 25"/>
          <p:cNvSpPr txBox="1"/>
          <p:nvPr/>
        </p:nvSpPr>
        <p:spPr>
          <a:xfrm>
            <a:off x="7168896"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Lozano de la Cruz Edgard</a:t>
            </a:r>
            <a:endParaRPr lang="en-US" sz="1150" dirty="0"/>
          </a:p>
        </p:txBody>
      </p:sp>
      <p:sp>
        <p:nvSpPr>
          <p:cNvPr id="30" name="Text 26"/>
          <p:cNvSpPr txBox="1"/>
          <p:nvPr/>
        </p:nvSpPr>
        <p:spPr>
          <a:xfrm>
            <a:off x="7168896"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 de datos</a:t>
            </a:r>
            <a:endParaRPr lang="en-US" sz="950" dirty="0"/>
          </a:p>
        </p:txBody>
      </p:sp>
      <p:pic>
        <p:nvPicPr>
          <p:cNvPr id="31" name="Image 2" descr="preencoded.png">    </p:cNvPr>
          <p:cNvPicPr>
            <a:picLocks noChangeAspect="1"/>
          </p:cNvPicPr>
          <p:nvPr/>
        </p:nvPicPr>
        <p:blipFill>
          <a:blip r:embed="rId4"/>
          <a:stretch>
            <a:fillRect/>
          </a:stretch>
        </p:blipFill>
        <p:spPr>
          <a:xfrm>
            <a:off x="6391656" y="3337560"/>
            <a:ext cx="365760" cy="365760"/>
          </a:xfrm>
          <a:prstGeom prst="rect">
            <a:avLst/>
          </a:prstGeom>
        </p:spPr>
      </p:pic>
      <p:sp>
        <p:nvSpPr>
          <p:cNvPr id="32" name="Text 27"/>
          <p:cNvSpPr txBox="1"/>
          <p:nvPr/>
        </p:nvSpPr>
        <p:spPr>
          <a:xfrm>
            <a:off x="6391656"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Generar el diagrama E-R, el script SQL, el DBML y el diccionario de datos desde una sola fuente evitó inconsistencias entre documentos.</a:t>
            </a:r>
            <a:endParaRPr lang="en-US" sz="1250" dirty="0"/>
          </a:p>
        </p:txBody>
      </p:sp>
      <p:sp>
        <p:nvSpPr>
          <p:cNvPr id="33" name="Shape 28"/>
          <p:cNvSpPr/>
          <p:nvPr/>
        </p:nvSpPr>
        <p:spPr>
          <a:xfrm>
            <a:off x="8970264" y="2011680"/>
            <a:ext cx="2651760" cy="4206240"/>
          </a:xfrm>
          <a:prstGeom prst="roundRect">
            <a:avLst>
              <a:gd name="adj" fmla="val 6207"/>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34" name="Shape 29"/>
          <p:cNvSpPr/>
          <p:nvPr/>
        </p:nvSpPr>
        <p:spPr>
          <a:xfrm>
            <a:off x="8970264" y="2011680"/>
            <a:ext cx="2651760" cy="1143000"/>
          </a:xfrm>
          <a:prstGeom prst="roundRect">
            <a:avLst>
              <a:gd name="adj" fmla="val 14400"/>
            </a:avLst>
          </a:prstGeom>
          <a:solidFill>
            <a:srgbClr val="E06F00"/>
          </a:solidFill>
          <a:ln/>
        </p:spPr>
      </p:sp>
      <p:sp>
        <p:nvSpPr>
          <p:cNvPr id="35" name="Shape 30"/>
          <p:cNvSpPr/>
          <p:nvPr/>
        </p:nvSpPr>
        <p:spPr>
          <a:xfrm>
            <a:off x="8970264" y="2834640"/>
            <a:ext cx="2651760" cy="320040"/>
          </a:xfrm>
          <a:prstGeom prst="rect">
            <a:avLst/>
          </a:prstGeom>
          <a:solidFill>
            <a:srgbClr val="E06F00"/>
          </a:solidFill>
          <a:ln/>
        </p:spPr>
      </p:sp>
      <p:sp>
        <p:nvSpPr>
          <p:cNvPr id="36" name="Shape 31"/>
          <p:cNvSpPr/>
          <p:nvPr/>
        </p:nvSpPr>
        <p:spPr>
          <a:xfrm>
            <a:off x="9171432" y="2240280"/>
            <a:ext cx="685800" cy="685800"/>
          </a:xfrm>
          <a:prstGeom prst="ellipse">
            <a:avLst/>
          </a:prstGeom>
          <a:solidFill>
            <a:srgbClr val="FFFFFF"/>
          </a:solidFill>
          <a:ln/>
        </p:spPr>
      </p:sp>
      <p:sp>
        <p:nvSpPr>
          <p:cNvPr id="37" name="Text 32"/>
          <p:cNvSpPr txBox="1"/>
          <p:nvPr/>
        </p:nvSpPr>
        <p:spPr>
          <a:xfrm>
            <a:off x="9171432" y="2240280"/>
            <a:ext cx="685800" cy="685800"/>
          </a:xfrm>
          <a:prstGeom prst="rect">
            <a:avLst/>
          </a:prstGeom>
          <a:noFill/>
          <a:ln/>
        </p:spPr>
        <p:txBody>
          <a:bodyPr wrap="square" lIns="0" tIns="0" rIns="0" bIns="0" rtlCol="0" anchor="ctr"/>
          <a:lstStyle/>
          <a:p>
            <a:pPr algn="ctr" indent="0" marL="0">
              <a:buNone/>
            </a:pPr>
            <a:r>
              <a:rPr lang="en-US" sz="1600" b="1" dirty="0">
                <a:solidFill>
                  <a:srgbClr val="E06F00"/>
                </a:solidFill>
                <a:latin typeface="Montserrat" pitchFamily="34" charset="0"/>
                <a:ea typeface="Montserrat" pitchFamily="34" charset="-122"/>
                <a:cs typeface="Montserrat" pitchFamily="34" charset="-120"/>
              </a:rPr>
              <a:t>DP</a:t>
            </a:r>
            <a:endParaRPr lang="en-US" sz="1600" dirty="0"/>
          </a:p>
        </p:txBody>
      </p:sp>
      <p:sp>
        <p:nvSpPr>
          <p:cNvPr id="38" name="Text 33"/>
          <p:cNvSpPr txBox="1"/>
          <p:nvPr/>
        </p:nvSpPr>
        <p:spPr>
          <a:xfrm>
            <a:off x="9976104"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Palomino Huamán Damián</a:t>
            </a:r>
            <a:endParaRPr lang="en-US" sz="1150" dirty="0"/>
          </a:p>
        </p:txBody>
      </p:sp>
      <p:sp>
        <p:nvSpPr>
          <p:cNvPr id="39" name="Text 34"/>
          <p:cNvSpPr txBox="1"/>
          <p:nvPr/>
        </p:nvSpPr>
        <p:spPr>
          <a:xfrm>
            <a:off x="9976104"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Modelos de diseño</a:t>
            </a:r>
            <a:endParaRPr lang="en-US" sz="950" dirty="0"/>
          </a:p>
        </p:txBody>
      </p:sp>
      <p:pic>
        <p:nvPicPr>
          <p:cNvPr id="40" name="Image 3" descr="preencoded.png">    </p:cNvPr>
          <p:cNvPicPr>
            <a:picLocks noChangeAspect="1"/>
          </p:cNvPicPr>
          <p:nvPr/>
        </p:nvPicPr>
        <p:blipFill>
          <a:blip r:embed="rId5"/>
          <a:stretch>
            <a:fillRect/>
          </a:stretch>
        </p:blipFill>
        <p:spPr>
          <a:xfrm>
            <a:off x="9198864" y="3337560"/>
            <a:ext cx="365760" cy="365760"/>
          </a:xfrm>
          <a:prstGeom prst="rect">
            <a:avLst/>
          </a:prstGeom>
        </p:spPr>
      </p:pic>
      <p:sp>
        <p:nvSpPr>
          <p:cNvPr id="41" name="Text 35"/>
          <p:cNvSpPr txBox="1"/>
          <p:nvPr/>
        </p:nvSpPr>
        <p:spPr>
          <a:xfrm>
            <a:off x="9198864"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Los diagramas de secuencia obligaron a pensar en escenarios de falla (sin conexión, reintentos); la clave de idempotencia surgió de ese análisis y no del código.</a:t>
            </a:r>
            <a:endParaRPr lang="en-US" sz="1250" dirty="0"/>
          </a:p>
        </p:txBody>
      </p:sp>
      <p:sp>
        <p:nvSpPr>
          <p:cNvPr id="42" name="Text 3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3" name="Text 3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5A5F"/>
                </a:solidFill>
                <a:latin typeface="Montserrat" pitchFamily="34" charset="0"/>
                <a:ea typeface="Montserrat" pitchFamily="34" charset="-122"/>
                <a:cs typeface="Montserrat"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880360"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3" name="Text 1"/>
          <p:cNvSpPr txBox="1"/>
          <p:nvPr/>
        </p:nvSpPr>
        <p:spPr>
          <a:xfrm>
            <a:off x="548640" y="411480"/>
            <a:ext cx="288036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CONCLUSIONES Y RECOMENDACIONES</a:t>
            </a:r>
            <a:endParaRPr lang="en-US" sz="850" dirty="0"/>
          </a:p>
        </p:txBody>
      </p:sp>
      <p:sp>
        <p:nvSpPr>
          <p:cNvPr id="4" name="Text 2"/>
          <p:cNvSpPr txBox="1"/>
          <p:nvPr/>
        </p:nvSpPr>
        <p:spPr>
          <a:xfrm>
            <a:off x="548640" y="740664"/>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Recomendaciones para futuras mejoras</a:t>
            </a:r>
            <a:endParaRPr lang="en-US" sz="3000" dirty="0"/>
          </a:p>
        </p:txBody>
      </p:sp>
      <p:sp>
        <p:nvSpPr>
          <p:cNvPr id="5" name="Text 3"/>
          <p:cNvSpPr txBox="1"/>
          <p:nvPr/>
        </p:nvSpPr>
        <p:spPr>
          <a:xfrm>
            <a:off x="548640" y="1399032"/>
            <a:ext cx="11064240" cy="347472"/>
          </a:xfrm>
          <a:prstGeom prst="rect">
            <a:avLst/>
          </a:prstGeom>
          <a:noFill/>
          <a:ln/>
        </p:spPr>
        <p:txBody>
          <a:bodyPr wrap="square" lIns="0" tIns="0" rIns="0" bIns="0" rtlCol="0" anchor="ctr"/>
          <a:lstStyle/>
          <a:p>
            <a:pPr indent="0" marL="0">
              <a:buNone/>
            </a:pPr>
            <a:r>
              <a:rPr lang="en-US" sz="1300" dirty="0">
                <a:solidFill>
                  <a:srgbClr val="DCE9FF"/>
                </a:solidFill>
                <a:latin typeface="Open Sans" pitchFamily="34" charset="0"/>
                <a:ea typeface="Open Sans" pitchFamily="34" charset="-122"/>
                <a:cs typeface="Open Sans" pitchFamily="34" charset="-120"/>
              </a:rPr>
              <a:t>Tabla 19 del informe: cómo seguiría evolucionando SIRDEPA.</a:t>
            </a:r>
            <a:endParaRPr lang="en-US" sz="1300" dirty="0"/>
          </a:p>
        </p:txBody>
      </p:sp>
      <p:sp>
        <p:nvSpPr>
          <p:cNvPr id="6" name="Shape 4"/>
          <p:cNvSpPr/>
          <p:nvPr/>
        </p:nvSpPr>
        <p:spPr>
          <a:xfrm>
            <a:off x="548640" y="2011680"/>
            <a:ext cx="2651760" cy="4206240"/>
          </a:xfrm>
          <a:prstGeom prst="roundRect">
            <a:avLst>
              <a:gd name="adj" fmla="val 6207"/>
            </a:avLst>
          </a:prstGeom>
          <a:solidFill>
            <a:srgbClr val="FFFFFF"/>
          </a:solidFill>
          <a:ln/>
          <a:effectLst>
            <a:outerShdw sx="100000" sy="100000" kx="0" ky="0" algn="bl" rotWithShape="0" blurRad="279400" dist="76200" dir="5400000">
              <a:srgbClr val="031040">
                <a:alpha val="30000"/>
              </a:srgbClr>
            </a:outerShdw>
          </a:effectLst>
        </p:spPr>
      </p:sp>
      <p:sp>
        <p:nvSpPr>
          <p:cNvPr id="7" name="Shape 5"/>
          <p:cNvSpPr/>
          <p:nvPr/>
        </p:nvSpPr>
        <p:spPr>
          <a:xfrm>
            <a:off x="548640" y="2011680"/>
            <a:ext cx="2651760" cy="1143000"/>
          </a:xfrm>
          <a:prstGeom prst="roundRect">
            <a:avLst>
              <a:gd name="adj" fmla="val 14400"/>
            </a:avLst>
          </a:prstGeom>
          <a:solidFill>
            <a:srgbClr val="0B5FFF"/>
          </a:solidFill>
          <a:ln/>
        </p:spPr>
      </p:sp>
      <p:sp>
        <p:nvSpPr>
          <p:cNvPr id="8" name="Shape 6"/>
          <p:cNvSpPr/>
          <p:nvPr/>
        </p:nvSpPr>
        <p:spPr>
          <a:xfrm>
            <a:off x="548640" y="2834640"/>
            <a:ext cx="2651760" cy="320040"/>
          </a:xfrm>
          <a:prstGeom prst="rect">
            <a:avLst/>
          </a:prstGeom>
          <a:solidFill>
            <a:srgbClr val="0B5FFF"/>
          </a:solidFill>
          <a:ln/>
        </p:spPr>
      </p:sp>
      <p:sp>
        <p:nvSpPr>
          <p:cNvPr id="9" name="Shape 7"/>
          <p:cNvSpPr/>
          <p:nvPr/>
        </p:nvSpPr>
        <p:spPr>
          <a:xfrm>
            <a:off x="749808" y="2240280"/>
            <a:ext cx="685800" cy="685800"/>
          </a:xfrm>
          <a:prstGeom prst="ellipse">
            <a:avLst/>
          </a:prstGeom>
          <a:solidFill>
            <a:srgbClr val="FFFFFF"/>
          </a:solidFill>
          <a:ln/>
        </p:spPr>
      </p:sp>
      <p:sp>
        <p:nvSpPr>
          <p:cNvPr id="10" name="Text 8"/>
          <p:cNvSpPr txBox="1"/>
          <p:nvPr/>
        </p:nvSpPr>
        <p:spPr>
          <a:xfrm>
            <a:off x="749808" y="2240280"/>
            <a:ext cx="685800" cy="685800"/>
          </a:xfrm>
          <a:prstGeom prst="rect">
            <a:avLst/>
          </a:prstGeom>
          <a:noFill/>
          <a:ln/>
        </p:spPr>
        <p:txBody>
          <a:bodyPr wrap="square" lIns="0" tIns="0" rIns="0" bIns="0" rtlCol="0" anchor="ctr"/>
          <a:lstStyle/>
          <a:p>
            <a:pPr algn="ctr" indent="0" marL="0">
              <a:buNone/>
            </a:pPr>
            <a:r>
              <a:rPr lang="en-US" sz="1600" b="1" dirty="0">
                <a:solidFill>
                  <a:srgbClr val="0B5FFF"/>
                </a:solidFill>
                <a:latin typeface="Montserrat" pitchFamily="34" charset="0"/>
                <a:ea typeface="Montserrat" pitchFamily="34" charset="-122"/>
                <a:cs typeface="Montserrat" pitchFamily="34" charset="-120"/>
              </a:rPr>
              <a:t>AO</a:t>
            </a:r>
            <a:endParaRPr lang="en-US" sz="1600" dirty="0"/>
          </a:p>
        </p:txBody>
      </p:sp>
      <p:sp>
        <p:nvSpPr>
          <p:cNvPr id="11" name="Text 9"/>
          <p:cNvSpPr txBox="1"/>
          <p:nvPr/>
        </p:nvSpPr>
        <p:spPr>
          <a:xfrm>
            <a:off x="1554480"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Ortega Matos Andy</a:t>
            </a:r>
            <a:endParaRPr lang="en-US" sz="1150" dirty="0"/>
          </a:p>
        </p:txBody>
      </p:sp>
      <p:sp>
        <p:nvSpPr>
          <p:cNvPr id="12" name="Text 10"/>
          <p:cNvSpPr txBox="1"/>
          <p:nvPr/>
        </p:nvSpPr>
        <p:spPr>
          <a:xfrm>
            <a:off x="1554480"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Análisis del problema y ODS</a:t>
            </a:r>
            <a:endParaRPr lang="en-US" sz="950" dirty="0"/>
          </a:p>
        </p:txBody>
      </p:sp>
      <p:pic>
        <p:nvPicPr>
          <p:cNvPr id="13" name="Image 0" descr="preencoded.png">    </p:cNvPr>
          <p:cNvPicPr>
            <a:picLocks noChangeAspect="1"/>
          </p:cNvPicPr>
          <p:nvPr/>
        </p:nvPicPr>
        <p:blipFill>
          <a:blip r:embed="rId2"/>
          <a:stretch>
            <a:fillRect/>
          </a:stretch>
        </p:blipFill>
        <p:spPr>
          <a:xfrm>
            <a:off x="777240" y="3337560"/>
            <a:ext cx="365760" cy="365760"/>
          </a:xfrm>
          <a:prstGeom prst="rect">
            <a:avLst/>
          </a:prstGeom>
        </p:spPr>
      </p:pic>
      <p:sp>
        <p:nvSpPr>
          <p:cNvPr id="14" name="Text 11"/>
          <p:cNvSpPr txBox="1"/>
          <p:nvPr/>
        </p:nvSpPr>
        <p:spPr>
          <a:xfrm>
            <a:off x="777240"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Integrar SIRDEPA con el SISESAT para contrastar la zona declarada con la posición satelital de las embarcaciones que ya cuentan con equipo. [12]</a:t>
            </a:r>
            <a:endParaRPr lang="en-US" sz="1250" dirty="0"/>
          </a:p>
        </p:txBody>
      </p:sp>
      <p:sp>
        <p:nvSpPr>
          <p:cNvPr id="15" name="Shape 12"/>
          <p:cNvSpPr/>
          <p:nvPr/>
        </p:nvSpPr>
        <p:spPr>
          <a:xfrm>
            <a:off x="3355848" y="2011680"/>
            <a:ext cx="2651760" cy="4206240"/>
          </a:xfrm>
          <a:prstGeom prst="roundRect">
            <a:avLst>
              <a:gd name="adj" fmla="val 6207"/>
            </a:avLst>
          </a:prstGeom>
          <a:solidFill>
            <a:srgbClr val="FFFFFF"/>
          </a:solidFill>
          <a:ln/>
          <a:effectLst>
            <a:outerShdw sx="100000" sy="100000" kx="0" ky="0" algn="bl" rotWithShape="0" blurRad="279400" dist="76200" dir="5400000">
              <a:srgbClr val="031040">
                <a:alpha val="30000"/>
              </a:srgbClr>
            </a:outerShdw>
          </a:effectLst>
        </p:spPr>
      </p:sp>
      <p:sp>
        <p:nvSpPr>
          <p:cNvPr id="16" name="Shape 13"/>
          <p:cNvSpPr/>
          <p:nvPr/>
        </p:nvSpPr>
        <p:spPr>
          <a:xfrm>
            <a:off x="3355848" y="2011680"/>
            <a:ext cx="2651760" cy="1143000"/>
          </a:xfrm>
          <a:prstGeom prst="roundRect">
            <a:avLst>
              <a:gd name="adj" fmla="val 14400"/>
            </a:avLst>
          </a:prstGeom>
          <a:solidFill>
            <a:srgbClr val="7B5CFF"/>
          </a:solidFill>
          <a:ln/>
        </p:spPr>
      </p:sp>
      <p:sp>
        <p:nvSpPr>
          <p:cNvPr id="17" name="Shape 14"/>
          <p:cNvSpPr/>
          <p:nvPr/>
        </p:nvSpPr>
        <p:spPr>
          <a:xfrm>
            <a:off x="3355848" y="2834640"/>
            <a:ext cx="2651760" cy="320040"/>
          </a:xfrm>
          <a:prstGeom prst="rect">
            <a:avLst/>
          </a:prstGeom>
          <a:solidFill>
            <a:srgbClr val="7B5CFF"/>
          </a:solidFill>
          <a:ln/>
        </p:spPr>
      </p:sp>
      <p:sp>
        <p:nvSpPr>
          <p:cNvPr id="18" name="Shape 15"/>
          <p:cNvSpPr/>
          <p:nvPr/>
        </p:nvSpPr>
        <p:spPr>
          <a:xfrm>
            <a:off x="3557016" y="2240280"/>
            <a:ext cx="685800" cy="685800"/>
          </a:xfrm>
          <a:prstGeom prst="ellipse">
            <a:avLst/>
          </a:prstGeom>
          <a:solidFill>
            <a:srgbClr val="FFFFFF"/>
          </a:solidFill>
          <a:ln/>
        </p:spPr>
      </p:sp>
      <p:sp>
        <p:nvSpPr>
          <p:cNvPr id="19" name="Text 16"/>
          <p:cNvSpPr txBox="1"/>
          <p:nvPr/>
        </p:nvSpPr>
        <p:spPr>
          <a:xfrm>
            <a:off x="3557016" y="2240280"/>
            <a:ext cx="685800" cy="685800"/>
          </a:xfrm>
          <a:prstGeom prst="rect">
            <a:avLst/>
          </a:prstGeom>
          <a:noFill/>
          <a:ln/>
        </p:spPr>
        <p:txBody>
          <a:bodyPr wrap="square" lIns="0" tIns="0" rIns="0" bIns="0" rtlCol="0" anchor="ctr"/>
          <a:lstStyle/>
          <a:p>
            <a:pPr algn="ctr" indent="0" marL="0">
              <a:buNone/>
            </a:pPr>
            <a:r>
              <a:rPr lang="en-US" sz="1600" b="1" dirty="0">
                <a:solidFill>
                  <a:srgbClr val="7B5CFF"/>
                </a:solidFill>
                <a:latin typeface="Montserrat" pitchFamily="34" charset="0"/>
                <a:ea typeface="Montserrat" pitchFamily="34" charset="-122"/>
                <a:cs typeface="Montserrat" pitchFamily="34" charset="-120"/>
              </a:rPr>
              <a:t>KT</a:t>
            </a:r>
            <a:endParaRPr lang="en-US" sz="1600" dirty="0"/>
          </a:p>
        </p:txBody>
      </p:sp>
      <p:sp>
        <p:nvSpPr>
          <p:cNvPr id="20" name="Text 17"/>
          <p:cNvSpPr txBox="1"/>
          <p:nvPr/>
        </p:nvSpPr>
        <p:spPr>
          <a:xfrm>
            <a:off x="4361688"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Torres Flores Kenyi</a:t>
            </a:r>
            <a:endParaRPr lang="en-US" sz="1150" dirty="0"/>
          </a:p>
        </p:txBody>
      </p:sp>
      <p:sp>
        <p:nvSpPr>
          <p:cNvPr id="21" name="Text 18"/>
          <p:cNvSpPr txBox="1"/>
          <p:nvPr/>
        </p:nvSpPr>
        <p:spPr>
          <a:xfrm>
            <a:off x="4361688"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Requerimientos</a:t>
            </a:r>
            <a:endParaRPr lang="en-US" sz="950" dirty="0"/>
          </a:p>
        </p:txBody>
      </p:sp>
      <p:pic>
        <p:nvPicPr>
          <p:cNvPr id="22" name="Image 1" descr="preencoded.png">    </p:cNvPr>
          <p:cNvPicPr>
            <a:picLocks noChangeAspect="1"/>
          </p:cNvPicPr>
          <p:nvPr/>
        </p:nvPicPr>
        <p:blipFill>
          <a:blip r:embed="rId3"/>
          <a:stretch>
            <a:fillRect/>
          </a:stretch>
        </p:blipFill>
        <p:spPr>
          <a:xfrm>
            <a:off x="3584448" y="3337560"/>
            <a:ext cx="365760" cy="365760"/>
          </a:xfrm>
          <a:prstGeom prst="rect">
            <a:avLst/>
          </a:prstGeom>
        </p:spPr>
      </p:pic>
      <p:sp>
        <p:nvSpPr>
          <p:cNvPr id="23" name="Text 19"/>
          <p:cNvSpPr txBox="1"/>
          <p:nvPr/>
        </p:nvSpPr>
        <p:spPr>
          <a:xfrm>
            <a:off x="3584448"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Validar la priorización MoSCoW con el personal del DPA piloto (guía del Anexo C) antes del Sprint 3 y medir la línea base de tiempos de registro.</a:t>
            </a:r>
            <a:endParaRPr lang="en-US" sz="1250" dirty="0"/>
          </a:p>
        </p:txBody>
      </p:sp>
      <p:sp>
        <p:nvSpPr>
          <p:cNvPr id="24" name="Shape 20"/>
          <p:cNvSpPr/>
          <p:nvPr/>
        </p:nvSpPr>
        <p:spPr>
          <a:xfrm>
            <a:off x="6163056" y="2011680"/>
            <a:ext cx="2651760" cy="4206240"/>
          </a:xfrm>
          <a:prstGeom prst="roundRect">
            <a:avLst>
              <a:gd name="adj" fmla="val 6207"/>
            </a:avLst>
          </a:prstGeom>
          <a:solidFill>
            <a:srgbClr val="FFFFFF"/>
          </a:solidFill>
          <a:ln/>
          <a:effectLst>
            <a:outerShdw sx="100000" sy="100000" kx="0" ky="0" algn="bl" rotWithShape="0" blurRad="279400" dist="76200" dir="5400000">
              <a:srgbClr val="031040">
                <a:alpha val="30000"/>
              </a:srgbClr>
            </a:outerShdw>
          </a:effectLst>
        </p:spPr>
      </p:sp>
      <p:sp>
        <p:nvSpPr>
          <p:cNvPr id="25" name="Shape 21"/>
          <p:cNvSpPr/>
          <p:nvPr/>
        </p:nvSpPr>
        <p:spPr>
          <a:xfrm>
            <a:off x="6163056" y="2011680"/>
            <a:ext cx="2651760" cy="1143000"/>
          </a:xfrm>
          <a:prstGeom prst="roundRect">
            <a:avLst>
              <a:gd name="adj" fmla="val 14400"/>
            </a:avLst>
          </a:prstGeom>
          <a:solidFill>
            <a:srgbClr val="008FB0"/>
          </a:solidFill>
          <a:ln/>
        </p:spPr>
      </p:sp>
      <p:sp>
        <p:nvSpPr>
          <p:cNvPr id="26" name="Shape 22"/>
          <p:cNvSpPr/>
          <p:nvPr/>
        </p:nvSpPr>
        <p:spPr>
          <a:xfrm>
            <a:off x="6163056" y="2834640"/>
            <a:ext cx="2651760" cy="320040"/>
          </a:xfrm>
          <a:prstGeom prst="rect">
            <a:avLst/>
          </a:prstGeom>
          <a:solidFill>
            <a:srgbClr val="008FB0"/>
          </a:solidFill>
          <a:ln/>
        </p:spPr>
      </p:sp>
      <p:sp>
        <p:nvSpPr>
          <p:cNvPr id="27" name="Shape 23"/>
          <p:cNvSpPr/>
          <p:nvPr/>
        </p:nvSpPr>
        <p:spPr>
          <a:xfrm>
            <a:off x="6364224" y="2240280"/>
            <a:ext cx="685800" cy="685800"/>
          </a:xfrm>
          <a:prstGeom prst="ellipse">
            <a:avLst/>
          </a:prstGeom>
          <a:solidFill>
            <a:srgbClr val="FFFFFF"/>
          </a:solidFill>
          <a:ln/>
        </p:spPr>
      </p:sp>
      <p:sp>
        <p:nvSpPr>
          <p:cNvPr id="28" name="Text 24"/>
          <p:cNvSpPr txBox="1"/>
          <p:nvPr/>
        </p:nvSpPr>
        <p:spPr>
          <a:xfrm>
            <a:off x="6364224" y="2240280"/>
            <a:ext cx="685800" cy="685800"/>
          </a:xfrm>
          <a:prstGeom prst="rect">
            <a:avLst/>
          </a:prstGeom>
          <a:noFill/>
          <a:ln/>
        </p:spPr>
        <p:txBody>
          <a:bodyPr wrap="square" lIns="0" tIns="0" rIns="0" bIns="0" rtlCol="0" anchor="ctr"/>
          <a:lstStyle/>
          <a:p>
            <a:pPr algn="ctr" indent="0" marL="0">
              <a:buNone/>
            </a:pPr>
            <a:r>
              <a:rPr lang="en-US" sz="1600" b="1" dirty="0">
                <a:solidFill>
                  <a:srgbClr val="008FB0"/>
                </a:solidFill>
                <a:latin typeface="Montserrat" pitchFamily="34" charset="0"/>
                <a:ea typeface="Montserrat" pitchFamily="34" charset="-122"/>
                <a:cs typeface="Montserrat" pitchFamily="34" charset="-120"/>
              </a:rPr>
              <a:t>EL</a:t>
            </a:r>
            <a:endParaRPr lang="en-US" sz="1600" dirty="0"/>
          </a:p>
        </p:txBody>
      </p:sp>
      <p:sp>
        <p:nvSpPr>
          <p:cNvPr id="29" name="Text 25"/>
          <p:cNvSpPr txBox="1"/>
          <p:nvPr/>
        </p:nvSpPr>
        <p:spPr>
          <a:xfrm>
            <a:off x="7168896"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Lozano de la Cruz Edgard</a:t>
            </a:r>
            <a:endParaRPr lang="en-US" sz="1150" dirty="0"/>
          </a:p>
        </p:txBody>
      </p:sp>
      <p:sp>
        <p:nvSpPr>
          <p:cNvPr id="30" name="Text 26"/>
          <p:cNvSpPr txBox="1"/>
          <p:nvPr/>
        </p:nvSpPr>
        <p:spPr>
          <a:xfrm>
            <a:off x="7168896"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 de datos</a:t>
            </a:r>
            <a:endParaRPr lang="en-US" sz="950" dirty="0"/>
          </a:p>
        </p:txBody>
      </p:sp>
      <p:pic>
        <p:nvPicPr>
          <p:cNvPr id="31" name="Image 2" descr="preencoded.png">    </p:cNvPr>
          <p:cNvPicPr>
            <a:picLocks noChangeAspect="1"/>
          </p:cNvPicPr>
          <p:nvPr/>
        </p:nvPicPr>
        <p:blipFill>
          <a:blip r:embed="rId4"/>
          <a:stretch>
            <a:fillRect/>
          </a:stretch>
        </p:blipFill>
        <p:spPr>
          <a:xfrm>
            <a:off x="6391656" y="3337560"/>
            <a:ext cx="365760" cy="365760"/>
          </a:xfrm>
          <a:prstGeom prst="rect">
            <a:avLst/>
          </a:prstGeom>
        </p:spPr>
      </p:pic>
      <p:sp>
        <p:nvSpPr>
          <p:cNvPr id="32" name="Text 27"/>
          <p:cNvSpPr txBox="1"/>
          <p:nvPr/>
        </p:nvSpPr>
        <p:spPr>
          <a:xfrm>
            <a:off x="6391656"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Agregar una entidad para interacciones con fauna protegida y capturas incidentales: el lobo marino es el principal problema para el 58,7 % de los pescadores. [5]</a:t>
            </a:r>
            <a:endParaRPr lang="en-US" sz="1250" dirty="0"/>
          </a:p>
        </p:txBody>
      </p:sp>
      <p:sp>
        <p:nvSpPr>
          <p:cNvPr id="33" name="Shape 28"/>
          <p:cNvSpPr/>
          <p:nvPr/>
        </p:nvSpPr>
        <p:spPr>
          <a:xfrm>
            <a:off x="8970264" y="2011680"/>
            <a:ext cx="2651760" cy="4206240"/>
          </a:xfrm>
          <a:prstGeom prst="roundRect">
            <a:avLst>
              <a:gd name="adj" fmla="val 6207"/>
            </a:avLst>
          </a:prstGeom>
          <a:solidFill>
            <a:srgbClr val="FFFFFF"/>
          </a:solidFill>
          <a:ln/>
          <a:effectLst>
            <a:outerShdw sx="100000" sy="100000" kx="0" ky="0" algn="bl" rotWithShape="0" blurRad="279400" dist="76200" dir="5400000">
              <a:srgbClr val="031040">
                <a:alpha val="30000"/>
              </a:srgbClr>
            </a:outerShdw>
          </a:effectLst>
        </p:spPr>
      </p:sp>
      <p:sp>
        <p:nvSpPr>
          <p:cNvPr id="34" name="Shape 29"/>
          <p:cNvSpPr/>
          <p:nvPr/>
        </p:nvSpPr>
        <p:spPr>
          <a:xfrm>
            <a:off x="8970264" y="2011680"/>
            <a:ext cx="2651760" cy="1143000"/>
          </a:xfrm>
          <a:prstGeom prst="roundRect">
            <a:avLst>
              <a:gd name="adj" fmla="val 14400"/>
            </a:avLst>
          </a:prstGeom>
          <a:solidFill>
            <a:srgbClr val="E06F00"/>
          </a:solidFill>
          <a:ln/>
        </p:spPr>
      </p:sp>
      <p:sp>
        <p:nvSpPr>
          <p:cNvPr id="35" name="Shape 30"/>
          <p:cNvSpPr/>
          <p:nvPr/>
        </p:nvSpPr>
        <p:spPr>
          <a:xfrm>
            <a:off x="8970264" y="2834640"/>
            <a:ext cx="2651760" cy="320040"/>
          </a:xfrm>
          <a:prstGeom prst="rect">
            <a:avLst/>
          </a:prstGeom>
          <a:solidFill>
            <a:srgbClr val="E06F00"/>
          </a:solidFill>
          <a:ln/>
        </p:spPr>
      </p:sp>
      <p:sp>
        <p:nvSpPr>
          <p:cNvPr id="36" name="Shape 31"/>
          <p:cNvSpPr/>
          <p:nvPr/>
        </p:nvSpPr>
        <p:spPr>
          <a:xfrm>
            <a:off x="9171432" y="2240280"/>
            <a:ext cx="685800" cy="685800"/>
          </a:xfrm>
          <a:prstGeom prst="ellipse">
            <a:avLst/>
          </a:prstGeom>
          <a:solidFill>
            <a:srgbClr val="FFFFFF"/>
          </a:solidFill>
          <a:ln/>
        </p:spPr>
      </p:sp>
      <p:sp>
        <p:nvSpPr>
          <p:cNvPr id="37" name="Text 32"/>
          <p:cNvSpPr txBox="1"/>
          <p:nvPr/>
        </p:nvSpPr>
        <p:spPr>
          <a:xfrm>
            <a:off x="9171432" y="2240280"/>
            <a:ext cx="685800" cy="685800"/>
          </a:xfrm>
          <a:prstGeom prst="rect">
            <a:avLst/>
          </a:prstGeom>
          <a:noFill/>
          <a:ln/>
        </p:spPr>
        <p:txBody>
          <a:bodyPr wrap="square" lIns="0" tIns="0" rIns="0" bIns="0" rtlCol="0" anchor="ctr"/>
          <a:lstStyle/>
          <a:p>
            <a:pPr algn="ctr" indent="0" marL="0">
              <a:buNone/>
            </a:pPr>
            <a:r>
              <a:rPr lang="en-US" sz="1600" b="1" dirty="0">
                <a:solidFill>
                  <a:srgbClr val="E06F00"/>
                </a:solidFill>
                <a:latin typeface="Montserrat" pitchFamily="34" charset="0"/>
                <a:ea typeface="Montserrat" pitchFamily="34" charset="-122"/>
                <a:cs typeface="Montserrat" pitchFamily="34" charset="-120"/>
              </a:rPr>
              <a:t>DP</a:t>
            </a:r>
            <a:endParaRPr lang="en-US" sz="1600" dirty="0"/>
          </a:p>
        </p:txBody>
      </p:sp>
      <p:sp>
        <p:nvSpPr>
          <p:cNvPr id="38" name="Text 33"/>
          <p:cNvSpPr txBox="1"/>
          <p:nvPr/>
        </p:nvSpPr>
        <p:spPr>
          <a:xfrm>
            <a:off x="9976104" y="2194560"/>
            <a:ext cx="1554480" cy="457200"/>
          </a:xfrm>
          <a:prstGeom prst="rect">
            <a:avLst/>
          </a:prstGeom>
          <a:noFill/>
          <a:ln/>
        </p:spPr>
        <p:txBody>
          <a:bodyPr wrap="square" lIns="0" tIns="0" rIns="0" bIns="0"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Palomino Huamán Damián</a:t>
            </a:r>
            <a:endParaRPr lang="en-US" sz="1150" dirty="0"/>
          </a:p>
        </p:txBody>
      </p:sp>
      <p:sp>
        <p:nvSpPr>
          <p:cNvPr id="39" name="Text 34"/>
          <p:cNvSpPr txBox="1"/>
          <p:nvPr/>
        </p:nvSpPr>
        <p:spPr>
          <a:xfrm>
            <a:off x="9976104" y="2633472"/>
            <a:ext cx="1554480" cy="310896"/>
          </a:xfrm>
          <a:prstGeom prst="rect">
            <a:avLst/>
          </a:prstGeom>
          <a:noFill/>
          <a:ln/>
        </p:spPr>
        <p:txBody>
          <a:bodyPr wrap="square" lIns="0" tIns="0" rIns="0" bIns="0" rtlCol="0" anchor="ctr"/>
          <a:lstStyle/>
          <a:p>
            <a:pPr indent="0" marL="0">
              <a:buNone/>
            </a:pPr>
            <a:r>
              <a:rPr lang="en-US" sz="950" dirty="0">
                <a:solidFill>
                  <a:srgbClr val="FFFFFF"/>
                </a:solidFill>
                <a:latin typeface="Open Sans" pitchFamily="34" charset="0"/>
                <a:ea typeface="Open Sans" pitchFamily="34" charset="-122"/>
                <a:cs typeface="Open Sans" pitchFamily="34" charset="-120"/>
              </a:rPr>
              <a:t>Modelos de diseño</a:t>
            </a:r>
            <a:endParaRPr lang="en-US" sz="950" dirty="0"/>
          </a:p>
        </p:txBody>
      </p:sp>
      <p:pic>
        <p:nvPicPr>
          <p:cNvPr id="40" name="Image 3" descr="preencoded.png">    </p:cNvPr>
          <p:cNvPicPr>
            <a:picLocks noChangeAspect="1"/>
          </p:cNvPicPr>
          <p:nvPr/>
        </p:nvPicPr>
        <p:blipFill>
          <a:blip r:embed="rId5"/>
          <a:stretch>
            <a:fillRect/>
          </a:stretch>
        </p:blipFill>
        <p:spPr>
          <a:xfrm>
            <a:off x="9198864" y="3337560"/>
            <a:ext cx="365760" cy="365760"/>
          </a:xfrm>
          <a:prstGeom prst="rect">
            <a:avLst/>
          </a:prstGeom>
        </p:spPr>
      </p:pic>
      <p:sp>
        <p:nvSpPr>
          <p:cNvPr id="41" name="Text 35"/>
          <p:cNvSpPr txBox="1"/>
          <p:nvPr/>
        </p:nvSpPr>
        <p:spPr>
          <a:xfrm>
            <a:off x="9198864" y="3822192"/>
            <a:ext cx="2240280" cy="2286000"/>
          </a:xfrm>
          <a:prstGeom prst="rect">
            <a:avLst/>
          </a:prstGeom>
          <a:noFill/>
          <a:ln/>
        </p:spPr>
        <p:txBody>
          <a:bodyPr wrap="square" lIns="0" tIns="0" rIns="0" bIns="0" rtlCol="0" anchor="t"/>
          <a:lstStyle/>
          <a:p>
            <a:pPr indent="0" marL="0">
              <a:buNone/>
            </a:pPr>
            <a:r>
              <a:rPr lang="en-US" sz="1250" dirty="0">
                <a:solidFill>
                  <a:srgbClr val="0E1B3D"/>
                </a:solidFill>
                <a:latin typeface="Open Sans" pitchFamily="34" charset="0"/>
                <a:ea typeface="Open Sans" pitchFamily="34" charset="-122"/>
                <a:cs typeface="Open Sans" pitchFamily="34" charset="-120"/>
              </a:rPr>
              <a:t>Desarrollar un módulo de reconocimiento de especies a partir de fotografías que sugiera la especie al registrador y reduzca errores de digitación.</a:t>
            </a:r>
            <a:endParaRPr lang="en-US" sz="1250" dirty="0"/>
          </a:p>
        </p:txBody>
      </p:sp>
      <p:sp>
        <p:nvSpPr>
          <p:cNvPr id="42" name="Text 36"/>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CFE0FF"/>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3" name="Text 37"/>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FFFF"/>
                </a:solidFill>
                <a:latin typeface="Montserrat" pitchFamily="34" charset="0"/>
                <a:ea typeface="Montserrat" pitchFamily="34" charset="-122"/>
                <a:cs typeface="Montserrat"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390595" cy="274320"/>
          </a:xfrm>
          <a:prstGeom prst="roundRect">
            <a:avLst>
              <a:gd name="adj" fmla="val 50000"/>
            </a:avLst>
          </a:prstGeom>
          <a:solidFill>
            <a:srgbClr val="FF5A5F"/>
          </a:solidFill>
          <a:ln/>
        </p:spPr>
      </p:sp>
      <p:sp>
        <p:nvSpPr>
          <p:cNvPr id="3" name="Text 1"/>
          <p:cNvSpPr txBox="1"/>
          <p:nvPr/>
        </p:nvSpPr>
        <p:spPr>
          <a:xfrm>
            <a:off x="548640" y="292608"/>
            <a:ext cx="3390595"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REFERENCIAS BIBLIOGRÁFICAS · ISO 690</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Referencias (1 de 2)</a:t>
            </a:r>
            <a:endParaRPr lang="en-US" sz="2400" dirty="0"/>
          </a:p>
        </p:txBody>
      </p:sp>
      <p:sp>
        <p:nvSpPr>
          <p:cNvPr id="5" name="Shape 3"/>
          <p:cNvSpPr/>
          <p:nvPr/>
        </p:nvSpPr>
        <p:spPr>
          <a:xfrm>
            <a:off x="548640" y="1289304"/>
            <a:ext cx="365760" cy="365760"/>
          </a:xfrm>
          <a:prstGeom prst="ellipse">
            <a:avLst/>
          </a:prstGeom>
          <a:solidFill>
            <a:srgbClr val="FF5A5F"/>
          </a:solidFill>
          <a:ln/>
        </p:spPr>
      </p:sp>
      <p:sp>
        <p:nvSpPr>
          <p:cNvPr id="6" name="Text 4"/>
          <p:cNvSpPr txBox="1"/>
          <p:nvPr/>
        </p:nvSpPr>
        <p:spPr>
          <a:xfrm>
            <a:off x="548640" y="1289304"/>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a:t>
            </a:r>
            <a:endParaRPr lang="en-US" sz="950" dirty="0"/>
          </a:p>
        </p:txBody>
      </p:sp>
      <p:sp>
        <p:nvSpPr>
          <p:cNvPr id="7" name="Text 5"/>
          <p:cNvSpPr txBox="1"/>
          <p:nvPr/>
        </p:nvSpPr>
        <p:spPr>
          <a:xfrm>
            <a:off x="1051560" y="123444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ASAMBLEA GENERAL DE LAS NACIONES UNIDAS. Transformar nuestro mundo: la Agenda 2030 para el Desarrollo Sostenible. Resolución A/RES/70/1. Nueva York: ONU, 2015.</a:t>
            </a:r>
            <a:endParaRPr lang="en-US" sz="900" dirty="0"/>
          </a:p>
        </p:txBody>
      </p:sp>
      <p:sp>
        <p:nvSpPr>
          <p:cNvPr id="8" name="Shape 6"/>
          <p:cNvSpPr/>
          <p:nvPr/>
        </p:nvSpPr>
        <p:spPr>
          <a:xfrm>
            <a:off x="548640" y="1920240"/>
            <a:ext cx="365760" cy="365760"/>
          </a:xfrm>
          <a:prstGeom prst="ellipse">
            <a:avLst/>
          </a:prstGeom>
          <a:solidFill>
            <a:srgbClr val="FFE9EA"/>
          </a:solidFill>
          <a:ln/>
        </p:spPr>
      </p:sp>
      <p:sp>
        <p:nvSpPr>
          <p:cNvPr id="9" name="Text 7"/>
          <p:cNvSpPr txBox="1"/>
          <p:nvPr/>
        </p:nvSpPr>
        <p:spPr>
          <a:xfrm>
            <a:off x="548640" y="1920240"/>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a:t>
            </a:r>
            <a:endParaRPr lang="en-US" sz="950" dirty="0"/>
          </a:p>
        </p:txBody>
      </p:sp>
      <p:sp>
        <p:nvSpPr>
          <p:cNvPr id="10" name="Text 8"/>
          <p:cNvSpPr txBox="1"/>
          <p:nvPr/>
        </p:nvSpPr>
        <p:spPr>
          <a:xfrm>
            <a:off x="1051560" y="186537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NACIONES UNIDAS. Objetivo 14: Conservar y utilizar sosteniblemente los océanos, los mares y los recursos marinos [en línea]. Nueva York: ONU.</a:t>
            </a:r>
            <a:endParaRPr lang="en-US" sz="900" dirty="0"/>
          </a:p>
        </p:txBody>
      </p:sp>
      <p:sp>
        <p:nvSpPr>
          <p:cNvPr id="11" name="Shape 9"/>
          <p:cNvSpPr/>
          <p:nvPr/>
        </p:nvSpPr>
        <p:spPr>
          <a:xfrm>
            <a:off x="548640" y="2551176"/>
            <a:ext cx="365760" cy="365760"/>
          </a:xfrm>
          <a:prstGeom prst="ellipse">
            <a:avLst/>
          </a:prstGeom>
          <a:solidFill>
            <a:srgbClr val="FF5A5F"/>
          </a:solidFill>
          <a:ln/>
        </p:spPr>
      </p:sp>
      <p:sp>
        <p:nvSpPr>
          <p:cNvPr id="12" name="Text 10"/>
          <p:cNvSpPr txBox="1"/>
          <p:nvPr/>
        </p:nvSpPr>
        <p:spPr>
          <a:xfrm>
            <a:off x="548640" y="2551176"/>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3</a:t>
            </a:r>
            <a:endParaRPr lang="en-US" sz="950" dirty="0"/>
          </a:p>
        </p:txBody>
      </p:sp>
      <p:sp>
        <p:nvSpPr>
          <p:cNvPr id="13" name="Text 11"/>
          <p:cNvSpPr txBox="1"/>
          <p:nvPr/>
        </p:nvSpPr>
        <p:spPr>
          <a:xfrm>
            <a:off x="1051560" y="249631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FAO. Directrices voluntarias para lograr la sostenibilidad de la pesca en pequeña escala en el contexto de la seguridad alimentaria y la erradicación de la pobreza. Roma: FAO, 2015.</a:t>
            </a:r>
            <a:endParaRPr lang="en-US" sz="900" dirty="0"/>
          </a:p>
        </p:txBody>
      </p:sp>
      <p:sp>
        <p:nvSpPr>
          <p:cNvPr id="14" name="Shape 12"/>
          <p:cNvSpPr/>
          <p:nvPr/>
        </p:nvSpPr>
        <p:spPr>
          <a:xfrm>
            <a:off x="548640" y="3182112"/>
            <a:ext cx="365760" cy="365760"/>
          </a:xfrm>
          <a:prstGeom prst="ellipse">
            <a:avLst/>
          </a:prstGeom>
          <a:solidFill>
            <a:srgbClr val="FFE9EA"/>
          </a:solidFill>
          <a:ln/>
        </p:spPr>
      </p:sp>
      <p:sp>
        <p:nvSpPr>
          <p:cNvPr id="15" name="Text 13"/>
          <p:cNvSpPr txBox="1"/>
          <p:nvPr/>
        </p:nvSpPr>
        <p:spPr>
          <a:xfrm>
            <a:off x="548640" y="3182112"/>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4</a:t>
            </a:r>
            <a:endParaRPr lang="en-US" sz="950" dirty="0"/>
          </a:p>
        </p:txBody>
      </p:sp>
      <p:sp>
        <p:nvSpPr>
          <p:cNvPr id="16" name="Text 14"/>
          <p:cNvSpPr txBox="1"/>
          <p:nvPr/>
        </p:nvSpPr>
        <p:spPr>
          <a:xfrm>
            <a:off x="1051560" y="3127248"/>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FAO, DUKE UNIVERSITY y WORLDFISH. Illuminating Hidden Harvests: the contributions of small-scale fisheries to sustainable development. Roma: FAO, 2023. DOI 10.4060/cc4576en.</a:t>
            </a:r>
            <a:endParaRPr lang="en-US" sz="900" dirty="0"/>
          </a:p>
        </p:txBody>
      </p:sp>
      <p:sp>
        <p:nvSpPr>
          <p:cNvPr id="17" name="Shape 15"/>
          <p:cNvSpPr/>
          <p:nvPr/>
        </p:nvSpPr>
        <p:spPr>
          <a:xfrm>
            <a:off x="548640" y="3813048"/>
            <a:ext cx="365760" cy="365760"/>
          </a:xfrm>
          <a:prstGeom prst="ellipse">
            <a:avLst/>
          </a:prstGeom>
          <a:solidFill>
            <a:srgbClr val="FF5A5F"/>
          </a:solidFill>
          <a:ln/>
        </p:spPr>
      </p:sp>
      <p:sp>
        <p:nvSpPr>
          <p:cNvPr id="18" name="Text 16"/>
          <p:cNvSpPr txBox="1"/>
          <p:nvPr/>
        </p:nvSpPr>
        <p:spPr>
          <a:xfrm>
            <a:off x="548640" y="3813048"/>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5</a:t>
            </a:r>
            <a:endParaRPr lang="en-US" sz="950" dirty="0"/>
          </a:p>
        </p:txBody>
      </p:sp>
      <p:sp>
        <p:nvSpPr>
          <p:cNvPr id="19" name="Text 17"/>
          <p:cNvSpPr txBox="1"/>
          <p:nvPr/>
        </p:nvSpPr>
        <p:spPr>
          <a:xfrm>
            <a:off x="1051560" y="3758184"/>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GUARDIA OTÁROLA, A., GÁLVEZ RAMÍREZ, R., SEGUIL TAMAYO, J. D., et al. Cuarta Encuesta Estructural de la Pesquería Artesanal en el litoral peruano. Informe IMARPE, 2025, vol. 52, n.º 3.</a:t>
            </a:r>
            <a:endParaRPr lang="en-US" sz="900" dirty="0"/>
          </a:p>
        </p:txBody>
      </p:sp>
      <p:sp>
        <p:nvSpPr>
          <p:cNvPr id="20" name="Shape 18"/>
          <p:cNvSpPr/>
          <p:nvPr/>
        </p:nvSpPr>
        <p:spPr>
          <a:xfrm>
            <a:off x="548640" y="4443984"/>
            <a:ext cx="365760" cy="365760"/>
          </a:xfrm>
          <a:prstGeom prst="ellipse">
            <a:avLst/>
          </a:prstGeom>
          <a:solidFill>
            <a:srgbClr val="FFE9EA"/>
          </a:solidFill>
          <a:ln/>
        </p:spPr>
      </p:sp>
      <p:sp>
        <p:nvSpPr>
          <p:cNvPr id="21" name="Text 19"/>
          <p:cNvSpPr txBox="1"/>
          <p:nvPr/>
        </p:nvSpPr>
        <p:spPr>
          <a:xfrm>
            <a:off x="548640" y="4443984"/>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6</a:t>
            </a:r>
            <a:endParaRPr lang="en-US" sz="950" dirty="0"/>
          </a:p>
        </p:txBody>
      </p:sp>
      <p:sp>
        <p:nvSpPr>
          <p:cNvPr id="22" name="Text 20"/>
          <p:cNvSpPr txBox="1"/>
          <p:nvPr/>
        </p:nvSpPr>
        <p:spPr>
          <a:xfrm>
            <a:off x="1051560" y="438912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DEL PRADO, Josefina. Cuatro claves para entender la vital pesca artesanal en Perú [en línea]. Global Fishing Watch, 2025.</a:t>
            </a:r>
            <a:endParaRPr lang="en-US" sz="900" dirty="0"/>
          </a:p>
        </p:txBody>
      </p:sp>
      <p:sp>
        <p:nvSpPr>
          <p:cNvPr id="23" name="Shape 21"/>
          <p:cNvSpPr/>
          <p:nvPr/>
        </p:nvSpPr>
        <p:spPr>
          <a:xfrm>
            <a:off x="548640" y="5074920"/>
            <a:ext cx="365760" cy="365760"/>
          </a:xfrm>
          <a:prstGeom prst="ellipse">
            <a:avLst/>
          </a:prstGeom>
          <a:solidFill>
            <a:srgbClr val="FF5A5F"/>
          </a:solidFill>
          <a:ln/>
        </p:spPr>
      </p:sp>
      <p:sp>
        <p:nvSpPr>
          <p:cNvPr id="24" name="Text 22"/>
          <p:cNvSpPr txBox="1"/>
          <p:nvPr/>
        </p:nvSpPr>
        <p:spPr>
          <a:xfrm>
            <a:off x="548640" y="5074920"/>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7</a:t>
            </a:r>
            <a:endParaRPr lang="en-US" sz="950" dirty="0"/>
          </a:p>
        </p:txBody>
      </p:sp>
      <p:sp>
        <p:nvSpPr>
          <p:cNvPr id="25" name="Text 23"/>
          <p:cNvSpPr txBox="1"/>
          <p:nvPr/>
        </p:nvSpPr>
        <p:spPr>
          <a:xfrm>
            <a:off x="1051560" y="502005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LA PRODUCCIÓN. D.S. N.° 012-2025-PRODUCE, Política Nacional de Pesca al 2040. Lima: PRODUCE, 2025.</a:t>
            </a:r>
            <a:endParaRPr lang="en-US" sz="900" dirty="0"/>
          </a:p>
        </p:txBody>
      </p:sp>
      <p:sp>
        <p:nvSpPr>
          <p:cNvPr id="26" name="Shape 24"/>
          <p:cNvSpPr/>
          <p:nvPr/>
        </p:nvSpPr>
        <p:spPr>
          <a:xfrm>
            <a:off x="548640" y="5705856"/>
            <a:ext cx="365760" cy="365760"/>
          </a:xfrm>
          <a:prstGeom prst="ellipse">
            <a:avLst/>
          </a:prstGeom>
          <a:solidFill>
            <a:srgbClr val="FFE9EA"/>
          </a:solidFill>
          <a:ln/>
        </p:spPr>
      </p:sp>
      <p:sp>
        <p:nvSpPr>
          <p:cNvPr id="27" name="Text 25"/>
          <p:cNvSpPr txBox="1"/>
          <p:nvPr/>
        </p:nvSpPr>
        <p:spPr>
          <a:xfrm>
            <a:off x="548640" y="5705856"/>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8</a:t>
            </a:r>
            <a:endParaRPr lang="en-US" sz="950" dirty="0"/>
          </a:p>
        </p:txBody>
      </p:sp>
      <p:sp>
        <p:nvSpPr>
          <p:cNvPr id="28" name="Text 26"/>
          <p:cNvSpPr txBox="1"/>
          <p:nvPr/>
        </p:nvSpPr>
        <p:spPr>
          <a:xfrm>
            <a:off x="1051560" y="565099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PROACTIVO. PRODUCE: Ejecutivo aprobó la Política Nacional de Pesca al 2040 [en línea]. Lima: ProActivo, 2025.</a:t>
            </a:r>
            <a:endParaRPr lang="en-US" sz="900" dirty="0"/>
          </a:p>
        </p:txBody>
      </p:sp>
      <p:sp>
        <p:nvSpPr>
          <p:cNvPr id="29" name="Shape 27"/>
          <p:cNvSpPr/>
          <p:nvPr/>
        </p:nvSpPr>
        <p:spPr>
          <a:xfrm>
            <a:off x="6172200" y="1289304"/>
            <a:ext cx="365760" cy="365760"/>
          </a:xfrm>
          <a:prstGeom prst="ellipse">
            <a:avLst/>
          </a:prstGeom>
          <a:solidFill>
            <a:srgbClr val="FF5A5F"/>
          </a:solidFill>
          <a:ln/>
        </p:spPr>
      </p:sp>
      <p:sp>
        <p:nvSpPr>
          <p:cNvPr id="30" name="Text 28"/>
          <p:cNvSpPr txBox="1"/>
          <p:nvPr/>
        </p:nvSpPr>
        <p:spPr>
          <a:xfrm>
            <a:off x="6172200" y="1289304"/>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9</a:t>
            </a:r>
            <a:endParaRPr lang="en-US" sz="950" dirty="0"/>
          </a:p>
        </p:txBody>
      </p:sp>
      <p:sp>
        <p:nvSpPr>
          <p:cNvPr id="31" name="Text 29"/>
          <p:cNvSpPr txBox="1"/>
          <p:nvPr/>
        </p:nvSpPr>
        <p:spPr>
          <a:xfrm>
            <a:off x="6675120" y="123444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FONDEPES. Plan Estratégico Institucional (PEI) 2025-2030 [en línea]. Lima: FONDEPES, 2025.</a:t>
            </a:r>
            <a:endParaRPr lang="en-US" sz="900" dirty="0"/>
          </a:p>
        </p:txBody>
      </p:sp>
      <p:sp>
        <p:nvSpPr>
          <p:cNvPr id="32" name="Shape 30"/>
          <p:cNvSpPr/>
          <p:nvPr/>
        </p:nvSpPr>
        <p:spPr>
          <a:xfrm>
            <a:off x="6172200" y="1920240"/>
            <a:ext cx="365760" cy="365760"/>
          </a:xfrm>
          <a:prstGeom prst="ellipse">
            <a:avLst/>
          </a:prstGeom>
          <a:solidFill>
            <a:srgbClr val="FFE9EA"/>
          </a:solidFill>
          <a:ln/>
        </p:spPr>
      </p:sp>
      <p:sp>
        <p:nvSpPr>
          <p:cNvPr id="33" name="Text 31"/>
          <p:cNvSpPr txBox="1"/>
          <p:nvPr/>
        </p:nvSpPr>
        <p:spPr>
          <a:xfrm>
            <a:off x="6172200" y="1920240"/>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10</a:t>
            </a:r>
            <a:endParaRPr lang="en-US" sz="950" dirty="0"/>
          </a:p>
        </p:txBody>
      </p:sp>
      <p:sp>
        <p:nvSpPr>
          <p:cNvPr id="34" name="Text 32"/>
          <p:cNvSpPr txBox="1"/>
          <p:nvPr/>
        </p:nvSpPr>
        <p:spPr>
          <a:xfrm>
            <a:off x="6675120" y="186537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FONDEPES. FONDEPES: ¿Cómo ubicar mi DPA más cercano? [en línea]. Lima: Plataforma digital única del Estado peruano, 2025.</a:t>
            </a:r>
            <a:endParaRPr lang="en-US" sz="900" dirty="0"/>
          </a:p>
        </p:txBody>
      </p:sp>
      <p:sp>
        <p:nvSpPr>
          <p:cNvPr id="35" name="Shape 33"/>
          <p:cNvSpPr/>
          <p:nvPr/>
        </p:nvSpPr>
        <p:spPr>
          <a:xfrm>
            <a:off x="6172200" y="2551176"/>
            <a:ext cx="365760" cy="365760"/>
          </a:xfrm>
          <a:prstGeom prst="ellipse">
            <a:avLst/>
          </a:prstGeom>
          <a:solidFill>
            <a:srgbClr val="FF5A5F"/>
          </a:solidFill>
          <a:ln/>
        </p:spPr>
      </p:sp>
      <p:sp>
        <p:nvSpPr>
          <p:cNvPr id="36" name="Text 34"/>
          <p:cNvSpPr txBox="1"/>
          <p:nvPr/>
        </p:nvSpPr>
        <p:spPr>
          <a:xfrm>
            <a:off x="6172200" y="2551176"/>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11</a:t>
            </a:r>
            <a:endParaRPr lang="en-US" sz="950" dirty="0"/>
          </a:p>
        </p:txBody>
      </p:sp>
      <p:sp>
        <p:nvSpPr>
          <p:cNvPr id="37" name="Text 35"/>
          <p:cNvSpPr txBox="1"/>
          <p:nvPr/>
        </p:nvSpPr>
        <p:spPr>
          <a:xfrm>
            <a:off x="6675120" y="249631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INFORMA. MEF transfiere S/ 3 millones al Fondepes para el mantenimiento de 12 desembarcaderos pesqueros artesanales ante El Niño [en línea]. Lima, 2026.</a:t>
            </a:r>
            <a:endParaRPr lang="en-US" sz="900" dirty="0"/>
          </a:p>
        </p:txBody>
      </p:sp>
      <p:sp>
        <p:nvSpPr>
          <p:cNvPr id="38" name="Shape 36"/>
          <p:cNvSpPr/>
          <p:nvPr/>
        </p:nvSpPr>
        <p:spPr>
          <a:xfrm>
            <a:off x="6172200" y="3182112"/>
            <a:ext cx="365760" cy="365760"/>
          </a:xfrm>
          <a:prstGeom prst="ellipse">
            <a:avLst/>
          </a:prstGeom>
          <a:solidFill>
            <a:srgbClr val="FFE9EA"/>
          </a:solidFill>
          <a:ln/>
        </p:spPr>
      </p:sp>
      <p:sp>
        <p:nvSpPr>
          <p:cNvPr id="39" name="Text 37"/>
          <p:cNvSpPr txBox="1"/>
          <p:nvPr/>
        </p:nvSpPr>
        <p:spPr>
          <a:xfrm>
            <a:off x="6172200" y="3182112"/>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12</a:t>
            </a:r>
            <a:endParaRPr lang="en-US" sz="950" dirty="0"/>
          </a:p>
        </p:txBody>
      </p:sp>
      <p:sp>
        <p:nvSpPr>
          <p:cNvPr id="40" name="Text 38"/>
          <p:cNvSpPr txBox="1"/>
          <p:nvPr/>
        </p:nvSpPr>
        <p:spPr>
          <a:xfrm>
            <a:off x="6675120" y="3127248"/>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GRANDEZ, Percy y ARONI, Eloy. Trazabilidad de la pesca artesanal: desafíos y oportunidades [en línea]. Lima: Oceana Perú, 2025.</a:t>
            </a:r>
            <a:endParaRPr lang="en-US" sz="900" dirty="0"/>
          </a:p>
        </p:txBody>
      </p:sp>
      <p:sp>
        <p:nvSpPr>
          <p:cNvPr id="41" name="Shape 39"/>
          <p:cNvSpPr/>
          <p:nvPr/>
        </p:nvSpPr>
        <p:spPr>
          <a:xfrm>
            <a:off x="6172200" y="3813048"/>
            <a:ext cx="365760" cy="365760"/>
          </a:xfrm>
          <a:prstGeom prst="ellipse">
            <a:avLst/>
          </a:prstGeom>
          <a:solidFill>
            <a:srgbClr val="FF5A5F"/>
          </a:solidFill>
          <a:ln/>
        </p:spPr>
      </p:sp>
      <p:sp>
        <p:nvSpPr>
          <p:cNvPr id="42" name="Text 40"/>
          <p:cNvSpPr txBox="1"/>
          <p:nvPr/>
        </p:nvSpPr>
        <p:spPr>
          <a:xfrm>
            <a:off x="6172200" y="3813048"/>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13</a:t>
            </a:r>
            <a:endParaRPr lang="en-US" sz="950" dirty="0"/>
          </a:p>
        </p:txBody>
      </p:sp>
      <p:sp>
        <p:nvSpPr>
          <p:cNvPr id="43" name="Text 41"/>
          <p:cNvSpPr txBox="1"/>
          <p:nvPr/>
        </p:nvSpPr>
        <p:spPr>
          <a:xfrm>
            <a:off x="6675120" y="3758184"/>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IMARPE. Reporte de ocurrencias semanal de la actividad pesquera artesanal en el litoral peruano. ROSPA 01 [en línea]. Callao: IMARPE, 2025.</a:t>
            </a:r>
            <a:endParaRPr lang="en-US" sz="900" dirty="0"/>
          </a:p>
        </p:txBody>
      </p:sp>
      <p:sp>
        <p:nvSpPr>
          <p:cNvPr id="44" name="Shape 42"/>
          <p:cNvSpPr/>
          <p:nvPr/>
        </p:nvSpPr>
        <p:spPr>
          <a:xfrm>
            <a:off x="6172200" y="4443984"/>
            <a:ext cx="365760" cy="365760"/>
          </a:xfrm>
          <a:prstGeom prst="ellipse">
            <a:avLst/>
          </a:prstGeom>
          <a:solidFill>
            <a:srgbClr val="FFE9EA"/>
          </a:solidFill>
          <a:ln/>
        </p:spPr>
      </p:sp>
      <p:sp>
        <p:nvSpPr>
          <p:cNvPr id="45" name="Text 43"/>
          <p:cNvSpPr txBox="1"/>
          <p:nvPr/>
        </p:nvSpPr>
        <p:spPr>
          <a:xfrm>
            <a:off x="6172200" y="4443984"/>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14</a:t>
            </a:r>
            <a:endParaRPr lang="en-US" sz="950" dirty="0"/>
          </a:p>
        </p:txBody>
      </p:sp>
      <p:sp>
        <p:nvSpPr>
          <p:cNvPr id="46" name="Text 44"/>
          <p:cNvSpPr txBox="1"/>
          <p:nvPr/>
        </p:nvSpPr>
        <p:spPr>
          <a:xfrm>
            <a:off x="6675120" y="438912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IMARPE, LABORATORIO COSTERO DE HUACHO. Monitoreo de la pesquería artesanal regional del 31 de enero al 04 de febrero de 2022. Huacho: IMARPE, 2022.</a:t>
            </a:r>
            <a:endParaRPr lang="en-US" sz="900" dirty="0"/>
          </a:p>
        </p:txBody>
      </p:sp>
      <p:sp>
        <p:nvSpPr>
          <p:cNvPr id="47" name="Shape 45"/>
          <p:cNvSpPr/>
          <p:nvPr/>
        </p:nvSpPr>
        <p:spPr>
          <a:xfrm>
            <a:off x="6172200" y="5074920"/>
            <a:ext cx="365760" cy="365760"/>
          </a:xfrm>
          <a:prstGeom prst="ellipse">
            <a:avLst/>
          </a:prstGeom>
          <a:solidFill>
            <a:srgbClr val="FF5A5F"/>
          </a:solidFill>
          <a:ln/>
        </p:spPr>
      </p:sp>
      <p:sp>
        <p:nvSpPr>
          <p:cNvPr id="48" name="Text 46"/>
          <p:cNvSpPr txBox="1"/>
          <p:nvPr/>
        </p:nvSpPr>
        <p:spPr>
          <a:xfrm>
            <a:off x="6172200" y="5074920"/>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15</a:t>
            </a:r>
            <a:endParaRPr lang="en-US" sz="950" dirty="0"/>
          </a:p>
        </p:txBody>
      </p:sp>
      <p:sp>
        <p:nvSpPr>
          <p:cNvPr id="49" name="Text 47"/>
          <p:cNvSpPr txBox="1"/>
          <p:nvPr/>
        </p:nvSpPr>
        <p:spPr>
          <a:xfrm>
            <a:off x="6675120" y="502005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LA PRODUCCIÓN. R.M. N.° 000109-2025-PRODUCE, que modifica el Anexo I de la R.M. N.° 209-2001-PE (lorna). El Peruano, 2025.</a:t>
            </a:r>
            <a:endParaRPr lang="en-US" sz="900" dirty="0"/>
          </a:p>
        </p:txBody>
      </p:sp>
      <p:sp>
        <p:nvSpPr>
          <p:cNvPr id="50" name="Text 48"/>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1" name="Text 49"/>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5A5F"/>
                </a:solidFill>
                <a:latin typeface="Montserrat" pitchFamily="34" charset="0"/>
                <a:ea typeface="Montserrat" pitchFamily="34" charset="-122"/>
                <a:cs typeface="Montserrat"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390595" cy="274320"/>
          </a:xfrm>
          <a:prstGeom prst="roundRect">
            <a:avLst>
              <a:gd name="adj" fmla="val 50000"/>
            </a:avLst>
          </a:prstGeom>
          <a:solidFill>
            <a:srgbClr val="FF5A5F"/>
          </a:solidFill>
          <a:ln/>
        </p:spPr>
      </p:sp>
      <p:sp>
        <p:nvSpPr>
          <p:cNvPr id="3" name="Text 1"/>
          <p:cNvSpPr txBox="1"/>
          <p:nvPr/>
        </p:nvSpPr>
        <p:spPr>
          <a:xfrm>
            <a:off x="548640" y="292608"/>
            <a:ext cx="3390595"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REFERENCIAS BIBLIOGRÁFICAS · ISO 690</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Referencias (2 de 2)</a:t>
            </a:r>
            <a:endParaRPr lang="en-US" sz="2400" dirty="0"/>
          </a:p>
        </p:txBody>
      </p:sp>
      <p:sp>
        <p:nvSpPr>
          <p:cNvPr id="5" name="Shape 3"/>
          <p:cNvSpPr/>
          <p:nvPr/>
        </p:nvSpPr>
        <p:spPr>
          <a:xfrm>
            <a:off x="548640" y="1289304"/>
            <a:ext cx="365760" cy="365760"/>
          </a:xfrm>
          <a:prstGeom prst="ellipse">
            <a:avLst/>
          </a:prstGeom>
          <a:solidFill>
            <a:srgbClr val="FF5A5F"/>
          </a:solidFill>
          <a:ln/>
        </p:spPr>
      </p:sp>
      <p:sp>
        <p:nvSpPr>
          <p:cNvPr id="6" name="Text 4"/>
          <p:cNvSpPr txBox="1"/>
          <p:nvPr/>
        </p:nvSpPr>
        <p:spPr>
          <a:xfrm>
            <a:off x="548640" y="1289304"/>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16</a:t>
            </a:r>
            <a:endParaRPr lang="en-US" sz="950" dirty="0"/>
          </a:p>
        </p:txBody>
      </p:sp>
      <p:sp>
        <p:nvSpPr>
          <p:cNvPr id="7" name="Text 5"/>
          <p:cNvSpPr txBox="1"/>
          <p:nvPr/>
        </p:nvSpPr>
        <p:spPr>
          <a:xfrm>
            <a:off x="1051560" y="123444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LA PRODUCCIÓN. R.M. N.° 000191-2025-PRODUCE, que modifica el Anexo I de la R.M. N.° 209-2001-PE (cabrilla). El Peruano, 2025.</a:t>
            </a:r>
            <a:endParaRPr lang="en-US" sz="900" dirty="0"/>
          </a:p>
        </p:txBody>
      </p:sp>
      <p:sp>
        <p:nvSpPr>
          <p:cNvPr id="8" name="Shape 6"/>
          <p:cNvSpPr/>
          <p:nvPr/>
        </p:nvSpPr>
        <p:spPr>
          <a:xfrm>
            <a:off x="548640" y="1920240"/>
            <a:ext cx="365760" cy="365760"/>
          </a:xfrm>
          <a:prstGeom prst="ellipse">
            <a:avLst/>
          </a:prstGeom>
          <a:solidFill>
            <a:srgbClr val="FFE9EA"/>
          </a:solidFill>
          <a:ln/>
        </p:spPr>
      </p:sp>
      <p:sp>
        <p:nvSpPr>
          <p:cNvPr id="9" name="Text 7"/>
          <p:cNvSpPr txBox="1"/>
          <p:nvPr/>
        </p:nvSpPr>
        <p:spPr>
          <a:xfrm>
            <a:off x="548640" y="1920240"/>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17</a:t>
            </a:r>
            <a:endParaRPr lang="en-US" sz="950" dirty="0"/>
          </a:p>
        </p:txBody>
      </p:sp>
      <p:sp>
        <p:nvSpPr>
          <p:cNvPr id="10" name="Text 8"/>
          <p:cNvSpPr txBox="1"/>
          <p:nvPr/>
        </p:nvSpPr>
        <p:spPr>
          <a:xfrm>
            <a:off x="1051560" y="186537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INFOBAE. PRODUCE vuelve a postergar el control satelital para la pesca artesanal y dilata la reforma de permisos [en línea]. Lima: Infobae, 2025.</a:t>
            </a:r>
            <a:endParaRPr lang="en-US" sz="900" dirty="0"/>
          </a:p>
        </p:txBody>
      </p:sp>
      <p:sp>
        <p:nvSpPr>
          <p:cNvPr id="11" name="Shape 9"/>
          <p:cNvSpPr/>
          <p:nvPr/>
        </p:nvSpPr>
        <p:spPr>
          <a:xfrm>
            <a:off x="548640" y="2551176"/>
            <a:ext cx="365760" cy="365760"/>
          </a:xfrm>
          <a:prstGeom prst="ellipse">
            <a:avLst/>
          </a:prstGeom>
          <a:solidFill>
            <a:srgbClr val="FF5A5F"/>
          </a:solidFill>
          <a:ln/>
        </p:spPr>
      </p:sp>
      <p:sp>
        <p:nvSpPr>
          <p:cNvPr id="12" name="Text 10"/>
          <p:cNvSpPr txBox="1"/>
          <p:nvPr/>
        </p:nvSpPr>
        <p:spPr>
          <a:xfrm>
            <a:off x="548640" y="2551176"/>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18</a:t>
            </a:r>
            <a:endParaRPr lang="en-US" sz="950" dirty="0"/>
          </a:p>
        </p:txBody>
      </p:sp>
      <p:sp>
        <p:nvSpPr>
          <p:cNvPr id="13" name="Text 11"/>
          <p:cNvSpPr txBox="1"/>
          <p:nvPr/>
        </p:nvSpPr>
        <p:spPr>
          <a:xfrm>
            <a:off x="1051560" y="249631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LA PRODUCCIÓN. D.S. N.° 024-2021-PRODUCE (registro en el SITRAPESCA). Diario Oficial El Peruano. Lima, 2021.</a:t>
            </a:r>
            <a:endParaRPr lang="en-US" sz="900" dirty="0"/>
          </a:p>
        </p:txBody>
      </p:sp>
      <p:sp>
        <p:nvSpPr>
          <p:cNvPr id="14" name="Shape 12"/>
          <p:cNvSpPr/>
          <p:nvPr/>
        </p:nvSpPr>
        <p:spPr>
          <a:xfrm>
            <a:off x="548640" y="3182112"/>
            <a:ext cx="365760" cy="365760"/>
          </a:xfrm>
          <a:prstGeom prst="ellipse">
            <a:avLst/>
          </a:prstGeom>
          <a:solidFill>
            <a:srgbClr val="FFE9EA"/>
          </a:solidFill>
          <a:ln/>
        </p:spPr>
      </p:sp>
      <p:sp>
        <p:nvSpPr>
          <p:cNvPr id="15" name="Text 13"/>
          <p:cNvSpPr txBox="1"/>
          <p:nvPr/>
        </p:nvSpPr>
        <p:spPr>
          <a:xfrm>
            <a:off x="548640" y="3182112"/>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19</a:t>
            </a:r>
            <a:endParaRPr lang="en-US" sz="950" dirty="0"/>
          </a:p>
        </p:txBody>
      </p:sp>
      <p:sp>
        <p:nvSpPr>
          <p:cNvPr id="16" name="Text 14"/>
          <p:cNvSpPr txBox="1"/>
          <p:nvPr/>
        </p:nvSpPr>
        <p:spPr>
          <a:xfrm>
            <a:off x="1051560" y="3127248"/>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SOMMERVILLE, Ian. Ingeniería de software. 9.ª ed. México: Pearson Educación, 2011. ISBN 978-607-32-0603-7.</a:t>
            </a:r>
            <a:endParaRPr lang="en-US" sz="900" dirty="0"/>
          </a:p>
        </p:txBody>
      </p:sp>
      <p:sp>
        <p:nvSpPr>
          <p:cNvPr id="17" name="Shape 15"/>
          <p:cNvSpPr/>
          <p:nvPr/>
        </p:nvSpPr>
        <p:spPr>
          <a:xfrm>
            <a:off x="548640" y="3813048"/>
            <a:ext cx="365760" cy="365760"/>
          </a:xfrm>
          <a:prstGeom prst="ellipse">
            <a:avLst/>
          </a:prstGeom>
          <a:solidFill>
            <a:srgbClr val="FF5A5F"/>
          </a:solidFill>
          <a:ln/>
        </p:spPr>
      </p:sp>
      <p:sp>
        <p:nvSpPr>
          <p:cNvPr id="18" name="Text 16"/>
          <p:cNvSpPr txBox="1"/>
          <p:nvPr/>
        </p:nvSpPr>
        <p:spPr>
          <a:xfrm>
            <a:off x="548640" y="3813048"/>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20</a:t>
            </a:r>
            <a:endParaRPr lang="en-US" sz="950" dirty="0"/>
          </a:p>
        </p:txBody>
      </p:sp>
      <p:sp>
        <p:nvSpPr>
          <p:cNvPr id="19" name="Text 17"/>
          <p:cNvSpPr txBox="1"/>
          <p:nvPr/>
        </p:nvSpPr>
        <p:spPr>
          <a:xfrm>
            <a:off x="1051560" y="3758184"/>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INTERNATIONAL ORGANIZATION FOR STANDARDIZATION. ISO/IEC 25010:2023. Product quality model. Ginebra: ISO, 2023.</a:t>
            </a:r>
            <a:endParaRPr lang="en-US" sz="900" dirty="0"/>
          </a:p>
        </p:txBody>
      </p:sp>
      <p:sp>
        <p:nvSpPr>
          <p:cNvPr id="20" name="Shape 18"/>
          <p:cNvSpPr/>
          <p:nvPr/>
        </p:nvSpPr>
        <p:spPr>
          <a:xfrm>
            <a:off x="548640" y="4443984"/>
            <a:ext cx="365760" cy="365760"/>
          </a:xfrm>
          <a:prstGeom prst="ellipse">
            <a:avLst/>
          </a:prstGeom>
          <a:solidFill>
            <a:srgbClr val="FFE9EA"/>
          </a:solidFill>
          <a:ln/>
        </p:spPr>
      </p:sp>
      <p:sp>
        <p:nvSpPr>
          <p:cNvPr id="21" name="Text 19"/>
          <p:cNvSpPr txBox="1"/>
          <p:nvPr/>
        </p:nvSpPr>
        <p:spPr>
          <a:xfrm>
            <a:off x="548640" y="4443984"/>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21</a:t>
            </a:r>
            <a:endParaRPr lang="en-US" sz="950" dirty="0"/>
          </a:p>
        </p:txBody>
      </p:sp>
      <p:sp>
        <p:nvSpPr>
          <p:cNvPr id="22" name="Text 20"/>
          <p:cNvSpPr txBox="1"/>
          <p:nvPr/>
        </p:nvSpPr>
        <p:spPr>
          <a:xfrm>
            <a:off x="1051560" y="438912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WORLD WIDE WEB CONSORTIUM (W3C). Web Content Accessibility Guidelines (WCAG) 2.1 [en línea]. W3C, 2018.</a:t>
            </a:r>
            <a:endParaRPr lang="en-US" sz="900" dirty="0"/>
          </a:p>
        </p:txBody>
      </p:sp>
      <p:sp>
        <p:nvSpPr>
          <p:cNvPr id="23" name="Shape 21"/>
          <p:cNvSpPr/>
          <p:nvPr/>
        </p:nvSpPr>
        <p:spPr>
          <a:xfrm>
            <a:off x="548640" y="5074920"/>
            <a:ext cx="365760" cy="365760"/>
          </a:xfrm>
          <a:prstGeom prst="ellipse">
            <a:avLst/>
          </a:prstGeom>
          <a:solidFill>
            <a:srgbClr val="FF5A5F"/>
          </a:solidFill>
          <a:ln/>
        </p:spPr>
      </p:sp>
      <p:sp>
        <p:nvSpPr>
          <p:cNvPr id="24" name="Text 22"/>
          <p:cNvSpPr txBox="1"/>
          <p:nvPr/>
        </p:nvSpPr>
        <p:spPr>
          <a:xfrm>
            <a:off x="548640" y="5074920"/>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22</a:t>
            </a:r>
            <a:endParaRPr lang="en-US" sz="950" dirty="0"/>
          </a:p>
        </p:txBody>
      </p:sp>
      <p:sp>
        <p:nvSpPr>
          <p:cNvPr id="25" name="Text 23"/>
          <p:cNvSpPr txBox="1"/>
          <p:nvPr/>
        </p:nvSpPr>
        <p:spPr>
          <a:xfrm>
            <a:off x="1051560" y="502005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Ley N.° 29733, Ley de Protección de Datos Personales. Diario Oficial El Peruano. Lima, 2011.</a:t>
            </a:r>
            <a:endParaRPr lang="en-US" sz="900" dirty="0"/>
          </a:p>
        </p:txBody>
      </p:sp>
      <p:sp>
        <p:nvSpPr>
          <p:cNvPr id="26" name="Shape 24"/>
          <p:cNvSpPr/>
          <p:nvPr/>
        </p:nvSpPr>
        <p:spPr>
          <a:xfrm>
            <a:off x="548640" y="5705856"/>
            <a:ext cx="365760" cy="365760"/>
          </a:xfrm>
          <a:prstGeom prst="ellipse">
            <a:avLst/>
          </a:prstGeom>
          <a:solidFill>
            <a:srgbClr val="FFE9EA"/>
          </a:solidFill>
          <a:ln/>
        </p:spPr>
      </p:sp>
      <p:sp>
        <p:nvSpPr>
          <p:cNvPr id="27" name="Text 25"/>
          <p:cNvSpPr txBox="1"/>
          <p:nvPr/>
        </p:nvSpPr>
        <p:spPr>
          <a:xfrm>
            <a:off x="548640" y="5705856"/>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23</a:t>
            </a:r>
            <a:endParaRPr lang="en-US" sz="950" dirty="0"/>
          </a:p>
        </p:txBody>
      </p:sp>
      <p:sp>
        <p:nvSpPr>
          <p:cNvPr id="28" name="Text 26"/>
          <p:cNvSpPr txBox="1"/>
          <p:nvPr/>
        </p:nvSpPr>
        <p:spPr>
          <a:xfrm>
            <a:off x="1051560" y="565099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JUSTICIA Y DERECHOS HUMANOS. D.S. N.° 016-2024-JUS, Reglamento de la Ley N.° 29733. El Peruano, 2024.</a:t>
            </a:r>
            <a:endParaRPr lang="en-US" sz="900" dirty="0"/>
          </a:p>
        </p:txBody>
      </p:sp>
      <p:sp>
        <p:nvSpPr>
          <p:cNvPr id="29" name="Shape 27"/>
          <p:cNvSpPr/>
          <p:nvPr/>
        </p:nvSpPr>
        <p:spPr>
          <a:xfrm>
            <a:off x="6172200" y="1289304"/>
            <a:ext cx="365760" cy="365760"/>
          </a:xfrm>
          <a:prstGeom prst="ellipse">
            <a:avLst/>
          </a:prstGeom>
          <a:solidFill>
            <a:srgbClr val="FF5A5F"/>
          </a:solidFill>
          <a:ln/>
        </p:spPr>
      </p:sp>
      <p:sp>
        <p:nvSpPr>
          <p:cNvPr id="30" name="Text 28"/>
          <p:cNvSpPr txBox="1"/>
          <p:nvPr/>
        </p:nvSpPr>
        <p:spPr>
          <a:xfrm>
            <a:off x="6172200" y="1289304"/>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24</a:t>
            </a:r>
            <a:endParaRPr lang="en-US" sz="950" dirty="0"/>
          </a:p>
        </p:txBody>
      </p:sp>
      <p:sp>
        <p:nvSpPr>
          <p:cNvPr id="31" name="Text 29"/>
          <p:cNvSpPr txBox="1"/>
          <p:nvPr/>
        </p:nvSpPr>
        <p:spPr>
          <a:xfrm>
            <a:off x="6675120" y="123444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FAO. ASFIS List of Species for Fishery Statistics Purposes [en línea]. Roma: FAO.</a:t>
            </a:r>
            <a:endParaRPr lang="en-US" sz="900" dirty="0"/>
          </a:p>
        </p:txBody>
      </p:sp>
      <p:sp>
        <p:nvSpPr>
          <p:cNvPr id="32" name="Shape 30"/>
          <p:cNvSpPr/>
          <p:nvPr/>
        </p:nvSpPr>
        <p:spPr>
          <a:xfrm>
            <a:off x="6172200" y="1920240"/>
            <a:ext cx="365760" cy="365760"/>
          </a:xfrm>
          <a:prstGeom prst="ellipse">
            <a:avLst/>
          </a:prstGeom>
          <a:solidFill>
            <a:srgbClr val="FFE9EA"/>
          </a:solidFill>
          <a:ln/>
        </p:spPr>
      </p:sp>
      <p:sp>
        <p:nvSpPr>
          <p:cNvPr id="33" name="Text 31"/>
          <p:cNvSpPr txBox="1"/>
          <p:nvPr/>
        </p:nvSpPr>
        <p:spPr>
          <a:xfrm>
            <a:off x="6172200" y="1920240"/>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25</a:t>
            </a:r>
            <a:endParaRPr lang="en-US" sz="950" dirty="0"/>
          </a:p>
        </p:txBody>
      </p:sp>
      <p:sp>
        <p:nvSpPr>
          <p:cNvPr id="34" name="Text 32"/>
          <p:cNvSpPr txBox="1"/>
          <p:nvPr/>
        </p:nvSpPr>
        <p:spPr>
          <a:xfrm>
            <a:off x="6675120" y="186537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LA PRODUCCIÓN. D.S. N.° 002-2025-PRODUCE, que modifica el Reglamento de la Ley General de Pesca. El Peruano, 2025.</a:t>
            </a:r>
            <a:endParaRPr lang="en-US" sz="900" dirty="0"/>
          </a:p>
        </p:txBody>
      </p:sp>
      <p:sp>
        <p:nvSpPr>
          <p:cNvPr id="35" name="Shape 33"/>
          <p:cNvSpPr/>
          <p:nvPr/>
        </p:nvSpPr>
        <p:spPr>
          <a:xfrm>
            <a:off x="6172200" y="2551176"/>
            <a:ext cx="365760" cy="365760"/>
          </a:xfrm>
          <a:prstGeom prst="ellipse">
            <a:avLst/>
          </a:prstGeom>
          <a:solidFill>
            <a:srgbClr val="FF5A5F"/>
          </a:solidFill>
          <a:ln/>
        </p:spPr>
      </p:sp>
      <p:sp>
        <p:nvSpPr>
          <p:cNvPr id="36" name="Text 34"/>
          <p:cNvSpPr txBox="1"/>
          <p:nvPr/>
        </p:nvSpPr>
        <p:spPr>
          <a:xfrm>
            <a:off x="6172200" y="2551176"/>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26</a:t>
            </a:r>
            <a:endParaRPr lang="en-US" sz="950" dirty="0"/>
          </a:p>
        </p:txBody>
      </p:sp>
      <p:sp>
        <p:nvSpPr>
          <p:cNvPr id="37" name="Text 35"/>
          <p:cNvSpPr txBox="1"/>
          <p:nvPr/>
        </p:nvSpPr>
        <p:spPr>
          <a:xfrm>
            <a:off x="6675120" y="2496312"/>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Decreto Ley N.° 25977, Ley General de Pesca. Diario Oficial El Peruano. Lima, 1992.</a:t>
            </a:r>
            <a:endParaRPr lang="en-US" sz="900" dirty="0"/>
          </a:p>
        </p:txBody>
      </p:sp>
      <p:sp>
        <p:nvSpPr>
          <p:cNvPr id="38" name="Shape 36"/>
          <p:cNvSpPr/>
          <p:nvPr/>
        </p:nvSpPr>
        <p:spPr>
          <a:xfrm>
            <a:off x="6172200" y="3182112"/>
            <a:ext cx="365760" cy="365760"/>
          </a:xfrm>
          <a:prstGeom prst="ellipse">
            <a:avLst/>
          </a:prstGeom>
          <a:solidFill>
            <a:srgbClr val="FFE9EA"/>
          </a:solidFill>
          <a:ln/>
        </p:spPr>
      </p:sp>
      <p:sp>
        <p:nvSpPr>
          <p:cNvPr id="39" name="Text 37"/>
          <p:cNvSpPr txBox="1"/>
          <p:nvPr/>
        </p:nvSpPr>
        <p:spPr>
          <a:xfrm>
            <a:off x="6172200" y="3182112"/>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27</a:t>
            </a:r>
            <a:endParaRPr lang="en-US" sz="950" dirty="0"/>
          </a:p>
        </p:txBody>
      </p:sp>
      <p:sp>
        <p:nvSpPr>
          <p:cNvPr id="40" name="Text 38"/>
          <p:cNvSpPr txBox="1"/>
          <p:nvPr/>
        </p:nvSpPr>
        <p:spPr>
          <a:xfrm>
            <a:off x="6675120" y="3127248"/>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PERÚ. MINISTERIO DE PESQUERÍA. R.M. N.° 209-2001-PE, tallas mínimas de captura y tolerancia de juveniles. El Peruano, 2001.</a:t>
            </a:r>
            <a:endParaRPr lang="en-US" sz="900" dirty="0"/>
          </a:p>
        </p:txBody>
      </p:sp>
      <p:sp>
        <p:nvSpPr>
          <p:cNvPr id="41" name="Shape 39"/>
          <p:cNvSpPr/>
          <p:nvPr/>
        </p:nvSpPr>
        <p:spPr>
          <a:xfrm>
            <a:off x="6172200" y="3813048"/>
            <a:ext cx="365760" cy="365760"/>
          </a:xfrm>
          <a:prstGeom prst="ellipse">
            <a:avLst/>
          </a:prstGeom>
          <a:solidFill>
            <a:srgbClr val="FF5A5F"/>
          </a:solidFill>
          <a:ln/>
        </p:spPr>
      </p:sp>
      <p:sp>
        <p:nvSpPr>
          <p:cNvPr id="42" name="Text 40"/>
          <p:cNvSpPr txBox="1"/>
          <p:nvPr/>
        </p:nvSpPr>
        <p:spPr>
          <a:xfrm>
            <a:off x="6172200" y="3813048"/>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28</a:t>
            </a:r>
            <a:endParaRPr lang="en-US" sz="950" dirty="0"/>
          </a:p>
        </p:txBody>
      </p:sp>
      <p:sp>
        <p:nvSpPr>
          <p:cNvPr id="43" name="Text 41"/>
          <p:cNvSpPr txBox="1"/>
          <p:nvPr/>
        </p:nvSpPr>
        <p:spPr>
          <a:xfrm>
            <a:off x="6675120" y="3758184"/>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INFOBAE. Es oficial: Perú reglamenta su nueva Ley General de Pesca y prohíbe el uso de cerco mecanizado en las primeras 3 millas marinas [en línea]. Lima: Infobae, 2025.</a:t>
            </a:r>
            <a:endParaRPr lang="en-US" sz="900" dirty="0"/>
          </a:p>
        </p:txBody>
      </p:sp>
      <p:sp>
        <p:nvSpPr>
          <p:cNvPr id="44" name="Shape 42"/>
          <p:cNvSpPr/>
          <p:nvPr/>
        </p:nvSpPr>
        <p:spPr>
          <a:xfrm>
            <a:off x="6172200" y="4443984"/>
            <a:ext cx="365760" cy="365760"/>
          </a:xfrm>
          <a:prstGeom prst="ellipse">
            <a:avLst/>
          </a:prstGeom>
          <a:solidFill>
            <a:srgbClr val="FFE9EA"/>
          </a:solidFill>
          <a:ln/>
        </p:spPr>
      </p:sp>
      <p:sp>
        <p:nvSpPr>
          <p:cNvPr id="45" name="Text 43"/>
          <p:cNvSpPr txBox="1"/>
          <p:nvPr/>
        </p:nvSpPr>
        <p:spPr>
          <a:xfrm>
            <a:off x="6172200" y="4443984"/>
            <a:ext cx="365760" cy="365760"/>
          </a:xfrm>
          <a:prstGeom prst="rect">
            <a:avLst/>
          </a:prstGeom>
          <a:noFill/>
          <a:ln/>
        </p:spPr>
        <p:txBody>
          <a:bodyPr wrap="square" lIns="0" tIns="0" rIns="0" bIns="0" rtlCol="0" anchor="ctr"/>
          <a:lstStyle/>
          <a:p>
            <a:pPr algn="ctr" indent="0" marL="0">
              <a:buNone/>
            </a:pPr>
            <a:r>
              <a:rPr lang="en-US" sz="950" b="1" dirty="0">
                <a:solidFill>
                  <a:srgbClr val="E0393F"/>
                </a:solidFill>
                <a:latin typeface="Montserrat" pitchFamily="34" charset="0"/>
                <a:ea typeface="Montserrat" pitchFamily="34" charset="-122"/>
                <a:cs typeface="Montserrat" pitchFamily="34" charset="-120"/>
              </a:rPr>
              <a:t>29</a:t>
            </a:r>
            <a:endParaRPr lang="en-US" sz="950" dirty="0"/>
          </a:p>
        </p:txBody>
      </p:sp>
      <p:sp>
        <p:nvSpPr>
          <p:cNvPr id="46" name="Text 44"/>
          <p:cNvSpPr txBox="1"/>
          <p:nvPr/>
        </p:nvSpPr>
        <p:spPr>
          <a:xfrm>
            <a:off x="6675120" y="4389120"/>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OBJECT MANAGEMENT GROUP (OMG). OMG Unified Modeling Language (OMG UML), Version 2.5.1 [en línea]. Needham: OMG, 2017.</a:t>
            </a:r>
            <a:endParaRPr lang="en-US" sz="900" dirty="0"/>
          </a:p>
        </p:txBody>
      </p:sp>
      <p:sp>
        <p:nvSpPr>
          <p:cNvPr id="47" name="Shape 45"/>
          <p:cNvSpPr/>
          <p:nvPr/>
        </p:nvSpPr>
        <p:spPr>
          <a:xfrm>
            <a:off x="6172200" y="5074920"/>
            <a:ext cx="365760" cy="365760"/>
          </a:xfrm>
          <a:prstGeom prst="ellipse">
            <a:avLst/>
          </a:prstGeom>
          <a:solidFill>
            <a:srgbClr val="FF5A5F"/>
          </a:solidFill>
          <a:ln/>
        </p:spPr>
      </p:sp>
      <p:sp>
        <p:nvSpPr>
          <p:cNvPr id="48" name="Text 46"/>
          <p:cNvSpPr txBox="1"/>
          <p:nvPr/>
        </p:nvSpPr>
        <p:spPr>
          <a:xfrm>
            <a:off x="6172200" y="5074920"/>
            <a:ext cx="36576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30</a:t>
            </a:r>
            <a:endParaRPr lang="en-US" sz="950" dirty="0"/>
          </a:p>
        </p:txBody>
      </p:sp>
      <p:sp>
        <p:nvSpPr>
          <p:cNvPr id="49" name="Text 47"/>
          <p:cNvSpPr txBox="1"/>
          <p:nvPr/>
        </p:nvSpPr>
        <p:spPr>
          <a:xfrm>
            <a:off x="6675120" y="5020056"/>
            <a:ext cx="4937760" cy="566928"/>
          </a:xfrm>
          <a:prstGeom prst="rect">
            <a:avLst/>
          </a:prstGeom>
          <a:noFill/>
          <a:ln/>
        </p:spPr>
        <p:txBody>
          <a:bodyPr wrap="square" lIns="0" tIns="0" rIns="0" bIns="0" rtlCol="0" anchor="ctr"/>
          <a:lstStyle/>
          <a:p>
            <a:pPr indent="0" marL="0">
              <a:buNone/>
            </a:pPr>
            <a:r>
              <a:rPr lang="en-US" sz="900" dirty="0">
                <a:solidFill>
                  <a:srgbClr val="0E1B3D"/>
                </a:solidFill>
                <a:latin typeface="Open Sans" pitchFamily="34" charset="0"/>
                <a:ea typeface="Open Sans" pitchFamily="34" charset="-122"/>
                <a:cs typeface="Open Sans" pitchFamily="34" charset="-120"/>
              </a:rPr>
              <a:t>SCHWABER, Ken y SUTHERLAND, Jeff. La Guía de Scrum: la guía definitiva de Scrum: las reglas del juego [en línea]. 2020.</a:t>
            </a:r>
            <a:endParaRPr lang="en-US" sz="900" dirty="0"/>
          </a:p>
        </p:txBody>
      </p:sp>
      <p:sp>
        <p:nvSpPr>
          <p:cNvPr id="50" name="Shape 48"/>
          <p:cNvSpPr/>
          <p:nvPr/>
        </p:nvSpPr>
        <p:spPr>
          <a:xfrm>
            <a:off x="6172200" y="5650992"/>
            <a:ext cx="5440680" cy="502920"/>
          </a:xfrm>
          <a:prstGeom prst="roundRect">
            <a:avLst>
              <a:gd name="adj" fmla="val 18182"/>
            </a:avLst>
          </a:prstGeom>
          <a:solidFill>
            <a:srgbClr val="FFE9EA"/>
          </a:solidFill>
          <a:ln/>
        </p:spPr>
      </p:sp>
      <p:sp>
        <p:nvSpPr>
          <p:cNvPr id="51" name="Text 49"/>
          <p:cNvSpPr txBox="1"/>
          <p:nvPr/>
        </p:nvSpPr>
        <p:spPr>
          <a:xfrm>
            <a:off x="6355080" y="5650992"/>
            <a:ext cx="5120640" cy="502920"/>
          </a:xfrm>
          <a:prstGeom prst="rect">
            <a:avLst/>
          </a:prstGeom>
          <a:noFill/>
          <a:ln/>
        </p:spPr>
        <p:txBody>
          <a:bodyPr wrap="square" lIns="0" tIns="0" rIns="0" bIns="0" rtlCol="0" anchor="ctr"/>
          <a:lstStyle/>
          <a:p>
            <a:pPr indent="0" marL="0">
              <a:buNone/>
            </a:pPr>
            <a:r>
              <a:rPr lang="en-US" sz="950" i="1" dirty="0">
                <a:solidFill>
                  <a:srgbClr val="E0393F"/>
                </a:solidFill>
                <a:latin typeface="Open Sans" pitchFamily="34" charset="0"/>
                <a:ea typeface="Open Sans" pitchFamily="34" charset="-122"/>
                <a:cs typeface="Open Sans" pitchFamily="34" charset="-120"/>
              </a:rPr>
              <a:t>Enlaces completos y fechas de consulta en el informe del proyecto.</a:t>
            </a:r>
            <a:endParaRPr lang="en-US" sz="950" dirty="0"/>
          </a:p>
        </p:txBody>
      </p:sp>
      <p:sp>
        <p:nvSpPr>
          <p:cNvPr id="52" name="Text 50"/>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53" name="Text 51"/>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5A5F"/>
                </a:solidFill>
                <a:latin typeface="Montserrat" pitchFamily="34" charset="0"/>
                <a:ea typeface="Montserrat" pitchFamily="34" charset="-122"/>
                <a:cs typeface="Montserrat"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292608"/>
            <a:ext cx="3985870" cy="274320"/>
          </a:xfrm>
          <a:prstGeom prst="roundRect">
            <a:avLst>
              <a:gd name="adj" fmla="val 50000"/>
            </a:avLst>
          </a:prstGeom>
          <a:solidFill>
            <a:srgbClr val="FF5A5F"/>
          </a:solidFill>
          <a:ln/>
        </p:spPr>
      </p:sp>
      <p:sp>
        <p:nvSpPr>
          <p:cNvPr id="3" name="Text 1"/>
          <p:cNvSpPr txBox="1"/>
          <p:nvPr/>
        </p:nvSpPr>
        <p:spPr>
          <a:xfrm>
            <a:off x="548640" y="292608"/>
            <a:ext cx="3985870"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ANEXO A.3 · EVIDENCIAS DE TRABAJO EN EQUIPO</a:t>
            </a:r>
            <a:endParaRPr lang="en-US" sz="850" dirty="0"/>
          </a:p>
        </p:txBody>
      </p:sp>
      <p:sp>
        <p:nvSpPr>
          <p:cNvPr id="4" name="Text 2"/>
          <p:cNvSpPr txBox="1"/>
          <p:nvPr/>
        </p:nvSpPr>
        <p:spPr>
          <a:xfrm>
            <a:off x="548640" y="621792"/>
            <a:ext cx="11064240" cy="502920"/>
          </a:xfrm>
          <a:prstGeom prst="rect">
            <a:avLst/>
          </a:prstGeom>
          <a:noFill/>
          <a:ln/>
        </p:spPr>
        <p:txBody>
          <a:bodyPr wrap="square" lIns="0" tIns="0" rIns="0" bIns="0" rtlCol="0" anchor="ctr"/>
          <a:lstStyle/>
          <a:p>
            <a:pPr indent="0" marL="0">
              <a:buNone/>
            </a:pPr>
            <a:r>
              <a:rPr lang="en-US" sz="2400" b="1" dirty="0">
                <a:solidFill>
                  <a:srgbClr val="0E1B3D"/>
                </a:solidFill>
                <a:latin typeface="Montserrat" pitchFamily="34" charset="0"/>
                <a:ea typeface="Montserrat" pitchFamily="34" charset="-122"/>
                <a:cs typeface="Montserrat" pitchFamily="34" charset="-120"/>
              </a:rPr>
              <a:t>Reuniones Scrum del equipo</a:t>
            </a:r>
            <a:endParaRPr lang="en-US" sz="2400" dirty="0"/>
          </a:p>
        </p:txBody>
      </p:sp>
      <p:sp>
        <p:nvSpPr>
          <p:cNvPr id="5" name="Shape 3"/>
          <p:cNvSpPr/>
          <p:nvPr/>
        </p:nvSpPr>
        <p:spPr>
          <a:xfrm>
            <a:off x="548640" y="1207008"/>
            <a:ext cx="3584448" cy="1783080"/>
          </a:xfrm>
          <a:prstGeom prst="roundRect">
            <a:avLst>
              <a:gd name="adj" fmla="val 7179"/>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6" name="Shape 4"/>
          <p:cNvSpPr/>
          <p:nvPr/>
        </p:nvSpPr>
        <p:spPr>
          <a:xfrm>
            <a:off x="548640" y="1207008"/>
            <a:ext cx="3584448" cy="457200"/>
          </a:xfrm>
          <a:prstGeom prst="roundRect">
            <a:avLst>
              <a:gd name="adj" fmla="val 28000"/>
            </a:avLst>
          </a:prstGeom>
          <a:solidFill>
            <a:srgbClr val="FF5A5F"/>
          </a:solidFill>
          <a:ln/>
        </p:spPr>
      </p:sp>
      <p:sp>
        <p:nvSpPr>
          <p:cNvPr id="7" name="Shape 5"/>
          <p:cNvSpPr/>
          <p:nvPr/>
        </p:nvSpPr>
        <p:spPr>
          <a:xfrm>
            <a:off x="548640" y="1481328"/>
            <a:ext cx="3584448" cy="182880"/>
          </a:xfrm>
          <a:prstGeom prst="rect">
            <a:avLst/>
          </a:prstGeom>
          <a:solidFill>
            <a:srgbClr val="FF5A5F"/>
          </a:solidFill>
          <a:ln/>
        </p:spPr>
      </p:sp>
      <p:pic>
        <p:nvPicPr>
          <p:cNvPr id="8" name="Image 0" descr="preencoded.png">    </p:cNvPr>
          <p:cNvPicPr>
            <a:picLocks noChangeAspect="1"/>
          </p:cNvPicPr>
          <p:nvPr/>
        </p:nvPicPr>
        <p:blipFill>
          <a:blip r:embed="rId2"/>
          <a:stretch>
            <a:fillRect/>
          </a:stretch>
        </p:blipFill>
        <p:spPr>
          <a:xfrm>
            <a:off x="713232" y="1316736"/>
            <a:ext cx="237744" cy="237744"/>
          </a:xfrm>
          <a:prstGeom prst="rect">
            <a:avLst/>
          </a:prstGeom>
        </p:spPr>
      </p:pic>
      <p:sp>
        <p:nvSpPr>
          <p:cNvPr id="9" name="Text 6"/>
          <p:cNvSpPr txBox="1"/>
          <p:nvPr/>
        </p:nvSpPr>
        <p:spPr>
          <a:xfrm>
            <a:off x="1051560" y="1207008"/>
            <a:ext cx="164592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26/09/2026</a:t>
            </a:r>
            <a:endParaRPr lang="en-US" sz="1200" dirty="0"/>
          </a:p>
        </p:txBody>
      </p:sp>
      <p:sp>
        <p:nvSpPr>
          <p:cNvPr id="10" name="Shape 7"/>
          <p:cNvSpPr/>
          <p:nvPr/>
        </p:nvSpPr>
        <p:spPr>
          <a:xfrm>
            <a:off x="2807208" y="1316736"/>
            <a:ext cx="1188720" cy="237744"/>
          </a:xfrm>
          <a:prstGeom prst="roundRect">
            <a:avLst>
              <a:gd name="adj" fmla="val 50000"/>
            </a:avLst>
          </a:prstGeom>
          <a:solidFill>
            <a:srgbClr val="FFFFFF"/>
          </a:solidFill>
          <a:ln/>
        </p:spPr>
      </p:sp>
      <p:sp>
        <p:nvSpPr>
          <p:cNvPr id="11" name="Text 8"/>
          <p:cNvSpPr txBox="1"/>
          <p:nvPr/>
        </p:nvSpPr>
        <p:spPr>
          <a:xfrm>
            <a:off x="2807208" y="1316736"/>
            <a:ext cx="1188720" cy="237744"/>
          </a:xfrm>
          <a:prstGeom prst="rect">
            <a:avLst/>
          </a:prstGeom>
          <a:noFill/>
          <a:ln/>
        </p:spPr>
        <p:txBody>
          <a:bodyPr wrap="square" lIns="0" tIns="0" rIns="0" bIns="0" rtlCol="0" anchor="ctr"/>
          <a:lstStyle/>
          <a:p>
            <a:pPr algn="ctr" indent="0" marL="0">
              <a:buNone/>
            </a:pPr>
            <a:r>
              <a:rPr lang="en-US" sz="800" b="1" dirty="0">
                <a:solidFill>
                  <a:srgbClr val="E0393F"/>
                </a:solidFill>
                <a:latin typeface="Montserrat" pitchFamily="34" charset="0"/>
                <a:ea typeface="Montserrat" pitchFamily="34" charset="-122"/>
                <a:cs typeface="Montserrat" pitchFamily="34" charset="-120"/>
              </a:rPr>
              <a:t>Asistencia 4/4</a:t>
            </a:r>
            <a:endParaRPr lang="en-US" sz="800" dirty="0"/>
          </a:p>
        </p:txBody>
      </p:sp>
      <p:sp>
        <p:nvSpPr>
          <p:cNvPr id="12" name="Text 9"/>
          <p:cNvSpPr txBox="1"/>
          <p:nvPr/>
        </p:nvSpPr>
        <p:spPr>
          <a:xfrm>
            <a:off x="731520" y="1755648"/>
            <a:ext cx="3264408" cy="310896"/>
          </a:xfrm>
          <a:prstGeom prst="rect">
            <a:avLst/>
          </a:prstGeom>
          <a:noFill/>
          <a:ln/>
        </p:spPr>
        <p:txBody>
          <a:bodyPr wrap="square" lIns="0" tIns="0" rIns="0" bIns="0" rtlCol="0" anchor="ctr"/>
          <a:lstStyle/>
          <a:p>
            <a:pPr indent="0" marL="0">
              <a:buNone/>
            </a:pPr>
            <a:r>
              <a:rPr lang="en-US" sz="1150" b="1" dirty="0">
                <a:solidFill>
                  <a:srgbClr val="0E1B3D"/>
                </a:solidFill>
                <a:latin typeface="Montserrat" pitchFamily="34" charset="0"/>
                <a:ea typeface="Montserrat" pitchFamily="34" charset="-122"/>
                <a:cs typeface="Montserrat" pitchFamily="34" charset="-120"/>
              </a:rPr>
              <a:t>Reunión inicial / coordinación</a:t>
            </a:r>
            <a:endParaRPr lang="en-US" sz="1150" dirty="0"/>
          </a:p>
        </p:txBody>
      </p:sp>
      <p:sp>
        <p:nvSpPr>
          <p:cNvPr id="13" name="Text 10"/>
          <p:cNvSpPr txBox="1"/>
          <p:nvPr/>
        </p:nvSpPr>
        <p:spPr>
          <a:xfrm>
            <a:off x="731520" y="2084832"/>
            <a:ext cx="3264408" cy="86868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Definición de la temática (ODS 14), creación del espacio en Jira y del repositorio oficial en GitHub.</a:t>
            </a:r>
            <a:endParaRPr lang="en-US" sz="1000" dirty="0"/>
          </a:p>
        </p:txBody>
      </p:sp>
      <p:sp>
        <p:nvSpPr>
          <p:cNvPr id="14" name="Shape 11"/>
          <p:cNvSpPr/>
          <p:nvPr/>
        </p:nvSpPr>
        <p:spPr>
          <a:xfrm>
            <a:off x="4270248" y="1207008"/>
            <a:ext cx="3584448" cy="1783080"/>
          </a:xfrm>
          <a:prstGeom prst="roundRect">
            <a:avLst>
              <a:gd name="adj" fmla="val 7179"/>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15" name="Shape 12"/>
          <p:cNvSpPr/>
          <p:nvPr/>
        </p:nvSpPr>
        <p:spPr>
          <a:xfrm>
            <a:off x="4270248" y="1207008"/>
            <a:ext cx="3584448" cy="457200"/>
          </a:xfrm>
          <a:prstGeom prst="roundRect">
            <a:avLst>
              <a:gd name="adj" fmla="val 28000"/>
            </a:avLst>
          </a:prstGeom>
          <a:solidFill>
            <a:srgbClr val="FF5A5F"/>
          </a:solidFill>
          <a:ln/>
        </p:spPr>
      </p:sp>
      <p:sp>
        <p:nvSpPr>
          <p:cNvPr id="16" name="Shape 13"/>
          <p:cNvSpPr/>
          <p:nvPr/>
        </p:nvSpPr>
        <p:spPr>
          <a:xfrm>
            <a:off x="4270248" y="1481328"/>
            <a:ext cx="3584448" cy="182880"/>
          </a:xfrm>
          <a:prstGeom prst="rect">
            <a:avLst/>
          </a:prstGeom>
          <a:solidFill>
            <a:srgbClr val="FF5A5F"/>
          </a:solidFill>
          <a:ln/>
        </p:spPr>
      </p:sp>
      <p:pic>
        <p:nvPicPr>
          <p:cNvPr id="17" name="Image 1" descr="preencoded.png">    </p:cNvPr>
          <p:cNvPicPr>
            <a:picLocks noChangeAspect="1"/>
          </p:cNvPicPr>
          <p:nvPr/>
        </p:nvPicPr>
        <p:blipFill>
          <a:blip r:embed="rId3"/>
          <a:stretch>
            <a:fillRect/>
          </a:stretch>
        </p:blipFill>
        <p:spPr>
          <a:xfrm>
            <a:off x="4434840" y="1316736"/>
            <a:ext cx="237744" cy="237744"/>
          </a:xfrm>
          <a:prstGeom prst="rect">
            <a:avLst/>
          </a:prstGeom>
        </p:spPr>
      </p:pic>
      <p:sp>
        <p:nvSpPr>
          <p:cNvPr id="18" name="Text 14"/>
          <p:cNvSpPr txBox="1"/>
          <p:nvPr/>
        </p:nvSpPr>
        <p:spPr>
          <a:xfrm>
            <a:off x="4773168" y="1207008"/>
            <a:ext cx="164592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27/09/2026</a:t>
            </a:r>
            <a:endParaRPr lang="en-US" sz="1200" dirty="0"/>
          </a:p>
        </p:txBody>
      </p:sp>
      <p:sp>
        <p:nvSpPr>
          <p:cNvPr id="19" name="Shape 15"/>
          <p:cNvSpPr/>
          <p:nvPr/>
        </p:nvSpPr>
        <p:spPr>
          <a:xfrm>
            <a:off x="6528816" y="1316736"/>
            <a:ext cx="1188720" cy="237744"/>
          </a:xfrm>
          <a:prstGeom prst="roundRect">
            <a:avLst>
              <a:gd name="adj" fmla="val 50000"/>
            </a:avLst>
          </a:prstGeom>
          <a:solidFill>
            <a:srgbClr val="FFFFFF"/>
          </a:solidFill>
          <a:ln/>
        </p:spPr>
      </p:sp>
      <p:sp>
        <p:nvSpPr>
          <p:cNvPr id="20" name="Text 16"/>
          <p:cNvSpPr txBox="1"/>
          <p:nvPr/>
        </p:nvSpPr>
        <p:spPr>
          <a:xfrm>
            <a:off x="6528816" y="1316736"/>
            <a:ext cx="1188720" cy="237744"/>
          </a:xfrm>
          <a:prstGeom prst="rect">
            <a:avLst/>
          </a:prstGeom>
          <a:noFill/>
          <a:ln/>
        </p:spPr>
        <p:txBody>
          <a:bodyPr wrap="square" lIns="0" tIns="0" rIns="0" bIns="0" rtlCol="0" anchor="ctr"/>
          <a:lstStyle/>
          <a:p>
            <a:pPr algn="ctr" indent="0" marL="0">
              <a:buNone/>
            </a:pPr>
            <a:r>
              <a:rPr lang="en-US" sz="800" b="1" dirty="0">
                <a:solidFill>
                  <a:srgbClr val="E0393F"/>
                </a:solidFill>
                <a:latin typeface="Montserrat" pitchFamily="34" charset="0"/>
                <a:ea typeface="Montserrat" pitchFamily="34" charset="-122"/>
                <a:cs typeface="Montserrat" pitchFamily="34" charset="-120"/>
              </a:rPr>
              <a:t>Asistencia 4/4</a:t>
            </a:r>
            <a:endParaRPr lang="en-US" sz="800" dirty="0"/>
          </a:p>
        </p:txBody>
      </p:sp>
      <p:sp>
        <p:nvSpPr>
          <p:cNvPr id="21" name="Text 17"/>
          <p:cNvSpPr txBox="1"/>
          <p:nvPr/>
        </p:nvSpPr>
        <p:spPr>
          <a:xfrm>
            <a:off x="4453128" y="1755648"/>
            <a:ext cx="3264408" cy="310896"/>
          </a:xfrm>
          <a:prstGeom prst="rect">
            <a:avLst/>
          </a:prstGeom>
          <a:noFill/>
          <a:ln/>
        </p:spPr>
        <p:txBody>
          <a:bodyPr wrap="square" lIns="0" tIns="0" rIns="0" bIns="0" rtlCol="0" anchor="ctr"/>
          <a:lstStyle/>
          <a:p>
            <a:pPr indent="0" marL="0">
              <a:buNone/>
            </a:pPr>
            <a:r>
              <a:rPr lang="en-US" sz="1150" b="1" dirty="0">
                <a:solidFill>
                  <a:srgbClr val="0E1B3D"/>
                </a:solidFill>
                <a:latin typeface="Montserrat" pitchFamily="34" charset="0"/>
                <a:ea typeface="Montserrat" pitchFamily="34" charset="-122"/>
                <a:cs typeface="Montserrat" pitchFamily="34" charset="-120"/>
              </a:rPr>
              <a:t>Sesión de trabajo / documentación</a:t>
            </a:r>
            <a:endParaRPr lang="en-US" sz="1150" dirty="0"/>
          </a:p>
        </p:txBody>
      </p:sp>
      <p:sp>
        <p:nvSpPr>
          <p:cNvPr id="22" name="Text 18"/>
          <p:cNvSpPr txBox="1"/>
          <p:nvPr/>
        </p:nvSpPr>
        <p:spPr>
          <a:xfrm>
            <a:off x="4453128" y="2084832"/>
            <a:ext cx="3264408" cy="86868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Estructuración del Product Backlog en Jira, asignación de la modelería UML y levantamiento de requerimientos.</a:t>
            </a:r>
            <a:endParaRPr lang="en-US" sz="1000" dirty="0"/>
          </a:p>
        </p:txBody>
      </p:sp>
      <p:sp>
        <p:nvSpPr>
          <p:cNvPr id="23" name="Shape 19"/>
          <p:cNvSpPr/>
          <p:nvPr/>
        </p:nvSpPr>
        <p:spPr>
          <a:xfrm>
            <a:off x="7991856" y="1207008"/>
            <a:ext cx="3584448" cy="1783080"/>
          </a:xfrm>
          <a:prstGeom prst="roundRect">
            <a:avLst>
              <a:gd name="adj" fmla="val 7179"/>
            </a:avLst>
          </a:prstGeom>
          <a:solidFill>
            <a:srgbClr val="FFFFFF"/>
          </a:solidFill>
          <a:ln w="6350">
            <a:solidFill>
              <a:srgbClr val="DCE5F3"/>
            </a:solidFill>
            <a:prstDash val="solid"/>
          </a:ln>
          <a:effectLst>
            <a:outerShdw sx="100000" sy="100000" kx="0" ky="0" algn="bl" rotWithShape="0" blurRad="177800" dist="38100" dir="5400000">
              <a:srgbClr val="0B1E4F">
                <a:alpha val="10000"/>
              </a:srgbClr>
            </a:outerShdw>
          </a:effectLst>
        </p:spPr>
      </p:sp>
      <p:sp>
        <p:nvSpPr>
          <p:cNvPr id="24" name="Shape 20"/>
          <p:cNvSpPr/>
          <p:nvPr/>
        </p:nvSpPr>
        <p:spPr>
          <a:xfrm>
            <a:off x="7991856" y="1207008"/>
            <a:ext cx="3584448" cy="457200"/>
          </a:xfrm>
          <a:prstGeom prst="roundRect">
            <a:avLst>
              <a:gd name="adj" fmla="val 28000"/>
            </a:avLst>
          </a:prstGeom>
          <a:solidFill>
            <a:srgbClr val="FF5A5F"/>
          </a:solidFill>
          <a:ln/>
        </p:spPr>
      </p:sp>
      <p:sp>
        <p:nvSpPr>
          <p:cNvPr id="25" name="Shape 21"/>
          <p:cNvSpPr/>
          <p:nvPr/>
        </p:nvSpPr>
        <p:spPr>
          <a:xfrm>
            <a:off x="7991856" y="1481328"/>
            <a:ext cx="3584448" cy="182880"/>
          </a:xfrm>
          <a:prstGeom prst="rect">
            <a:avLst/>
          </a:prstGeom>
          <a:solidFill>
            <a:srgbClr val="FF5A5F"/>
          </a:solidFill>
          <a:ln/>
        </p:spPr>
      </p:sp>
      <p:pic>
        <p:nvPicPr>
          <p:cNvPr id="26" name="Image 2" descr="preencoded.png">    </p:cNvPr>
          <p:cNvPicPr>
            <a:picLocks noChangeAspect="1"/>
          </p:cNvPicPr>
          <p:nvPr/>
        </p:nvPicPr>
        <p:blipFill>
          <a:blip r:embed="rId4"/>
          <a:stretch>
            <a:fillRect/>
          </a:stretch>
        </p:blipFill>
        <p:spPr>
          <a:xfrm>
            <a:off x="8156448" y="1316736"/>
            <a:ext cx="237744" cy="237744"/>
          </a:xfrm>
          <a:prstGeom prst="rect">
            <a:avLst/>
          </a:prstGeom>
        </p:spPr>
      </p:pic>
      <p:sp>
        <p:nvSpPr>
          <p:cNvPr id="27" name="Text 22"/>
          <p:cNvSpPr txBox="1"/>
          <p:nvPr/>
        </p:nvSpPr>
        <p:spPr>
          <a:xfrm>
            <a:off x="8494776" y="1207008"/>
            <a:ext cx="1645920" cy="45720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28/09/2026</a:t>
            </a:r>
            <a:endParaRPr lang="en-US" sz="1200" dirty="0"/>
          </a:p>
        </p:txBody>
      </p:sp>
      <p:sp>
        <p:nvSpPr>
          <p:cNvPr id="28" name="Shape 23"/>
          <p:cNvSpPr/>
          <p:nvPr/>
        </p:nvSpPr>
        <p:spPr>
          <a:xfrm>
            <a:off x="10250424" y="1316736"/>
            <a:ext cx="1188720" cy="237744"/>
          </a:xfrm>
          <a:prstGeom prst="roundRect">
            <a:avLst>
              <a:gd name="adj" fmla="val 50000"/>
            </a:avLst>
          </a:prstGeom>
          <a:solidFill>
            <a:srgbClr val="FFFFFF"/>
          </a:solidFill>
          <a:ln/>
        </p:spPr>
      </p:sp>
      <p:sp>
        <p:nvSpPr>
          <p:cNvPr id="29" name="Text 24"/>
          <p:cNvSpPr txBox="1"/>
          <p:nvPr/>
        </p:nvSpPr>
        <p:spPr>
          <a:xfrm>
            <a:off x="10250424" y="1316736"/>
            <a:ext cx="1188720" cy="237744"/>
          </a:xfrm>
          <a:prstGeom prst="rect">
            <a:avLst/>
          </a:prstGeom>
          <a:noFill/>
          <a:ln/>
        </p:spPr>
        <p:txBody>
          <a:bodyPr wrap="square" lIns="0" tIns="0" rIns="0" bIns="0" rtlCol="0" anchor="ctr"/>
          <a:lstStyle/>
          <a:p>
            <a:pPr algn="ctr" indent="0" marL="0">
              <a:buNone/>
            </a:pPr>
            <a:r>
              <a:rPr lang="en-US" sz="800" b="1" dirty="0">
                <a:solidFill>
                  <a:srgbClr val="E0393F"/>
                </a:solidFill>
                <a:latin typeface="Montserrat" pitchFamily="34" charset="0"/>
                <a:ea typeface="Montserrat" pitchFamily="34" charset="-122"/>
                <a:cs typeface="Montserrat" pitchFamily="34" charset="-120"/>
              </a:rPr>
              <a:t>Asistencia 4/4</a:t>
            </a:r>
            <a:endParaRPr lang="en-US" sz="800" dirty="0"/>
          </a:p>
        </p:txBody>
      </p:sp>
      <p:sp>
        <p:nvSpPr>
          <p:cNvPr id="30" name="Text 25"/>
          <p:cNvSpPr txBox="1"/>
          <p:nvPr/>
        </p:nvSpPr>
        <p:spPr>
          <a:xfrm>
            <a:off x="8174736" y="1755648"/>
            <a:ext cx="3264408" cy="310896"/>
          </a:xfrm>
          <a:prstGeom prst="rect">
            <a:avLst/>
          </a:prstGeom>
          <a:noFill/>
          <a:ln/>
        </p:spPr>
        <p:txBody>
          <a:bodyPr wrap="square" lIns="0" tIns="0" rIns="0" bIns="0" rtlCol="0" anchor="ctr"/>
          <a:lstStyle/>
          <a:p>
            <a:pPr indent="0" marL="0">
              <a:buNone/>
            </a:pPr>
            <a:r>
              <a:rPr lang="en-US" sz="1150" b="1" dirty="0">
                <a:solidFill>
                  <a:srgbClr val="0E1B3D"/>
                </a:solidFill>
                <a:latin typeface="Montserrat" pitchFamily="34" charset="0"/>
                <a:ea typeface="Montserrat" pitchFamily="34" charset="-122"/>
                <a:cs typeface="Montserrat" pitchFamily="34" charset="-120"/>
              </a:rPr>
              <a:t>Revisión final y consolidación</a:t>
            </a:r>
            <a:endParaRPr lang="en-US" sz="1150" dirty="0"/>
          </a:p>
        </p:txBody>
      </p:sp>
      <p:sp>
        <p:nvSpPr>
          <p:cNvPr id="31" name="Text 26"/>
          <p:cNvSpPr txBox="1"/>
          <p:nvPr/>
        </p:nvSpPr>
        <p:spPr>
          <a:xfrm>
            <a:off x="8174736" y="2084832"/>
            <a:ext cx="3264408" cy="868680"/>
          </a:xfrm>
          <a:prstGeom prst="rect">
            <a:avLst/>
          </a:prstGeom>
          <a:noFill/>
          <a:ln/>
        </p:spPr>
        <p:txBody>
          <a:bodyPr wrap="square" lIns="0" tIns="0" rIns="0" bIns="0" rtlCol="0" anchor="t"/>
          <a:lstStyle/>
          <a:p>
            <a:pPr indent="0" marL="0">
              <a:buNone/>
            </a:pPr>
            <a:r>
              <a:rPr lang="en-US" sz="1000" dirty="0">
                <a:solidFill>
                  <a:srgbClr val="4A5878"/>
                </a:solidFill>
                <a:latin typeface="Open Sans" pitchFamily="34" charset="0"/>
                <a:ea typeface="Open Sans" pitchFamily="34" charset="-122"/>
                <a:cs typeface="Open Sans" pitchFamily="34" charset="-120"/>
              </a:rPr>
              <a:t>Integración del informe en Word, verificación de anexos, revisión de evidencias y preparación de la presentación.</a:t>
            </a:r>
            <a:endParaRPr lang="en-US" sz="1000" dirty="0"/>
          </a:p>
        </p:txBody>
      </p:sp>
      <p:sp>
        <p:nvSpPr>
          <p:cNvPr id="32" name="Shape 27"/>
          <p:cNvSpPr/>
          <p:nvPr/>
        </p:nvSpPr>
        <p:spPr>
          <a:xfrm>
            <a:off x="512064" y="3163824"/>
            <a:ext cx="3657600" cy="1854834"/>
          </a:xfrm>
          <a:prstGeom prst="roundRect">
            <a:avLst>
              <a:gd name="adj" fmla="val 3944"/>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pic>
        <p:nvPicPr>
          <p:cNvPr id="33" name="Image 3" descr="assets/meet1.jpg">    </p:cNvPr>
          <p:cNvPicPr>
            <a:picLocks noChangeAspect="1"/>
          </p:cNvPicPr>
          <p:nvPr/>
        </p:nvPicPr>
        <p:blipFill>
          <a:blip r:embed="rId5"/>
          <a:stretch>
            <a:fillRect/>
          </a:stretch>
        </p:blipFill>
        <p:spPr>
          <a:xfrm>
            <a:off x="548640" y="3200400"/>
            <a:ext cx="3584448" cy="1781682"/>
          </a:xfrm>
          <a:prstGeom prst="rect">
            <a:avLst/>
          </a:prstGeom>
        </p:spPr>
      </p:pic>
      <p:sp>
        <p:nvSpPr>
          <p:cNvPr id="34" name="Shape 28"/>
          <p:cNvSpPr/>
          <p:nvPr/>
        </p:nvSpPr>
        <p:spPr>
          <a:xfrm>
            <a:off x="4233672" y="3163824"/>
            <a:ext cx="3657600" cy="1854834"/>
          </a:xfrm>
          <a:prstGeom prst="roundRect">
            <a:avLst>
              <a:gd name="adj" fmla="val 3944"/>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pic>
        <p:nvPicPr>
          <p:cNvPr id="35" name="Image 4" descr="assets/meet2.jpg">    </p:cNvPr>
          <p:cNvPicPr>
            <a:picLocks noChangeAspect="1"/>
          </p:cNvPicPr>
          <p:nvPr/>
        </p:nvPicPr>
        <p:blipFill>
          <a:blip r:embed="rId6"/>
          <a:stretch>
            <a:fillRect/>
          </a:stretch>
        </p:blipFill>
        <p:spPr>
          <a:xfrm>
            <a:off x="4270248" y="3200400"/>
            <a:ext cx="3584448" cy="1781682"/>
          </a:xfrm>
          <a:prstGeom prst="rect">
            <a:avLst/>
          </a:prstGeom>
        </p:spPr>
      </p:pic>
      <p:sp>
        <p:nvSpPr>
          <p:cNvPr id="36" name="Shape 29"/>
          <p:cNvSpPr/>
          <p:nvPr/>
        </p:nvSpPr>
        <p:spPr>
          <a:xfrm>
            <a:off x="7955280" y="3163824"/>
            <a:ext cx="3657600" cy="1854834"/>
          </a:xfrm>
          <a:prstGeom prst="roundRect">
            <a:avLst>
              <a:gd name="adj" fmla="val 3944"/>
            </a:avLst>
          </a:prstGeom>
          <a:solidFill>
            <a:srgbClr val="FFFFFF"/>
          </a:solidFill>
          <a:ln w="9525">
            <a:solidFill>
              <a:srgbClr val="DCE5F3"/>
            </a:solidFill>
            <a:prstDash val="solid"/>
          </a:ln>
          <a:effectLst>
            <a:outerShdw sx="100000" sy="100000" kx="0" ky="0" algn="bl" rotWithShape="0" blurRad="177800" dist="38100" dir="5400000">
              <a:srgbClr val="0B1E4F">
                <a:alpha val="10000"/>
              </a:srgbClr>
            </a:outerShdw>
          </a:effectLst>
        </p:spPr>
      </p:sp>
      <p:pic>
        <p:nvPicPr>
          <p:cNvPr id="37" name="Image 5" descr="assets/meet3.jpg">    </p:cNvPr>
          <p:cNvPicPr>
            <a:picLocks noChangeAspect="1"/>
          </p:cNvPicPr>
          <p:nvPr/>
        </p:nvPicPr>
        <p:blipFill>
          <a:blip r:embed="rId7"/>
          <a:stretch>
            <a:fillRect/>
          </a:stretch>
        </p:blipFill>
        <p:spPr>
          <a:xfrm>
            <a:off x="7991856" y="3200400"/>
            <a:ext cx="3584448" cy="1781682"/>
          </a:xfrm>
          <a:prstGeom prst="rect">
            <a:avLst/>
          </a:prstGeom>
        </p:spPr>
      </p:pic>
      <p:sp>
        <p:nvSpPr>
          <p:cNvPr id="38" name="Text 30"/>
          <p:cNvSpPr txBox="1"/>
          <p:nvPr/>
        </p:nvSpPr>
        <p:spPr>
          <a:xfrm>
            <a:off x="548640" y="5055234"/>
            <a:ext cx="7315200" cy="201168"/>
          </a:xfrm>
          <a:prstGeom prst="rect">
            <a:avLst/>
          </a:prstGeom>
          <a:noFill/>
          <a:ln/>
        </p:spPr>
        <p:txBody>
          <a:bodyPr wrap="square" lIns="0" tIns="0" rIns="0" bIns="0" rtlCol="0" anchor="ctr"/>
          <a:lstStyle/>
          <a:p>
            <a:pPr algn="l" indent="0" marL="0">
              <a:buNone/>
            </a:pPr>
            <a:r>
              <a:rPr lang="en-US" sz="850" i="1" dirty="0">
                <a:solidFill>
                  <a:srgbClr val="8A96AE"/>
                </a:solidFill>
                <a:latin typeface="Open Sans" pitchFamily="34" charset="0"/>
                <a:ea typeface="Open Sans" pitchFamily="34" charset="-122"/>
                <a:cs typeface="Open Sans" pitchFamily="34" charset="-120"/>
              </a:rPr>
              <a:t>Capturas de las sesiones en Google Meet, con los cuatro integrantes.</a:t>
            </a:r>
            <a:endParaRPr lang="en-US" sz="850" dirty="0"/>
          </a:p>
        </p:txBody>
      </p:sp>
      <p:sp>
        <p:nvSpPr>
          <p:cNvPr id="39" name="Shape 31"/>
          <p:cNvSpPr/>
          <p:nvPr/>
        </p:nvSpPr>
        <p:spPr>
          <a:xfrm>
            <a:off x="548640" y="5532120"/>
            <a:ext cx="11064240" cy="658368"/>
          </a:xfrm>
          <a:prstGeom prst="roundRect">
            <a:avLst>
              <a:gd name="adj" fmla="val 19444"/>
            </a:avLst>
          </a:prstGeom>
          <a:solidFill>
            <a:srgbClr val="FFE9EA"/>
          </a:solidFill>
          <a:ln/>
        </p:spPr>
      </p:sp>
      <p:pic>
        <p:nvPicPr>
          <p:cNvPr id="40" name="Image 6" descr="preencoded.png">    </p:cNvPr>
          <p:cNvPicPr>
            <a:picLocks noChangeAspect="1"/>
          </p:cNvPicPr>
          <p:nvPr/>
        </p:nvPicPr>
        <p:blipFill>
          <a:blip r:embed="rId8"/>
          <a:stretch>
            <a:fillRect/>
          </a:stretch>
        </p:blipFill>
        <p:spPr>
          <a:xfrm>
            <a:off x="777240" y="5705856"/>
            <a:ext cx="310896" cy="310896"/>
          </a:xfrm>
          <a:prstGeom prst="rect">
            <a:avLst/>
          </a:prstGeom>
        </p:spPr>
      </p:pic>
      <p:sp>
        <p:nvSpPr>
          <p:cNvPr id="41" name="Text 32"/>
          <p:cNvSpPr txBox="1"/>
          <p:nvPr/>
        </p:nvSpPr>
        <p:spPr>
          <a:xfrm>
            <a:off x="1188720" y="5532120"/>
            <a:ext cx="3154680" cy="658368"/>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Daily Scrum y Sprint Planning en Google Meet</a:t>
            </a:r>
            <a:endParaRPr lang="en-US" sz="1050" dirty="0"/>
          </a:p>
        </p:txBody>
      </p:sp>
      <p:pic>
        <p:nvPicPr>
          <p:cNvPr id="42" name="Image 7" descr="preencoded.png">    </p:cNvPr>
          <p:cNvPicPr>
            <a:picLocks noChangeAspect="1"/>
          </p:cNvPicPr>
          <p:nvPr/>
        </p:nvPicPr>
        <p:blipFill>
          <a:blip r:embed="rId9"/>
          <a:stretch>
            <a:fillRect/>
          </a:stretch>
        </p:blipFill>
        <p:spPr>
          <a:xfrm>
            <a:off x="4434840" y="5705856"/>
            <a:ext cx="310896" cy="310896"/>
          </a:xfrm>
          <a:prstGeom prst="rect">
            <a:avLst/>
          </a:prstGeom>
        </p:spPr>
      </p:pic>
      <p:sp>
        <p:nvSpPr>
          <p:cNvPr id="43" name="Text 33"/>
          <p:cNvSpPr txBox="1"/>
          <p:nvPr/>
        </p:nvSpPr>
        <p:spPr>
          <a:xfrm>
            <a:off x="4846320" y="5532120"/>
            <a:ext cx="3154680" cy="658368"/>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Coordinación diaria por WhatsApp</a:t>
            </a:r>
            <a:endParaRPr lang="en-US" sz="1050" dirty="0"/>
          </a:p>
        </p:txBody>
      </p:sp>
      <p:pic>
        <p:nvPicPr>
          <p:cNvPr id="44" name="Image 8" descr="preencoded.png">    </p:cNvPr>
          <p:cNvPicPr>
            <a:picLocks noChangeAspect="1"/>
          </p:cNvPicPr>
          <p:nvPr/>
        </p:nvPicPr>
        <p:blipFill>
          <a:blip r:embed="rId10"/>
          <a:stretch>
            <a:fillRect/>
          </a:stretch>
        </p:blipFill>
        <p:spPr>
          <a:xfrm>
            <a:off x="8092440" y="5705856"/>
            <a:ext cx="310896" cy="310896"/>
          </a:xfrm>
          <a:prstGeom prst="rect">
            <a:avLst/>
          </a:prstGeom>
        </p:spPr>
      </p:pic>
      <p:sp>
        <p:nvSpPr>
          <p:cNvPr id="45" name="Text 34"/>
          <p:cNvSpPr txBox="1"/>
          <p:nvPr/>
        </p:nvSpPr>
        <p:spPr>
          <a:xfrm>
            <a:off x="8503920" y="5532120"/>
            <a:ext cx="3154680" cy="658368"/>
          </a:xfrm>
          <a:prstGeom prst="rect">
            <a:avLst/>
          </a:prstGeom>
          <a:noFill/>
          <a:ln/>
        </p:spPr>
        <p:txBody>
          <a:bodyPr wrap="square" lIns="0" tIns="0" rIns="0" bIns="0" rtlCol="0" anchor="ctr"/>
          <a:lstStyle/>
          <a:p>
            <a:pPr indent="0" marL="0">
              <a:buNone/>
            </a:pPr>
            <a:r>
              <a:rPr lang="en-US" sz="1050" b="1" dirty="0">
                <a:solidFill>
                  <a:srgbClr val="0E1B3D"/>
                </a:solidFill>
                <a:latin typeface="Open Sans" pitchFamily="34" charset="0"/>
                <a:ea typeface="Open Sans" pitchFamily="34" charset="-122"/>
                <a:cs typeface="Open Sans" pitchFamily="34" charset="-120"/>
              </a:rPr>
              <a:t>Asistencia del 100 % en las 3 reuniones</a:t>
            </a:r>
            <a:endParaRPr lang="en-US" sz="1050" dirty="0"/>
          </a:p>
        </p:txBody>
      </p:sp>
      <p:sp>
        <p:nvSpPr>
          <p:cNvPr id="46" name="Text 35"/>
          <p:cNvSpPr txBox="1"/>
          <p:nvPr/>
        </p:nvSpPr>
        <p:spPr>
          <a:xfrm>
            <a:off x="548640" y="6446520"/>
            <a:ext cx="4572000" cy="219456"/>
          </a:xfrm>
          <a:prstGeom prst="rect">
            <a:avLst/>
          </a:prstGeom>
          <a:noFill/>
          <a:ln/>
        </p:spPr>
        <p:txBody>
          <a:bodyPr wrap="square" lIns="0" tIns="0" rIns="0" bIns="0" rtlCol="0" anchor="ctr"/>
          <a:lstStyle/>
          <a:p>
            <a:pPr indent="0" marL="0">
              <a:buNone/>
            </a:pPr>
            <a:r>
              <a:rPr lang="en-US" sz="750" b="1" spc="160" kern="0" dirty="0">
                <a:solidFill>
                  <a:srgbClr val="9AA6BD"/>
                </a:solidFill>
                <a:latin typeface="Montserrat" pitchFamily="34" charset="0"/>
                <a:ea typeface="Montserrat" pitchFamily="34" charset="-122"/>
                <a:cs typeface="Montserrat" pitchFamily="34" charset="-120"/>
              </a:rPr>
              <a:t>SIRDEPA · ANÁLISIS Y DISEÑO DE SOFTWARE</a:t>
            </a:r>
            <a:endParaRPr lang="en-US" sz="750" dirty="0"/>
          </a:p>
        </p:txBody>
      </p:sp>
      <p:sp>
        <p:nvSpPr>
          <p:cNvPr id="47" name="Text 36"/>
          <p:cNvSpPr txBox="1"/>
          <p:nvPr/>
        </p:nvSpPr>
        <p:spPr>
          <a:xfrm>
            <a:off x="11091672" y="6446520"/>
            <a:ext cx="548640" cy="219456"/>
          </a:xfrm>
          <a:prstGeom prst="rect">
            <a:avLst/>
          </a:prstGeom>
          <a:noFill/>
          <a:ln/>
        </p:spPr>
        <p:txBody>
          <a:bodyPr wrap="square" lIns="0" tIns="0" rIns="0" bIns="0" rtlCol="0" anchor="ctr"/>
          <a:lstStyle/>
          <a:p>
            <a:pPr algn="r" indent="0" marL="0">
              <a:buNone/>
            </a:pPr>
            <a:r>
              <a:rPr lang="en-US" sz="900" b="1" dirty="0">
                <a:solidFill>
                  <a:srgbClr val="FF5A5F"/>
                </a:solidFill>
                <a:latin typeface="Montserrat" pitchFamily="34" charset="0"/>
                <a:ea typeface="Montserrat" pitchFamily="34" charset="-122"/>
                <a:cs typeface="Montserrat"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_uc_white.png">    </p:cNvPr>
          <p:cNvPicPr>
            <a:picLocks noChangeAspect="1"/>
          </p:cNvPicPr>
          <p:nvPr/>
        </p:nvPicPr>
        <p:blipFill>
          <a:blip r:embed="rId2"/>
          <a:stretch>
            <a:fillRect/>
          </a:stretch>
        </p:blipFill>
        <p:spPr>
          <a:xfrm>
            <a:off x="566928" y="384048"/>
            <a:ext cx="566928" cy="694944"/>
          </a:xfrm>
          <a:prstGeom prst="rect">
            <a:avLst/>
          </a:prstGeom>
        </p:spPr>
      </p:pic>
      <p:sp>
        <p:nvSpPr>
          <p:cNvPr id="3" name="Shape 0"/>
          <p:cNvSpPr/>
          <p:nvPr/>
        </p:nvSpPr>
        <p:spPr>
          <a:xfrm>
            <a:off x="1325880" y="603504"/>
            <a:ext cx="3815791" cy="274320"/>
          </a:xfrm>
          <a:prstGeom prst="roundRect">
            <a:avLst>
              <a:gd name="adj" fmla="val 50000"/>
            </a:avLst>
          </a:prstGeom>
          <a:solidFill>
            <a:srgbClr val="FFFFFF">
              <a:alpha val="20000"/>
            </a:srgbClr>
          </a:solidFill>
          <a:ln w="9525">
            <a:solidFill>
              <a:srgbClr val="FFFFFF">
                <a:alpha val="45000"/>
              </a:srgbClr>
            </a:solidFill>
            <a:prstDash val="solid"/>
          </a:ln>
        </p:spPr>
      </p:sp>
      <p:sp>
        <p:nvSpPr>
          <p:cNvPr id="4" name="Text 1"/>
          <p:cNvSpPr txBox="1"/>
          <p:nvPr/>
        </p:nvSpPr>
        <p:spPr>
          <a:xfrm>
            <a:off x="1325880" y="603504"/>
            <a:ext cx="3815791" cy="274320"/>
          </a:xfrm>
          <a:prstGeom prst="rect">
            <a:avLst/>
          </a:prstGeom>
          <a:noFill/>
          <a:ln/>
        </p:spPr>
        <p:txBody>
          <a:bodyPr wrap="square" lIns="0" tIns="0" rIns="0" bIns="0" rtlCol="0" anchor="ctr"/>
          <a:lstStyle/>
          <a:p>
            <a:pPr algn="ctr" indent="0" marL="0">
              <a:buNone/>
            </a:pPr>
            <a:r>
              <a:rPr lang="en-US" sz="850" b="1" spc="120" kern="0" dirty="0">
                <a:solidFill>
                  <a:srgbClr val="FFFFFF"/>
                </a:solidFill>
                <a:latin typeface="Montserrat" pitchFamily="34" charset="0"/>
                <a:ea typeface="Montserrat" pitchFamily="34" charset="-122"/>
                <a:cs typeface="Montserrat" pitchFamily="34" charset="-120"/>
              </a:rPr>
              <a:t>ANÁLISIS Y DISEÑO DE SOFTWARE · NRC 30228</a:t>
            </a:r>
            <a:endParaRPr lang="en-US" sz="850" dirty="0"/>
          </a:p>
        </p:txBody>
      </p:sp>
      <p:sp>
        <p:nvSpPr>
          <p:cNvPr id="5" name="Text 2"/>
          <p:cNvSpPr txBox="1"/>
          <p:nvPr/>
        </p:nvSpPr>
        <p:spPr>
          <a:xfrm>
            <a:off x="548640" y="1463040"/>
            <a:ext cx="7315200" cy="1188720"/>
          </a:xfrm>
          <a:prstGeom prst="rect">
            <a:avLst/>
          </a:prstGeom>
          <a:noFill/>
          <a:ln/>
        </p:spPr>
        <p:txBody>
          <a:bodyPr wrap="square" lIns="0" tIns="0" rIns="0" bIns="0" rtlCol="0" anchor="ctr"/>
          <a:lstStyle/>
          <a:p>
            <a:pPr indent="0" marL="0">
              <a:buNone/>
            </a:pPr>
            <a:r>
              <a:rPr lang="en-US" sz="7600" b="1" dirty="0">
                <a:solidFill>
                  <a:srgbClr val="FFFFFF"/>
                </a:solidFill>
                <a:latin typeface="Montserrat" pitchFamily="34" charset="0"/>
                <a:ea typeface="Montserrat" pitchFamily="34" charset="-122"/>
                <a:cs typeface="Montserrat" pitchFamily="34" charset="-120"/>
              </a:rPr>
              <a:t>¡Gracias!</a:t>
            </a:r>
            <a:endParaRPr lang="en-US" sz="7600" dirty="0"/>
          </a:p>
        </p:txBody>
      </p:sp>
      <p:sp>
        <p:nvSpPr>
          <p:cNvPr id="6" name="Text 3"/>
          <p:cNvSpPr txBox="1"/>
          <p:nvPr/>
        </p:nvSpPr>
        <p:spPr>
          <a:xfrm>
            <a:off x="566928" y="2697480"/>
            <a:ext cx="5486400" cy="548640"/>
          </a:xfrm>
          <a:prstGeom prst="rect">
            <a:avLst/>
          </a:prstGeom>
          <a:noFill/>
          <a:ln/>
        </p:spPr>
        <p:txBody>
          <a:bodyPr wrap="square" lIns="0" tIns="0" rIns="0" bIns="0" rtlCol="0" anchor="ctr"/>
          <a:lstStyle/>
          <a:p>
            <a:pPr indent="0" marL="0">
              <a:buNone/>
            </a:pPr>
            <a:r>
              <a:rPr lang="en-US" sz="2600" b="1" dirty="0">
                <a:solidFill>
                  <a:srgbClr val="FFC233"/>
                </a:solidFill>
                <a:latin typeface="Montserrat" pitchFamily="34" charset="0"/>
                <a:ea typeface="Montserrat" pitchFamily="34" charset="-122"/>
                <a:cs typeface="Montserrat" pitchFamily="34" charset="-120"/>
              </a:rPr>
              <a:t>¿Preguntas?</a:t>
            </a:r>
            <a:endParaRPr lang="en-US" sz="2600" dirty="0"/>
          </a:p>
        </p:txBody>
      </p:sp>
      <p:sp>
        <p:nvSpPr>
          <p:cNvPr id="7" name="Text 4"/>
          <p:cNvSpPr txBox="1"/>
          <p:nvPr/>
        </p:nvSpPr>
        <p:spPr>
          <a:xfrm>
            <a:off x="566928" y="3291840"/>
            <a:ext cx="6858000" cy="365760"/>
          </a:xfrm>
          <a:prstGeom prst="rect">
            <a:avLst/>
          </a:prstGeom>
          <a:noFill/>
          <a:ln/>
        </p:spPr>
        <p:txBody>
          <a:bodyPr wrap="square" lIns="0" tIns="0" rIns="0" bIns="0" rtlCol="0" anchor="ctr"/>
          <a:lstStyle/>
          <a:p>
            <a:pPr indent="0" marL="0">
              <a:buNone/>
            </a:pPr>
            <a:r>
              <a:rPr lang="en-US" sz="1500" dirty="0">
                <a:solidFill>
                  <a:srgbClr val="DCE9FF"/>
                </a:solidFill>
                <a:latin typeface="Open Sans" pitchFamily="34" charset="0"/>
                <a:ea typeface="Open Sans" pitchFamily="34" charset="-122"/>
                <a:cs typeface="Open Sans" pitchFamily="34" charset="-120"/>
              </a:rPr>
              <a:t>SIRDEPA · Del muelle al dato, en minutos</a:t>
            </a:r>
            <a:endParaRPr lang="en-US" sz="1500" dirty="0"/>
          </a:p>
        </p:txBody>
      </p:sp>
      <p:sp>
        <p:nvSpPr>
          <p:cNvPr id="8" name="Shape 5"/>
          <p:cNvSpPr/>
          <p:nvPr/>
        </p:nvSpPr>
        <p:spPr>
          <a:xfrm>
            <a:off x="548640" y="3931920"/>
            <a:ext cx="5852160" cy="640080"/>
          </a:xfrm>
          <a:prstGeom prst="roundRect">
            <a:avLst>
              <a:gd name="adj" fmla="val 50000"/>
            </a:avLst>
          </a:prstGeom>
          <a:solidFill>
            <a:srgbClr val="FFFFFF">
              <a:alpha val="14000"/>
            </a:srgbClr>
          </a:solidFill>
          <a:ln w="9525">
            <a:solidFill>
              <a:srgbClr val="FFFFFF">
                <a:alpha val="45000"/>
              </a:srgbClr>
            </a:solidFill>
            <a:prstDash val="solid"/>
          </a:ln>
        </p:spPr>
      </p:sp>
      <p:sp>
        <p:nvSpPr>
          <p:cNvPr id="9" name="Shape 6"/>
          <p:cNvSpPr/>
          <p:nvPr/>
        </p:nvSpPr>
        <p:spPr>
          <a:xfrm>
            <a:off x="621792" y="4005072"/>
            <a:ext cx="493776" cy="493776"/>
          </a:xfrm>
          <a:prstGeom prst="ellipse">
            <a:avLst/>
          </a:prstGeom>
          <a:solidFill>
            <a:srgbClr val="FFFFFF"/>
          </a:solidFill>
          <a:ln/>
        </p:spPr>
      </p:sp>
      <p:pic>
        <p:nvPicPr>
          <p:cNvPr id="10" name="Image 1" descr="preencoded.png">    </p:cNvPr>
          <p:cNvPicPr>
            <a:picLocks noChangeAspect="1"/>
          </p:cNvPicPr>
          <p:nvPr/>
        </p:nvPicPr>
        <p:blipFill>
          <a:blip r:embed="rId3"/>
          <a:stretch>
            <a:fillRect/>
          </a:stretch>
        </p:blipFill>
        <p:spPr>
          <a:xfrm>
            <a:off x="740298" y="4123578"/>
            <a:ext cx="256764" cy="256764"/>
          </a:xfrm>
          <a:prstGeom prst="rect">
            <a:avLst/>
          </a:prstGeom>
        </p:spPr>
      </p:pic>
      <p:sp>
        <p:nvSpPr>
          <p:cNvPr id="11" name="Text 7"/>
          <p:cNvSpPr txBox="1"/>
          <p:nvPr/>
        </p:nvSpPr>
        <p:spPr>
          <a:xfrm>
            <a:off x="1234440" y="3931920"/>
            <a:ext cx="5120640" cy="640080"/>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Repositorio en GitHub   </a:t>
            </a:r>
            <a:pPr indent="0" marL="0">
              <a:buNone/>
            </a:pPr>
            <a:r>
              <a:rPr lang="en-US" sz="1100" u="sng" dirty="0">
                <a:solidFill>
                  <a:srgbClr val="7CF0F5"/>
                </a:solidFill>
                <a:latin typeface="Open Sans" pitchFamily="34" charset="0"/>
                <a:ea typeface="Open Sans" pitchFamily="34" charset="-122"/>
                <a:cs typeface="Open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github.com/KenediTorres/ODS-14-Vida-submarina</a:t>
            </a:r>
            <a:endParaRPr lang="en-US" sz="1100" dirty="0"/>
          </a:p>
        </p:txBody>
      </p:sp>
      <p:sp>
        <p:nvSpPr>
          <p:cNvPr id="12" name="Shape 8"/>
          <p:cNvSpPr/>
          <p:nvPr/>
        </p:nvSpPr>
        <p:spPr>
          <a:xfrm>
            <a:off x="548640" y="4709160"/>
            <a:ext cx="5852160" cy="640080"/>
          </a:xfrm>
          <a:prstGeom prst="roundRect">
            <a:avLst>
              <a:gd name="adj" fmla="val 50000"/>
            </a:avLst>
          </a:prstGeom>
          <a:solidFill>
            <a:srgbClr val="FFFFFF">
              <a:alpha val="14000"/>
            </a:srgbClr>
          </a:solidFill>
          <a:ln w="9525">
            <a:solidFill>
              <a:srgbClr val="FFFFFF">
                <a:alpha val="45000"/>
              </a:srgbClr>
            </a:solidFill>
            <a:prstDash val="solid"/>
          </a:ln>
        </p:spPr>
      </p:sp>
      <p:sp>
        <p:nvSpPr>
          <p:cNvPr id="13" name="Shape 9"/>
          <p:cNvSpPr/>
          <p:nvPr/>
        </p:nvSpPr>
        <p:spPr>
          <a:xfrm>
            <a:off x="621792" y="4782312"/>
            <a:ext cx="493776" cy="493776"/>
          </a:xfrm>
          <a:prstGeom prst="ellipse">
            <a:avLst/>
          </a:prstGeom>
          <a:solidFill>
            <a:srgbClr val="FFFFFF"/>
          </a:solidFill>
          <a:ln/>
        </p:spPr>
      </p:sp>
      <p:pic>
        <p:nvPicPr>
          <p:cNvPr id="14" name="Image 2" descr="preencoded.png">    </p:cNvPr>
          <p:cNvPicPr>
            <a:picLocks noChangeAspect="1"/>
          </p:cNvPicPr>
          <p:nvPr/>
        </p:nvPicPr>
        <p:blipFill>
          <a:blip r:embed="rId5"/>
          <a:stretch>
            <a:fillRect/>
          </a:stretch>
        </p:blipFill>
        <p:spPr>
          <a:xfrm>
            <a:off x="740298" y="4900818"/>
            <a:ext cx="256764" cy="256764"/>
          </a:xfrm>
          <a:prstGeom prst="rect">
            <a:avLst/>
          </a:prstGeom>
        </p:spPr>
      </p:pic>
      <p:sp>
        <p:nvSpPr>
          <p:cNvPr id="15" name="Text 10"/>
          <p:cNvSpPr txBox="1"/>
          <p:nvPr/>
        </p:nvSpPr>
        <p:spPr>
          <a:xfrm>
            <a:off x="1234440" y="4709160"/>
            <a:ext cx="5120640" cy="640080"/>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Proyecto en Jira Software   </a:t>
            </a:r>
            <a:pPr indent="0" marL="0">
              <a:buNone/>
            </a:pPr>
            <a:r>
              <a:rPr lang="en-US" sz="1100" u="sng" dirty="0">
                <a:solidFill>
                  <a:srgbClr val="7CF0F5"/>
                </a:solidFill>
                <a:latin typeface="Open Sans" pitchFamily="34" charset="0"/>
                <a:ea typeface="Open Sans" pitchFamily="34" charset="-122"/>
                <a:cs typeface="Open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continental-team-kue2qlm9.atlassian.net</a:t>
            </a:r>
            <a:endParaRPr lang="en-US" sz="1100" dirty="0"/>
          </a:p>
        </p:txBody>
      </p:sp>
      <p:sp>
        <p:nvSpPr>
          <p:cNvPr id="16" name="Text 11"/>
          <p:cNvSpPr txBox="1"/>
          <p:nvPr/>
        </p:nvSpPr>
        <p:spPr>
          <a:xfrm>
            <a:off x="566928" y="5715000"/>
            <a:ext cx="7772400" cy="320040"/>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Palomino Huamán Damián · Ortega Matos Andy · Torres Flores Kenyi · Lozano De La Cruz Edgard</a:t>
            </a:r>
            <a:endParaRPr lang="en-US" sz="1100" dirty="0"/>
          </a:p>
        </p:txBody>
      </p:sp>
      <p:sp>
        <p:nvSpPr>
          <p:cNvPr id="17" name="Text 12"/>
          <p:cNvSpPr txBox="1"/>
          <p:nvPr/>
        </p:nvSpPr>
        <p:spPr>
          <a:xfrm>
            <a:off x="566928" y="6035040"/>
            <a:ext cx="3657600" cy="274320"/>
          </a:xfrm>
          <a:prstGeom prst="rect">
            <a:avLst/>
          </a:prstGeom>
          <a:noFill/>
          <a:ln/>
        </p:spPr>
        <p:txBody>
          <a:bodyPr wrap="square" lIns="0" tIns="0" rIns="0" bIns="0" rtlCol="0" anchor="ctr"/>
          <a:lstStyle/>
          <a:p>
            <a:pPr indent="0" marL="0">
              <a:buNone/>
            </a:pPr>
            <a:r>
              <a:rPr lang="en-US" sz="1050" dirty="0">
                <a:solidFill>
                  <a:srgbClr val="DCE9FF"/>
                </a:solidFill>
                <a:latin typeface="Open Sans" pitchFamily="34" charset="0"/>
                <a:ea typeface="Open Sans" pitchFamily="34" charset="-122"/>
                <a:cs typeface="Open Sans" pitchFamily="34" charset="-120"/>
              </a:rPr>
              <a:t>Huancayo – Perú · 2026</a:t>
            </a:r>
            <a:endParaRPr lang="en-US" sz="1050" dirty="0"/>
          </a:p>
        </p:txBody>
      </p:sp>
      <p:sp>
        <p:nvSpPr>
          <p:cNvPr id="18" name="Shape 13"/>
          <p:cNvSpPr/>
          <p:nvPr/>
        </p:nvSpPr>
        <p:spPr>
          <a:xfrm>
            <a:off x="8503920" y="1417320"/>
            <a:ext cx="2926080" cy="3520440"/>
          </a:xfrm>
          <a:prstGeom prst="roundRect">
            <a:avLst>
              <a:gd name="adj" fmla="val 6875"/>
            </a:avLst>
          </a:prstGeom>
          <a:solidFill>
            <a:srgbClr val="FFFFFF"/>
          </a:solidFill>
          <a:ln/>
          <a:effectLst>
            <a:outerShdw sx="100000" sy="100000" kx="0" ky="0" algn="bl" rotWithShape="0" blurRad="355600" dist="127000" dir="5400000">
              <a:srgbClr val="031040">
                <a:alpha val="40000"/>
              </a:srgbClr>
            </a:outerShdw>
          </a:effectLst>
        </p:spPr>
      </p:sp>
      <p:pic>
        <p:nvPicPr>
          <p:cNvPr id="19" name="Image 3" descr="assets/qr.png">    </p:cNvPr>
          <p:cNvPicPr>
            <a:picLocks noChangeAspect="1"/>
          </p:cNvPicPr>
          <p:nvPr/>
        </p:nvPicPr>
        <p:blipFill>
          <a:blip r:embed="rId7"/>
          <a:stretch>
            <a:fillRect/>
          </a:stretch>
        </p:blipFill>
        <p:spPr>
          <a:xfrm>
            <a:off x="8778240" y="1691640"/>
            <a:ext cx="2377440" cy="2377440"/>
          </a:xfrm>
          <a:prstGeom prst="rect">
            <a:avLst/>
          </a:prstGeom>
        </p:spPr>
      </p:pic>
      <p:sp>
        <p:nvSpPr>
          <p:cNvPr id="20" name="Text 14"/>
          <p:cNvSpPr txBox="1"/>
          <p:nvPr/>
        </p:nvSpPr>
        <p:spPr>
          <a:xfrm>
            <a:off x="8595360" y="4206240"/>
            <a:ext cx="2743200" cy="548640"/>
          </a:xfrm>
          <a:prstGeom prst="rect">
            <a:avLst/>
          </a:prstGeom>
          <a:noFill/>
          <a:ln/>
        </p:spPr>
        <p:txBody>
          <a:bodyPr wrap="square" lIns="0" tIns="0" rIns="0" bIns="0" rtlCol="0" anchor="ctr"/>
          <a:lstStyle/>
          <a:p>
            <a:pPr algn="ctr" indent="0" marL="0">
              <a:buNone/>
            </a:pPr>
            <a:r>
              <a:rPr lang="en-US" sz="1100" b="1" dirty="0">
                <a:solidFill>
                  <a:srgbClr val="0B1E4F"/>
                </a:solidFill>
                <a:latin typeface="Montserrat" pitchFamily="34" charset="0"/>
                <a:ea typeface="Montserrat" pitchFamily="34" charset="-122"/>
                <a:cs typeface="Montserrat" pitchFamily="34" charset="-120"/>
              </a:rPr>
              <a:t>Escanea para ver el repositorio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SIRDEPA — Sistema de Registro de Desembarque Pesquero Artesanal</dc:title>
  <dc:subject>PptxGenJS Presentation</dc:subject>
  <dc:creator>Equipo SIRDEPA · ADS NRC 30228</dc:creator>
  <cp:lastModifiedBy>Equipo SIRDEPA · ADS NRC 30228</cp:lastModifiedBy>
  <cp:revision>1</cp:revision>
  <dcterms:created xsi:type="dcterms:W3CDTF">2026-09-30T04:53:41Z</dcterms:created>
  <dcterms:modified xsi:type="dcterms:W3CDTF">2026-09-30T04:53:41Z</dcterms:modified>
</cp:coreProperties>
</file>